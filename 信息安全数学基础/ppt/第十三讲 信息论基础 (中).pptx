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304" r:id="rId3"/>
    <p:sldId id="344" r:id="rId4"/>
    <p:sldId id="345" r:id="rId5"/>
    <p:sldId id="346" r:id="rId6"/>
    <p:sldId id="347" r:id="rId7"/>
    <p:sldId id="348" r:id="rId8"/>
    <p:sldId id="350" r:id="rId9"/>
    <p:sldId id="351" r:id="rId10"/>
    <p:sldId id="352" r:id="rId11"/>
    <p:sldId id="353" r:id="rId12"/>
    <p:sldId id="354" r:id="rId13"/>
    <p:sldId id="355" r:id="rId14"/>
    <p:sldId id="283" r:id="rId15"/>
    <p:sldId id="356" r:id="rId16"/>
    <p:sldId id="357" r:id="rId17"/>
    <p:sldId id="318" r:id="rId18"/>
    <p:sldId id="358" r:id="rId19"/>
    <p:sldId id="359" r:id="rId20"/>
    <p:sldId id="360" r:id="rId21"/>
    <p:sldId id="361" r:id="rId22"/>
    <p:sldId id="362" r:id="rId23"/>
    <p:sldId id="321" r:id="rId24"/>
    <p:sldId id="322" r:id="rId25"/>
    <p:sldId id="363" r:id="rId26"/>
    <p:sldId id="364" r:id="rId27"/>
    <p:sldId id="365" r:id="rId28"/>
    <p:sldId id="286" r:id="rId29"/>
    <p:sldId id="366" r:id="rId30"/>
    <p:sldId id="367" r:id="rId31"/>
    <p:sldId id="368" r:id="rId32"/>
    <p:sldId id="369" r:id="rId33"/>
    <p:sldId id="370" r:id="rId34"/>
    <p:sldId id="371" r:id="rId35"/>
    <p:sldId id="287" r:id="rId36"/>
    <p:sldId id="372" r:id="rId37"/>
    <p:sldId id="263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33" autoAdjust="0"/>
  </p:normalViewPr>
  <p:slideViewPr>
    <p:cSldViewPr>
      <p:cViewPr varScale="1">
        <p:scale>
          <a:sx n="59" d="100"/>
          <a:sy n="59" d="100"/>
        </p:scale>
        <p:origin x="14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027187E-89AC-0989-4BC8-A7414C0434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3B6A12-30A2-081A-8B0C-2D8CC21604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03D9D5B9-A5F2-4B43-8D13-43FECCDB03A1}" type="datetimeFigureOut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0A3ED1-0840-5B33-7BC1-983F8C67BA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835BFA-8147-FA21-1A87-07512648C1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92BE2A3-1CE9-4DE2-91DC-7E47F01C3B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47DE6A9-BA91-F54E-E6FC-C97C80A3D5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746BE2-0432-4D23-0F5A-98C07A7612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246BC1E1-B8EC-4097-9E6A-A18A1C47FB12}" type="datetimeFigureOut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AB1B134-9489-93D9-CB53-9D8AF4556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7F6FB7E-E9E8-095C-998D-DFA06827E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464AA7-15B6-E4F6-4559-57D18D818E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95BC2F-0EB7-8439-76BA-4887ED934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A2D0038-3C5F-4816-8768-A5EE3A679E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566BB32D-91F7-62FC-FA66-1E61DF1DBB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9A7AFFB8-D4B8-B684-10DE-216B2008D7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A13CA5B8-F7B6-8667-84DF-797E6400A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27F5F36-7D1B-4CE2-9DB5-5823549FC1E2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481695AD-BCEF-6B63-68F7-89BA60EF88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D2DE0D5D-AF01-4AED-A091-F085908AC8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76804" name="灯片编号占位符 3">
            <a:extLst>
              <a:ext uri="{FF2B5EF4-FFF2-40B4-BE49-F238E27FC236}">
                <a16:creationId xmlns:a16="http://schemas.microsoft.com/office/drawing/2014/main" id="{9D726075-701E-0D3A-C6A4-30B2806D2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C68FD30-E289-4319-907E-4678EB6631AF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3FC1B197-0FA2-0D16-1DC7-649ACC7C2E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74ECD784-6BFF-533E-43DC-813EC850E7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A51972E0-7F05-60B9-954D-82E3B6CDF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0173F7-B49C-4C0E-A453-841EE7D9FDDA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>
            <a:extLst>
              <a:ext uri="{FF2B5EF4-FFF2-40B4-BE49-F238E27FC236}">
                <a16:creationId xmlns:a16="http://schemas.microsoft.com/office/drawing/2014/main" id="{832DD479-6B87-A6DC-9895-CD1B9BC934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备注占位符 2">
            <a:extLst>
              <a:ext uri="{FF2B5EF4-FFF2-40B4-BE49-F238E27FC236}">
                <a16:creationId xmlns:a16="http://schemas.microsoft.com/office/drawing/2014/main" id="{1138AAE8-3046-0EA9-1CC0-23434D739D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0900" name="灯片编号占位符 3">
            <a:extLst>
              <a:ext uri="{FF2B5EF4-FFF2-40B4-BE49-F238E27FC236}">
                <a16:creationId xmlns:a16="http://schemas.microsoft.com/office/drawing/2014/main" id="{3915F087-C5C5-041B-9FBA-27191AD93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92C9746-7970-4224-A78C-95F4A03CC5C5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A2C53885-A6B6-7426-EDC0-C84BBCEB89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FBB042F0-965E-CB5F-A471-D76BB200C7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C1EFAEEF-1088-AE1C-14AE-BA434102B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038AFB-D2BA-47ED-97AC-5590A229E5AC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>
            <a:extLst>
              <a:ext uri="{FF2B5EF4-FFF2-40B4-BE49-F238E27FC236}">
                <a16:creationId xmlns:a16="http://schemas.microsoft.com/office/drawing/2014/main" id="{3C3D8B27-A4CC-8172-6F8C-7092D6C593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备注占位符 2">
            <a:extLst>
              <a:ext uri="{FF2B5EF4-FFF2-40B4-BE49-F238E27FC236}">
                <a16:creationId xmlns:a16="http://schemas.microsoft.com/office/drawing/2014/main" id="{2D546C03-FCF3-C0AB-104B-40CF19C03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4996" name="灯片编号占位符 3">
            <a:extLst>
              <a:ext uri="{FF2B5EF4-FFF2-40B4-BE49-F238E27FC236}">
                <a16:creationId xmlns:a16="http://schemas.microsoft.com/office/drawing/2014/main" id="{524F3E40-4A2E-6CE6-8B50-9D0A48761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A50D7C-9E57-4BE1-81B3-B7C9C290BBFA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>
            <a:extLst>
              <a:ext uri="{FF2B5EF4-FFF2-40B4-BE49-F238E27FC236}">
                <a16:creationId xmlns:a16="http://schemas.microsoft.com/office/drawing/2014/main" id="{7D3864C0-938B-F7F4-C822-77C80583B5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备注占位符 2">
            <a:extLst>
              <a:ext uri="{FF2B5EF4-FFF2-40B4-BE49-F238E27FC236}">
                <a16:creationId xmlns:a16="http://schemas.microsoft.com/office/drawing/2014/main" id="{60335687-F4BB-4F22-20C8-A3F9CE2FD9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7044" name="灯片编号占位符 3">
            <a:extLst>
              <a:ext uri="{FF2B5EF4-FFF2-40B4-BE49-F238E27FC236}">
                <a16:creationId xmlns:a16="http://schemas.microsoft.com/office/drawing/2014/main" id="{0CDB5FF9-6E63-D261-5D67-2E4FAABA8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69B978D-5FF1-49A0-8F5C-10CE1CB62AFC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B4038C29-5136-F5DC-A721-2495BFBF1A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AC05EB62-FBC6-7AF2-58CC-577E2E676E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78933829-0CF9-C501-721A-AAA74AAED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447753-2743-419C-9050-D179D3A5A6A1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>
            <a:extLst>
              <a:ext uri="{FF2B5EF4-FFF2-40B4-BE49-F238E27FC236}">
                <a16:creationId xmlns:a16="http://schemas.microsoft.com/office/drawing/2014/main" id="{3F899B7D-29DB-6576-1129-3A6C09543A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备注占位符 2">
            <a:extLst>
              <a:ext uri="{FF2B5EF4-FFF2-40B4-BE49-F238E27FC236}">
                <a16:creationId xmlns:a16="http://schemas.microsoft.com/office/drawing/2014/main" id="{CAA8BC84-10D2-B355-BCFC-632131F400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91140" name="灯片编号占位符 3">
            <a:extLst>
              <a:ext uri="{FF2B5EF4-FFF2-40B4-BE49-F238E27FC236}">
                <a16:creationId xmlns:a16="http://schemas.microsoft.com/office/drawing/2014/main" id="{E77C71AA-CB1E-E20C-88F0-56A6E5E2A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4F45D02-0053-4ED2-89C4-2C6550472B45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>
            <a:extLst>
              <a:ext uri="{FF2B5EF4-FFF2-40B4-BE49-F238E27FC236}">
                <a16:creationId xmlns:a16="http://schemas.microsoft.com/office/drawing/2014/main" id="{36505A1F-7099-60BD-33BE-0BCE77D18C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备注占位符 2">
            <a:extLst>
              <a:ext uri="{FF2B5EF4-FFF2-40B4-BE49-F238E27FC236}">
                <a16:creationId xmlns:a16="http://schemas.microsoft.com/office/drawing/2014/main" id="{4E3FBB51-A456-386A-ADBF-74762949DD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93188" name="灯片编号占位符 3">
            <a:extLst>
              <a:ext uri="{FF2B5EF4-FFF2-40B4-BE49-F238E27FC236}">
                <a16:creationId xmlns:a16="http://schemas.microsoft.com/office/drawing/2014/main" id="{BA3505FB-99D6-8DD1-B7E2-E04D6346C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707418-FF14-494E-B294-E010E4F301BE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1C97680A-1010-44E5-9068-FF352F0CA7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289BE81F-9B5D-6809-7610-824951723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295CFDD-F293-DBAC-58E9-E46A7C890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794183B-08CA-4DFA-9938-9C00C5AA73B5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3981C317-DD97-BB29-D6CB-9DB9D8E9FD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3EAC042B-865E-377F-B31E-ECA9AA076E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D13BEC9E-C26A-D1E1-70AA-3488E61D6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44CBB14-558C-4AF4-A218-8EFE68F142B7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D9DC0DC4-C38D-C5FB-A6B1-4BFF47FACE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014C086A-A444-33C1-EC51-12ED3A0F8B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E4734963-DDE4-0F81-E8D0-87E45CEB0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3E67AD6-68E6-448F-8D7D-4AB2EBA38DC4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A3064FF5-8AC1-517F-24F3-918BB8D34C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8C5680B1-A5B3-3307-5EEE-05FAEF45BE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ACDA8BF3-E04C-B85E-F989-74A52F6F8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40A1269-CC3A-4C49-8F04-6C404EB86B83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8FAEE7F7-2236-308D-E342-70EB36E265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D1AF0527-C0D9-1765-EE26-09374DB4E8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081CA582-6785-C07E-BA66-A227A35E1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24E663-CEAC-4BD4-B2D2-3BCADF4279B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0568865F-C3F1-0E9B-D5FC-ACCF20E6FB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D2FCDDF9-8AA9-D852-E843-A256B6175C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3326D656-0156-892D-7193-C3C2AB2F3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DD49D52-94AF-4B10-AD7D-620A2F89F565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F0DFE537-DADF-4E1E-23B3-5DB80ECF66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07EB0CD0-281A-AB89-8843-48BEA3E985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09A0F6E2-F1BA-055E-461D-6289C609A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9204B85-1B03-4392-BAE6-89BFB702340A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2DE34D83-F2B5-8221-3C02-14E897BD5B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D65C145A-9210-54DB-87BE-BB365BC01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6DE142F0-E8E3-E293-8814-814CC42AD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1CB3166-A152-43FA-B10B-6A954C19388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7425E44E-FFF2-C191-72BC-E0E755A9A9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3519D2EF-D86C-69AC-D1AB-56EA826256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1A862D19-E705-6DFB-088C-ECC26B084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1CA878-4CDF-4099-831F-48706ED2CF48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2094461C-C110-A392-C5EB-E778DA3985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C6A6E493-8C41-98C3-2F5C-37F60ADCC9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D1B8A69E-BB5C-3DA7-D928-AB2FE8AB2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01DE72-06B4-466E-B8FD-D48C827E8FD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292757B3-593C-C6E0-B65C-096A3811F2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D069D297-3FD9-B3A7-B678-D2A5B43962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A8746AA3-9017-5072-C27B-3FD48AA4B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759E66-20A1-4C29-BF2B-E6E344D5DBF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23176841-7954-11A4-6D1A-E43DA33F75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4C16DE2E-F0DF-6B2F-89C3-B154FDFE4B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373AA13A-2D11-509F-78DF-CB41BAEFD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D21670-DDAE-4AC8-87C4-DABD58AA1AB5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1AEEC494-5207-F122-292F-4C339B6E2D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DCFA0A86-A6C2-D754-4A15-8D93652E62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5AC5BC5C-8D6E-A8F4-9AFB-7B67F030E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C066D0-7C56-4CF2-A816-747632343931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1A40B5AD-3633-FACC-8BF8-CE5465C000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32249532-94CE-9C95-D196-D1831DEAB1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DFEB250A-BB04-18E2-7871-5115051D5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9088BA-9844-4AFA-94C9-FD6B4A519CA7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5CF0014D-4B62-39AC-00EC-A5F80FE1B7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5792F31D-400D-5DDA-F138-E523F9277B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D039607A-76CE-ABE8-1604-98180FBA3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DC0529-5DF9-46EC-8F26-18A6436AE8F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E8B47A43-1EA6-6B07-D36A-ADF01065CE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CF5D0145-C932-3E4E-CA2F-2C5538DFEE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4AD679CC-617E-C805-278C-C2BE9B262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5FADF2-8D08-419E-B81E-945925CD64B3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FB5A611A-67B1-B25E-F423-6E5E7FD0BE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02BE5957-BD8B-0CAB-8236-03850B8F2E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4036F762-8C45-73D2-C609-3B9E37277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306BD3A-AB2F-42F4-A8D8-8165C5A6EDCB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721B092D-14DB-B08C-714F-4A4BB2551A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5DA6FF42-768A-3C42-872E-E8C179CB2E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060D2FF1-19F5-6820-58EA-A9B0E4475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01A0D27-DEB7-425B-A448-FDAA7920876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941D36D7-6037-B765-8058-F83EF44947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3DD0242E-56BD-3D16-2659-E48F7751DA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091EDF5B-20E4-3862-8BFC-F01303CAC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AB44A3-18F0-4042-9593-0D2D33468B2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68B3E2A5-CBA2-1A9D-3CE7-5527FA0E12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15A5C443-D1E4-EDF5-81D8-550A477668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19748D15-0615-888E-FFF9-FE757E593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3701F0A-D0B0-49CC-B918-D7C5E896E9A0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FCE2DDFA-074B-3780-8F48-692B1C70FA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A46E72CC-0AF5-1C25-3996-F25E1B0F33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25CC213E-335F-1128-5804-0D6F74C54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EAADEE-2ABA-42DC-A148-340091311B34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F11DCECE-EF07-FFCC-669F-D3393AF2CA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5121836B-3EEC-D5EB-18CB-B0756E9AA2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607968E6-2D45-2AD3-4F48-86573E49C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22A4E1-6444-4259-892C-D8E540EC4927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C2617613-AFEE-ECAE-245C-4EE65B8E75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1F1E3BFE-5C5A-AC7F-6FBB-8A6CBE5E74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5704C986-1989-1AAE-D913-6A349CC0D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5FFD1CE-6A96-484F-83EF-91DDD8584153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48044AD7-BE3D-A1ED-43AF-90B8206EBF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C86B9CC7-78D0-B15B-5BCF-042720E960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C8F701D6-9A4E-525C-32AC-07C099980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2F0E99-4C9C-4E41-8FFE-69B3CF681B7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278899-F8D2-7E3D-41D3-5919B5F379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4F9C90-96DA-49D7-5278-1F750D01D7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ED7A61-A9F0-F02F-4020-B42DEBBBB2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F128D-7363-40CE-B29E-E0F0921BC0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21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B8C6B3-A7E7-2528-F260-13B74275C5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55611A-7930-55C3-4E6F-F773512B94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4AAACD-3B07-58B5-E76E-C2F358C70E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C2ED7-890B-4C42-AA09-96A5EA1CF4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157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B5252B-E067-7697-EDAA-061651128B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7BFBCD-844F-02FC-009B-1621FF302D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F7F9A5-DE01-1AD2-DF45-A9895619B6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213560-6BDC-4E80-9518-7BC74CE24B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61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BCFF3-CD61-7455-CCD8-645C01A6C5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777D4-C12A-AD9F-2D98-BC5A5D93AD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8F528-4EFE-FBA6-11EA-220F7FF4EB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68DF6-2CC2-41ED-8530-5E28E45480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38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0A3A68C-892E-B570-74B9-54D91393B9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1A1C3AD-CB9B-31D3-C478-AA11E36E02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6E7E2CC-B262-22B5-B760-DC981DFA96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5102A-1AFF-4F78-BED5-1597555F28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18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179E20E-E2D3-E496-3931-049FDEE42F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250CDC1-A69F-CB1C-9736-CA7DF51848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0ECEFF7-17BB-2231-8D1A-759100B1F7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D510C-49BA-4D2F-8094-CFD358CEFC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494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5800AC3-077B-CC76-C880-6EF234ECE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52893CC-10F8-5D96-E414-E1B3411076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48D888-9EF2-6C60-19B5-5891873290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C5E4C-99ED-42E0-8756-6DB4CAA018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49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AB2127-D6F3-03F5-4F59-0630A5B2F9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16B405-6120-802C-DDC1-98D8362BE1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E62CDE-0CB6-FCAE-3A6F-609876A477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34F31-0899-4D89-A64A-245FD13ABA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8649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6F196D-C181-E162-6230-966D2B5BBE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78BAF-5AA2-A126-CC82-36CC1A7BC4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5BA538-6622-DB70-B0B9-2930016F46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EAE24A-7F70-440E-826F-FCBAF0DAD2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996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384E82-B4F9-A1AE-CFFD-D98E958CD7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8737C3-D871-88BB-DAF7-C3ACCE7C2C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FB0FC8-2D6F-AAC1-558E-22C3B914C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EF387-DCCF-4EC8-B107-40922CA6DA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1616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4CD9E0-C37A-AEE0-022F-4F87764F91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975555-16A9-A199-EDCF-3245317D39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93EFB6-4349-53BC-F18B-C00AFBB6D5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A35C3-272F-4583-9A19-272BCFB004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09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253A75-DFCC-798E-C4F6-705D5DFD4E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EC6AD7-3EF2-57F3-C958-05D46FC97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6E9DC2B-029E-6072-3220-CBECEDAFD5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5EA407B-C411-335B-B40C-A436C082569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4EDD8D4-1B28-D794-8DEF-F564BB28403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05D0A75-5575-4BBD-83EC-49338230A2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70.png"/><Relationship Id="rId3" Type="http://schemas.openxmlformats.org/officeDocument/2006/relationships/slide" Target="slide1.xml"/><Relationship Id="rId7" Type="http://schemas.openxmlformats.org/officeDocument/2006/relationships/image" Target="../media/image67.png"/><Relationship Id="rId12" Type="http://schemas.openxmlformats.org/officeDocument/2006/relationships/image" Target="../media/image3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4.jpg"/><Relationship Id="rId6" Type="http://schemas.openxmlformats.org/officeDocument/2006/relationships/image" Target="../media/image66.png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slide" Target="slide1.xml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4.jp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11" Type="http://schemas.openxmlformats.org/officeDocument/2006/relationships/image" Target="../media/image55.png"/><Relationship Id="rId5" Type="http://schemas.openxmlformats.org/officeDocument/2006/relationships/image" Target="../media/image47.png"/><Relationship Id="rId10" Type="http://schemas.openxmlformats.org/officeDocument/2006/relationships/slide" Target="slide1.xml"/><Relationship Id="rId4" Type="http://schemas.openxmlformats.org/officeDocument/2006/relationships/image" Target="../media/image46.png"/><Relationship Id="rId9" Type="http://schemas.openxmlformats.org/officeDocument/2006/relationships/slide" Target="slide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BFA3F71-69BD-9734-7C66-7DCEE4CADD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9906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第十三讲 信息论基础 </a:t>
            </a:r>
            <a:br>
              <a:rPr lang="en-US" altLang="zh-CN" b="1" dirty="0">
                <a:latin typeface="宋体" panose="02010600030101010101" pitchFamily="2" charset="-122"/>
              </a:rPr>
            </a:br>
            <a:r>
              <a:rPr lang="zh-CN" altLang="en-US" b="1" dirty="0">
                <a:latin typeface="宋体" panose="02010600030101010101" pitchFamily="2" charset="-122"/>
              </a:rPr>
              <a:t>中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0F1C565-C11C-DECB-922E-A17AE9600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dirty="0"/>
              <a:t>本讲提要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243452E-448E-DB61-E425-6E8435D8F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162800" cy="2667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3600" dirty="0"/>
              <a:t> 联合熵与条件熵（续）</a:t>
            </a:r>
            <a:endParaRPr lang="en-US" altLang="zh-CN" sz="3600" dirty="0"/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3600" dirty="0"/>
              <a:t> 互信息与平均互信息</a:t>
            </a:r>
            <a:endParaRPr lang="en-US" altLang="zh-C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ED71175-8D75-334F-B03D-76D223690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1193" y="311233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</a:t>
            </a:r>
            <a:endParaRPr lang="en-US" altLang="zh-CN" dirty="0"/>
          </a:p>
        </p:txBody>
      </p:sp>
      <p:sp>
        <p:nvSpPr>
          <p:cNvPr id="73732" name="文本框 2">
            <a:extLst>
              <a:ext uri="{FF2B5EF4-FFF2-40B4-BE49-F238E27FC236}">
                <a16:creationId xmlns:a16="http://schemas.microsoft.com/office/drawing/2014/main" id="{BE019FAD-B31C-3EDB-13BE-30EB01129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90600"/>
            <a:ext cx="849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两个事件的条件概率给出的信息称为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条件自信息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233217B-E450-A1FC-5FF3-D5747A7F4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45" y="1584242"/>
                <a:ext cx="8391305" cy="42464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5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定义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1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两个随机事件的条件自信息定义为在一个事件发生的条件下，另一个事件发生的概率对数的负值，简称</a:t>
                </a:r>
                <a:r>
                  <a:rPr lang="zh-CN" altLang="en-US" sz="2800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条件自信息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。设事件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𝑦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发生后，事件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发生的概率为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，相应的条件自信息定义为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log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zh-CN" alt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233217B-E450-A1FC-5FF3-D5747A7F47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845" y="1584242"/>
                <a:ext cx="8391305" cy="4246419"/>
              </a:xfrm>
              <a:prstGeom prst="rect">
                <a:avLst/>
              </a:prstGeom>
              <a:blipFill>
                <a:blip r:embed="rId4"/>
                <a:stretch>
                  <a:fillRect l="-1452" r="-87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F7D69F5-D958-C6B7-618B-409C71F26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811A96C-4C19-DA51-1BA4-83A40F217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" y="660261"/>
                <a:ext cx="8915400" cy="55374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800" dirty="0">
                    <a:latin typeface="+mn-ea"/>
                    <a:ea typeface="+mn-ea"/>
                  </a:rPr>
                  <a:t>条件自信息含义为：</a:t>
                </a:r>
                <a:endParaRPr kumimoji="0" lang="en-US" altLang="zh-CN" sz="2800" dirty="0">
                  <a:latin typeface="+mn-ea"/>
                  <a:ea typeface="+mn-ea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dirty="0">
                    <a:latin typeface="+mn-ea"/>
                    <a:ea typeface="+mn-ea"/>
                  </a:rPr>
                  <a:t>在事件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𝑦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𝑏</m:t>
                        </m:r>
                      </m:e>
                      <m: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+mn-ea"/>
                    <a:ea typeface="+mn-ea"/>
                    <a:cs typeface="Times New Roman" pitchFamily="18" charset="0"/>
                  </a:rPr>
                  <a:t>给定的条件下，事件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𝑥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u="sng" dirty="0">
                    <a:latin typeface="+mn-ea"/>
                    <a:ea typeface="+mn-ea"/>
                    <a:cs typeface="Times New Roman" pitchFamily="18" charset="0"/>
                  </a:rPr>
                  <a:t>发生前</a:t>
                </a:r>
                <a:r>
                  <a:rPr kumimoji="0" lang="zh-CN" altLang="en-US" sz="2800" dirty="0">
                    <a:latin typeface="+mn-ea"/>
                    <a:ea typeface="+mn-ea"/>
                    <a:cs typeface="Times New Roman" pitchFamily="18" charset="0"/>
                  </a:rPr>
                  <a:t>的不确定性；</a:t>
                </a:r>
                <a:endParaRPr kumimoji="0" lang="en-US" altLang="zh-CN" sz="2800" dirty="0">
                  <a:latin typeface="+mn-ea"/>
                  <a:ea typeface="+mn-ea"/>
                  <a:cs typeface="Times New Roman" pitchFamily="18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dirty="0">
                    <a:latin typeface="+mn-ea"/>
                    <a:ea typeface="+mn-ea"/>
                  </a:rPr>
                  <a:t>在事件</a:t>
                </a:r>
                <a14:m>
                  <m:oMath xmlns:m="http://schemas.openxmlformats.org/officeDocument/2006/math">
                    <m:r>
                      <a:rPr kumimoji="0" lang="en-US" altLang="zh-CN" sz="2800" b="0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𝑦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𝑏</m:t>
                        </m:r>
                      </m:e>
                      <m: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+mn-ea"/>
                    <a:ea typeface="+mn-ea"/>
                    <a:cs typeface="Times New Roman" pitchFamily="18" charset="0"/>
                  </a:rPr>
                  <a:t>给定的条件下，事件</a:t>
                </a:r>
                <a14:m>
                  <m:oMath xmlns:m="http://schemas.openxmlformats.org/officeDocument/2006/math">
                    <m:r>
                      <a:rPr kumimoji="0" lang="en-US" altLang="zh-CN" sz="2800" b="0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𝑥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u="sng" dirty="0">
                    <a:latin typeface="+mn-ea"/>
                    <a:ea typeface="+mn-ea"/>
                    <a:cs typeface="Times New Roman" pitchFamily="18" charset="0"/>
                  </a:rPr>
                  <a:t>发生后</a:t>
                </a:r>
                <a:r>
                  <a:rPr kumimoji="0" lang="zh-CN" altLang="en-US" sz="2800" dirty="0">
                    <a:latin typeface="+mn-ea"/>
                    <a:ea typeface="+mn-ea"/>
                    <a:cs typeface="Times New Roman" pitchFamily="18" charset="0"/>
                  </a:rPr>
                  <a:t>所得到的信息量。</a:t>
                </a:r>
                <a:endParaRPr kumimoji="0" lang="en-US" altLang="zh-CN" sz="2800" dirty="0">
                  <a:latin typeface="+mn-ea"/>
                  <a:ea typeface="+mn-ea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800" dirty="0">
                    <a:latin typeface="+mn-ea"/>
                    <a:ea typeface="+mn-ea"/>
                  </a:rPr>
                  <a:t>利用定义容易证明</a:t>
                </a:r>
                <a:endParaRPr kumimoji="0" lang="en-US" altLang="zh-CN" sz="2800" dirty="0">
                  <a:latin typeface="+mn-ea"/>
                  <a:ea typeface="+mn-ea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+mn-ea"/>
                          <a:cs typeface="Times New Roman" pitchFamily="18" charset="0"/>
                        </a:rPr>
                        <m:t> 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+mn-ea"/>
                          <a:cs typeface="Times New Roman" pitchFamily="18" charset="0"/>
                        </a:rPr>
                        <m:t>𝐼</m:t>
                      </m:r>
                      <m:d>
                        <m:d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ea typeface="+mn-ea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+mn-ea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+mn-ea"/>
                          <a:cs typeface="Times New Roman" pitchFamily="18" charset="0"/>
                        </a:rPr>
                        <m:t>𝐼</m:t>
                      </m:r>
                      <m:d>
                        <m:d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ea typeface="+mn-ea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+mn-ea"/>
                          <a:cs typeface="Times New Roman" pitchFamily="18" charset="0"/>
                        </a:rPr>
                        <m:t>+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+mn-ea"/>
                          <a:cs typeface="Times New Roman" pitchFamily="18" charset="0"/>
                        </a:rPr>
                        <m:t>𝐼</m:t>
                      </m:r>
                      <m:d>
                        <m:d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ea typeface="+mn-ea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800" i="1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ea typeface="+mn-ea"/>
                              <a:cs typeface="Times New Roman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kumimoji="0" lang="en-US" altLang="zh-CN" sz="2800" i="1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800" i="1" dirty="0">
                  <a:latin typeface="+mn-ea"/>
                  <a:ea typeface="+mn-ea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kumimoji="0" lang="zh-CN" altLang="en-US" sz="2800" dirty="0">
                    <a:latin typeface="+mn-ea"/>
                    <a:ea typeface="+mn-ea"/>
                    <a:cs typeface="Times New Roman" pitchFamily="18" charset="0"/>
                  </a:rPr>
                  <a:t>  注意到，我们有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800" dirty="0">
                    <a:latin typeface="+mn-ea"/>
                    <a:ea typeface="+mn-ea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+mn-ea"/>
                  <a:ea typeface="+mn-ea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811A96C-4C19-DA51-1BA4-83A40F217E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" y="660261"/>
                <a:ext cx="8915400" cy="5537478"/>
              </a:xfrm>
              <a:prstGeom prst="rect">
                <a:avLst/>
              </a:prstGeom>
              <a:blipFill>
                <a:blip r:embed="rId4"/>
                <a:stretch>
                  <a:fillRect l="-1231" b="-33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8B14C95-F4B8-6616-EF32-F091F4C71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  <a:endParaRPr lang="en-US" altLang="zh-CN" dirty="0"/>
          </a:p>
        </p:txBody>
      </p:sp>
      <p:sp>
        <p:nvSpPr>
          <p:cNvPr id="2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3FFD2BEE-B791-6EB8-B88C-7461831E5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" y="762000"/>
            <a:ext cx="8391525" cy="397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+mn-ea"/>
                <a:ea typeface="+mn-ea"/>
                <a:cs typeface="Tahoma"/>
              </a:rPr>
              <a:t>例</a:t>
            </a:r>
            <a:r>
              <a:rPr lang="zh-CN" altLang="en-US" sz="2800" b="1" dirty="0">
                <a:latin typeface="+mn-ea"/>
                <a:ea typeface="+mn-ea"/>
                <a:cs typeface="Times New Roman" pitchFamily="18" charset="0"/>
              </a:rPr>
              <a:t>子</a:t>
            </a:r>
            <a:r>
              <a:rPr lang="en-US" altLang="zh-CN" sz="2800" b="1" dirty="0">
                <a:latin typeface="+mn-ea"/>
                <a:ea typeface="+mn-ea"/>
                <a:cs typeface="Times New Roman" pitchFamily="18" charset="0"/>
              </a:rPr>
              <a:t>1 </a:t>
            </a: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已知箱中有</a:t>
            </a:r>
            <a:r>
              <a:rPr lang="en-US" altLang="zh-CN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个红球，</a:t>
            </a:r>
            <a:r>
              <a:rPr lang="en-US" altLang="zh-CN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个白球。现从箱中先后拿出两球。求</a:t>
            </a:r>
            <a:endParaRPr lang="en-US" altLang="zh-CN" sz="28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8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itchFamily="18" charset="0"/>
              </a:rPr>
              <a:t>事件“第一个是红球条件下，第二个是白球”的不确定性；</a:t>
            </a:r>
            <a:endParaRPr lang="en-US" altLang="zh-CN" sz="2800" dirty="0">
              <a:solidFill>
                <a:srgbClr val="000000"/>
              </a:solidFill>
              <a:latin typeface="Cambria Math" panose="02040503050406030204" pitchFamily="18" charset="0"/>
              <a:cs typeface="Times New Roman" pitchFamily="18" charset="0"/>
            </a:endParaRP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8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itchFamily="18" charset="0"/>
              </a:rPr>
              <a:t>事件“第一个是红球条件下，第二个是红球”所提供的信息量。</a:t>
            </a:r>
            <a:endParaRPr lang="en-US" altLang="zh-CN" sz="2800" dirty="0">
              <a:solidFill>
                <a:srgbClr val="000000"/>
              </a:solidFill>
              <a:latin typeface="Cambria Math" panose="020405030504060302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F956EBF-42B3-399F-F7D3-E9F74476D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F502CAC-06CB-6AD8-AB9B-BF8BFB211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82" y="838200"/>
                <a:ext cx="8568952" cy="55598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例子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1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（续）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 </a:t>
                </a: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1.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事件“第一个是红球条件下，第二个是白球”的不确定性；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white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red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white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red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14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=1.49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2.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事件“第一个是红球条件下，第二个是红球”所提供的信息量；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red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red</m:t>
                        </m:r>
                      </m:e>
                    </m:d>
                  </m:oMath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lang="en-US" altLang="zh-CN" sz="28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𝑟𝑒𝑑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red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14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=0.64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F502CAC-06CB-6AD8-AB9B-BF8BFB2115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82" y="838200"/>
                <a:ext cx="8568952" cy="5559855"/>
              </a:xfrm>
              <a:prstGeom prst="rect">
                <a:avLst/>
              </a:prstGeom>
              <a:blipFill>
                <a:blip r:embed="rId5"/>
                <a:stretch>
                  <a:fillRect l="-1422" t="-329" r="-78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4E47F227-15C7-FCCF-4C42-ADC98C114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  <a:endParaRPr lang="en-US" altLang="zh-CN" dirty="0"/>
          </a:p>
        </p:txBody>
      </p:sp>
      <p:sp>
        <p:nvSpPr>
          <p:cNvPr id="81923" name="文本框 1">
            <a:extLst>
              <a:ext uri="{FF2B5EF4-FFF2-40B4-BE49-F238E27FC236}">
                <a16:creationId xmlns:a16="http://schemas.microsoft.com/office/drawing/2014/main" id="{D5DA1FF5-262D-B929-AD54-49730A1E1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00100"/>
            <a:ext cx="8293100" cy="369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一维随机变量的不确定性可以用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信息熵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来表示。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  <a:cs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两个随机事件集合可用二维随机变量表示，二维随机变量的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平均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不确定性可以推广为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联合熵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。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A80CA6A9-6F62-1D20-275D-67A73DEE2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14A856B-361D-F053-545D-0B1D6ED7E8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" y="723644"/>
                <a:ext cx="8692014" cy="5410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定义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2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设二维随机变量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的概率空间为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</m:oMath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，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，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𝑦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，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0≤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≤1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sz="28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CN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8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  <m:r>
                              <a:rPr lang="en-US" altLang="zh-CN" sz="2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US" altLang="zh-CN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=1</m:t>
                            </m:r>
                          </m:e>
                        </m:nary>
                      </m:e>
                    </m:nary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，则二维随机变量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</a:t>
                </a:r>
                <a:r>
                  <a:rPr lang="zh-CN" altLang="en-US" sz="2800" dirty="0">
                    <a:solidFill>
                      <a:srgbClr val="C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联合熵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定义为联合自信息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的联合概率空间上的数学期望，它是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平均不确定性的度量，即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𝑋𝑌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limLoc m:val="subSup"/>
                        <m:ctrlPr>
                          <a:rPr lang="zh-CN" altLang="en-US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8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CN" sz="28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8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8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  <m:r>
                              <a:rPr lang="en-US" altLang="zh-CN" sz="28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US" altLang="zh-CN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a:rPr lang="en-US" altLang="zh-CN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8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a:rPr lang="zh-CN" alt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14A856B-361D-F053-545D-0B1D6ED7E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723644"/>
                <a:ext cx="8692014" cy="5410712"/>
              </a:xfrm>
              <a:prstGeom prst="rect">
                <a:avLst/>
              </a:prstGeom>
              <a:blipFill>
                <a:blip r:embed="rId4"/>
                <a:stretch>
                  <a:fillRect l="-1474" t="-338" r="-70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7F01E6B-43E7-89D5-988D-02BBDFB2A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E95F58B-0B3D-6C28-7224-50FA4E667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" y="762000"/>
                <a:ext cx="8692014" cy="5133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latin typeface="宋体" pitchFamily="2" charset="-122"/>
                    <a:cs typeface="Tahoma"/>
                  </a:rPr>
                  <a:t>例子</a:t>
                </a:r>
                <a:r>
                  <a:rPr lang="en-US" altLang="zh-CN" sz="2800" b="1" dirty="0">
                    <a:latin typeface="宋体" pitchFamily="2" charset="-122"/>
                    <a:cs typeface="Tahoma"/>
                  </a:rPr>
                  <a:t>2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计算下列事件的联合自信息：</a:t>
                </a:r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英文字母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e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出现的概率是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0.123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z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出现的概率是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0.0008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。假定字母出现是相互独立事件，计算 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ez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的联合自信息。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4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人抓阄，设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表示第一个人没抓到，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表示第二个人没抓到，计算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的联合自信息。</a:t>
                </a:r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表示第一个人抓阄情况，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表示第二个人的抓阄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    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情况，计算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𝑋𝑌</m:t>
                    </m:r>
                    <m:r>
                      <a:rPr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的联合熵。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endParaRPr lang="en-US" altLang="zh-CN" sz="28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CE95F58B-0B3D-6C28-7224-50FA4E667A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762000"/>
                <a:ext cx="8692014" cy="5133713"/>
              </a:xfrm>
              <a:prstGeom prst="rect">
                <a:avLst/>
              </a:prstGeom>
              <a:blipFill>
                <a:blip r:embed="rId5"/>
                <a:stretch>
                  <a:fillRect l="-1474" t="-238" r="-91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AABEEF17-09FA-F088-D713-60C688758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038F301-8B8C-BE26-055D-30580F778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762000"/>
                <a:ext cx="8692014" cy="57726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例子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2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（续）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 </a:t>
                </a: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假定字母出现是相互独立事件， 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ez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的联合自信息：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𝑒𝑧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lang="en-US" altLang="zh-CN" sz="28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  <m:r>
                          <a:rPr lang="en-US" altLang="zh-CN" sz="2800" b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.</m:t>
                        </m:r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123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×0.0008</m:t>
                        </m:r>
                      </m:e>
                    </m:d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13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31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我们知道（例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1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）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英文字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e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出现的概率是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0.123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z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出现的概率是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0.0008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，它们的自信息量：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𝑒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123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3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02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  <m:r>
                      <a:rPr lang="zh-CN" alt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0008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10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29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两个</a:t>
                </a:r>
                <a:r>
                  <a:rPr lang="zh-CN" altLang="en-US" sz="2800" b="1" u="sng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独立事件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的联合自信息等于两个事件各自自信息之和。</a:t>
                </a:r>
                <a:endParaRPr lang="en-US" altLang="zh-CN" sz="2800" b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038F301-8B8C-BE26-055D-30580F778F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762000"/>
                <a:ext cx="8692014" cy="5772671"/>
              </a:xfrm>
              <a:prstGeom prst="rect">
                <a:avLst/>
              </a:prstGeom>
              <a:blipFill>
                <a:blip r:embed="rId4"/>
                <a:stretch>
                  <a:fillRect l="-1403" t="-211" r="-2595" b="-169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58AAD8EF-4D9B-7EC7-E4D2-71D65170C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D97242D-3DF6-EC12-C34D-EE204B62A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" y="762000"/>
                <a:ext cx="8692014" cy="57292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30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例子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2</a:t>
                </a:r>
                <a:r>
                  <a:rPr lang="zh-CN" altLang="en-US" sz="30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（续）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 </a:t>
                </a: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30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2. </a:t>
                </a:r>
                <a:r>
                  <a:rPr lang="en-US" altLang="zh-CN" sz="30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4</a:t>
                </a:r>
                <a:r>
                  <a:rPr lang="zh-CN" altLang="en-US" sz="30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人抓阄，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表示第一个人没抓到，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表示第二个人没抓到，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的联合自信息：</a:t>
                </a:r>
                <a:endParaRPr lang="en-US" altLang="zh-CN" sz="30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3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log</m:t>
                      </m:r>
                      <m: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3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log</m:t>
                      </m:r>
                      <m:r>
                        <a:rPr lang="en-US" altLang="zh-CN" sz="3000" b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3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sz="3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CN" sz="3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sz="3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bit</m:t>
                      </m:r>
                      <m:r>
                        <a:rPr lang="zh-CN" altLang="en-US" sz="3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sz="30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30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注意到，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3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3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lang="en-US" altLang="zh-CN" sz="30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3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3/4=0.415 </m:t>
                    </m:r>
                    <m:r>
                      <m:rPr>
                        <m:nor/>
                      </m:rPr>
                      <a:rPr lang="en-US" altLang="zh-CN" sz="3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lang="zh-CN" altLang="en-US" sz="30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，故</a:t>
                </a:r>
                <a:endParaRPr lang="en-US" altLang="zh-CN" sz="30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≠</m:t>
                      </m:r>
                      <m:r>
                        <a:rPr lang="en-US" altLang="zh-CN" sz="3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3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+</m:t>
                      </m:r>
                      <m:r>
                        <a:rPr lang="en-US" altLang="zh-CN" sz="3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sz="30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lang="zh-CN" altLang="en-US" sz="3000" b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两个</a:t>
                </a:r>
                <a:r>
                  <a:rPr lang="zh-CN" altLang="en-US" sz="3000" b="1" u="sng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非独立事件</a:t>
                </a:r>
                <a:r>
                  <a:rPr lang="zh-CN" altLang="en-US" sz="3000" b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的联合自信息不等于两个事件各自自信息之和。</a:t>
                </a:r>
                <a:endParaRPr lang="en-US" altLang="zh-CN" sz="30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D97242D-3DF6-EC12-C34D-EE204B62A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762000"/>
                <a:ext cx="8692014" cy="5729261"/>
              </a:xfrm>
              <a:prstGeom prst="rect">
                <a:avLst/>
              </a:prstGeom>
              <a:blipFill>
                <a:blip r:embed="rId4"/>
                <a:stretch>
                  <a:fillRect l="-1684" t="-426" r="-842" b="-202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E170945-9133-2A1F-9741-D1D217250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E5B9EA2-BF29-6F6D-3866-4554CA667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" y="778329"/>
                <a:ext cx="8692014" cy="44620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例子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2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（续）</a:t>
                </a:r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表示第一个人抓阄情况，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表示第二个人的抓阄情况，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𝑋𝑌</m:t>
                    </m:r>
                    <m:r>
                      <a:rPr lang="en-US" altLang="zh-CN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的联合熵：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𝑋𝑌</m:t>
                    </m:r>
                    <m:r>
                      <a:rPr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共有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3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种可能（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1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表示没抓到，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0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表示抓到了），则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  <m:r>
                      <a:rPr lang="zh-CN" altLang="en-US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𝑋𝑌</m:t>
                    </m:r>
                    <m:r>
                      <a:rPr lang="en-US" altLang="zh-CN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的概率空间上取平均，得到联合熵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𝑋𝑌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×1+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×2+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×2=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E5B9EA2-BF29-6F6D-3866-4554CA667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" y="778329"/>
                <a:ext cx="8692014" cy="4462055"/>
              </a:xfrm>
              <a:prstGeom prst="rect">
                <a:avLst/>
              </a:prstGeom>
              <a:blipFill>
                <a:blip r:embed="rId4"/>
                <a:stretch>
                  <a:fillRect l="-1473" t="-41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FE2911-03DC-4911-BD32-C5E269933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7586" y="82137"/>
            <a:ext cx="50292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A681A0C-E702-82CE-19B8-11079E52E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762000"/>
                <a:ext cx="8692014" cy="56269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800" dirty="0">
                    <a:solidFill>
                      <a:schemeClr val="tx1"/>
                    </a:solidFill>
                    <a:latin typeface="宋体" pitchFamily="2" charset="-122"/>
                  </a:rPr>
                  <a:t>条件熵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可以根据如下取两次统计平均得到：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在给定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条件下，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的不确定性可定义为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∣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条件概率空间上的统计平均：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28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kumimoji="0" lang="en-US" altLang="zh-CN" sz="28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kumimoji="0" lang="en-US" altLang="zh-CN" sz="28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8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zh-CN" altLang="en-US" sz="2800" i="1"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 startAt="2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对不同的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，将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的概率空间上取统计平均：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28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kumimoji="0" lang="en-US" altLang="zh-CN" sz="28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  <m:r>
                          <a:rPr kumimoji="0" lang="en-US" altLang="zh-CN" sz="28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8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p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kumimoji="0" lang="en-US" altLang="zh-CN" sz="28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kumimoji="0" lang="en-US" altLang="zh-CN" sz="2800" dirty="0"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                         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limLoc m:val="subSup"/>
                        <m:ctrlPr>
                          <a:rPr kumimoji="0" lang="zh-CN" altLang="en-US" sz="28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28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kumimoji="0" lang="en-US" altLang="zh-CN" sz="28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8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kumimoji="0" lang="en-US" altLang="zh-CN" sz="28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kumimoji="0" lang="en-US" altLang="zh-CN" sz="28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  <m:r>
                              <a:rPr kumimoji="0" lang="en-US" altLang="zh-CN" sz="28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US" altLang="zh-CN" sz="28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limLoc m:val="subSup"/>
                        <m:ctrlPr>
                          <a:rPr kumimoji="0" lang="zh-CN" altLang="en-US" sz="28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28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kumimoji="0" lang="en-US" altLang="zh-CN" sz="28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8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kumimoji="0" lang="en-US" altLang="zh-CN" sz="28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kumimoji="0" lang="en-US" altLang="zh-CN" sz="28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  <m:r>
                              <a:rPr kumimoji="0" lang="en-US" altLang="zh-CN" sz="28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US" altLang="zh-CN" sz="28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a:rPr lang="zh-CN" altLang="en-US" sz="2800" i="1"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A681A0C-E702-82CE-19B8-11079E52E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762000"/>
                <a:ext cx="8692014" cy="5626925"/>
              </a:xfrm>
              <a:prstGeom prst="rect">
                <a:avLst/>
              </a:prstGeom>
              <a:blipFill>
                <a:blip r:embed="rId4"/>
                <a:stretch>
                  <a:fillRect l="-1403" t="-217" r="-14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FC956BB-03CB-0E12-F3AE-FA30919DC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50292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联合熵与条件熵（继续）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A54C9C9-4EDD-132C-6464-0FBADCD05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984741"/>
                <a:ext cx="8692014" cy="32752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3200" b="1" dirty="0">
                    <a:latin typeface="+mn-ea"/>
                    <a:ea typeface="+mn-ea"/>
                    <a:cs typeface="Tahoma"/>
                  </a:rPr>
                  <a:t>定义</a:t>
                </a:r>
                <a:r>
                  <a:rPr lang="en-US" altLang="zh-CN" sz="3200" b="1" dirty="0">
                    <a:latin typeface="+mn-ea"/>
                    <a:ea typeface="+mn-ea"/>
                    <a:cs typeface="Times New Roman" pitchFamily="18" charset="0"/>
                  </a:rPr>
                  <a:t>3 </a:t>
                </a:r>
                <a:r>
                  <a:rPr lang="zh-CN" altLang="en-US" sz="32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在给定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</a:t>
                </a:r>
                <a:r>
                  <a:rPr lang="zh-CN" altLang="en-US" sz="3200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条件熵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被定义为</a:t>
                </a:r>
                <a:r>
                  <a:rPr lang="en-US" altLang="zh-CN" sz="32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</a:t>
                </a:r>
                <a:endParaRPr lang="en-US" altLang="zh-CN" sz="32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32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CN" sz="3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3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zh-CN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limLoc m:val="subSup"/>
                        <m:ctrlPr>
                          <a:rPr lang="zh-CN" altLang="en-US" sz="3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32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CN" sz="32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3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32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  <m:r>
                              <a:rPr lang="en-US" altLang="zh-CN" sz="32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2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US" altLang="zh-CN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a:rPr lang="en-US" altLang="zh-CN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32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endParaRPr lang="en-US" altLang="zh-CN" sz="28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A54C9C9-4EDD-132C-6464-0FBADCD05E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984741"/>
                <a:ext cx="8692014" cy="3275256"/>
              </a:xfrm>
              <a:prstGeom prst="rect">
                <a:avLst/>
              </a:prstGeom>
              <a:blipFill>
                <a:blip r:embed="rId4"/>
                <a:stretch>
                  <a:fillRect l="-1753" t="-74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2AFC049-AA44-9EC2-B497-D0790EA00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50292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联合熵与条件熵（续）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0897B91-5AA5-0712-A8A3-51E84F9B3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914400"/>
                <a:ext cx="8692014" cy="5449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定理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1 </a:t>
                </a:r>
                <a:r>
                  <a:rPr lang="zh-CN" altLang="en-US" sz="2800" u="sng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熵、联合熵、条件熵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满足如下等式：</a:t>
                </a:r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定理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+mn-ea"/>
                    <a:ea typeface="+mn-ea"/>
                    <a:cs typeface="Times New Roman" pitchFamily="18" charset="0"/>
                  </a:rPr>
                  <a:t>证明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28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，</m:t>
                                    </m:r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28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∣</m:t>
                                    </m:r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sub>
                              <m:sup/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，</m:t>
                                    </m:r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log</m:t>
                                </m:r>
                                <m:f>
                                  <m:f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altLang="zh-CN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∣</m:t>
                                        </m:r>
                                        <m:r>
                                          <a:rPr lang="en-US" altLang="zh-CN" sz="2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sub>
                              <m:sup/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，</m:t>
                                    </m:r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log</m:t>
                                </m:r>
                                <m:f>
                                  <m:fPr>
                                    <m:ctrlPr>
                                      <a:rPr lang="en-US" altLang="zh-CN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altLang="zh-CN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∣</m:t>
                                        </m:r>
                                        <m:r>
                                          <a:rPr lang="en-US" altLang="zh-CN" sz="2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lang="en-US" altLang="zh-CN" sz="28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0897B91-5AA5-0712-A8A3-51E84F9B35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914400"/>
                <a:ext cx="8692014" cy="5449441"/>
              </a:xfrm>
              <a:prstGeom prst="rect">
                <a:avLst/>
              </a:prstGeom>
              <a:blipFill>
                <a:blip r:embed="rId4"/>
                <a:stretch>
                  <a:fillRect l="-1403" t="-78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94A37A9-7E16-FD1D-3C21-FD6DC5653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50292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联合熵与条件熵（续）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0559163-4629-4FD8-38EA-4079C7D68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" y="914400"/>
                <a:ext cx="8267700" cy="53484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定理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2 </a:t>
                </a:r>
                <a:r>
                  <a:rPr lang="zh-CN" altLang="en-US" sz="2800" u="sng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熵、联合熵、条件熵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满足如下不等式：</a:t>
                </a:r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max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0≤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0≤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zh-CN" alt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定理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  <a:r>
                  <a:rPr lang="zh-CN" altLang="en-US" sz="2800" b="1" dirty="0">
                    <a:latin typeface="+mn-ea"/>
                    <a:ea typeface="+mn-ea"/>
                    <a:cs typeface="Times New Roman" pitchFamily="18" charset="0"/>
                  </a:rPr>
                  <a:t>证明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1.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≤1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≥0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，则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（上式说明：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联合熵不小于独立熵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）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，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zh-CN" alt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endParaRPr lang="en-US" altLang="zh-CN" sz="28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0559163-4629-4FD8-38EA-4079C7D683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914400"/>
                <a:ext cx="8267700" cy="5348452"/>
              </a:xfrm>
              <a:prstGeom prst="rect">
                <a:avLst/>
              </a:prstGeom>
              <a:blipFill>
                <a:blip r:embed="rId4"/>
                <a:stretch>
                  <a:fillRect l="-1549" t="-79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631FF0F-A43A-510B-5508-4F8FB1D887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043" y="175533"/>
            <a:ext cx="4861882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p:sp>
        <p:nvSpPr>
          <p:cNvPr id="4" name="右弧形箭头 17">
            <a:extLst>
              <a:ext uri="{FF2B5EF4-FFF2-40B4-BE49-F238E27FC236}">
                <a16:creationId xmlns:a16="http://schemas.microsoft.com/office/drawing/2014/main" id="{070615E7-215D-6F9C-F6D5-F4BEA6484743}"/>
              </a:ext>
            </a:extLst>
          </p:cNvPr>
          <p:cNvSpPr/>
          <p:nvPr/>
        </p:nvSpPr>
        <p:spPr bwMode="auto">
          <a:xfrm>
            <a:off x="4521599" y="5257800"/>
            <a:ext cx="576263" cy="792162"/>
          </a:xfrm>
          <a:prstGeom prst="curvedLeftArrow">
            <a:avLst>
              <a:gd name="adj1" fmla="val 0"/>
              <a:gd name="adj2" fmla="val 37199"/>
              <a:gd name="adj3" fmla="val 32559"/>
            </a:avLst>
          </a:prstGeom>
          <a:solidFill>
            <a:srgbClr val="FF000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wrap="none" anchor="ctr"/>
          <a:lstStyle/>
          <a:p>
            <a:pPr algn="ctr" eaLnBrk="1" fontAlgn="auto" latinLnBrk="1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kumimoji="1" lang="zh-CN" altLang="en-US" sz="1000" kern="0">
              <a:solidFill>
                <a:srgbClr val="000000"/>
              </a:solidFill>
              <a:latin typeface="굴림" pitchFamily="50" charset="-127"/>
              <a:ea typeface="굴림" pitchFamily="50" charset="-127"/>
              <a:cs typeface="Tahoma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F7B99B-1214-3F3A-13FA-60419E07E5D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66682" y="4574285"/>
            <a:ext cx="3528393" cy="892552"/>
          </a:xfrm>
          <a:prstGeom prst="rect">
            <a:avLst/>
          </a:prstGeom>
          <a:blipFill>
            <a:blip r:embed="rId3"/>
            <a:stretch>
              <a:fillRect l="-3114" t="-7483" b="-1496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439FEFC-8D7F-DFB1-61A2-1C89F2376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" y="762000"/>
                <a:ext cx="8406604" cy="58744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定理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  <a:r>
                  <a:rPr lang="zh-CN" altLang="en-US" sz="2800" b="1" dirty="0">
                    <a:latin typeface="+mn-ea"/>
                    <a:ea typeface="+mn-ea"/>
                    <a:cs typeface="Times New Roman" pitchFamily="18" charset="0"/>
                  </a:rPr>
                  <a:t>证明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+mn-ea"/>
                    <a:ea typeface="+mn-ea"/>
                    <a:cs typeface="Times New Roman" pitchFamily="18" charset="0"/>
                  </a:rPr>
                  <a:t>.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（续）</a:t>
                </a:r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𝑯</m:t>
                    </m:r>
                    <m:d>
                      <m:d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𝑿𝒀</m:t>
                        </m:r>
                      </m:e>
                    </m:d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𝑯</m:t>
                    </m:r>
                    <m:d>
                      <m:d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𝑯</m:t>
                    </m:r>
                    <m:d>
                      <m:d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𝒀</m:t>
                        </m:r>
                      </m:e>
                    </m:d>
                  </m:oMath>
                </a14:m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US" altLang="zh-CN" sz="26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𝐥𝐨𝐠</m:t>
                            </m:r>
                            <m:f>
                              <m:f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  <m:r>
                                      <a:rPr lang="zh-CN" altLang="en-US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，</m:t>
                                    </m:r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𝒑</m:t>
                        </m:r>
                        <m:d>
                          <m:dPr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6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𝐥𝐨𝐠</m:t>
                        </m:r>
                        <m:f>
                          <m:fPr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𝒚</m:t>
                        </m:r>
                      </m:sub>
                      <m:sup/>
                      <m:e>
                        <m: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𝒑</m:t>
                        </m:r>
                        <m:d>
                          <m:dPr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26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𝐥𝐨𝐠</m:t>
                        </m:r>
                        <m:f>
                          <m:fPr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US" altLang="zh-CN" sz="26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𝐥𝐨𝐠</m:t>
                            </m:r>
                            <m:f>
                              <m:f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  <m:r>
                                      <a:rPr lang="zh-CN" altLang="en-US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，</m:t>
                                    </m:r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  <m:r>
                      <a:rPr lang="en-US" altLang="zh-CN" sz="26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nary>
                        <m:r>
                          <a:rPr lang="en-US" altLang="zh-CN" sz="26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𝐥𝐨𝐠</m:t>
                        </m:r>
                        <m:f>
                          <m:fPr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</m:oMath>
                </a14:m>
                <a:endParaRPr lang="en-US" altLang="zh-CN" sz="2600" b="1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nary>
                        <m:r>
                          <a:rPr lang="en-US" altLang="zh-CN" sz="26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𝐥𝐨𝐠</m:t>
                        </m:r>
                        <m:f>
                          <m:fPr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US" altLang="zh-CN" sz="26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𝐥𝐨𝐠</m:t>
                            </m:r>
                            <m:f>
                              <m:f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  <m:r>
                                      <a:rPr lang="zh-CN" altLang="en-US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，</m:t>
                                    </m:r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𝐥𝐨𝐠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)</m:t>
                                </m:r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(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altLang="zh-CN" sz="2600" b="1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𝐥𝐨𝐠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𝟏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𝟎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600" b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" name="Rectangle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439FEFC-8D7F-DFB1-61A2-1C89F23760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" y="762000"/>
                <a:ext cx="8406604" cy="5874429"/>
              </a:xfrm>
              <a:prstGeom prst="rect">
                <a:avLst/>
              </a:prstGeom>
              <a:blipFill>
                <a:blip r:embed="rId5"/>
                <a:stretch>
                  <a:fillRect l="-1523" t="-726" b="-134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62C2E45-A3C8-9EBA-E386-73F804592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7724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联合熵与条件熵（续）</a:t>
            </a:r>
          </a:p>
          <a:p>
            <a:pPr eaLnBrk="1" hangingPunct="1">
              <a:buFontTx/>
              <a:buNone/>
            </a:pPr>
            <a:endParaRPr lang="zh-CN" altLang="en-US"/>
          </a:p>
        </p:txBody>
      </p:sp>
      <p:grpSp>
        <p:nvGrpSpPr>
          <p:cNvPr id="16388" name="组合 2">
            <a:extLst>
              <a:ext uri="{FF2B5EF4-FFF2-40B4-BE49-F238E27FC236}">
                <a16:creationId xmlns:a16="http://schemas.microsoft.com/office/drawing/2014/main" id="{4363952E-83A2-70D9-7F00-517EEE793B65}"/>
              </a:ext>
            </a:extLst>
          </p:cNvPr>
          <p:cNvGrpSpPr>
            <a:grpSpLocks/>
          </p:cNvGrpSpPr>
          <p:nvPr/>
        </p:nvGrpSpPr>
        <p:grpSpPr bwMode="auto">
          <a:xfrm>
            <a:off x="3957638" y="4437063"/>
            <a:ext cx="4392612" cy="1027112"/>
            <a:chOff x="4355976" y="4941168"/>
            <a:chExt cx="4392488" cy="1026986"/>
          </a:xfrm>
        </p:grpSpPr>
        <p:sp>
          <p:nvSpPr>
            <p:cNvPr id="4" name="右弧形箭头 17">
              <a:extLst>
                <a:ext uri="{FF2B5EF4-FFF2-40B4-BE49-F238E27FC236}">
                  <a16:creationId xmlns:a16="http://schemas.microsoft.com/office/drawing/2014/main" id="{F230C53F-EEA2-EE5A-23B3-11BF85ABDE31}"/>
                </a:ext>
              </a:extLst>
            </p:cNvPr>
            <p:cNvSpPr/>
            <p:nvPr/>
          </p:nvSpPr>
          <p:spPr bwMode="auto">
            <a:xfrm>
              <a:off x="4355976" y="4941168"/>
              <a:ext cx="576246" cy="792065"/>
            </a:xfrm>
            <a:prstGeom prst="curvedLeftArrow">
              <a:avLst>
                <a:gd name="adj1" fmla="val 0"/>
                <a:gd name="adj2" fmla="val 37199"/>
                <a:gd name="adj3" fmla="val 32559"/>
              </a:avLst>
            </a:prstGeom>
            <a:solidFill>
              <a:srgbClr val="FF0000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wrap="none" anchor="ctr"/>
            <a:lstStyle/>
            <a:p>
              <a:pPr algn="ctr" eaLnBrk="1" fontAlgn="auto" latinLnBrk="1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endParaRPr kumimoji="1" lang="zh-CN" altLang="en-US" sz="1000" kern="0">
                <a:solidFill>
                  <a:srgbClr val="000000"/>
                </a:solidFill>
                <a:latin typeface="굴림" pitchFamily="50" charset="-127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0E252D2-7E0D-0ED7-9471-358AFE413D3B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220071" y="5075602"/>
              <a:ext cx="3528393" cy="892552"/>
            </a:xfrm>
            <a:prstGeom prst="rect">
              <a:avLst/>
            </a:prstGeom>
            <a:blipFill>
              <a:blip r:embed="rId3"/>
              <a:stretch>
                <a:fillRect l="-3109" t="-7534" b="-15068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E3139E9-E9A9-B900-B864-7538D00C0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93" y="857783"/>
                <a:ext cx="8822214" cy="51424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定理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  <a:r>
                  <a:rPr lang="zh-CN" altLang="en-US" sz="2800" b="1" dirty="0">
                    <a:latin typeface="+mn-ea"/>
                    <a:ea typeface="+mn-ea"/>
                    <a:cs typeface="Times New Roman" pitchFamily="18" charset="0"/>
                  </a:rPr>
                  <a:t>证明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+mn-ea"/>
                    <a:ea typeface="+mn-ea"/>
                    <a:cs typeface="Times New Roman" pitchFamily="18" charset="0"/>
                  </a:rPr>
                  <a:t>.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（续）</a:t>
                </a:r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（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𝑯</m:t>
                    </m:r>
                    <m:d>
                      <m:d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𝑿</m:t>
                        </m:r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𝑯</m:t>
                    </m:r>
                    <m:d>
                      <m:d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US" altLang="zh-CN" sz="26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𝐥𝐨𝐠</m:t>
                            </m:r>
                            <m:f>
                              <m:f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∣</m:t>
                                    </m:r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𝒑</m:t>
                        </m:r>
                        <m:d>
                          <m:dPr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6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𝐥𝐨𝐠</m:t>
                        </m:r>
                        <m:f>
                          <m:fPr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US" altLang="zh-CN" sz="26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𝐥𝐨𝐠</m:t>
                            </m:r>
                            <m:f>
                              <m:f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∣</m:t>
                                    </m:r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  <m:r>
                      <a:rPr lang="en-US" altLang="zh-CN" sz="26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nary>
                        <m:r>
                          <a:rPr lang="en-US" altLang="zh-CN" sz="26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𝐥𝐨𝐠</m:t>
                        </m:r>
                        <m:f>
                          <m:fPr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US" altLang="zh-CN" sz="26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𝐥𝐨𝐠</m:t>
                            </m:r>
                            <m:f>
                              <m:fPr>
                                <m:ctrlP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∣</m:t>
                                    </m:r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𝐥𝐨𝐠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  <m:r>
                                      <a:rPr lang="zh-CN" altLang="en-US" sz="26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，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𝒚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)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𝒙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∣</m:t>
                                    </m:r>
                                    <m:r>
                                      <a:rPr lang="en-US" altLang="zh-CN" sz="2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altLang="zh-CN" sz="2600" b="1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𝐥𝐨𝐠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𝒚</m:t>
                            </m:r>
                          </m:sub>
                          <m:sup/>
                          <m:e>
                            <m:r>
                              <a:rPr lang="en-US" altLang="zh-CN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US" altLang="zh-CN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altLang="zh-CN" sz="2600" b="1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600" b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𝟎</m:t>
                    </m:r>
                  </m:oMath>
                </a14:m>
                <a:r>
                  <a:rPr lang="zh-CN" altLang="en-US" sz="2600" b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E3139E9-E9A9-B900-B864-7538D00C0B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893" y="857783"/>
                <a:ext cx="8822214" cy="5142433"/>
              </a:xfrm>
              <a:prstGeom prst="rect">
                <a:avLst/>
              </a:prstGeom>
              <a:blipFill>
                <a:blip r:embed="rId5"/>
                <a:stretch>
                  <a:fillRect l="-1381" t="-949" b="-177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0C5896F-7AAB-A4E8-F82E-DA42C023F7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7724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联合熵与条件熵（续）</a:t>
            </a:r>
          </a:p>
          <a:p>
            <a:pPr eaLnBrk="1" hangingPunct="1">
              <a:buFontTx/>
              <a:buNone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FC0E1FA-39AB-D027-FFFE-624732D70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571" y="914400"/>
                <a:ext cx="8692014" cy="47459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下面讨论两种极端情况：</a:t>
                </a:r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u="sng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互相独立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时，容易证明：</a:t>
                </a:r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2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2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20000"/>
                  </a:lnSpc>
                  <a:buFont typeface="+mj-lt"/>
                  <a:buAutoNum type="arabicPeriod" startAt="2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之间有</a:t>
                </a:r>
                <a:r>
                  <a:rPr lang="zh-CN" altLang="en-US" sz="2800" u="sng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一一对应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关系时，容易证明：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2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endParaRPr lang="en-US" altLang="zh-CN" sz="28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CFC0E1FA-39AB-D027-FFFE-624732D70D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571" y="914400"/>
                <a:ext cx="8692014" cy="4745915"/>
              </a:xfrm>
              <a:prstGeom prst="rect">
                <a:avLst/>
              </a:prstGeom>
              <a:blipFill>
                <a:blip r:embed="rId5"/>
                <a:stretch>
                  <a:fillRect l="-1474" t="-8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44343AC-495B-6594-99A8-131F841BA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7724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F8009E5-5A0C-AD04-9D78-6DAEA2A0E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" y="1143000"/>
                <a:ext cx="8692014" cy="52106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例子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3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随机变量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的联合分布如下：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30000"/>
                  </a:lnSpc>
                  <a:spcBef>
                    <a:spcPts val="600"/>
                  </a:spcBef>
                  <a:buFont typeface="+mj-lt"/>
                  <a:buAutoNum type="arabicPeriod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如果知道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的结果，求得到的平均信息量；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如果知道</a:t>
                </a:r>
                <a14:m>
                  <m:oMath xmlns:m="http://schemas.openxmlformats.org/officeDocument/2006/math">
                    <m:r>
                      <a:rPr lang="en-US" altLang="zh-CN" sz="28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的结果，求得到的平均信息量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;</a:t>
                </a:r>
              </a:p>
              <a:p>
                <a:pPr marL="514350" indent="-514350" eaLnBrk="1" hangingPunct="1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在已知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的情况下，知道</a:t>
                </a:r>
                <a14:m>
                  <m:oMath xmlns:m="http://schemas.openxmlformats.org/officeDocument/2006/math"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的结果，求得到的平均信息量。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F8009E5-5A0C-AD04-9D78-6DAEA2A0EC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" y="1143000"/>
                <a:ext cx="8692014" cy="5210657"/>
              </a:xfrm>
              <a:prstGeom prst="rect">
                <a:avLst/>
              </a:prstGeom>
              <a:blipFill>
                <a:blip r:embed="rId4"/>
                <a:stretch>
                  <a:fillRect l="-1403" t="-351" b="-82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7FFB8C39-03F4-66E8-D756-4AC0E2FE60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7357466"/>
                  </p:ext>
                </p:extLst>
              </p:nvPr>
            </p:nvGraphicFramePr>
            <p:xfrm>
              <a:off x="1219200" y="1828800"/>
              <a:ext cx="6408712" cy="20696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217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17414">
                    <a:tc>
                      <a:txBody>
                        <a:bodyPr/>
                        <a:lstStyle/>
                        <a:p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74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74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74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7FFB8C39-03F4-66E8-D756-4AC0E2FE60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7357466"/>
                  </p:ext>
                </p:extLst>
              </p:nvPr>
            </p:nvGraphicFramePr>
            <p:xfrm>
              <a:off x="1219200" y="1828800"/>
              <a:ext cx="6408712" cy="20696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217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17414">
                    <a:tc>
                      <a:txBody>
                        <a:bodyPr/>
                        <a:lstStyle/>
                        <a:p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60" t="-2353" r="-200760" b="-3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60" t="-2353" r="-100760" b="-3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60" t="-2353" r="-760" b="-3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74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0" t="-102353" r="-300760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60" t="-102353" r="-200760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60" t="-102353" r="-100760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60" t="-102353" r="-760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74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0" t="-202353" r="-30076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60" t="-202353" r="-20076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60" t="-202353" r="-10076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60" t="-202353" r="-760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74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0" t="-302353" r="-30076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60" t="-302353" r="-20076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60" t="-302353" r="-10076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60" t="-302353" r="-760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20810E0-4BD1-D1ED-4076-D0F2757A3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7724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联合熵与条件熵（续）</a:t>
            </a:r>
          </a:p>
          <a:p>
            <a:pPr eaLnBrk="1" hangingPunct="1">
              <a:buFontTx/>
              <a:buNone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7C3D231-5100-50AB-3218-5790A89B5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112" y="921198"/>
                <a:ext cx="8771776" cy="50156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800" b="1" dirty="0">
                    <a:latin typeface="+mn-ea"/>
                    <a:ea typeface="+mn-ea"/>
                  </a:rPr>
                  <a:t>例子</a:t>
                </a:r>
                <a:r>
                  <a:rPr kumimoji="0"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kumimoji="0" lang="zh-CN" altLang="en-US" sz="2800" dirty="0">
                    <a:cs typeface="Times New Roman" pitchFamily="18" charset="0"/>
                  </a:rPr>
                  <a:t>（续）</a:t>
                </a:r>
                <a:endParaRPr kumimoji="0" lang="en-US" altLang="zh-CN" sz="2800" dirty="0"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1.</a:t>
                </a:r>
                <a:r>
                  <a:rPr lang="en-US" altLang="zh-CN" sz="2800" dirty="0"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，</m:t>
                                    </m:r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=2×</m:t>
                    </m:r>
                    <m:f>
                      <m:f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7</m:t>
                        </m:r>
                      </m:num>
                      <m:den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24</m:t>
                        </m:r>
                      </m:num>
                      <m:den>
                        <m: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7</m:t>
                        </m:r>
                      </m:den>
                    </m:f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4×</m:t>
                    </m:r>
                    <m:f>
                      <m:f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800" b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24+</m:t>
                    </m:r>
                    <m:f>
                      <m:f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800" b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4=</m:t>
                    </m:r>
                  </m:oMath>
                </a14:m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2.3 bit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2.</a:t>
                </a:r>
                <a:r>
                  <a:rPr lang="zh-CN" altLang="en-US" sz="2800" dirty="0">
                    <a:cs typeface="Times New Roman" pitchFamily="18" charset="0"/>
                  </a:rPr>
                  <a:t> </a:t>
                </a:r>
                <a:r>
                  <a:rPr kumimoji="0" lang="en-US" altLang="zh-CN" sz="28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kumimoji="0" lang="en-US" altLang="zh-C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的概率分布如下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eqAr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8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8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8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kumimoji="0" lang="en-US" altLang="zh-CN" sz="28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24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24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24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zh-CN" altLang="en-US" sz="2800" i="1"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    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eqAr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8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24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24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24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所以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=3×</m:t>
                    </m:r>
                    <m:f>
                      <m:f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3=1.58 </m:t>
                    </m:r>
                    <m:r>
                      <m:rPr>
                        <m:sty m:val="p"/>
                      </m:rP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  <m:r>
                      <a:rPr kumimoji="0" lang="zh-CN" altLang="en-US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3</a:t>
                </a:r>
                <a:r>
                  <a:rPr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=2.3−1.58=0.72 </m:t>
                    </m:r>
                    <m:r>
                      <m:rPr>
                        <m:sty m:val="p"/>
                      </m:rP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7C3D231-5100-50AB-3218-5790A89B5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112" y="921198"/>
                <a:ext cx="8771776" cy="5015604"/>
              </a:xfrm>
              <a:prstGeom prst="rect">
                <a:avLst/>
              </a:prstGeom>
              <a:blipFill>
                <a:blip r:embed="rId4"/>
                <a:stretch>
                  <a:fillRect l="-1460" t="-851" b="-243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640BEFB-A75C-6A7A-22AA-5F7DB20F3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7724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联合熵与条件熵（续）</a:t>
            </a:r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D282BD5-5957-6C5E-544B-F600F5EF06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538" y="762000"/>
                <a:ext cx="8771776" cy="5488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6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例子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+mn-ea"/>
                    <a:ea typeface="+mn-ea"/>
                    <a:cs typeface="Times New Roman" pitchFamily="18" charset="0"/>
                  </a:rPr>
                  <a:t>3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（续）</a:t>
                </a:r>
                <a:endParaRPr lang="en-US" altLang="zh-CN" sz="26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3. 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事实上</a:t>
                </a:r>
                <a14:m>
                  <m:oMath xmlns:m="http://schemas.openxmlformats.org/officeDocument/2006/math">
                    <m:r>
                      <a:rPr lang="zh-CN" alt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的条件概率分布如下：</a:t>
                </a:r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ts val="1200"/>
                  </a:spcBef>
                  <a:defRPr/>
                </a:pPr>
                <a:r>
                  <a:rPr lang="zh-CN" altLang="en-US" sz="26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    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2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∣</m:t>
                                    </m:r>
                                    <m:r>
                                      <a:rPr lang="en-US" altLang="zh-CN" sz="2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=2×</m:t>
                    </m:r>
                    <m:f>
                      <m:f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24</m:t>
                        </m:r>
                      </m:den>
                    </m:f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7</m:t>
                        </m:r>
                      </m:den>
                    </m:f>
                    <m:r>
                      <a:rPr lang="en-US" altLang="zh-CN" sz="26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2×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24</m:t>
                        </m:r>
                      </m:den>
                    </m:f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+2×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24</m:t>
                        </m:r>
                      </m:den>
                    </m:f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=0.72 </m:t>
                    </m:r>
                    <m:r>
                      <m:rPr>
                        <m:sty m:val="p"/>
                      </m:rP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D282BD5-5957-6C5E-544B-F600F5EF06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538" y="762000"/>
                <a:ext cx="8771776" cy="5488490"/>
              </a:xfrm>
              <a:prstGeom prst="rect">
                <a:avLst/>
              </a:prstGeom>
              <a:blipFill>
                <a:blip r:embed="rId4"/>
                <a:stretch>
                  <a:fillRect l="-1251" t="-556" b="-111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C69BB2CB-DF72-B47A-BADD-4BC798F3B6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1000931"/>
                  </p:ext>
                </p:extLst>
              </p:nvPr>
            </p:nvGraphicFramePr>
            <p:xfrm>
              <a:off x="1143000" y="1828800"/>
              <a:ext cx="6624736" cy="238868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561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2078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376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num>
                                  <m:den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376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num>
                                  <m:den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376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num>
                                  <m:den>
                                    <m:r>
                                      <a:rPr lang="en-US" altLang="zh-CN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C69BB2CB-DF72-B47A-BADD-4BC798F3B6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1000931"/>
                  </p:ext>
                </p:extLst>
              </p:nvPr>
            </p:nvGraphicFramePr>
            <p:xfrm>
              <a:off x="1143000" y="1828800"/>
              <a:ext cx="6624736" cy="238868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561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8" t="-3077" r="-300735" b="-50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68" t="-3077" r="-200735" b="-50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368" t="-3077" r="-100735" b="-50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368" t="-3077" r="-735" b="-5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414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8" t="-61468" r="-300735" b="-2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68" t="-61468" r="-200735" b="-2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368" t="-61468" r="-100735" b="-2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368" t="-61468" r="-735" b="-2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6414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8" t="-161468" r="-300735" b="-1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68" t="-161468" r="-200735" b="-1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368" t="-161468" r="-100735" b="-1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368" t="-161468" r="-735" b="-1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6414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8" t="-261468" r="-300735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68" t="-261468" r="-200735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368" t="-261468" r="-100735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368" t="-261468" r="-735" b="-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55F3053-C4EF-2ABA-317B-BCA94A66B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223838"/>
            <a:ext cx="62484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DDD1243-CE0C-F384-6BC3-1DC933995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939" y="914400"/>
                <a:ext cx="8692014" cy="23457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latin typeface="+mn-ea"/>
                    <a:ea typeface="+mn-ea"/>
                    <a:cs typeface="Tahoma"/>
                  </a:rPr>
                  <a:t>定义</a:t>
                </a:r>
                <a:r>
                  <a:rPr lang="en-US" altLang="zh-CN" sz="2800" b="1" dirty="0">
                    <a:latin typeface="+mn-ea"/>
                    <a:ea typeface="+mn-ea"/>
                    <a:cs typeface="Times New Roman" pitchFamily="18" charset="0"/>
                  </a:rPr>
                  <a:t>4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一个事件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给出关于另一个事件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的信息称为互信息，用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表示，即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lang="en-US" altLang="zh-CN" sz="28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zh-CN" altLang="en-US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endParaRPr lang="en-US" altLang="zh-CN" sz="2800" b="1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DDD1243-CE0C-F384-6BC3-1DC9339951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939" y="914400"/>
                <a:ext cx="8692014" cy="2345770"/>
              </a:xfrm>
              <a:prstGeom prst="rect">
                <a:avLst/>
              </a:prstGeom>
              <a:blipFill>
                <a:blip r:embed="rId4"/>
                <a:stretch>
                  <a:fillRect l="-140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7557101-EF38-809F-F922-3B1ED02CB7A7}"/>
                  </a:ext>
                </a:extLst>
              </p:cNvPr>
              <p:cNvSpPr txBox="1"/>
              <p:nvPr/>
            </p:nvSpPr>
            <p:spPr>
              <a:xfrm>
                <a:off x="211610" y="3429000"/>
                <a:ext cx="8692014" cy="264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互信息</a:t>
                </a:r>
                <a14:m>
                  <m:oMath xmlns:m="http://schemas.openxmlformats.org/officeDocument/2006/math">
                    <m:r>
                      <a:rPr lang="en-US" altLang="zh-CN" sz="26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1"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是已知事件</a:t>
                </a:r>
                <a14:m>
                  <m:oMath xmlns:m="http://schemas.openxmlformats.org/officeDocument/2006/math">
                    <m:r>
                      <a:rPr lang="en-US" altLang="zh-CN" sz="26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1"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后所消除的关于事件</a:t>
                </a:r>
                <a14:m>
                  <m:oMath xmlns:m="http://schemas.openxmlformats.org/officeDocument/2006/math">
                    <m:r>
                      <a:rPr lang="en-US" altLang="zh-CN" sz="26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1"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的不确定性。</a:t>
                </a:r>
                <a:endParaRPr kumimoji="1" lang="en-US" altLang="zh-CN" sz="2600" dirty="0">
                  <a:solidFill>
                    <a:srgbClr val="000000"/>
                  </a:solidFill>
                  <a:latin typeface="Times New Roman" pitchFamily="18" charset="0"/>
                  <a:cs typeface="Tahoma"/>
                </a:endParaRPr>
              </a:p>
              <a:p>
                <a:pPr marL="457200" indent="-457200" eaLnBrk="1" hangingPunct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在通信系统中，互信息的物理意义是，信道</a:t>
                </a:r>
                <a:r>
                  <a:rPr kumimoji="1" lang="zh-CN" altLang="en-US" sz="2600" u="sng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输出端</a:t>
                </a:r>
                <a:r>
                  <a:rPr kumimoji="1"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接收到某消息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1"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后获得的关于</a:t>
                </a:r>
                <a:r>
                  <a:rPr kumimoji="1" lang="zh-CN" altLang="en-US" sz="2600" u="sng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输入端</a:t>
                </a:r>
                <a:r>
                  <a:rPr kumimoji="1"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某消息</a:t>
                </a:r>
                <a14:m>
                  <m:oMath xmlns:m="http://schemas.openxmlformats.org/officeDocument/2006/math">
                    <m:r>
                      <a:rPr lang="en-US" altLang="zh-CN" sz="26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1"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的信息量。</a:t>
                </a:r>
                <a:endParaRPr kumimoji="1" lang="en-US" altLang="zh-CN" sz="2600" dirty="0">
                  <a:solidFill>
                    <a:srgbClr val="000000"/>
                  </a:solidFill>
                  <a:latin typeface="Times New Roman" pitchFamily="18" charset="0"/>
                  <a:cs typeface="Tahom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7557101-EF38-809F-F922-3B1ED02C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10" y="3429000"/>
                <a:ext cx="8692014" cy="2649700"/>
              </a:xfrm>
              <a:prstGeom prst="rect">
                <a:avLst/>
              </a:prstGeom>
              <a:blipFill>
                <a:blip r:embed="rId6"/>
                <a:stretch>
                  <a:fillRect l="-1122" b="-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58F2464-8A79-01DF-5C4A-3A8B7744D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50292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  <a:p>
            <a:pPr eaLnBrk="1" hangingPunct="1">
              <a:buFontTx/>
              <a:buNone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D4C0AEB-4E1F-39D2-E55F-06F38EE08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400" y="838200"/>
                <a:ext cx="8731696" cy="56966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600" b="1" dirty="0">
                    <a:latin typeface="宋体" pitchFamily="2" charset="-122"/>
                    <a:cs typeface="Tahoma"/>
                  </a:rPr>
                  <a:t>例子</a:t>
                </a:r>
                <a:r>
                  <a:rPr lang="en-US" altLang="zh-CN" sz="2600" b="1" dirty="0">
                    <a:latin typeface="宋体" pitchFamily="2" charset="-122"/>
                    <a:cs typeface="Tahoma"/>
                  </a:rPr>
                  <a:t>4 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一个有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80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个彩球的箱子里分别有黄球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40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个，红球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20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个，蓝球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10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个，绿球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10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个。如果消息</a:t>
                </a:r>
                <a14:m>
                  <m:oMath xmlns:m="http://schemas.openxmlformats.org/officeDocument/2006/math">
                    <m:r>
                      <a:rPr lang="en-US" altLang="zh-CN" sz="26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表示摸出的球</a:t>
                </a:r>
                <a:r>
                  <a:rPr lang="zh-CN" altLang="en-US" sz="2600" u="sng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不是黄球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求收到</a:t>
                </a:r>
                <a14:m>
                  <m:oMath xmlns:m="http://schemas.openxmlformats.org/officeDocument/2006/math">
                    <m:r>
                      <a:rPr lang="en-US" altLang="zh-CN" sz="26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后，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与摸到各种颜色的球的互信息量。</a:t>
                </a:r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6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记消息</a:t>
                </a:r>
                <a14:m>
                  <m:oMath xmlns:m="http://schemas.openxmlformats.org/officeDocument/2006/math">
                    <m:r>
                      <a:rPr lang="en-US" altLang="zh-CN" sz="26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（</m:t>
                    </m:r>
                    <m:r>
                      <a:rPr lang="zh-CN" altLang="en-US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黄</m:t>
                    </m:r>
                    <m:r>
                      <a:rPr lang="zh-CN" alt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）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（</m:t>
                    </m:r>
                    <m:r>
                      <a:rPr lang="zh-CN" alt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红</m:t>
                    </m:r>
                    <m:r>
                      <a:rPr lang="zh-CN" altLang="en-US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）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（</m:t>
                    </m:r>
                    <m:r>
                      <a:rPr lang="zh-CN" alt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蓝</m:t>
                    </m:r>
                    <m:r>
                      <a:rPr lang="zh-CN" altLang="en-US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）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（</m:t>
                    </m:r>
                    <m:r>
                      <a:rPr lang="zh-CN" alt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绿</m:t>
                    </m:r>
                    <m:r>
                      <a:rPr lang="zh-CN" altLang="en-US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）。</m:t>
                    </m:r>
                  </m:oMath>
                </a14:m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20000"/>
                  </a:lnSpc>
                  <a:defRPr/>
                </a:pP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 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CN" sz="2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6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 eaLnBrk="1" hangingPunct="1">
                  <a:lnSpc>
                    <a:spcPct val="120000"/>
                  </a:lnSpc>
                  <a:defRPr/>
                </a:pPr>
                <a:r>
                  <a:rPr lang="en-US" altLang="zh-CN" sz="2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 </m:t>
                    </m:r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6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与摸到各种颜色的球的互信息量：</a:t>
                </a:r>
                <a:endParaRPr lang="en-US" altLang="zh-CN" sz="26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=∞</m:t>
                    </m:r>
                    <m:r>
                      <a:rPr lang="zh-CN" altLang="en-US"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1 </m:t>
                    </m:r>
                    <m:r>
                      <m:rPr>
                        <m:sty m:val="p"/>
                      </m:rP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  <m:r>
                      <a:rPr lang="zh-CN" altLang="en-US"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</m:oMath>
                </a14:m>
                <a:endParaRPr lang="en-US" altLang="zh-CN" sz="25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5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1 </m:t>
                    </m:r>
                    <m:r>
                      <m:rPr>
                        <m:sty m:val="p"/>
                      </m:rP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  <m:r>
                      <a:rPr lang="zh-CN" altLang="en-US"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5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D4C0AEB-4E1F-39D2-E55F-06F38EE08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838200"/>
                <a:ext cx="8731696" cy="5696688"/>
              </a:xfrm>
              <a:prstGeom prst="rect">
                <a:avLst/>
              </a:prstGeom>
              <a:blipFill>
                <a:blip r:embed="rId4"/>
                <a:stretch>
                  <a:fillRect l="-1257" t="-642" r="-474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490CEE7-5215-1A4B-DD28-FB3291EA6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50292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  <a:p>
            <a:pPr eaLnBrk="1" hangingPunct="1">
              <a:buFontTx/>
              <a:buNone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ADCA092-69BC-1845-5506-86B38432D5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914400"/>
                <a:ext cx="8692014" cy="3453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latin typeface="宋体" pitchFamily="2" charset="-122"/>
                    <a:cs typeface="Tahoma"/>
                  </a:rPr>
                  <a:t>定理</a:t>
                </a:r>
                <a:r>
                  <a:rPr lang="en-US" altLang="zh-CN" sz="2800" b="1" dirty="0">
                    <a:latin typeface="宋体" pitchFamily="2" charset="-122"/>
                    <a:cs typeface="Tahoma"/>
                  </a:rPr>
                  <a:t>3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互信息具有以下几点性质：</a:t>
                </a:r>
                <a:endParaRPr lang="en-US" altLang="zh-CN" sz="280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marL="514350" indent="-514350" eaLnBrk="1" hangingPunct="1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宋体" pitchFamily="2" charset="-122"/>
                    <a:cs typeface="Times New Roman" pitchFamily="18" charset="0"/>
                  </a:rPr>
                  <a:t>互易性：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当事件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𝑦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统计独立时，互信息为零，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互信息取值可能是正数或者负数；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 eaLnBrk="1" hangingPunct="1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任何两事件之间的互信息不可能大于其中任意事件的自信息。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ADCA092-69BC-1845-5506-86B38432D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914400"/>
                <a:ext cx="8692014" cy="3453253"/>
              </a:xfrm>
              <a:prstGeom prst="rect">
                <a:avLst/>
              </a:prstGeom>
              <a:blipFill>
                <a:blip r:embed="rId4"/>
                <a:stretch>
                  <a:fillRect l="-1403" t="-353" r="-5540" b="-17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B23B9FE-861D-FBA1-5446-855618C03E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50292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  <a:p>
            <a:pPr eaLnBrk="1" hangingPunct="1">
              <a:buFontTx/>
              <a:buNone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F7B459C-1DC1-F375-43B3-1FE2ABBC6DE8}"/>
                  </a:ext>
                </a:extLst>
              </p:cNvPr>
              <p:cNvSpPr txBox="1"/>
              <p:nvPr/>
            </p:nvSpPr>
            <p:spPr>
              <a:xfrm>
                <a:off x="166338" y="826941"/>
                <a:ext cx="8977661" cy="5685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latin typeface="+mn-ea"/>
                    <a:ea typeface="+mn-ea"/>
                  </a:rPr>
                  <a:t>定理</a:t>
                </a:r>
                <a:r>
                  <a:rPr lang="en-US" altLang="zh-CN" sz="2400" b="1" dirty="0">
                    <a:latin typeface="+mn-ea"/>
                    <a:ea typeface="+mn-ea"/>
                  </a:rPr>
                  <a:t>3</a:t>
                </a:r>
                <a:r>
                  <a:rPr lang="zh-CN" altLang="en-US" sz="2400" b="1" dirty="0">
                    <a:latin typeface="+mn-ea"/>
                    <a:ea typeface="+mn-ea"/>
                  </a:rPr>
                  <a:t>证明</a:t>
                </a:r>
                <a:r>
                  <a:rPr lang="en-US" altLang="zh-CN" sz="2400" b="1" dirty="0">
                    <a:latin typeface="+mn-ea"/>
                    <a:ea typeface="+mn-ea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1.</a:t>
                </a:r>
                <a:r>
                  <a:rPr kumimoji="0"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互易性：</a:t>
                </a:r>
                <a14:m>
                  <m:oMath xmlns:m="http://schemas.openxmlformats.org/officeDocument/2006/math"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。</a:t>
                </a:r>
                <a:endParaRPr kumimoji="0" lang="en-US" altLang="zh-CN" sz="2400" dirty="0">
                  <a:latin typeface="+mn-ea"/>
                  <a:ea typeface="+mn-ea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0" lang="en-US" altLang="zh-CN" sz="2400" dirty="0">
                    <a:latin typeface="+mn-ea"/>
                    <a:ea typeface="+mn-ea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400" b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4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kumimoji="0" lang="en-US" altLang="zh-CN" sz="2400" b="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∣</m:t>
                            </m:r>
                            <m:r>
                              <a:rPr kumimoji="0"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4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400" b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4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𝑥𝑦</m:t>
                            </m:r>
                          </m:e>
                        </m:d>
                      </m:num>
                      <m:den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4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40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400" b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4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𝑦</m:t>
                            </m:r>
                            <m:r>
                              <a:rPr kumimoji="0" lang="en-US" altLang="zh-CN" sz="2400" b="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∣</m:t>
                            </m:r>
                            <m:r>
                              <a:rPr kumimoji="0"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4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2400" dirty="0">
                  <a:latin typeface="+mn-ea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2.</a:t>
                </a:r>
                <a:r>
                  <a:rPr lang="en-US" altLang="zh-CN" sz="2400" dirty="0">
                    <a:latin typeface="+mn-ea"/>
                    <a:ea typeface="+mn-ea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𝑥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，</m:t>
                    </m:r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𝑦</m:t>
                    </m:r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统计独立时，</a:t>
                </a:r>
                <a14:m>
                  <m:oMath xmlns:m="http://schemas.openxmlformats.org/officeDocument/2006/math"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+mn-ea"/>
                    <a:ea typeface="+mn-ea"/>
                  </a:rPr>
                  <a:t>。</a:t>
                </a:r>
                <a:endParaRPr lang="en-US" altLang="zh-CN" sz="2400" dirty="0">
                  <a:latin typeface="+mn-ea"/>
                  <a:ea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0" lang="en-US" altLang="zh-CN" sz="2400" dirty="0">
                    <a:latin typeface="+mn-ea"/>
                    <a:ea typeface="+mn-ea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400" b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4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kumimoji="0" lang="en-US" altLang="zh-CN" sz="2400" b="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∣</m:t>
                            </m:r>
                            <m:r>
                              <a:rPr kumimoji="0" lang="en-US" altLang="zh-CN" sz="2400" b="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40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>
                                <a:latin typeface="Cambria Math" panose="02040503050406030204" pitchFamily="18" charset="0"/>
                                <a:ea typeface="+mn-ea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2400" b="0" i="0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400" b="0" i="0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1=0</m:t>
                    </m:r>
                  </m:oMath>
                </a14:m>
                <a:endParaRPr lang="en-US" altLang="zh-CN" sz="2400" dirty="0">
                  <a:latin typeface="+mn-ea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3.</a:t>
                </a:r>
                <a:r>
                  <a:rPr lang="zh-CN" altLang="en-US" sz="2400" dirty="0">
                    <a:latin typeface="+mn-ea"/>
                    <a:ea typeface="+mn-ea"/>
                  </a:rPr>
                  <a:t> </a:t>
                </a:r>
                <a:r>
                  <a:rPr kumimoji="0"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互信息取值可能是正数或者负数。</a:t>
                </a:r>
                <a:endParaRPr lang="en-US" altLang="zh-CN" sz="2400" dirty="0">
                  <a:latin typeface="+mn-ea"/>
                  <a:ea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&gt;</m:t>
                    </m:r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+mn-ea"/>
                    <a:ea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kumimoji="0" lang="en-US" altLang="zh-CN" sz="2400" b="0" i="0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&gt;0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 </m:t>
                        </m:r>
                      </m:e>
                    </m:d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&lt;</m:t>
                    </m:r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kumimoji="0" lang="en-US" altLang="zh-CN" sz="2400" b="0" i="0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&lt;</m:t>
                    </m:r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latin typeface="+mn-ea"/>
                    <a:ea typeface="+mn-ea"/>
                  </a:rPr>
                  <a:t>。</a:t>
                </a:r>
                <a:endParaRPr lang="en-US" altLang="zh-CN" sz="2400" dirty="0">
                  <a:latin typeface="+mn-ea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4. </a:t>
                </a:r>
                <a:r>
                  <a:rPr kumimoji="0"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任何两事件之间的互信息小于等于其中任意事件的自信息。</a:t>
                </a:r>
                <a:endParaRPr kumimoji="0" lang="en-US" altLang="zh-CN" sz="2400" dirty="0">
                  <a:latin typeface="+mn-ea"/>
                  <a:ea typeface="+mn-ea"/>
                  <a:cs typeface="Times New Roman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0"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由</a:t>
                </a:r>
                <a14:m>
                  <m:oMath xmlns:m="http://schemas.openxmlformats.org/officeDocument/2006/math">
                    <m:r>
                      <a:rPr kumimoji="0" lang="en-US" altLang="zh-CN" sz="2400" b="0" i="0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400" b="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400" b="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≥0</m:t>
                    </m:r>
                  </m:oMath>
                </a14:m>
                <a:r>
                  <a:rPr kumimoji="0"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≤</m:t>
                    </m:r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+mn-ea"/>
                    <a:ea typeface="+mn-ea"/>
                  </a:rPr>
                  <a:t>。</a:t>
                </a:r>
                <a:endParaRPr lang="en-US" altLang="zh-CN" sz="2400" dirty="0"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F7B459C-1DC1-F375-43B3-1FE2ABBC6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38" y="826941"/>
                <a:ext cx="8977661" cy="5685018"/>
              </a:xfrm>
              <a:prstGeom prst="rect">
                <a:avLst/>
              </a:prstGeom>
              <a:blipFill>
                <a:blip r:embed="rId3"/>
                <a:stretch>
                  <a:fillRect l="-1018" b="-1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0587B06-27A8-D738-3695-E4D322AAF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50292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  <a:p>
            <a:pPr eaLnBrk="1" hangingPunct="1">
              <a:buFontTx/>
              <a:buNone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E9CEAA1-3D9F-BB4C-00E8-2DE17A656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914400"/>
                <a:ext cx="8692014" cy="3201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3200" b="1" dirty="0">
                    <a:latin typeface="宋体" pitchFamily="2" charset="-122"/>
                    <a:cs typeface="Tahoma"/>
                  </a:rPr>
                  <a:t>定义</a:t>
                </a:r>
                <a:r>
                  <a:rPr lang="en-US" altLang="zh-CN" sz="3200" b="1" dirty="0">
                    <a:latin typeface="宋体" pitchFamily="2" charset="-122"/>
                    <a:cs typeface="Tahoma"/>
                  </a:rPr>
                  <a:t>4 </a:t>
                </a:r>
                <a:r>
                  <a:rPr lang="zh-CN" altLang="en-US" sz="32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随机变量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32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之间的</a:t>
                </a:r>
                <a:r>
                  <a:rPr lang="zh-CN" altLang="en-US" sz="3200" dirty="0">
                    <a:solidFill>
                      <a:srgbClr val="C00000"/>
                    </a:solidFill>
                    <a:latin typeface="宋体" pitchFamily="2" charset="-122"/>
                    <a:cs typeface="Tahoma"/>
                  </a:rPr>
                  <a:t>平均互信息</a:t>
                </a:r>
                <a:r>
                  <a:rPr lang="zh-CN" altLang="en-US" sz="32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被定义为</a:t>
                </a:r>
                <a:endParaRPr lang="en-US" altLang="zh-CN" sz="320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zh-CN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;</m:t>
                            </m:r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32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3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en-US" altLang="zh-CN" sz="32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altLang="zh-CN" sz="3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lang="en-US" altLang="zh-CN" sz="32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</a:p>
              <a:p>
                <a:pPr algn="just" eaLnBrk="1" hangingPunct="1">
                  <a:lnSpc>
                    <a:spcPct val="130000"/>
                  </a:lnSpc>
                  <a:defRPr/>
                </a:pPr>
                <a:r>
                  <a:rPr lang="en-US" altLang="zh-CN" sz="32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3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CN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altLang="zh-CN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lang="en-US" altLang="zh-CN" sz="3200" b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altLang="zh-CN" sz="32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3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32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3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∣</m:t>
                                    </m:r>
                                    <m:sSub>
                                      <m:sSubPr>
                                        <m:ctrlPr>
                                          <a:rPr lang="en-US" altLang="zh-CN" sz="32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en-US" altLang="zh-CN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3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32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a:rPr lang="zh-CN" altLang="en-US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。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E9CEAA1-3D9F-BB4C-00E8-2DE17A656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914400"/>
                <a:ext cx="8692014" cy="3201326"/>
              </a:xfrm>
              <a:prstGeom prst="rect">
                <a:avLst/>
              </a:prstGeom>
              <a:blipFill>
                <a:blip r:embed="rId4"/>
                <a:stretch>
                  <a:fillRect l="-1753" t="-7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EFDD404-1628-695D-31A8-10657F9A1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4093" y="174171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互信息与平均互信息（续）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6F68D35-205A-9708-FD91-3BAF20CE5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806625"/>
                <a:ext cx="8692014" cy="57955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3000" b="1" dirty="0">
                    <a:latin typeface="宋体" pitchFamily="2" charset="-122"/>
                  </a:rPr>
                  <a:t>定理</a:t>
                </a:r>
                <a:r>
                  <a:rPr kumimoji="0" lang="en-US" altLang="zh-CN" sz="3000" b="1" dirty="0">
                    <a:latin typeface="宋体" pitchFamily="2" charset="-122"/>
                  </a:rPr>
                  <a:t>4 </a:t>
                </a:r>
                <a:r>
                  <a:rPr kumimoji="0" lang="zh-CN" altLang="en-US" sz="3000" dirty="0">
                    <a:latin typeface="宋体" pitchFamily="2" charset="-122"/>
                  </a:rPr>
                  <a:t>随机变量</a:t>
                </a:r>
                <a14:m>
                  <m:oMath xmlns:m="http://schemas.openxmlformats.org/officeDocument/2006/math">
                    <m:r>
                      <a:rPr kumimoji="0" lang="en-US" altLang="zh-CN" sz="3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0" lang="zh-CN" altLang="en-US" sz="3000" dirty="0">
                    <a:latin typeface="宋体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kumimoji="0" lang="en-US" altLang="zh-CN" sz="3000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kumimoji="0" lang="zh-CN" altLang="en-US" sz="3000" dirty="0">
                    <a:latin typeface="宋体" pitchFamily="2" charset="-122"/>
                  </a:rPr>
                  <a:t>之间的平均互信息满足</a:t>
                </a:r>
                <a:endParaRPr kumimoji="0" lang="en-US" altLang="zh-CN" sz="3000" dirty="0">
                  <a:latin typeface="宋体" pitchFamily="2" charset="-122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lang="en-US" altLang="zh-CN" sz="3000" dirty="0">
                    <a:latin typeface="宋体" pitchFamily="2" charset="-122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US" altLang="zh-CN" sz="3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3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3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3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3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3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kumimoji="0" lang="en-US" altLang="zh-CN" sz="3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3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3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3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kumimoji="0" lang="zh-CN" altLang="en-US" sz="30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30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lang="zh-CN" altLang="en-US" sz="3000" b="1" dirty="0">
                    <a:latin typeface="宋体" pitchFamily="2" charset="-122"/>
                  </a:rPr>
                  <a:t>定理</a:t>
                </a:r>
                <a:r>
                  <a:rPr lang="en-US" altLang="zh-CN" sz="3000" b="1" dirty="0">
                    <a:latin typeface="宋体" pitchFamily="2" charset="-122"/>
                  </a:rPr>
                  <a:t>4</a:t>
                </a:r>
                <a:r>
                  <a:rPr lang="zh-CN" altLang="en-US" sz="3000" b="1" dirty="0">
                    <a:latin typeface="宋体" pitchFamily="2" charset="-122"/>
                  </a:rPr>
                  <a:t>证明</a:t>
                </a:r>
                <a:r>
                  <a:rPr lang="en-US" altLang="zh-CN" sz="3000" b="1" dirty="0">
                    <a:latin typeface="宋体" pitchFamily="2" charset="-122"/>
                  </a:rPr>
                  <a:t>.</a:t>
                </a: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000" dirty="0">
                    <a:cs typeface="Times New Roman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3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kumimoji="0" lang="en-US" altLang="zh-CN" sz="30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3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kumimoji="0" lang="en-US" altLang="zh-CN" sz="3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;</m:t>
                            </m:r>
                            <m: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kumimoji="0" lang="en-US" altLang="zh-CN" sz="3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3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kumimoji="0" lang="en-US" altLang="zh-CN" sz="3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altLang="zh-CN" sz="30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m:rPr>
                        <m:nor/>
                      </m:rPr>
                      <a:rPr kumimoji="0" lang="en-US" altLang="zh-CN" sz="3000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en-US" altLang="zh-CN" sz="30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0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kumimoji="0" lang="en-US" altLang="zh-CN" sz="3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3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kumimoji="0" lang="en-US" altLang="zh-CN" sz="3000" b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kumimoji="0" lang="en-US" altLang="zh-CN" sz="3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0" lang="en-US" altLang="zh-CN" sz="30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30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∣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CN" sz="30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kumimoji="0" lang="en-US" altLang="zh-CN" sz="30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30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kumimoji="0" lang="en-US" altLang="zh-CN" sz="30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0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kumimoji="0" lang="en-US" altLang="zh-CN" sz="3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3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kumimoji="0" lang="en-US" altLang="zh-CN" sz="3000" b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kumimoji="0" lang="en-US" altLang="zh-CN" sz="3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0" lang="en-US" altLang="zh-CN" sz="3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altLang="zh-CN" sz="30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30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  <m:r>
                      <a:rPr kumimoji="0" lang="en-US" altLang="zh-CN" sz="3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kumimoji="0" lang="en-US" altLang="zh-CN" sz="3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3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30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kumimoji="0" lang="en-US" altLang="zh-CN" sz="30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kumimoji="0" lang="en-US" altLang="zh-CN" sz="3000" b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kumimoji="0" lang="en-US" altLang="zh-CN" sz="3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0" lang="en-US" altLang="zh-CN" sz="3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US" altLang="zh-CN" sz="30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30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30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3000" b="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US" altLang="zh-CN" sz="30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∣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CN" sz="300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30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30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kumimoji="0" lang="en-US" altLang="zh-CN" sz="30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0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30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30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lang="zh-CN" altLang="en-US" sz="3000" i="1"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kumimoji="0" lang="en-US" altLang="zh-CN" sz="30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6F68D35-205A-9708-FD91-3BAF20CE5A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806625"/>
                <a:ext cx="8692014" cy="5795561"/>
              </a:xfrm>
              <a:prstGeom prst="rect">
                <a:avLst/>
              </a:prstGeom>
              <a:blipFill>
                <a:blip r:embed="rId4"/>
                <a:stretch>
                  <a:fillRect l="-1613" t="-42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0E14F00-826F-BAFE-8B1D-3A797B6A4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5888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62EC4E4-B2EB-D0E6-7403-AA5C453AC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07" y="720337"/>
                <a:ext cx="8946873" cy="17105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随机变量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关于</a:t>
                </a:r>
                <a14:m>
                  <m:oMath xmlns:m="http://schemas.openxmlformats.org/officeDocument/2006/math">
                    <m:r>
                      <a:rPr kumimoji="0" lang="en-US" altLang="zh-CN" sz="28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8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的平均互信息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是收到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后关于</a:t>
                </a:r>
                <a14:m>
                  <m:oMath xmlns:m="http://schemas.openxmlformats.org/officeDocument/2006/math">
                    <m:r>
                      <a:rPr kumimoji="0" lang="en-US" altLang="zh-CN" sz="2800" b="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800" b="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</a:t>
                </a: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不确定性减少的量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，即从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所获得的关于</a:t>
                </a:r>
                <a14:m>
                  <m:oMath xmlns:m="http://schemas.openxmlformats.org/officeDocument/2006/math">
                    <m:r>
                      <a:rPr kumimoji="0" lang="en-US" altLang="zh-CN" sz="2800" b="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800" b="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的平均信息量。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62EC4E4-B2EB-D0E6-7403-AA5C453ACA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707" y="720337"/>
                <a:ext cx="8946873" cy="1710596"/>
              </a:xfrm>
              <a:prstGeom prst="rect">
                <a:avLst/>
              </a:prstGeom>
              <a:blipFill>
                <a:blip r:embed="rId4"/>
                <a:stretch>
                  <a:fillRect l="-1226" t="-712" b="-78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BD9ED8C5-7063-1E25-2083-AC36DBD3EC20}"/>
              </a:ext>
            </a:extLst>
          </p:cNvPr>
          <p:cNvGrpSpPr/>
          <p:nvPr/>
        </p:nvGrpSpPr>
        <p:grpSpPr>
          <a:xfrm>
            <a:off x="1774528" y="3432279"/>
            <a:ext cx="5181002" cy="557579"/>
            <a:chOff x="1774528" y="3432279"/>
            <a:chExt cx="5181002" cy="557579"/>
          </a:xfrm>
        </p:grpSpPr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C65A2CAF-A174-5E74-712A-8E40A0798AD5}"/>
                </a:ext>
              </a:extLst>
            </p:cNvPr>
            <p:cNvCxnSpPr>
              <a:stCxn id="24" idx="3"/>
              <a:endCxn id="29" idx="1"/>
            </p:cNvCxnSpPr>
            <p:nvPr/>
          </p:nvCxnSpPr>
          <p:spPr bwMode="auto">
            <a:xfrm>
              <a:off x="1774528" y="3432279"/>
              <a:ext cx="5181002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648A1D8-A625-2E1E-BF02-5A8B254CBE3A}"/>
                    </a:ext>
                  </a:extLst>
                </p:cNvPr>
                <p:cNvSpPr txBox="1"/>
                <p:nvPr/>
              </p:nvSpPr>
              <p:spPr>
                <a:xfrm>
                  <a:off x="3376916" y="3528193"/>
                  <a:ext cx="169914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rgbClr val="FF3300"/>
                      </a:solidFill>
                    </a:rPr>
                    <a:t>输出符号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a14:m>
                  <a:endParaRPr lang="zh-CN" altLang="en-US" sz="2400" b="1" dirty="0">
                    <a:solidFill>
                      <a:srgbClr val="FF33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6916" y="3528193"/>
                  <a:ext cx="1699140" cy="46166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5735" t="-14474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9DC0B29-14BD-B1EE-2BE1-7AE26B7BC1B2}"/>
                  </a:ext>
                </a:extLst>
              </p:cNvPr>
              <p:cNvSpPr txBox="1"/>
              <p:nvPr/>
            </p:nvSpPr>
            <p:spPr>
              <a:xfrm>
                <a:off x="5162537" y="2411098"/>
                <a:ext cx="18356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3300"/>
                    </a:solidFill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>
                    <a:solidFill>
                      <a:srgbClr val="FF3300"/>
                    </a:solidFill>
                  </a:rPr>
                  <a:t>的不确定度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zh-CN" altLang="en-US" sz="2400" b="1" dirty="0">
                  <a:solidFill>
                    <a:srgbClr val="FF3300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9DC0B29-14BD-B1EE-2BE1-7AE26B7BC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537" y="2411098"/>
                <a:ext cx="1835687" cy="830997"/>
              </a:xfrm>
              <a:prstGeom prst="rect">
                <a:avLst/>
              </a:prstGeom>
              <a:blipFill>
                <a:blip r:embed="rId8"/>
                <a:stretch>
                  <a:fillRect l="-5316" t="-8088" b="-13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C92857C-A7A9-5867-B32E-6A8DF166573D}"/>
                  </a:ext>
                </a:extLst>
              </p:cNvPr>
              <p:cNvSpPr txBox="1"/>
              <p:nvPr/>
            </p:nvSpPr>
            <p:spPr>
              <a:xfrm>
                <a:off x="5161822" y="3901252"/>
                <a:ext cx="194186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3300"/>
                    </a:solidFill>
                  </a:rPr>
                  <a:t>2. </a:t>
                </a:r>
                <a:r>
                  <a:rPr lang="zh-CN" altLang="en-US" sz="2400" b="1" dirty="0">
                    <a:solidFill>
                      <a:srgbClr val="FF3300"/>
                    </a:solidFill>
                  </a:rPr>
                  <a:t>收到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400" b="1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>
                    <a:solidFill>
                      <a:srgbClr val="FF3300"/>
                    </a:solidFill>
                  </a:rPr>
                  <a:t>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 i="1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>
                    <a:solidFill>
                      <a:srgbClr val="FF3300"/>
                    </a:solidFill>
                  </a:rPr>
                  <a:t>的不确定度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4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zh-CN" sz="24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</m:oMath>
                </a14:m>
                <a:endParaRPr lang="zh-CN" altLang="en-US" sz="2400" b="1" dirty="0">
                  <a:solidFill>
                    <a:srgbClr val="FF3300"/>
                  </a:solidFill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C92857C-A7A9-5867-B32E-6A8DF1665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822" y="3901252"/>
                <a:ext cx="1941861" cy="1200329"/>
              </a:xfrm>
              <a:prstGeom prst="rect">
                <a:avLst/>
              </a:prstGeom>
              <a:blipFill>
                <a:blip r:embed="rId9"/>
                <a:stretch>
                  <a:fillRect l="-5031" t="-5584" b="-9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FEAD82C-7D96-34AA-41A1-5518DEA491D3}"/>
                  </a:ext>
                </a:extLst>
              </p:cNvPr>
              <p:cNvSpPr txBox="1"/>
              <p:nvPr/>
            </p:nvSpPr>
            <p:spPr>
              <a:xfrm>
                <a:off x="5161822" y="5381338"/>
                <a:ext cx="404626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3300"/>
                    </a:solidFill>
                  </a:rPr>
                  <a:t>3. </a:t>
                </a:r>
                <a:r>
                  <a:rPr lang="zh-CN" altLang="en-US" sz="2400" b="1" dirty="0">
                    <a:solidFill>
                      <a:srgbClr val="FF3300"/>
                    </a:solidFill>
                  </a:rPr>
                  <a:t>获得的关于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 i="1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>
                    <a:solidFill>
                      <a:srgbClr val="FF3300"/>
                    </a:solidFill>
                  </a:rPr>
                  <a:t>的不确定度</a:t>
                </a:r>
                <a:endParaRPr lang="en-US" altLang="zh-CN" sz="2400" b="1" dirty="0">
                  <a:solidFill>
                    <a:srgbClr val="FF33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1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2400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altLang="zh-CN" sz="2400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</m:oMath>
                  </m:oMathPara>
                </a14:m>
                <a:endParaRPr lang="zh-CN" altLang="en-US" sz="2400" b="1" dirty="0">
                  <a:solidFill>
                    <a:srgbClr val="FF3300"/>
                  </a:solidFill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FEAD82C-7D96-34AA-41A1-5518DEA49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822" y="5381338"/>
                <a:ext cx="4046264" cy="830997"/>
              </a:xfrm>
              <a:prstGeom prst="rect">
                <a:avLst/>
              </a:prstGeom>
              <a:blipFill>
                <a:blip r:embed="rId10"/>
                <a:stretch>
                  <a:fillRect l="-2410" t="-8088"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E1DF0C55-0811-8FEF-3967-C1592E13EF8F}"/>
              </a:ext>
            </a:extLst>
          </p:cNvPr>
          <p:cNvGrpSpPr/>
          <p:nvPr/>
        </p:nvGrpSpPr>
        <p:grpSpPr>
          <a:xfrm>
            <a:off x="3995936" y="2778790"/>
            <a:ext cx="1165886" cy="3133632"/>
            <a:chOff x="3995936" y="2778790"/>
            <a:chExt cx="1165886" cy="3133632"/>
          </a:xfrm>
        </p:grpSpPr>
        <p:sp>
          <p:nvSpPr>
            <p:cNvPr id="18" name="下弧形箭头 20">
              <a:extLst>
                <a:ext uri="{FF2B5EF4-FFF2-40B4-BE49-F238E27FC236}">
                  <a16:creationId xmlns:a16="http://schemas.microsoft.com/office/drawing/2014/main" id="{70D08C6E-C4B5-CA32-A450-A5E1CD8F89EB}"/>
                </a:ext>
              </a:extLst>
            </p:cNvPr>
            <p:cNvSpPr/>
            <p:nvPr/>
          </p:nvSpPr>
          <p:spPr bwMode="auto">
            <a:xfrm rot="5400000">
              <a:off x="3012063" y="3762663"/>
              <a:ext cx="3133632" cy="1165886"/>
            </a:xfrm>
            <a:prstGeom prst="curvedUpArrow">
              <a:avLst>
                <a:gd name="adj1" fmla="val 0"/>
                <a:gd name="adj2" fmla="val 6663"/>
                <a:gd name="adj3" fmla="val 20118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endParaRPr kumimoji="1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9" name="下弧形箭头 21">
              <a:extLst>
                <a:ext uri="{FF2B5EF4-FFF2-40B4-BE49-F238E27FC236}">
                  <a16:creationId xmlns:a16="http://schemas.microsoft.com/office/drawing/2014/main" id="{26AE87B8-ABCD-C225-3ED3-6331E01DFED0}"/>
                </a:ext>
              </a:extLst>
            </p:cNvPr>
            <p:cNvSpPr/>
            <p:nvPr/>
          </p:nvSpPr>
          <p:spPr bwMode="auto">
            <a:xfrm rot="5400000">
              <a:off x="4058236" y="4673293"/>
              <a:ext cx="1410380" cy="796793"/>
            </a:xfrm>
            <a:prstGeom prst="curvedUpArrow">
              <a:avLst>
                <a:gd name="adj1" fmla="val 0"/>
                <a:gd name="adj2" fmla="val 6663"/>
                <a:gd name="adj3" fmla="val 31048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endParaRPr kumimoji="1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Tahoma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4F677EB-E47F-31B4-5B5C-EC2D587636B5}"/>
              </a:ext>
            </a:extLst>
          </p:cNvPr>
          <p:cNvGrpSpPr/>
          <p:nvPr/>
        </p:nvGrpSpPr>
        <p:grpSpPr>
          <a:xfrm>
            <a:off x="214282" y="2778787"/>
            <a:ext cx="1837438" cy="2049376"/>
            <a:chOff x="214282" y="2778787"/>
            <a:chExt cx="1837438" cy="204937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8DE45DB-9E6F-2946-00B0-2A1C39C9570A}"/>
                </a:ext>
              </a:extLst>
            </p:cNvPr>
            <p:cNvGrpSpPr/>
            <p:nvPr/>
          </p:nvGrpSpPr>
          <p:grpSpPr>
            <a:xfrm>
              <a:off x="214282" y="2778787"/>
              <a:ext cx="1837438" cy="2049376"/>
              <a:chOff x="214282" y="2778787"/>
              <a:chExt cx="1837438" cy="2049376"/>
            </a:xfrm>
          </p:grpSpPr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73E71790-CD05-B52A-D706-65D88D40C6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544" y="2778787"/>
                <a:ext cx="1306984" cy="1306984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4F4E4745-A7BF-C60C-BEBA-1180847199DD}"/>
                      </a:ext>
                    </a:extLst>
                  </p:cNvPr>
                  <p:cNvSpPr txBox="1"/>
                  <p:nvPr/>
                </p:nvSpPr>
                <p:spPr>
                  <a:xfrm>
                    <a:off x="214282" y="4366498"/>
                    <a:ext cx="183743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rgbClr val="FF3300"/>
                        </a:solidFill>
                      </a:rPr>
                      <a:t>输入变量 </a:t>
                    </a:r>
                    <a14:m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a14:m>
                    <a:endParaRPr lang="zh-CN" altLang="en-US" sz="2400" b="1" dirty="0">
                      <a:solidFill>
                        <a:srgbClr val="FF33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文本框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282" y="4366498"/>
                    <a:ext cx="1837438" cy="461665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4967" t="-14474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245F0F6-9BC2-EB50-EA36-AA4FE62FF914}"/>
                </a:ext>
              </a:extLst>
            </p:cNvPr>
            <p:cNvSpPr txBox="1"/>
            <p:nvPr/>
          </p:nvSpPr>
          <p:spPr>
            <a:xfrm>
              <a:off x="611560" y="4005064"/>
              <a:ext cx="10081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B050"/>
                  </a:solidFill>
                </a:rPr>
                <a:t>发送端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7734942-F526-552B-B8D0-8381C8D12BE3}"/>
              </a:ext>
            </a:extLst>
          </p:cNvPr>
          <p:cNvGrpSpPr/>
          <p:nvPr/>
        </p:nvGrpSpPr>
        <p:grpSpPr>
          <a:xfrm>
            <a:off x="6955530" y="2249348"/>
            <a:ext cx="1833536" cy="2299842"/>
            <a:chOff x="6955530" y="2249348"/>
            <a:chExt cx="1833536" cy="2299842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9A5BA2A5-CF55-0E7A-2C74-0DD108CDB120}"/>
                </a:ext>
              </a:extLst>
            </p:cNvPr>
            <p:cNvGrpSpPr/>
            <p:nvPr/>
          </p:nvGrpSpPr>
          <p:grpSpPr>
            <a:xfrm>
              <a:off x="6955530" y="2249348"/>
              <a:ext cx="1833536" cy="1925323"/>
              <a:chOff x="6955530" y="2249348"/>
              <a:chExt cx="1833536" cy="1925323"/>
            </a:xfrm>
          </p:grpSpPr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559F92F4-F015-691E-B48D-4321D13BC8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55530" y="2689887"/>
                <a:ext cx="1493978" cy="1484784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1C708792-5338-AA35-6082-C41F32AA00A2}"/>
                      </a:ext>
                    </a:extLst>
                  </p:cNvPr>
                  <p:cNvSpPr txBox="1"/>
                  <p:nvPr/>
                </p:nvSpPr>
                <p:spPr>
                  <a:xfrm>
                    <a:off x="7089926" y="2249348"/>
                    <a:ext cx="169914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a14:m>
                    <a:r>
                      <a:rPr lang="zh-CN" altLang="en-US" sz="2400" b="1" dirty="0">
                        <a:solidFill>
                          <a:srgbClr val="FF3300"/>
                        </a:solidFill>
                      </a:rPr>
                      <a:t> ？？？</a:t>
                    </a:r>
                  </a:p>
                </p:txBody>
              </p:sp>
            </mc:Choice>
            <mc:Fallback xmlns="">
              <p:sp>
                <p:nvSpPr>
                  <p:cNvPr id="13" name="文本框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89926" y="2249348"/>
                    <a:ext cx="1699140" cy="461665"/>
                  </a:xfrm>
                  <a:prstGeom prst="rect">
                    <a:avLst/>
                  </a:prstGeom>
                  <a:blipFill rotWithShape="0">
                    <a:blip r:embed="rId13"/>
                    <a:stretch>
                      <a:fillRect l="-717" t="-14474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971E79-CD23-3B21-9E77-BC3468723CFC}"/>
                </a:ext>
              </a:extLst>
            </p:cNvPr>
            <p:cNvSpPr txBox="1"/>
            <p:nvPr/>
          </p:nvSpPr>
          <p:spPr>
            <a:xfrm>
              <a:off x="7236296" y="4149080"/>
              <a:ext cx="10081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B050"/>
                  </a:solidFill>
                </a:rPr>
                <a:t>接收端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04C6A4D-C0F3-6E8E-8C9C-A8B46EE1A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</p:txBody>
      </p:sp>
      <p:sp>
        <p:nvSpPr>
          <p:cNvPr id="4096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EC8C5014-AB60-EFE1-09C2-60DB53780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838200"/>
            <a:ext cx="8691562" cy="66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平均互信息、熵、条件熵的关系图：</a:t>
            </a:r>
            <a:endParaRPr lang="en-US" altLang="zh-CN" dirty="0">
              <a:solidFill>
                <a:srgbClr val="000000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C72339-1EFB-F216-34A3-6BD8D2C56B7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58400" y="3480118"/>
            <a:ext cx="1154675" cy="43088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D1D35A-529B-DDBF-A199-C7DE911AAEE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13272" y="3496503"/>
            <a:ext cx="1429750" cy="430887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A56118-1884-3EC0-2259-E72A7477B31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17365" y="3475295"/>
            <a:ext cx="1429750" cy="43088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pSp>
        <p:nvGrpSpPr>
          <p:cNvPr id="40967" name="组合 5">
            <a:extLst>
              <a:ext uri="{FF2B5EF4-FFF2-40B4-BE49-F238E27FC236}">
                <a16:creationId xmlns:a16="http://schemas.microsoft.com/office/drawing/2014/main" id="{99F1FAF4-4C1D-BBB4-A18C-9CD45D3E98C3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573213"/>
            <a:ext cx="4392612" cy="3830637"/>
            <a:chOff x="1331640" y="2189679"/>
            <a:chExt cx="4392488" cy="3831609"/>
          </a:xfrm>
        </p:grpSpPr>
        <p:grpSp>
          <p:nvGrpSpPr>
            <p:cNvPr id="40976" name="组合 6">
              <a:extLst>
                <a:ext uri="{FF2B5EF4-FFF2-40B4-BE49-F238E27FC236}">
                  <a16:creationId xmlns:a16="http://schemas.microsoft.com/office/drawing/2014/main" id="{C8BBD27B-289F-D676-A118-FC2FFD0129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1640" y="2189679"/>
              <a:ext cx="4392488" cy="3831609"/>
              <a:chOff x="1331640" y="2189679"/>
              <a:chExt cx="4392488" cy="3831609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C7CCDF74-CFE7-8E85-3D71-46C79FC77007}"/>
                  </a:ext>
                </a:extLst>
              </p:cNvPr>
              <p:cNvSpPr/>
              <p:nvPr/>
            </p:nvSpPr>
            <p:spPr bwMode="auto">
              <a:xfrm>
                <a:off x="1331640" y="2637468"/>
                <a:ext cx="4392488" cy="3383820"/>
              </a:xfrm>
              <a:prstGeom prst="ellips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  <p:txBody>
              <a:bodyPr wrap="none" anchor="ctr"/>
              <a:lstStyle/>
              <a:p>
                <a:pPr algn="ctr" eaLnBrk="1" fontAlgn="auto" latinLnBrk="1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FF0000"/>
                  </a:buClr>
                  <a:buFont typeface="Wingdings" pitchFamily="2" charset="2"/>
                  <a:buNone/>
                  <a:defRPr/>
                </a:pPr>
                <a:endParaRPr kumimoji="1" lang="zh-CN" altLang="en-US" sz="1000" kern="0">
                  <a:noFill/>
                  <a:latin typeface="굴림" pitchFamily="50" charset="-127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A4386B-BFDB-2495-7628-D537B37EF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954" y="2189679"/>
                <a:ext cx="89922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zh-CN" altLang="en-US">
                    <a:noFill/>
                  </a:rPr>
                  <a:t> </a:t>
                </a:r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AD138B3-F071-24FE-5CA3-BF78D1FA4289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984940" y="2875234"/>
              <a:ext cx="514050" cy="523220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grpSp>
        <p:nvGrpSpPr>
          <p:cNvPr id="40968" name="组合 10">
            <a:extLst>
              <a:ext uri="{FF2B5EF4-FFF2-40B4-BE49-F238E27FC236}">
                <a16:creationId xmlns:a16="http://schemas.microsoft.com/office/drawing/2014/main" id="{1844DC84-5D45-F73D-868C-3CF390661A0F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1581150"/>
            <a:ext cx="4392612" cy="3806825"/>
            <a:chOff x="3347864" y="2197667"/>
            <a:chExt cx="4392488" cy="3807237"/>
          </a:xfrm>
        </p:grpSpPr>
        <p:grpSp>
          <p:nvGrpSpPr>
            <p:cNvPr id="40972" name="组合 11">
              <a:extLst>
                <a:ext uri="{FF2B5EF4-FFF2-40B4-BE49-F238E27FC236}">
                  <a16:creationId xmlns:a16="http://schemas.microsoft.com/office/drawing/2014/main" id="{1DE4E6B8-5B06-52B8-EB6D-5FD20FE154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7864" y="2197667"/>
              <a:ext cx="4392488" cy="3807237"/>
              <a:chOff x="3347864" y="2197667"/>
              <a:chExt cx="4392488" cy="3807237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797CCD54-B26E-59E9-ED9B-44A34C8ED525}"/>
                  </a:ext>
                </a:extLst>
              </p:cNvPr>
              <p:cNvSpPr/>
              <p:nvPr/>
            </p:nvSpPr>
            <p:spPr bwMode="auto">
              <a:xfrm>
                <a:off x="3347864" y="2619988"/>
                <a:ext cx="4392488" cy="3384916"/>
              </a:xfrm>
              <a:prstGeom prst="ellips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  <p:txBody>
              <a:bodyPr wrap="none" anchor="ctr"/>
              <a:lstStyle/>
              <a:p>
                <a:pPr algn="ctr" eaLnBrk="1" fontAlgn="auto" latinLnBrk="1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FF0000"/>
                  </a:buClr>
                  <a:buFont typeface="Wingdings" pitchFamily="2" charset="2"/>
                  <a:buNone/>
                  <a:defRPr/>
                </a:pPr>
                <a:endParaRPr kumimoji="1" lang="zh-CN" altLang="en-US" sz="1000" kern="0">
                  <a:noFill/>
                  <a:latin typeface="굴림" pitchFamily="50" charset="-127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CB2314E-2F11-F6F5-5D5D-578B179CC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975" y="2197667"/>
                <a:ext cx="88479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zh-CN" altLang="en-US">
                    <a:noFill/>
                  </a:rPr>
                  <a:t> </a:t>
                </a: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71C3593-D242-016D-CAC8-FC01A3994548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576156" y="2875234"/>
              <a:ext cx="490609" cy="523220"/>
            </a:xfrm>
            <a:prstGeom prst="rect">
              <a:avLst/>
            </a:pr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grpSp>
        <p:nvGrpSpPr>
          <p:cNvPr id="40969" name="组合 15">
            <a:extLst>
              <a:ext uri="{FF2B5EF4-FFF2-40B4-BE49-F238E27FC236}">
                <a16:creationId xmlns:a16="http://schemas.microsoft.com/office/drawing/2014/main" id="{E8593CFF-8135-918A-BFD5-E07BBBB90A2C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365750"/>
            <a:ext cx="6370637" cy="917575"/>
            <a:chOff x="1331643" y="5638841"/>
            <a:chExt cx="6370878" cy="917399"/>
          </a:xfrm>
        </p:grpSpPr>
        <p:sp>
          <p:nvSpPr>
            <p:cNvPr id="17" name="左大括号 16">
              <a:extLst>
                <a:ext uri="{FF2B5EF4-FFF2-40B4-BE49-F238E27FC236}">
                  <a16:creationId xmlns:a16="http://schemas.microsoft.com/office/drawing/2014/main" id="{C20A5EFD-8237-2F30-D88E-8647162A5291}"/>
                </a:ext>
              </a:extLst>
            </p:cNvPr>
            <p:cNvSpPr/>
            <p:nvPr/>
          </p:nvSpPr>
          <p:spPr bwMode="auto">
            <a:xfrm rot="16200000">
              <a:off x="4273447" y="2697037"/>
              <a:ext cx="487270" cy="6370878"/>
            </a:xfrm>
            <a:prstGeom prst="leftBrace">
              <a:avLst>
                <a:gd name="adj1" fmla="val 188142"/>
                <a:gd name="adj2" fmla="val 50000"/>
              </a:avLst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wrap="none" anchor="ctr"/>
            <a:lstStyle/>
            <a:p>
              <a:pPr algn="ctr" eaLnBrk="1" fontAlgn="auto" latinLnBrk="1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endParaRPr kumimoji="1" lang="zh-CN" altLang="en-US" sz="1000" kern="0">
                <a:solidFill>
                  <a:srgbClr val="000000"/>
                </a:solidFill>
                <a:latin typeface="굴림" pitchFamily="50" charset="-127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E440A46-05B4-B63E-DF4A-F41B9BA028F2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935946" y="6125353"/>
              <a:ext cx="1115626" cy="430887"/>
            </a:xfrm>
            <a:prstGeom prst="rect">
              <a:avLst/>
            </a:pr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950D88B-9F4A-118B-FE57-5FB7B1178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BD1F7C7-4441-9C69-3123-2A6EFB74A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" y="685800"/>
                <a:ext cx="8079808" cy="61545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800" b="1" dirty="0">
                    <a:latin typeface="宋体" pitchFamily="2" charset="-122"/>
                  </a:rPr>
                  <a:t>定理</a:t>
                </a:r>
                <a:r>
                  <a:rPr kumimoji="0" lang="en-US" altLang="zh-CN" sz="2800" b="1" dirty="0">
                    <a:latin typeface="宋体" pitchFamily="2" charset="-122"/>
                  </a:rPr>
                  <a:t>5 </a:t>
                </a:r>
                <a:r>
                  <a:rPr kumimoji="0" lang="zh-CN" altLang="en-US" sz="2800" dirty="0">
                    <a:latin typeface="宋体" pitchFamily="2" charset="-122"/>
                  </a:rPr>
                  <a:t>平均互信息具有如下性质：</a:t>
                </a:r>
                <a:endParaRPr kumimoji="0" lang="en-US" altLang="zh-CN" sz="2800" dirty="0">
                  <a:latin typeface="宋体" pitchFamily="2" charset="-122"/>
                </a:endParaRPr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800" dirty="0">
                    <a:latin typeface="宋体" pitchFamily="2" charset="-122"/>
                    <a:cs typeface="Times New Roman" pitchFamily="18" charset="0"/>
                  </a:rPr>
                  <a:t>非负性：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≥0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，等式成立当且仅当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独立；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对称性：</a:t>
                </a:r>
                <a:r>
                  <a:rPr kumimoji="0" lang="en-US" altLang="zh-CN" sz="28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latin typeface="宋体" pitchFamily="2" charset="-122"/>
                  </a:rPr>
                  <a:t>定理</a:t>
                </a:r>
                <a:r>
                  <a:rPr lang="en-US" altLang="zh-CN" sz="2800" b="1" dirty="0">
                    <a:latin typeface="宋体" pitchFamily="2" charset="-122"/>
                  </a:rPr>
                  <a:t>5</a:t>
                </a:r>
                <a:r>
                  <a:rPr lang="zh-CN" altLang="en-US" sz="2800" b="1" dirty="0">
                    <a:latin typeface="宋体" pitchFamily="2" charset="-122"/>
                  </a:rPr>
                  <a:t>证明</a:t>
                </a:r>
                <a:r>
                  <a:rPr lang="en-US" altLang="zh-CN" sz="2800" b="1" dirty="0">
                    <a:latin typeface="宋体" pitchFamily="2" charset="-122"/>
                  </a:rPr>
                  <a:t>. </a:t>
                </a: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1.</a:t>
                </a:r>
                <a:r>
                  <a:rPr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kumimoji="0" lang="en-US" altLang="zh-CN" sz="2800" b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28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280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28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0" lang="en-US" altLang="zh-CN" sz="280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kumimoji="0" lang="en-US" altLang="zh-CN" sz="28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28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0" lang="en-US" altLang="zh-CN" sz="28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f>
                                  <m:fPr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kumimoji="0" lang="en-US" altLang="zh-CN" sz="28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2800" i="1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altLang="zh-CN" sz="2800" b="0" i="1" smtClean="0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altLang="zh-CN" sz="2800" b="0" i="1" smtClean="0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kumimoji="0" lang="en-US" altLang="zh-CN" sz="28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2800" i="1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altLang="zh-CN" sz="2800" b="0" i="1" smtClean="0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altLang="zh-CN" sz="2800" b="0" i="1" smtClean="0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kumimoji="0" lang="en-US" altLang="zh-CN" sz="28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2800" i="1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altLang="zh-CN" sz="2800" b="0" i="1" smtClean="0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altLang="zh-CN" sz="2800" b="0" i="1" smtClean="0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kumimoji="0" lang="en-US" altLang="zh-CN" sz="2800" i="1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altLang="zh-CN" sz="2800" b="0" i="1" smtClean="0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altLang="zh-CN" sz="2800" b="0" i="1" smtClean="0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nary>
                          </m:e>
                        </m:nary>
                      </m:e>
                    </m:d>
                  </m:oMath>
                </a14:m>
                <a:endParaRPr kumimoji="0" lang="en-US" altLang="zh-CN" sz="28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kumimoji="0" lang="en-US" altLang="zh-CN" sz="28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BD1F7C7-4441-9C69-3123-2A6EFB74A7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685800"/>
                <a:ext cx="8079808" cy="6154505"/>
              </a:xfrm>
              <a:prstGeom prst="rect">
                <a:avLst/>
              </a:prstGeom>
              <a:blipFill>
                <a:blip r:embed="rId4"/>
                <a:stretch>
                  <a:fillRect l="-1585" t="-297" b="-148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5956E44-2CDF-655C-95C8-163640121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3AAE313-441E-056E-707E-C54A05D49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762000"/>
                <a:ext cx="8692014" cy="54615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lang="zh-CN" altLang="en-US" sz="3200" b="1" dirty="0">
                    <a:latin typeface="宋体" pitchFamily="2" charset="-122"/>
                  </a:rPr>
                  <a:t>定理</a:t>
                </a:r>
                <a:r>
                  <a:rPr lang="en-US" altLang="zh-CN" sz="3200" b="1" dirty="0">
                    <a:latin typeface="宋体" pitchFamily="2" charset="-122"/>
                  </a:rPr>
                  <a:t>5</a:t>
                </a:r>
                <a:r>
                  <a:rPr lang="zh-CN" altLang="en-US" sz="3200" b="1" dirty="0">
                    <a:latin typeface="宋体" pitchFamily="2" charset="-122"/>
                  </a:rPr>
                  <a:t>证明</a:t>
                </a:r>
                <a:r>
                  <a:rPr lang="en-US" altLang="zh-CN" sz="3200" b="1" dirty="0">
                    <a:latin typeface="宋体" pitchFamily="2" charset="-122"/>
                  </a:rPr>
                  <a:t>. </a:t>
                </a:r>
                <a:r>
                  <a:rPr lang="en-US" altLang="zh-CN" sz="3200" dirty="0">
                    <a:latin typeface="宋体" pitchFamily="2" charset="-122"/>
                  </a:rPr>
                  <a:t>(</a:t>
                </a:r>
                <a:r>
                  <a:rPr lang="zh-CN" altLang="en-US" sz="3200" dirty="0">
                    <a:latin typeface="宋体" pitchFamily="2" charset="-122"/>
                  </a:rPr>
                  <a:t>续）</a:t>
                </a:r>
                <a:endParaRPr lang="en-US" altLang="zh-CN" sz="3200" dirty="0">
                  <a:latin typeface="宋体" pitchFamily="2" charset="-122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200" dirty="0">
                    <a:latin typeface="Cambria Math" panose="02040503050406030204" pitchFamily="18" charset="0"/>
                    <a:cs typeface="Times New Roman" pitchFamily="18" charset="0"/>
                  </a:rPr>
                  <a:t>2. </a:t>
                </a:r>
                <a:r>
                  <a:rPr kumimoji="0" lang="zh-CN" altLang="en-US" sz="3200" dirty="0">
                    <a:latin typeface="Cambria Math" panose="02040503050406030204" pitchFamily="18" charset="0"/>
                    <a:cs typeface="Times New Roman" pitchFamily="18" charset="0"/>
                  </a:rPr>
                  <a:t>对称性：</a:t>
                </a:r>
                <a:r>
                  <a:rPr kumimoji="0" lang="en-US" altLang="zh-CN" sz="32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3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3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kumimoji="0" lang="en-US" altLang="zh-CN" sz="32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kumimoji="0" lang="en-US" altLang="zh-CN" sz="3200" dirty="0">
                    <a:cs typeface="Times New Roman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3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kumimoji="0" lang="en-US" altLang="zh-CN" sz="32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3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</m:e>
                      </m:d>
                      <m:r>
                        <a:rPr kumimoji="0" lang="en-US" altLang="zh-CN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  <m:d>
                        <m:dPr>
                          <m:ctrlPr>
                            <a:rPr kumimoji="0" lang="en-US" altLang="zh-CN" sz="3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kumimoji="0" lang="en-US" altLang="zh-CN" sz="32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3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，</m:t>
                              </m:r>
                              <m:r>
                                <a:rPr kumimoji="0" lang="en-US" altLang="zh-CN" sz="3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kumimoji="0" lang="en-US" altLang="zh-CN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r>
                            <a:rPr kumimoji="0" lang="en-US" altLang="zh-CN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kumimoji="0" lang="en-US" altLang="zh-CN" sz="32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3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en-US" altLang="zh-CN" sz="32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200" dirty="0">
                    <a:cs typeface="Times New Roman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kumimoji="0" lang="en-US" altLang="zh-CN" sz="32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</m:t>
                          </m:r>
                        </m:e>
                      </m:d>
                      <m:r>
                        <a:rPr kumimoji="0" lang="en-US" altLang="zh-CN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  <m:d>
                        <m:dPr>
                          <m:ctrlPr>
                            <a:rPr kumimoji="0" lang="en-US" altLang="zh-CN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kumimoji="0" lang="en-US" altLang="zh-CN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3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，</m:t>
                              </m:r>
                              <m:r>
                                <a:rPr kumimoji="0" lang="en-US" altLang="zh-CN" sz="3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kumimoji="0" lang="en-US" altLang="zh-CN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r>
                            <a:rPr kumimoji="0" lang="en-US" altLang="zh-CN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kumimoji="0" lang="en-US" altLang="zh-CN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3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en-US" altLang="zh-CN" sz="32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200" dirty="0">
                    <a:cs typeface="Times New Roman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3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kumimoji="0" lang="en-US" altLang="zh-CN" sz="32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200" dirty="0">
                    <a:cs typeface="Times New Roman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3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d>
                      <m:dPr>
                        <m:ctrlPr>
                          <a:rPr kumimoji="0" lang="en-US" altLang="zh-CN" sz="3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r>
                          <a:rPr kumimoji="0" lang="en-US" altLang="zh-CN" sz="3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kumimoji="0" lang="zh-CN" altLang="en-US" sz="32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32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3AAE313-441E-056E-707E-C54A05D49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762000"/>
                <a:ext cx="8692014" cy="5461560"/>
              </a:xfrm>
              <a:prstGeom prst="rect">
                <a:avLst/>
              </a:prstGeom>
              <a:blipFill>
                <a:blip r:embed="rId4"/>
                <a:stretch>
                  <a:fillRect l="-1753" t="-446" b="-234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AE33C6C-9E5B-19E4-A02C-C2B3A1339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79388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</p:txBody>
      </p:sp>
      <p:grpSp>
        <p:nvGrpSpPr>
          <p:cNvPr id="47107" name="组合 1">
            <a:extLst>
              <a:ext uri="{FF2B5EF4-FFF2-40B4-BE49-F238E27FC236}">
                <a16:creationId xmlns:a16="http://schemas.microsoft.com/office/drawing/2014/main" id="{7C585DA3-AC91-65B6-6D5C-9D8623305FDE}"/>
              </a:ext>
            </a:extLst>
          </p:cNvPr>
          <p:cNvGrpSpPr>
            <a:grpSpLocks/>
          </p:cNvGrpSpPr>
          <p:nvPr/>
        </p:nvGrpSpPr>
        <p:grpSpPr bwMode="auto">
          <a:xfrm>
            <a:off x="214313" y="3425825"/>
            <a:ext cx="1836737" cy="2049463"/>
            <a:chOff x="214282" y="2778787"/>
            <a:chExt cx="1837438" cy="2049376"/>
          </a:xfrm>
        </p:grpSpPr>
        <p:pic>
          <p:nvPicPr>
            <p:cNvPr id="47118" name="图片 2">
              <a:extLst>
                <a:ext uri="{FF2B5EF4-FFF2-40B4-BE49-F238E27FC236}">
                  <a16:creationId xmlns:a16="http://schemas.microsoft.com/office/drawing/2014/main" id="{14F44FE7-A0FE-8867-B2CB-4BDA8F2A45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2778787"/>
              <a:ext cx="1306984" cy="1306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699A9D8-6DB8-23C5-F492-E5DD4570914B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14282" y="4366498"/>
              <a:ext cx="1837438" cy="461665"/>
            </a:xfrm>
            <a:prstGeom prst="rect">
              <a:avLst/>
            </a:prstGeom>
            <a:blipFill>
              <a:blip r:embed="rId4"/>
              <a:stretch>
                <a:fillRect l="-4967" t="-14474" b="-2500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grpSp>
        <p:nvGrpSpPr>
          <p:cNvPr id="47108" name="组合 4">
            <a:extLst>
              <a:ext uri="{FF2B5EF4-FFF2-40B4-BE49-F238E27FC236}">
                <a16:creationId xmlns:a16="http://schemas.microsoft.com/office/drawing/2014/main" id="{5848E676-1D38-2344-D713-E2F7AF664230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079875"/>
            <a:ext cx="5180013" cy="557213"/>
            <a:chOff x="1774528" y="3432279"/>
            <a:chExt cx="5181002" cy="557579"/>
          </a:xfrm>
        </p:grpSpPr>
        <p:cxnSp>
          <p:nvCxnSpPr>
            <p:cNvPr id="47116" name="直接箭头连接符 5">
              <a:extLst>
                <a:ext uri="{FF2B5EF4-FFF2-40B4-BE49-F238E27FC236}">
                  <a16:creationId xmlns:a16="http://schemas.microsoft.com/office/drawing/2014/main" id="{7FE3E4C0-B214-2E40-1D5A-258B0D5C699E}"/>
                </a:ext>
              </a:extLst>
            </p:cNvPr>
            <p:cNvCxnSpPr>
              <a:cxnSpLocks noChangeShapeType="1"/>
              <a:stCxn id="47118" idx="3"/>
              <a:endCxn id="47114" idx="1"/>
            </p:cNvCxnSpPr>
            <p:nvPr/>
          </p:nvCxnSpPr>
          <p:spPr bwMode="auto">
            <a:xfrm>
              <a:off x="1774528" y="3432279"/>
              <a:ext cx="5181002" cy="0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9E3BD13-DAE2-98F7-DE81-8352A72EE17A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376916" y="3528193"/>
              <a:ext cx="1699140" cy="461665"/>
            </a:xfrm>
            <a:prstGeom prst="rect">
              <a:avLst/>
            </a:prstGeom>
            <a:blipFill>
              <a:blip r:embed="rId5"/>
              <a:stretch>
                <a:fillRect l="-5735" t="-14474" b="-2500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 dirty="0">
                  <a:noFill/>
                </a:rPr>
                <a:t> </a:t>
              </a:r>
            </a:p>
          </p:txBody>
        </p:sp>
      </p:grpSp>
      <p:grpSp>
        <p:nvGrpSpPr>
          <p:cNvPr id="47109" name="组合 7">
            <a:extLst>
              <a:ext uri="{FF2B5EF4-FFF2-40B4-BE49-F238E27FC236}">
                <a16:creationId xmlns:a16="http://schemas.microsoft.com/office/drawing/2014/main" id="{0E9BD2FA-AD41-5FED-CDA8-CD80B85C0028}"/>
              </a:ext>
            </a:extLst>
          </p:cNvPr>
          <p:cNvGrpSpPr>
            <a:grpSpLocks/>
          </p:cNvGrpSpPr>
          <p:nvPr/>
        </p:nvGrpSpPr>
        <p:grpSpPr bwMode="auto">
          <a:xfrm>
            <a:off x="6954838" y="2897188"/>
            <a:ext cx="1833562" cy="1924050"/>
            <a:chOff x="6955530" y="2249348"/>
            <a:chExt cx="1833536" cy="1925323"/>
          </a:xfrm>
        </p:grpSpPr>
        <p:pic>
          <p:nvPicPr>
            <p:cNvPr id="47114" name="图片 8">
              <a:extLst>
                <a:ext uri="{FF2B5EF4-FFF2-40B4-BE49-F238E27FC236}">
                  <a16:creationId xmlns:a16="http://schemas.microsoft.com/office/drawing/2014/main" id="{4E04F02F-D919-D977-9E0D-C8018A7286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5530" y="2689887"/>
              <a:ext cx="1493978" cy="1484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58B9122-1AD7-6E53-049C-4427C36FAE2B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089926" y="2249348"/>
              <a:ext cx="1699140" cy="461665"/>
            </a:xfrm>
            <a:prstGeom prst="rect">
              <a:avLst/>
            </a:prstGeom>
            <a:blipFill>
              <a:blip r:embed="rId7"/>
              <a:stretch>
                <a:fillRect l="-717" t="-14474" b="-2500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3E79DEF-7179-5727-0093-55A0FE82C78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54594" y="5148653"/>
            <a:ext cx="3735363" cy="830997"/>
          </a:xfrm>
          <a:prstGeom prst="rect">
            <a:avLst/>
          </a:prstGeom>
          <a:blipFill>
            <a:blip r:embed="rId8"/>
            <a:stretch>
              <a:fillRect l="-654" t="-8088" r="-130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47112" name="文本框 12">
            <a:extLst>
              <a:ext uri="{FF2B5EF4-FFF2-40B4-BE49-F238E27FC236}">
                <a16:creationId xmlns:a16="http://schemas.microsoft.com/office/drawing/2014/main" id="{5A4A7CCE-C008-7221-B4E3-3EE26F76B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8" y="4732338"/>
            <a:ext cx="1008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B05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发送端</a:t>
            </a:r>
          </a:p>
        </p:txBody>
      </p:sp>
      <p:sp>
        <p:nvSpPr>
          <p:cNvPr id="47113" name="文本框 13">
            <a:extLst>
              <a:ext uri="{FF2B5EF4-FFF2-40B4-BE49-F238E27FC236}">
                <a16:creationId xmlns:a16="http://schemas.microsoft.com/office/drawing/2014/main" id="{07743661-6FCB-98D7-ADB0-F592C96AF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5" y="4797425"/>
            <a:ext cx="1008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B05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接收端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1E6EB3FC-704B-C00D-EB2E-29BD82A9C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829" y="815864"/>
                <a:ext cx="8692014" cy="2270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 eaLnBrk="1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在通信系统中，平均意义上，信道每通过一条信息，总能传递一定的信息量，即接收端每收到一条消息，总能提取到信源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的信息量，总能使信源的不确定性有所降低。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Rectangle 2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1E6EB3FC-704B-C00D-EB2E-29BD82A9C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829" y="815864"/>
                <a:ext cx="8692014" cy="2270750"/>
              </a:xfrm>
              <a:prstGeom prst="rect">
                <a:avLst/>
              </a:prstGeom>
              <a:blipFill>
                <a:blip r:embed="rId11"/>
                <a:stretch>
                  <a:fillRect l="-1262" t="-806" b="-591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66AF1A4-525D-DCC3-7CD5-E19272B7D6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99969BE-2337-084B-77EA-A75DDC4AA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789214"/>
                <a:ext cx="8692014" cy="50715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600" b="1" dirty="0">
                    <a:latin typeface="宋体" pitchFamily="2" charset="-122"/>
                    <a:cs typeface="Tahoma"/>
                  </a:rPr>
                  <a:t>例子</a:t>
                </a:r>
                <a:r>
                  <a:rPr lang="en-US" altLang="zh-CN" sz="2600" b="1" dirty="0">
                    <a:latin typeface="宋体" pitchFamily="2" charset="-122"/>
                    <a:cs typeface="Tahoma"/>
                  </a:rPr>
                  <a:t>5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某地一段时间内出现晴、阴、雨的概率均为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1/3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 eaLnBrk="1" hangingPunct="1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如果某天不是雨天，则抛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次硬币；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 eaLnBrk="1" hangingPunct="1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如果某天是雨天，则抛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次硬币；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试计算从抛硬币出现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正面的次数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可以得到多少关于天气的信息量。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根据抛硬币的正面次数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来获得关于天气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的信息。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表示雨天，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表示不是雨天，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表示硬币正面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次，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表示硬币正面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1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次，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=2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表示硬币正面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次。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99969BE-2337-084B-77EA-A75DDC4AAB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789214"/>
                <a:ext cx="8692014" cy="5071517"/>
              </a:xfrm>
              <a:prstGeom prst="rect">
                <a:avLst/>
              </a:prstGeom>
              <a:blipFill>
                <a:blip r:embed="rId4"/>
                <a:stretch>
                  <a:fillRect l="-1403" t="-240" r="-5540" b="-204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7957AD6-ED6C-726B-02E4-0144CAABB5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8CA6B37-EABE-6840-F13D-E655CD044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" y="790168"/>
                <a:ext cx="8692014" cy="5277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lang="zh-CN" altLang="en-US" sz="2600" b="1" dirty="0">
                    <a:latin typeface="宋体" pitchFamily="2" charset="-122"/>
                  </a:rPr>
                  <a:t>例子</a:t>
                </a:r>
                <a:r>
                  <a:rPr lang="en-US" altLang="zh-CN" sz="2600" b="1" dirty="0">
                    <a:latin typeface="宋体" pitchFamily="2" charset="-122"/>
                  </a:rPr>
                  <a:t>5</a:t>
                </a:r>
                <a:r>
                  <a:rPr lang="zh-CN" altLang="en-US" sz="2600" dirty="0">
                    <a:latin typeface="宋体" pitchFamily="2" charset="-122"/>
                  </a:rPr>
                  <a:t>（续）</a:t>
                </a:r>
                <a:r>
                  <a:rPr lang="en-US" altLang="zh-CN" sz="26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的概率分布</a:t>
                </a:r>
                <a14:m>
                  <m:oMath xmlns:m="http://schemas.openxmlformats.org/officeDocument/2006/math">
                    <m:r>
                      <a:rPr kumimoji="0" lang="en-US" altLang="zh-CN" sz="26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6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2/3</m:t>
                              </m:r>
                            </m:e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的条件概率分布</a:t>
                </a:r>
                <a14:m>
                  <m:oMath xmlns:m="http://schemas.openxmlformats.org/officeDocument/2006/math">
                    <m:r>
                      <a:rPr kumimoji="0" lang="en-US" altLang="zh-CN" sz="26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sub>
                    </m:sSub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mPr>
                      <m:mr>
                        <m:e>
                          <m:eqArr>
                            <m:eqArrPr>
                              <m:ctrlPr>
                                <a:rPr kumimoji="0" lang="en-US" altLang="zh-CN" sz="26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m:rPr>
                                  <m:brk m:alnAt="7"/>
                                </m:rP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mr>
                      <m:mr>
                        <m:e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</m:t>
                          </m:r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=1</m:t>
                          </m:r>
                        </m:e>
                      </m:mr>
                    </m:m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=0  </m:t>
                          </m:r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=1 </m:t>
                          </m:r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=2</m:t>
                          </m:r>
                        </m:e>
                      </m:mr>
                      <m:m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zh-CN" sz="26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6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6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1</m:t>
                                    </m:r>
                                    <m:r>
                                      <a:rPr kumimoji="0" lang="en-US" altLang="zh-CN" sz="26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/2</m:t>
                                    </m:r>
                                  </m:e>
                                  <m:e>
                                    <m:r>
                                      <a:rPr kumimoji="0" lang="en-US" altLang="zh-CN" sz="26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1/2</m:t>
                                    </m:r>
                                  </m:e>
                                  <m:e>
                                    <m:r>
                                      <a:rPr kumimoji="0" lang="en-US" altLang="zh-CN" sz="26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6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1/4</m:t>
                                    </m:r>
                                  </m:e>
                                  <m:e>
                                    <m:r>
                                      <a:rPr kumimoji="0" lang="en-US" altLang="zh-CN" sz="26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1/2</m:t>
                                    </m:r>
                                  </m:e>
                                  <m:e>
                                    <m:r>
                                      <a:rPr kumimoji="0" lang="en-US" altLang="zh-CN" sz="26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1/4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600" dirty="0">
                    <a:cs typeface="Times New Roman" pitchFamily="18" charset="0"/>
                  </a:rPr>
                  <a:t>求得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的概率分布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sub>
                    </m:sSub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Sup>
                      <m:sSubSup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sub>
                      <m:sup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sub>
                    </m:sSub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0" lang="en-US" altLang="zh-CN" sz="26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kumimoji="0" lang="en-US" altLang="zh-CN" sz="26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kumimoji="0" lang="en-US" altLang="zh-CN" sz="26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kumimoji="0" lang="en-US" altLang="zh-CN" sz="26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f>
                                    <m:fPr>
                                      <m:ctrlPr>
                                        <a:rPr kumimoji="0" lang="en-US" altLang="zh-CN" sz="26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kumimoji="0" lang="en-US" altLang="zh-CN" sz="26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kumimoji="0" lang="en-US" altLang="zh-CN" sz="26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0" lang="en-US" altLang="zh-CN" sz="2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kumimoji="0" lang="en-US" altLang="zh-CN" sz="26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kumimoji="0" lang="en-US" altLang="zh-CN" sz="26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0" lang="en-US" altLang="zh-CN" sz="26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kumimoji="0" lang="en-US" altLang="zh-CN" sz="260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26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26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  <m:r>
                                        <a:rPr kumimoji="0" lang="en-US" altLang="zh-CN" sz="26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kumimoji="0" lang="en-US" altLang="zh-CN" sz="260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6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0" lang="en-US" altLang="zh-CN" sz="26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kumimoji="0" lang="en-US" altLang="zh-CN" sz="260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6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0" lang="en-US" altLang="zh-CN" sz="26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en-US" altLang="zh-CN" sz="26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的熵：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</m:d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6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6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1/</m:t>
                        </m:r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</m:nary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=1.325 </m:t>
                    </m:r>
                    <m:r>
                      <m:rPr>
                        <m:sty m:val="p"/>
                      </m:rPr>
                      <a:rPr kumimoji="0" lang="en-US" altLang="zh-CN" sz="26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8CA6B37-EABE-6840-F13D-E655CD044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" y="790168"/>
                <a:ext cx="8692014" cy="5277663"/>
              </a:xfrm>
              <a:prstGeom prst="rect">
                <a:avLst/>
              </a:prstGeom>
              <a:blipFill>
                <a:blip r:embed="rId4"/>
                <a:stretch>
                  <a:fillRect l="-1262" b="-115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70A5F33-C8BC-DE2E-AC7A-15566253D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互信息与平均互信息（续）</a:t>
            </a:r>
            <a:endParaRPr lang="en-US" altLang="zh-CN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6C8F0F5-FCE4-E39F-0082-1AC07830C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" y="745671"/>
                <a:ext cx="8692014" cy="59530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lang="zh-CN" altLang="en-US" sz="2800" b="1" dirty="0">
                    <a:latin typeface="宋体" pitchFamily="2" charset="-122"/>
                  </a:rPr>
                  <a:t>例子</a:t>
                </a:r>
                <a:r>
                  <a:rPr lang="en-US" altLang="zh-CN" sz="2800" b="1" dirty="0">
                    <a:latin typeface="宋体" pitchFamily="2" charset="-122"/>
                  </a:rPr>
                  <a:t>5</a:t>
                </a:r>
                <a:r>
                  <a:rPr lang="zh-CN" altLang="en-US" sz="2800" dirty="0">
                    <a:latin typeface="宋体" pitchFamily="2" charset="-122"/>
                  </a:rPr>
                  <a:t>（续）</a:t>
                </a:r>
                <a:endParaRPr lang="en-US" altLang="zh-CN" sz="2800" dirty="0">
                  <a:latin typeface="宋体" pitchFamily="2" charset="-122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sub>
                    </m:sSub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求得已知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kumimoji="0" lang="en-US" altLang="zh-CN" sz="28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𝑌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的条件熵：</a:t>
                </a:r>
                <a:endParaRPr kumimoji="0" lang="en-US" altLang="zh-CN" sz="28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，</m:t>
                                </m:r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kumimoji="0" lang="en-US" altLang="zh-CN" sz="2800" b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  <m:r>
                              <a:rPr kumimoji="0" lang="en-US" altLang="zh-CN" sz="2800" b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/</m:t>
                            </m:r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(</m:t>
                            </m:r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kumimoji="0" lang="en-US" altLang="zh-CN" sz="28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num>
                      <m:den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2+</m:t>
                        </m:r>
                        <m:f>
                          <m:f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28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28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2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4+</m:t>
                        </m:r>
                        <m:f>
                          <m:f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28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28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2+</m:t>
                        </m:r>
                        <m:f>
                          <m:f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4</m:t>
                        </m:r>
                      </m:e>
                    </m:d>
                  </m:oMath>
                </a14:m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   </a:t>
                </a: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=1.166 </m:t>
                    </m:r>
                    <m:r>
                      <m:rPr>
                        <m:sty m:val="p"/>
                      </m:rP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故</a:t>
                </a:r>
                <a:endParaRPr kumimoji="0" lang="en-US" altLang="zh-CN" sz="28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𝐼</m:t>
                      </m:r>
                      <m:d>
                        <m:d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</m:t>
                          </m:r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;</m:t>
                          </m:r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</m:e>
                      </m:d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</m:e>
                      </m:d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𝑌</m:t>
                          </m:r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</m:t>
                          </m:r>
                        </m:e>
                      </m:d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=1.325−1.166=0.159 </m:t>
                      </m:r>
                      <m:r>
                        <m:rPr>
                          <m:sty m:val="p"/>
                        </m:rPr>
                        <a:rPr kumimoji="0" lang="en-US" altLang="zh-CN" sz="2800" b="0" i="0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bit</m:t>
                      </m:r>
                    </m:oMath>
                  </m:oMathPara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即从抛硬币出现正面次数平均得到关于天气的信息量为</a:t>
                </a: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0.159 bit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6C8F0F5-FCE4-E39F-0082-1AC07830C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745671"/>
                <a:ext cx="8692014" cy="5953040"/>
              </a:xfrm>
              <a:prstGeom prst="rect">
                <a:avLst/>
              </a:prstGeom>
              <a:blipFill>
                <a:blip r:embed="rId4"/>
                <a:stretch>
                  <a:fillRect l="-1474" t="-205" b="-184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FF1DFA7D-43D3-B6C6-2DA6-E628E7727C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11140</TotalTime>
  <Words>2732</Words>
  <Application>Microsoft Office PowerPoint</Application>
  <PresentationFormat>全屏显示(4:3)</PresentationFormat>
  <Paragraphs>328</Paragraphs>
  <Slides>37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굴림</vt:lpstr>
      <vt:lpstr>宋体</vt:lpstr>
      <vt:lpstr>Arial</vt:lpstr>
      <vt:lpstr>Calibri</vt:lpstr>
      <vt:lpstr>Cambria Math</vt:lpstr>
      <vt:lpstr>Times New Roman</vt:lpstr>
      <vt:lpstr>Wingdings</vt:lpstr>
      <vt:lpstr>默认设计模板</vt:lpstr>
      <vt:lpstr>第十三讲 信息论基础  中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501</cp:revision>
  <cp:lastPrinted>2026-04-21T15:33:29Z</cp:lastPrinted>
  <dcterms:created xsi:type="dcterms:W3CDTF">1601-01-01T00:00:00Z</dcterms:created>
  <dcterms:modified xsi:type="dcterms:W3CDTF">2026-04-22T06:53:15Z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