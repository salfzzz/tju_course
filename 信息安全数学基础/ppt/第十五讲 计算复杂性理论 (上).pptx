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64" r:id="rId4"/>
    <p:sldId id="265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303" r:id="rId13"/>
    <p:sldId id="290" r:id="rId14"/>
    <p:sldId id="275" r:id="rId15"/>
    <p:sldId id="276" r:id="rId16"/>
    <p:sldId id="292" r:id="rId17"/>
    <p:sldId id="293" r:id="rId18"/>
    <p:sldId id="266" r:id="rId19"/>
    <p:sldId id="291" r:id="rId20"/>
    <p:sldId id="295" r:id="rId21"/>
    <p:sldId id="294" r:id="rId22"/>
    <p:sldId id="296" r:id="rId23"/>
    <p:sldId id="297" r:id="rId24"/>
    <p:sldId id="300" r:id="rId25"/>
    <p:sldId id="301" r:id="rId26"/>
    <p:sldId id="298" r:id="rId27"/>
    <p:sldId id="299" r:id="rId28"/>
    <p:sldId id="263" r:id="rId2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1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0C9CA4-A63B-EC3D-8297-C5CA22EC0E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FE24CF-06A2-8D4A-4A91-E445F7BCF8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B33365A-7451-4DCD-B3D1-9D8031849C3D}" type="datetime1">
              <a:rPr lang="en-US" altLang="zh-CN" smtClean="0"/>
              <a:t>4/27/2026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C167DC-155E-CF96-BA6F-836EB65F26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A829C2-7904-40E7-4141-1FA20CFC4A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88309307-7ECD-48C1-AA00-A171EFB2AB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4D3CBFD-6C19-74C1-232F-B0A9FBAA28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3C3B57-B2A9-264B-B8FE-728ED6AE45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197FD03-5B89-4C21-A36F-2662BC87D87E}" type="datetime1">
              <a:rPr lang="en-US" altLang="zh-CN" smtClean="0"/>
              <a:t>4/27/2026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C6295DB-1911-E150-E4C2-2CA8EC8D2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A3150736-1DC9-0AC8-8CA2-2FDBF331E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3A57E8-217D-3537-6538-5D203BC99B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FEC90C-DC2D-DE76-C2B9-BED37CF06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2C7ADFB-8C4C-44A3-BA78-E6B6345C6C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61967A1F-8B8A-04B7-1305-FB9AD61E9A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F3E2A07D-BC9C-9CA3-E629-D43CA6C565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916AD5-F145-52B8-5648-2BE5A533F8A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D45F1DA-5754-423E-9205-3C87119CAF3F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E6890F2B-4C17-E06F-664A-D3861FE27B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985862AB-6C16-E5AD-D76C-EAF1A3ECF1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B718A0-AA23-3AF6-3A7E-D5794B4897A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126D021C-451D-40AB-B2AD-32B41D5491F5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5ADC893F-4884-577C-1CE3-37F26CA0C0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45DCB54C-733E-69BB-3125-495B1796CB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9E3931-F2ED-D0C6-0669-310D9E5143B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6248FAFB-3FFD-4D75-82D4-EEC11487CE38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BC38C008-027E-ED39-3199-78C810C07D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9529955B-FBDB-CDB5-BB68-E4B1608C9F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0D9ABC-2248-8625-4AED-F2624796E77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E225697-3B8F-4B9C-BE25-C06ACDF8E9C9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A59BDECE-8D43-46BF-012F-DD0D62509A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7E9063CC-70DB-B979-EC5E-8B530B22C9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8CA6BD-C77D-6C33-30CF-FD0EF402334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E73CBBE-73BE-4C41-8BA2-EAC1218419F8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C0FDD33B-74E7-34B9-A4E1-81ABD80B33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A9321683-0266-D3F8-788B-247E16C560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A1E9BF-DEF3-85C3-7BB4-D3D6CE34A89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B711B84-73CB-487D-B01A-B5F3C1D170CA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42260E4D-55F6-5183-88F0-632FF961AC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A65E67AC-2951-69C5-5AF7-CA731EC0FE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422CA9-0210-132D-3F8F-89A27734560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9349F90-7004-4ADF-A7C8-52419BEF8483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6BE1BF34-0947-4BA2-3302-A32FE4B90A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73E9027F-FAE1-ECF6-6441-A4A90B5C1D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4E0BB8-2B1A-5750-A4BA-B5D5D92B173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79375FB9-7115-46B4-BD8C-C8DA93CC9C71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46B02B76-4718-69CB-0E34-84C608CEF3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00E17CF2-2B4C-4705-E924-4C691D2DE1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891A2C96-373E-1648-2585-407D1DEE61C5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DA5A6FF-E4E9-474A-9377-646C0D68DEBA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67F9C0-A5BC-E55A-258D-623DC6DF0D2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C7CF5775-0202-425B-AACD-1200D57838D0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BE63F7BB-89A4-5A07-AA83-49DA627B9D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46B40780-32D0-D17F-874C-D11DEB7E06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19E844-A153-B19A-40E7-E9D4FFA42C5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ABD398D0-4223-4A1A-8A05-D5CB49600F3C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90B87ED0-972E-D0E7-538A-BC7BEBAD9E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8497D4F0-A884-673B-10B4-5B68153D18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8F1E03-0E56-2CAE-6B4F-D589451F056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DD0E6C45-C9D3-4EB4-91D4-D88B9AD50D9B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24EC40B5-56A8-6768-E9AF-E4E568F2EF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9DB2D105-D55E-546C-BA71-D2FC957FDE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11B389-8773-3938-774B-890B82F1C5C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D10D96B-AE01-4C67-ABB1-25D11DDE8E03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0D2361EB-F1B7-8B07-014E-CE9F1C036C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AB66267E-92B2-6663-1189-63295D280B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1D60AD-F2D9-B80B-99D2-A0BABAC0D5E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9484CBA-E6E2-4701-9DAB-330FD9649AE5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2754B365-3B71-7535-30EA-B93014DDD9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A302CB8E-0561-4877-74A4-9EAE5C6412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227170-0BA2-936E-00EA-7B74AABD0DE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70EED554-D1A5-422F-AC8C-B3DECEAB9A5F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916A9F19-D128-1B93-4964-78E39915DF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F4B5BCF1-A2DF-4DD8-DE49-62A65E64D5D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8AF99D-DA25-5367-707F-CED6CC3CD5F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CB45E309-B183-417F-A099-2753CA35B0BD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4398E421-5EA5-D91D-93C1-3090F65D0D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9AA3E324-9B64-8975-353C-6DA2FD77CA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F64989-87A9-F55A-107D-B627A491467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3817FC28-E36E-4788-A656-B28912DB22C2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61DC5828-BB1B-BA30-0AD1-139982F90F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960B5D50-6C25-618E-F9F1-B35F963BBD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F168E0-CBA5-F869-E932-DDDE1A99A1F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ED8693D-E109-4685-B831-C6176C6A5812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B63210CF-0293-E51D-0776-8E5A26293E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752E5CF6-E7D9-F050-D5D8-B6DFDF57F7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F72106-D9D4-39D0-DF97-2900B7FD8FB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4395029-075C-4CDE-BBA7-C683C8D671DB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547B8AFC-F9FC-7673-25A9-707421F393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11E9320F-FD07-7620-6C7F-7324F7FF9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2F3411-E3C1-392B-749F-621F445BA61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D4E327C-02C7-4350-BC63-03876BB7A52A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3BF032CE-118B-D344-135E-0B7A3C9C6F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80DA323D-29DD-01AA-CCDE-ABA75F7B00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69EEAE-5415-B452-4F31-0C64D9B658B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7B72849A-C4F1-415F-91C1-272E75763016}" type="datetime1">
              <a:rPr lang="en-US" altLang="zh-CN" smtClean="0"/>
              <a:t>4/27/2026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D26BDA-D499-C02E-DDD8-3CA2F6765A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692ACF-51B6-036D-ACCA-348C5BD77B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52FE57-A49D-53D0-8810-2EF578BA37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67E2D-E453-4006-B701-90C50CC4A8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28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7C2B21-0E16-BBCF-5EC5-05C2397522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4F3EEF-BA60-C599-C1E7-E0981632C1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3046D0-0926-D119-29FD-521657B642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15D5F-B454-449F-8242-71494DB4E6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07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452A1C-A8FE-F2B0-2495-A8CCCF9042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0DBC54-5990-E696-754C-6E570E1C8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C98E5B-A304-FC50-BDC5-D5329B1326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03088-E8DA-440F-9031-B8506C5486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2769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F73200-0BA0-1623-CBFA-626FAA6938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4D684B-3D80-B95B-9C0B-68AAB0B1D0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A280A-7FBE-16E4-3F11-977D9E270C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B0378-9ACE-4B0F-B8BC-3FB970AA36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991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DC89ADA-1D72-AC90-7C2D-EC7D0F9075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10B5F71-B78C-723B-5FD2-67DFF5245C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5C0F1F3-D6F5-0373-CB4A-788118F73E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3B33B-B85C-4E61-A31B-2F1CE6040E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07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F9E61B0-8251-BDB1-657A-27991617E3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6F0AD2-6362-6A95-491D-80EEC90757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400386-3F9A-CF68-2045-CA799303DD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0F3A2-8E9E-4921-AD03-3B2D98D2A4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480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52768EE-8D77-0136-6F04-2C86DA915A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7F0287B-ED8C-0B15-4966-3347BF2351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697E1B4-A654-8E00-7A3B-CFFA03C6C4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C406F-C116-4AFE-A995-B90292E1A6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A5C240-FB22-C5C6-6BBA-4FA096409A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570D12-7AD5-D6A8-71E0-6F288D6087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96A86A-9719-EE0B-AC5E-7076242235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A925B-46A4-45D9-978E-2655DAEACF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401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C719F-6665-D922-385F-075B1B6170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48FE13-5BE3-F8F2-4F68-8E8706E3D9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93679-89F1-7EBE-B8C0-41DA0A1847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D3527-6BBE-40C1-A652-416CF7BB9F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4719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CB2F4A-072E-364F-BAE9-D9C558D755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09B189-4CED-C1B4-CABF-CAC47A0750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1669A4-D790-213B-1A0A-571106178D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1D4AB-20F6-407B-B778-ABE89DC4F0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1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C865C0-1C92-FFE7-F3CA-C9EB7AB34F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694CB0-E9D1-D167-C890-235DD4BB15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20A983-D3B1-2022-572C-F96191746B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EB461-0F9A-49A4-9F13-DD36EB2C57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308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7045F05-C1C4-FB24-E0F2-0532A07BCD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AA605D-1B42-A411-BCFD-B39D90212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4791417-3AA2-D868-1B68-77F08C98D6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03955F6-99DA-35DF-4CD5-4A9E3F45F7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AD6AEAA-20FC-0526-9B17-0FDDB2226EA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74E4292B-EDB1-43CB-9513-649CE053FD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88D108A-44C7-BA65-3766-320084E6F6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第十五讲 </a:t>
            </a:r>
            <a:r>
              <a:rPr lang="zh-CN" altLang="en-US" dirty="0">
                <a:latin typeface="宋体" panose="02010600030101010101" pitchFamily="2" charset="-122"/>
              </a:rPr>
              <a:t>计算复杂性理论</a:t>
            </a:r>
            <a:br>
              <a:rPr lang="zh-CN" altLang="en-US" dirty="0">
                <a:latin typeface="宋体" panose="02010600030101010101" pitchFamily="2" charset="-122"/>
              </a:rPr>
            </a:br>
            <a:r>
              <a:rPr lang="zh-CN" altLang="en-US" b="1" dirty="0">
                <a:latin typeface="Times New Roman" panose="02020603050405020304" pitchFamily="18" charset="0"/>
              </a:rPr>
              <a:t>上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D8F6736-E00D-F2D6-ACD4-0479EBE80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/>
              <a:t>本讲提要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DFECEAB-2347-4249-A1DC-024A19E31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162800" cy="28956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en-US" altLang="zh-CN" sz="3600" dirty="0"/>
              <a:t> </a:t>
            </a:r>
            <a:r>
              <a:rPr lang="zh-CN" altLang="en-US" sz="3600" dirty="0"/>
              <a:t>算法时空复杂性分析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q"/>
            </a:pPr>
            <a:r>
              <a:rPr lang="zh-CN" altLang="en-US" sz="3600" dirty="0"/>
              <a:t> 确定图灵机与</a:t>
            </a:r>
            <a:r>
              <a:rPr lang="en-US" altLang="zh-CN" sz="3600" dirty="0"/>
              <a:t>RAM</a:t>
            </a:r>
            <a:r>
              <a:rPr lang="zh-CN" altLang="en-US" sz="3600" dirty="0"/>
              <a:t>模型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FFB8C71F-BCD9-F5EC-7CCC-91AFB54A7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81000"/>
            <a:ext cx="6172200" cy="533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1.1</a:t>
            </a:r>
            <a:r>
              <a:rPr lang="zh-CN" altLang="en-US"/>
              <a:t>算法时空复杂性分析</a:t>
            </a:r>
          </a:p>
        </p:txBody>
      </p:sp>
      <p:sp>
        <p:nvSpPr>
          <p:cNvPr id="6147" name="TextBox 3">
            <a:extLst>
              <a:ext uri="{FF2B5EF4-FFF2-40B4-BE49-F238E27FC236}">
                <a16:creationId xmlns:a16="http://schemas.microsoft.com/office/drawing/2014/main" id="{4E11D38A-0A12-5FC2-5843-C42A6CE68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10" y="1066800"/>
            <a:ext cx="8534400" cy="4954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问题由两部分组成：一是对问题的答案所满足的特征的说明；二是对其所有参数的描述。而一个问题的实例则可通过指定问题中所有参数的具体取值来得到。问题可用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表示，实例可用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判定奇素数。给出一个奇整数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，判定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是素数否。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5D3F96C-8249-8D87-AECE-751515FDA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1.1</a:t>
            </a:r>
            <a:r>
              <a:rPr lang="zh-CN" altLang="en-US"/>
              <a:t>算法时空复杂性分析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7171" name="TextBox 3">
            <a:extLst>
              <a:ext uri="{FF2B5EF4-FFF2-40B4-BE49-F238E27FC236}">
                <a16:creationId xmlns:a16="http://schemas.microsoft.com/office/drawing/2014/main" id="{A259AE09-A6C7-3FDD-AE63-5AE7C87A7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72845"/>
            <a:ext cx="8534400" cy="580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1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所谓算法是有限规则的集合，这些规则可用来求解某一问题，通过带有一般性有步骤的计算，并在有限步骤后终止计算，产生输出。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算法特征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）有穷性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）确定性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）可行性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）输入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）输出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E9FBBD1-B866-B4FF-FC1A-BF6A3FCFC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1.1</a:t>
            </a:r>
            <a:r>
              <a:rPr lang="zh-CN" altLang="en-US"/>
              <a:t>算法时空复杂性分析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6E9296-9AAC-8B4C-A0CF-D61AE7DD95F8}"/>
                  </a:ext>
                </a:extLst>
              </p:cNvPr>
              <p:cNvSpPr txBox="1"/>
              <p:nvPr/>
            </p:nvSpPr>
            <p:spPr>
              <a:xfrm>
                <a:off x="261079" y="914400"/>
                <a:ext cx="8343900" cy="4088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5000"/>
                  </a:lnSpc>
                  <a:buNone/>
                </a:pPr>
                <a:r>
                  <a:rPr lang="zh-CN" altLang="zh-CN" sz="3000" b="1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例子</a:t>
                </a:r>
                <a:r>
                  <a:rPr lang="en-US" altLang="zh-CN" sz="3000" b="1" kern="100" dirty="0"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2 </a:t>
                </a:r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判定奇素数算法。</a:t>
                </a:r>
                <a:endParaRPr lang="zh-CN" altLang="zh-CN" sz="30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buNone/>
                </a:pPr>
                <a:r>
                  <a:rPr lang="zh-CN" altLang="en-US" sz="30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输入正奇数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30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zh-CN" altLang="zh-CN" sz="30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buNone/>
                </a:pPr>
                <a:r>
                  <a:rPr lang="zh-CN" altLang="en-US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除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，得到余数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zh-CN" altLang="zh-CN" sz="30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buNone/>
                </a:pPr>
                <a:r>
                  <a:rPr lang="zh-CN" altLang="en-US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，算法结束，输出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不是素数；</a:t>
                </a:r>
                <a:endParaRPr lang="zh-CN" altLang="zh-CN" sz="30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buNone/>
                </a:pPr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否则执行第</a:t>
                </a:r>
                <a:r>
                  <a:rPr lang="zh-CN" altLang="en-US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步；</a:t>
                </a:r>
                <a:endParaRPr lang="zh-CN" altLang="zh-CN" sz="30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buNone/>
                </a:pPr>
                <a:r>
                  <a:rPr lang="zh-CN" altLang="en-US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大于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3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，输出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是奇素数，否则执行</a:t>
                </a:r>
                <a14:m>
                  <m:oMath xmlns:m="http://schemas.openxmlformats.org/officeDocument/2006/math"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3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+2</m:t>
                    </m:r>
                  </m:oMath>
                </a14:m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，然后执行第</a:t>
                </a:r>
                <a:r>
                  <a:rPr lang="en-US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3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步。</a:t>
                </a:r>
                <a:endParaRPr lang="zh-CN" altLang="zh-CN" sz="30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6E9296-9AAC-8B4C-A0CF-D61AE7DD9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79" y="914400"/>
                <a:ext cx="8343900" cy="4088235"/>
              </a:xfrm>
              <a:prstGeom prst="rect">
                <a:avLst/>
              </a:prstGeom>
              <a:blipFill>
                <a:blip r:embed="rId3"/>
                <a:stretch>
                  <a:fillRect l="-1753" t="-1043" r="-1680" b="-3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C9F29B5-7162-CE83-EF07-B563533DF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1.1</a:t>
            </a:r>
            <a:r>
              <a:rPr lang="zh-CN" altLang="en-US"/>
              <a:t>算法时空复杂性分析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11267" name="TextBox 3">
            <a:extLst>
              <a:ext uri="{FF2B5EF4-FFF2-40B4-BE49-F238E27FC236}">
                <a16:creationId xmlns:a16="http://schemas.microsoft.com/office/drawing/2014/main" id="{D393628F-2956-1BCD-2877-2FD04D956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28" y="669561"/>
            <a:ext cx="8305800" cy="580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如果某一问题的规模是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，解决问题的某一算法所需要的时间为关于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，称为该算法的时间复杂性。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类似可定义空间复杂性。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3 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记号：对一个给定的函数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表示如下特定函数的集合：</a:t>
            </a:r>
            <a:r>
              <a:rPr lang="el-GR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))={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：存在正常数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，使对所有的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E99AD60-8E79-7413-00AE-301E9ED32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算法时空复杂性分析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13315" name="TextBox 3">
            <a:extLst>
              <a:ext uri="{FF2B5EF4-FFF2-40B4-BE49-F238E27FC236}">
                <a16:creationId xmlns:a16="http://schemas.microsoft.com/office/drawing/2014/main" id="{DB55E418-7929-1020-5870-4979DF7E2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7200"/>
            <a:ext cx="8686800" cy="638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3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证明：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3000" dirty="0">
                <a:latin typeface="Symbol" panose="05050102010706020507" pitchFamily="18" charset="2"/>
                <a:cs typeface="Times New Roman" panose="02020603050405020304" pitchFamily="18" charset="0"/>
              </a:rPr>
              <a:t>3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对于第一个式子，首先确定常数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，使得对于所有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3000" dirty="0">
                <a:latin typeface="Symbol" panose="05050102010706020507" pitchFamily="18" charset="2"/>
                <a:cs typeface="Times New Roman" panose="02020603050405020304" pitchFamily="18" charset="0"/>
              </a:rPr>
              <a:t>3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成立。用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除上述不等式得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≤2</a:t>
            </a:r>
            <a:r>
              <a:rPr lang="en-US" altLang="zh-CN" sz="3000" i="1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3000" dirty="0">
                <a:latin typeface="Symbol" panose="05050102010706020507" pitchFamily="18" charset="2"/>
                <a:cs typeface="Times New Roman" panose="02020603050405020304" pitchFamily="18" charset="0"/>
              </a:rPr>
              <a:t>3/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这样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=1/2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，以及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可使得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3000" dirty="0">
                <a:latin typeface="Symbol" panose="05050102010706020507" pitchFamily="18" charset="2"/>
                <a:cs typeface="Times New Roman" panose="02020603050405020304" pitchFamily="18" charset="0"/>
              </a:rPr>
              <a:t>3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成立。因此，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3000" dirty="0">
                <a:latin typeface="Symbol" panose="05050102010706020507" pitchFamily="18" charset="2"/>
                <a:cs typeface="Times New Roman" panose="02020603050405020304" pitchFamily="18" charset="0"/>
              </a:rPr>
              <a:t>3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而定义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要求对于所有任意大的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和某个常数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，对于常数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这不可能。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9B00210-3309-742E-544A-1CEB91188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1.1</a:t>
            </a:r>
            <a:r>
              <a:rPr lang="zh-CN" altLang="en-US"/>
              <a:t>算法时空复杂性分析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15363" name="TextBox 3">
            <a:extLst>
              <a:ext uri="{FF2B5EF4-FFF2-40B4-BE49-F238E27FC236}">
                <a16:creationId xmlns:a16="http://schemas.microsoft.com/office/drawing/2014/main" id="{751296A0-F5FE-80EB-7586-45366A308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0"/>
            <a:ext cx="8534400" cy="580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4 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记号：对一个给定的函数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表示如下特定函数的集合：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))={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：存在正常数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，使对所有的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记号在一个常数因子内给出某函数的一个渐进上界。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5 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记号：给定的函数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表示如下特定函数的集合：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))={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：存在正常数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，使对所有的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)≥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l-GR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记号给出某函数的一个渐进下界。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1B46816-5291-4F12-4B37-A03E31A2F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1.1</a:t>
            </a:r>
            <a:r>
              <a:rPr lang="zh-CN" altLang="en-US"/>
              <a:t>算法时空复杂性分析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TextBox 3">
                <a:extLst>
                  <a:ext uri="{FF2B5EF4-FFF2-40B4-BE49-F238E27FC236}">
                    <a16:creationId xmlns:a16="http://schemas.microsoft.com/office/drawing/2014/main" id="{A19756B0-2364-E37C-9E8B-2555B70FA6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" y="803275"/>
                <a:ext cx="8534400" cy="57919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30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sz="30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1 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对任意函数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</a:t>
                </a:r>
                <a:r>
                  <a:rPr lang="el-GR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当且仅当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</a:t>
                </a:r>
                <a:r>
                  <a:rPr lang="el-GR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30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sz="30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6 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记号：给定的函数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，用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表示如下特定函数的集合：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))={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：对</a:t>
                </a:r>
                <a:r>
                  <a:rPr lang="zh-CN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任意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正常数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，存在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，使对所有的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，有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 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cg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  <a:r>
                  <a:rPr lang="zh-CN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表示中，当</a:t>
                </a:r>
                <a:r>
                  <a:rPr lang="en-US" altLang="zh-CN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趋于无穷大时，应该有：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11" name="TextBox 3">
                <a:extLst>
                  <a:ext uri="{FF2B5EF4-FFF2-40B4-BE49-F238E27FC236}">
                    <a16:creationId xmlns:a16="http://schemas.microsoft.com/office/drawing/2014/main" id="{A19756B0-2364-E37C-9E8B-2555B70FA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03275"/>
                <a:ext cx="8534400" cy="5791907"/>
              </a:xfrm>
              <a:prstGeom prst="rect">
                <a:avLst/>
              </a:prstGeom>
              <a:blipFill>
                <a:blip r:embed="rId3"/>
                <a:stretch>
                  <a:fillRect l="-1714" t="-737" r="-60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AB7675D-A824-5E04-B1BF-DA3F04E078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1.1</a:t>
            </a:r>
            <a:r>
              <a:rPr lang="zh-CN" altLang="en-US"/>
              <a:t>算法时空复杂性分析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59" name="TextBox 3">
                <a:extLst>
                  <a:ext uri="{FF2B5EF4-FFF2-40B4-BE49-F238E27FC236}">
                    <a16:creationId xmlns:a16="http://schemas.microsoft.com/office/drawing/2014/main" id="{C756DBA9-D4E2-2355-8613-4D39D7E06D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" y="685800"/>
                <a:ext cx="8534400" cy="506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b="1" dirty="0">
                    <a:latin typeface="+mn-ea"/>
                    <a:ea typeface="+mn-ea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b="1" dirty="0">
                    <a:latin typeface="+mn-ea"/>
                    <a:ea typeface="+mn-ea"/>
                    <a:cs typeface="Times New Roman" panose="02020603050405020304" pitchFamily="18" charset="0"/>
                  </a:rPr>
                  <a:t>7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记号：给定的函数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，用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表示如下特定函数的集合：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))={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：对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任意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正常数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，存在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，使对所有的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，有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cg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表示中，当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趋于无穷大时，应该有：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∞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459" name="TextBox 3">
                <a:extLst>
                  <a:ext uri="{FF2B5EF4-FFF2-40B4-BE49-F238E27FC236}">
                    <a16:creationId xmlns:a16="http://schemas.microsoft.com/office/drawing/2014/main" id="{C756DBA9-D4E2-2355-8613-4D39D7E06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685800"/>
                <a:ext cx="8534400" cy="5067349"/>
              </a:xfrm>
              <a:prstGeom prst="rect">
                <a:avLst/>
              </a:prstGeom>
              <a:blipFill>
                <a:blip r:embed="rId3"/>
                <a:stretch>
                  <a:fillRect l="-1857" t="-842" r="-17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EF7E285-053F-37F2-051F-A9F4CD25B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1.1</a:t>
            </a:r>
            <a:r>
              <a:rPr lang="zh-CN" altLang="en-US"/>
              <a:t>算法时空复杂性分析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07" name="TextBox 3">
                <a:extLst>
                  <a:ext uri="{FF2B5EF4-FFF2-40B4-BE49-F238E27FC236}">
                    <a16:creationId xmlns:a16="http://schemas.microsoft.com/office/drawing/2014/main" id="{81281C28-9F2D-155D-7446-1312D742F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703263"/>
                <a:ext cx="8229600" cy="51269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30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sz="30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8 </a:t>
                </a:r>
                <a:r>
                  <a:rPr lang="zh-CN" altLang="en-US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多项式时间算法</a:t>
                </a:r>
                <a:r>
                  <a:rPr lang="en-US" altLang="zh-CN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(polynomial time algorithm)</a:t>
                </a:r>
                <a:r>
                  <a:rPr lang="zh-CN" altLang="en-US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是指时间复杂性函数是</a:t>
                </a:r>
                <a:r>
                  <a:rPr lang="en-US" altLang="zh-CN" sz="30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O</a:t>
                </a:r>
                <a:r>
                  <a:rPr lang="en-US" altLang="zh-CN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en-US" altLang="zh-CN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))</a:t>
                </a:r>
                <a:r>
                  <a:rPr lang="zh-CN" altLang="en-US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的算法，这里</a:t>
                </a:r>
                <a:r>
                  <a:rPr lang="en-US" altLang="zh-CN" sz="30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en-US" altLang="zh-CN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0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)</a:t>
                </a:r>
                <a:r>
                  <a:rPr lang="zh-CN" altLang="en-US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是关于</a:t>
                </a:r>
                <a:r>
                  <a:rPr lang="en-US" altLang="zh-CN" sz="3000" i="1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的多项式。不能够这样限定时间复杂度的算法被称为指数时间算法。</a:t>
                </a:r>
                <a:endParaRPr lang="en-US" altLang="zh-CN" sz="3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CN" sz="3000" dirty="0">
                  <a:latin typeface="+mn-ea"/>
                  <a:ea typeface="+mn-ea"/>
                </a:endParaRPr>
              </a:p>
              <a:p>
                <a:pPr>
                  <a:buNone/>
                </a:pPr>
                <a:r>
                  <a:rPr lang="zh-CN" altLang="zh-CN" sz="3000" b="1" dirty="0">
                    <a:latin typeface="+mn-ea"/>
                    <a:ea typeface="+mn-ea"/>
                  </a:rPr>
                  <a:t>例子</a:t>
                </a:r>
                <a:r>
                  <a:rPr lang="en-US" altLang="zh-CN" sz="3000" b="1" dirty="0">
                    <a:latin typeface="+mn-ea"/>
                    <a:ea typeface="+mn-ea"/>
                  </a:rPr>
                  <a:t>4 </a:t>
                </a:r>
                <a:r>
                  <a:rPr lang="zh-CN" altLang="zh-CN" sz="3000" dirty="0">
                    <a:latin typeface="+mn-ea"/>
                    <a:ea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𝜀</m:t>
                    </m:r>
                  </m:oMath>
                </a14:m>
                <a:r>
                  <a:rPr lang="zh-CN" altLang="zh-CN" sz="3000" dirty="0"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zh-CN" sz="3000" dirty="0">
                    <a:latin typeface="+mn-ea"/>
                    <a:ea typeface="+mn-ea"/>
                  </a:rPr>
                  <a:t>是任意常数，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ea typeface="+mn-ea"/>
                      </a:rPr>
                      <m:t>0&lt;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𝜀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&lt;1&lt;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𝑐</m:t>
                    </m:r>
                  </m:oMath>
                </a14:m>
                <a:r>
                  <a:rPr lang="zh-CN" altLang="zh-CN" sz="3000" dirty="0">
                    <a:latin typeface="+mn-ea"/>
                    <a:ea typeface="+mn-ea"/>
                  </a:rPr>
                  <a:t>。以下是一些函数按阶的渐进增长率由小到大的排列：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ea typeface="+mn-ea"/>
                      </a:rPr>
                      <m:t>1&lt;</m:t>
                    </m:r>
                    <m:func>
                      <m:func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ln</m:t>
                        </m:r>
                      </m:fName>
                      <m:e>
                        <m:func>
                          <m:func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+mn-ea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e>
                        </m:func>
                      </m:e>
                    </m:func>
                    <m:r>
                      <a:rPr lang="en-US" altLang="zh-CN" sz="3000"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func>
                      <m:func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  <a:ea typeface="+mn-ea"/>
                          </a:rPr>
                          <m:t>ln</m:t>
                        </m:r>
                      </m:fName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</m:func>
                    <m:r>
                      <a:rPr lang="en-US" altLang="zh-CN" sz="3000"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radPr>
                          <m:deg/>
                          <m:e>
                            <m:func>
                              <m:func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000">
                                    <a:latin typeface="Cambria Math" panose="02040503050406030204" pitchFamily="18" charset="0"/>
                                    <a:ea typeface="+mn-ea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00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ln</m:t>
                                    </m:r>
                                  </m:fName>
                                  <m:e>
                                    <m:func>
                                      <m:funcPr>
                                        <m:ctrlPr>
                                          <a:rPr lang="zh-CN" altLang="zh-CN" sz="30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3000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ea typeface="+mn-ea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func>
                              </m:e>
                            </m:func>
                          </m:e>
                        </m:rad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𝜀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𝑐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+mn-ea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𝑐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+mn-ea"/>
                          </a:rPr>
                          <m:t>𝑐</m:t>
                        </m:r>
                      </m:e>
                      <m:sup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+mn-ea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507" name="TextBox 3">
                <a:extLst>
                  <a:ext uri="{FF2B5EF4-FFF2-40B4-BE49-F238E27FC236}">
                    <a16:creationId xmlns:a16="http://schemas.microsoft.com/office/drawing/2014/main" id="{81281C28-9F2D-155D-7446-1312D742F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703263"/>
                <a:ext cx="8229600" cy="5126981"/>
              </a:xfrm>
              <a:prstGeom prst="rect">
                <a:avLst/>
              </a:prstGeom>
              <a:blipFill>
                <a:blip r:embed="rId3"/>
                <a:stretch>
                  <a:fillRect l="-1704" t="-832" r="-3185" b="-24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C8E45C9-6D9C-64AF-7759-142E9AF41A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304800"/>
            <a:ext cx="6172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1.1</a:t>
            </a:r>
            <a:r>
              <a:rPr lang="zh-CN" altLang="en-US"/>
              <a:t>算法时空复杂性分析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3555" name="TextBox 3">
            <a:extLst>
              <a:ext uri="{FF2B5EF4-FFF2-40B4-BE49-F238E27FC236}">
                <a16:creationId xmlns:a16="http://schemas.microsoft.com/office/drawing/2014/main" id="{1364CBFF-BF51-AE67-6F4F-752ED5806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90600"/>
            <a:ext cx="7848600" cy="4954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例子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时间复杂度为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的算法都是多项式时间算法，时间复杂度为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!)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CN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的算法都是指数时间算法。若一台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一天算力是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基本计算次，对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的算法可解决问题规模是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的算法就是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!)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的算法就是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；那么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的速度提高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倍，这三种算法解决的问题规模可达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7CF41B2-EC93-24CD-DF7B-87B8F89BE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304800"/>
            <a:ext cx="6172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1.2 </a:t>
            </a:r>
            <a:r>
              <a:rPr lang="zh-CN" altLang="en-US"/>
              <a:t>确定图灵机与</a:t>
            </a:r>
            <a:r>
              <a:rPr lang="en-US" altLang="zh-CN"/>
              <a:t>RAM</a:t>
            </a:r>
            <a:r>
              <a:rPr lang="zh-CN" altLang="en-US"/>
              <a:t>模型</a:t>
            </a:r>
            <a:endParaRPr lang="en-US" altLang="zh-CN"/>
          </a:p>
        </p:txBody>
      </p:sp>
      <p:grpSp>
        <p:nvGrpSpPr>
          <p:cNvPr id="25603" name="组合 71">
            <a:extLst>
              <a:ext uri="{FF2B5EF4-FFF2-40B4-BE49-F238E27FC236}">
                <a16:creationId xmlns:a16="http://schemas.microsoft.com/office/drawing/2014/main" id="{AC07ABB3-4502-93C6-F71C-A3B2B3723C00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1143000"/>
            <a:ext cx="7662862" cy="4927600"/>
            <a:chOff x="533400" y="1143000"/>
            <a:chExt cx="7663428" cy="4928175"/>
          </a:xfrm>
        </p:grpSpPr>
        <p:sp>
          <p:nvSpPr>
            <p:cNvPr id="25604" name="TextBox 3">
              <a:extLst>
                <a:ext uri="{FF2B5EF4-FFF2-40B4-BE49-F238E27FC236}">
                  <a16:creationId xmlns:a16="http://schemas.microsoft.com/office/drawing/2014/main" id="{A969604B-A4C8-D9E3-69CA-5A678AD2A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486400"/>
              <a:ext cx="54102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图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确定图灵机示意图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052173-C078-A04B-0D8A-0A026FCB5CC6}"/>
                </a:ext>
              </a:extLst>
            </p:cNvPr>
            <p:cNvSpPr txBox="1"/>
            <p:nvPr/>
          </p:nvSpPr>
          <p:spPr>
            <a:xfrm>
              <a:off x="3429214" y="1143000"/>
              <a:ext cx="1905141" cy="83036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2400" dirty="0"/>
                <a:t>有限状态控制器</a:t>
              </a:r>
              <a:endParaRPr lang="en-US" sz="2400" dirty="0"/>
            </a:p>
          </p:txBody>
        </p:sp>
        <p:sp>
          <p:nvSpPr>
            <p:cNvPr id="25606" name="TextBox 4">
              <a:extLst>
                <a:ext uri="{FF2B5EF4-FFF2-40B4-BE49-F238E27FC236}">
                  <a16:creationId xmlns:a16="http://schemas.microsoft.com/office/drawing/2014/main" id="{9BB82968-5023-8AE1-C48E-95FEA138D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2057400"/>
              <a:ext cx="94128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读</a:t>
              </a:r>
              <a:r>
                <a:rPr lang="en-US" altLang="zh-CN" sz="1800"/>
                <a:t>/</a:t>
              </a:r>
              <a:r>
                <a:rPr lang="zh-CN" altLang="en-US" sz="1800"/>
                <a:t>写头</a:t>
              </a:r>
              <a:endParaRPr lang="en-US" altLang="zh-CN" sz="1800"/>
            </a:p>
          </p:txBody>
        </p:sp>
        <p:sp>
          <p:nvSpPr>
            <p:cNvPr id="25607" name="TextBox 5">
              <a:extLst>
                <a:ext uri="{FF2B5EF4-FFF2-40B4-BE49-F238E27FC236}">
                  <a16:creationId xmlns:a16="http://schemas.microsoft.com/office/drawing/2014/main" id="{A94BA41B-0CAB-4F00-2DC0-689B378F6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2743200"/>
              <a:ext cx="5437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带</a:t>
              </a:r>
              <a:r>
                <a:rPr lang="en-US" altLang="zh-CN" sz="1800"/>
                <a:t>1</a:t>
              </a:r>
            </a:p>
          </p:txBody>
        </p:sp>
        <p:sp>
          <p:nvSpPr>
            <p:cNvPr id="25608" name="TextBox 6">
              <a:extLst>
                <a:ext uri="{FF2B5EF4-FFF2-40B4-BE49-F238E27FC236}">
                  <a16:creationId xmlns:a16="http://schemas.microsoft.com/office/drawing/2014/main" id="{094CDC8A-D231-95CD-9DEF-FEC34DE18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2133600"/>
              <a:ext cx="13388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无限长纸带</a:t>
              </a:r>
              <a:endParaRPr lang="en-US" altLang="zh-CN" sz="1800"/>
            </a:p>
          </p:txBody>
        </p:sp>
        <p:sp>
          <p:nvSpPr>
            <p:cNvPr id="25609" name="TextBox 7">
              <a:extLst>
                <a:ext uri="{FF2B5EF4-FFF2-40B4-BE49-F238E27FC236}">
                  <a16:creationId xmlns:a16="http://schemas.microsoft.com/office/drawing/2014/main" id="{85882AF5-33F1-63D6-58C8-AD5F45E4F0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3505200"/>
              <a:ext cx="5437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带</a:t>
              </a:r>
              <a:r>
                <a:rPr lang="en-US" altLang="zh-CN" sz="1800"/>
                <a:t>2</a:t>
              </a:r>
            </a:p>
          </p:txBody>
        </p:sp>
        <p:sp>
          <p:nvSpPr>
            <p:cNvPr id="25610" name="TextBox 8">
              <a:extLst>
                <a:ext uri="{FF2B5EF4-FFF2-40B4-BE49-F238E27FC236}">
                  <a16:creationId xmlns:a16="http://schemas.microsoft.com/office/drawing/2014/main" id="{79D086DC-3FB4-8DEF-54F7-23EF99105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4800600"/>
              <a:ext cx="5309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带</a:t>
              </a:r>
              <a:r>
                <a:rPr lang="en-US" altLang="zh-CN" sz="1800" i="1"/>
                <a:t>k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34E8343-5578-70E6-61B5-52F51E0A67EC}"/>
                </a:ext>
              </a:extLst>
            </p:cNvPr>
            <p:cNvSpPr/>
            <p:nvPr/>
          </p:nvSpPr>
          <p:spPr>
            <a:xfrm>
              <a:off x="1905101" y="2667178"/>
              <a:ext cx="4877160" cy="5334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D0A5084B-41BB-7E7F-B1D7-3BE3B664ACC6}"/>
                </a:ext>
              </a:extLst>
            </p:cNvPr>
            <p:cNvCxnSpPr/>
            <p:nvPr/>
          </p:nvCxnSpPr>
          <p:spPr>
            <a:xfrm>
              <a:off x="2362335" y="2667178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A20DECF-93A1-6778-396F-FB85D608A3E9}"/>
                </a:ext>
              </a:extLst>
            </p:cNvPr>
            <p:cNvCxnSpPr/>
            <p:nvPr/>
          </p:nvCxnSpPr>
          <p:spPr>
            <a:xfrm>
              <a:off x="2819569" y="2667178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83C2FDA-9C02-CCD5-0F92-1C0663944232}"/>
                </a:ext>
              </a:extLst>
            </p:cNvPr>
            <p:cNvCxnSpPr/>
            <p:nvPr/>
          </p:nvCxnSpPr>
          <p:spPr>
            <a:xfrm>
              <a:off x="3276803" y="2667178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7BC2CD7-C659-863B-0F53-628287FBF8F7}"/>
                </a:ext>
              </a:extLst>
            </p:cNvPr>
            <p:cNvCxnSpPr/>
            <p:nvPr/>
          </p:nvCxnSpPr>
          <p:spPr>
            <a:xfrm>
              <a:off x="3962653" y="2667178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77DD01A-C8D3-D91E-69BA-93BA2F1FE478}"/>
                </a:ext>
              </a:extLst>
            </p:cNvPr>
            <p:cNvCxnSpPr/>
            <p:nvPr/>
          </p:nvCxnSpPr>
          <p:spPr>
            <a:xfrm>
              <a:off x="4419887" y="2667178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291ACB-59B9-512F-AA38-6C3F580B13CF}"/>
                </a:ext>
              </a:extLst>
            </p:cNvPr>
            <p:cNvCxnSpPr/>
            <p:nvPr/>
          </p:nvCxnSpPr>
          <p:spPr>
            <a:xfrm>
              <a:off x="4877121" y="2667178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18" name="TextBox 21">
              <a:extLst>
                <a:ext uri="{FF2B5EF4-FFF2-40B4-BE49-F238E27FC236}">
                  <a16:creationId xmlns:a16="http://schemas.microsoft.com/office/drawing/2014/main" id="{FF4DAD5D-0722-E547-D0B3-C4F4F658B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27432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5619" name="TextBox 22">
              <a:extLst>
                <a:ext uri="{FF2B5EF4-FFF2-40B4-BE49-F238E27FC236}">
                  <a16:creationId xmlns:a16="http://schemas.microsoft.com/office/drawing/2014/main" id="{DEA050B6-7DEB-AB16-FF66-07F2A216C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27432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8D047A5-758A-011A-EF31-139448C0DAC6}"/>
                </a:ext>
              </a:extLst>
            </p:cNvPr>
            <p:cNvSpPr/>
            <p:nvPr/>
          </p:nvSpPr>
          <p:spPr>
            <a:xfrm>
              <a:off x="6706056" y="2590969"/>
              <a:ext cx="152411" cy="7620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F1980AA-4D2C-7C53-79EE-830936924C1D}"/>
                </a:ext>
              </a:extLst>
            </p:cNvPr>
            <p:cNvSpPr/>
            <p:nvPr/>
          </p:nvSpPr>
          <p:spPr>
            <a:xfrm>
              <a:off x="1905101" y="3581685"/>
              <a:ext cx="4877160" cy="5334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8CE65902-4F94-9B86-1AE8-8EFCE8805FB7}"/>
                </a:ext>
              </a:extLst>
            </p:cNvPr>
            <p:cNvCxnSpPr/>
            <p:nvPr/>
          </p:nvCxnSpPr>
          <p:spPr>
            <a:xfrm>
              <a:off x="2362335" y="3581685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AC0106D-77C7-D2D0-7A18-4BAB95F9C803}"/>
                </a:ext>
              </a:extLst>
            </p:cNvPr>
            <p:cNvCxnSpPr/>
            <p:nvPr/>
          </p:nvCxnSpPr>
          <p:spPr>
            <a:xfrm>
              <a:off x="2819569" y="3581685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7AB39A6-1D31-6DBC-2581-CE8CC037DB4C}"/>
                </a:ext>
              </a:extLst>
            </p:cNvPr>
            <p:cNvCxnSpPr/>
            <p:nvPr/>
          </p:nvCxnSpPr>
          <p:spPr>
            <a:xfrm>
              <a:off x="3276803" y="3581685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3130461-C8A4-C3CD-90B9-62595EC91DEA}"/>
                </a:ext>
              </a:extLst>
            </p:cNvPr>
            <p:cNvCxnSpPr/>
            <p:nvPr/>
          </p:nvCxnSpPr>
          <p:spPr>
            <a:xfrm>
              <a:off x="3962653" y="3581685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F5F578C-49BC-01DB-9E80-927F88D5FA07}"/>
                </a:ext>
              </a:extLst>
            </p:cNvPr>
            <p:cNvCxnSpPr/>
            <p:nvPr/>
          </p:nvCxnSpPr>
          <p:spPr>
            <a:xfrm>
              <a:off x="4419887" y="3581685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2D683FA-C8F1-C2DF-5186-D29712C4A5EC}"/>
                </a:ext>
              </a:extLst>
            </p:cNvPr>
            <p:cNvCxnSpPr/>
            <p:nvPr/>
          </p:nvCxnSpPr>
          <p:spPr>
            <a:xfrm>
              <a:off x="4877121" y="3581685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28" name="TextBox 32">
              <a:extLst>
                <a:ext uri="{FF2B5EF4-FFF2-40B4-BE49-F238E27FC236}">
                  <a16:creationId xmlns:a16="http://schemas.microsoft.com/office/drawing/2014/main" id="{9D776464-7DCA-FBF9-D0BF-419583C1C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36576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5629" name="TextBox 33">
              <a:extLst>
                <a:ext uri="{FF2B5EF4-FFF2-40B4-BE49-F238E27FC236}">
                  <a16:creationId xmlns:a16="http://schemas.microsoft.com/office/drawing/2014/main" id="{02E4CE1F-6438-4D52-2474-0C2CB79DA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36576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43C19BD-36F2-45B5-538C-BA003024F006}"/>
                </a:ext>
              </a:extLst>
            </p:cNvPr>
            <p:cNvSpPr/>
            <p:nvPr/>
          </p:nvSpPr>
          <p:spPr>
            <a:xfrm>
              <a:off x="6706056" y="3505476"/>
              <a:ext cx="152411" cy="7620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D03AD9A-CD24-8E19-373C-1DCE52115821}"/>
                </a:ext>
              </a:extLst>
            </p:cNvPr>
            <p:cNvSpPr/>
            <p:nvPr/>
          </p:nvSpPr>
          <p:spPr>
            <a:xfrm>
              <a:off x="1913039" y="4654960"/>
              <a:ext cx="4875573" cy="5334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418B2661-6887-CF55-5EC2-7CF3EE9ABCBE}"/>
                </a:ext>
              </a:extLst>
            </p:cNvPr>
            <p:cNvCxnSpPr/>
            <p:nvPr/>
          </p:nvCxnSpPr>
          <p:spPr>
            <a:xfrm>
              <a:off x="2368686" y="4654960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12807AD5-1F69-B411-3A26-AC80893BD6D5}"/>
                </a:ext>
              </a:extLst>
            </p:cNvPr>
            <p:cNvCxnSpPr/>
            <p:nvPr/>
          </p:nvCxnSpPr>
          <p:spPr>
            <a:xfrm>
              <a:off x="2825919" y="4654960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A76939D8-9EA0-0E35-102B-B5E042C72E25}"/>
                </a:ext>
              </a:extLst>
            </p:cNvPr>
            <p:cNvCxnSpPr/>
            <p:nvPr/>
          </p:nvCxnSpPr>
          <p:spPr>
            <a:xfrm>
              <a:off x="3283153" y="4654960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3C75B741-92CE-7292-982B-BB43F0028586}"/>
                </a:ext>
              </a:extLst>
            </p:cNvPr>
            <p:cNvCxnSpPr/>
            <p:nvPr/>
          </p:nvCxnSpPr>
          <p:spPr>
            <a:xfrm>
              <a:off x="3969004" y="4654960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8DBAA30-DBD4-1705-4CC3-C567688B3A8C}"/>
                </a:ext>
              </a:extLst>
            </p:cNvPr>
            <p:cNvCxnSpPr/>
            <p:nvPr/>
          </p:nvCxnSpPr>
          <p:spPr>
            <a:xfrm>
              <a:off x="4426238" y="4654960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271098F-03F7-7DED-DBAF-C3A486DCCF49}"/>
                </a:ext>
              </a:extLst>
            </p:cNvPr>
            <p:cNvCxnSpPr/>
            <p:nvPr/>
          </p:nvCxnSpPr>
          <p:spPr>
            <a:xfrm>
              <a:off x="4883471" y="4654960"/>
              <a:ext cx="0" cy="53346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38" name="TextBox 42">
              <a:extLst>
                <a:ext uri="{FF2B5EF4-FFF2-40B4-BE49-F238E27FC236}">
                  <a16:creationId xmlns:a16="http://schemas.microsoft.com/office/drawing/2014/main" id="{3CC78E35-0223-D866-BFA4-14555E162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260" y="473166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5639" name="TextBox 43">
              <a:extLst>
                <a:ext uri="{FF2B5EF4-FFF2-40B4-BE49-F238E27FC236}">
                  <a16:creationId xmlns:a16="http://schemas.microsoft.com/office/drawing/2014/main" id="{A8549A4C-FC37-2B6B-F658-F7D0FBED6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6460" y="473166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2BF8E3C-657B-F8F7-26F4-6903D1F9DF0D}"/>
                </a:ext>
              </a:extLst>
            </p:cNvPr>
            <p:cNvSpPr/>
            <p:nvPr/>
          </p:nvSpPr>
          <p:spPr>
            <a:xfrm>
              <a:off x="6712406" y="4578751"/>
              <a:ext cx="152411" cy="7620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25641" name="TextBox 45">
              <a:extLst>
                <a:ext uri="{FF2B5EF4-FFF2-40B4-BE49-F238E27FC236}">
                  <a16:creationId xmlns:a16="http://schemas.microsoft.com/office/drawing/2014/main" id="{C1D4601C-B10E-855B-2647-C808FCE0F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918" y="4234542"/>
              <a:ext cx="46166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5642" name="TextBox 47">
              <a:extLst>
                <a:ext uri="{FF2B5EF4-FFF2-40B4-BE49-F238E27FC236}">
                  <a16:creationId xmlns:a16="http://schemas.microsoft.com/office/drawing/2014/main" id="{25E5B68F-4F2B-95C2-5615-E4A216DD7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20574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D9930722-0643-C432-CC17-98A214F89E52}"/>
                </a:ext>
              </a:extLst>
            </p:cNvPr>
            <p:cNvCxnSpPr/>
            <p:nvPr/>
          </p:nvCxnSpPr>
          <p:spPr>
            <a:xfrm>
              <a:off x="4267476" y="1981298"/>
              <a:ext cx="0" cy="160673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7C669D1-0E4A-CA29-91DB-0C2697954101}"/>
                </a:ext>
              </a:extLst>
            </p:cNvPr>
            <p:cNvCxnSpPr/>
            <p:nvPr/>
          </p:nvCxnSpPr>
          <p:spPr>
            <a:xfrm>
              <a:off x="3657831" y="1981298"/>
              <a:ext cx="0" cy="381044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93D51FE0-41E8-6B8C-830B-CE51D3169959}"/>
                </a:ext>
              </a:extLst>
            </p:cNvPr>
            <p:cNvCxnSpPr/>
            <p:nvPr/>
          </p:nvCxnSpPr>
          <p:spPr>
            <a:xfrm flipH="1">
              <a:off x="3124391" y="2362342"/>
              <a:ext cx="533439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7501A190-C1EC-1F53-B572-4C5000F27D52}"/>
                </a:ext>
              </a:extLst>
            </p:cNvPr>
            <p:cNvCxnSpPr/>
            <p:nvPr/>
          </p:nvCxnSpPr>
          <p:spPr>
            <a:xfrm>
              <a:off x="3124391" y="2362342"/>
              <a:ext cx="0" cy="30483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ED1E247C-A3AB-532B-E11C-CA1B9F2300E1}"/>
                </a:ext>
              </a:extLst>
            </p:cNvPr>
            <p:cNvCxnSpPr/>
            <p:nvPr/>
          </p:nvCxnSpPr>
          <p:spPr>
            <a:xfrm>
              <a:off x="5105738" y="1981298"/>
              <a:ext cx="0" cy="381044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8033312B-CB59-8FFE-E529-CDD58A5AA05D}"/>
                </a:ext>
              </a:extLst>
            </p:cNvPr>
            <p:cNvCxnSpPr/>
            <p:nvPr/>
          </p:nvCxnSpPr>
          <p:spPr>
            <a:xfrm flipH="1">
              <a:off x="5105738" y="2362342"/>
              <a:ext cx="533439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7BC788BA-7230-E2A1-AF2D-A09E91A42397}"/>
                </a:ext>
              </a:extLst>
            </p:cNvPr>
            <p:cNvCxnSpPr/>
            <p:nvPr/>
          </p:nvCxnSpPr>
          <p:spPr>
            <a:xfrm>
              <a:off x="5639177" y="2362342"/>
              <a:ext cx="0" cy="228626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EBE1881-0540-4217-51B5-2F9066BB8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71138"/>
            <a:ext cx="6324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确定图灵机与</a:t>
            </a:r>
            <a:r>
              <a:rPr lang="en-US" altLang="zh-CN" dirty="0"/>
              <a:t>RAM</a:t>
            </a:r>
            <a:r>
              <a:rPr lang="zh-CN" altLang="en-US" dirty="0"/>
              <a:t>模型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27651" name="TextBox 3">
            <a:extLst>
              <a:ext uri="{FF2B5EF4-FFF2-40B4-BE49-F238E27FC236}">
                <a16:creationId xmlns:a16="http://schemas.microsoft.com/office/drawing/2014/main" id="{12188C1F-3358-4251-D258-038992E7E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22793"/>
            <a:ext cx="8534400" cy="638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一个确定性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带图灵机程序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(Program)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可以详细描述为一个七元组：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是一个有限状态集合；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称为初始状态；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称为终止状态或接收状态。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是带格中符号的有限集合；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是输入字符集，且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中的唯一空符，有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 err="1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3000" i="1" dirty="0" err="1">
                <a:latin typeface="Symbol" panose="05050102010706020507" pitchFamily="18" charset="2"/>
                <a:cs typeface="Times New Roman" panose="02020603050405020304" pitchFamily="18" charset="0"/>
              </a:rPr>
              <a:t>I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称做图灵机的下移函数或有限状态控制函数，是从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的某一个子集到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×{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r>
              <a:rPr lang="en-US" altLang="zh-CN" sz="3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的映射函数，即对由一个当前状态和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条带上扫描到的当前符号所构成的一个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元组，它唯一地给出一个新的状态和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个序偶，而每一个序偶由一个新的带符号和带头移动方向组成。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EE25F01-EDBE-448C-4655-01B487285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1.2 </a:t>
            </a:r>
            <a:r>
              <a:rPr lang="zh-CN" altLang="en-US"/>
              <a:t>确定图灵机与</a:t>
            </a:r>
            <a:r>
              <a:rPr lang="en-US" altLang="zh-CN"/>
              <a:t>RAM</a:t>
            </a:r>
            <a:r>
              <a:rPr lang="zh-CN" altLang="en-US"/>
              <a:t>模型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8675" name="TextBox 3">
            <a:extLst>
              <a:ext uri="{FF2B5EF4-FFF2-40B4-BE49-F238E27FC236}">
                <a16:creationId xmlns:a16="http://schemas.microsoft.com/office/drawing/2014/main" id="{CA9582A8-CAE3-2CD0-650C-947EDD3E9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895855"/>
            <a:ext cx="8763000" cy="5962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/>
              <a:t>假定某台图灵机的下移函数表中有一个定义式为</a:t>
            </a:r>
            <a:endParaRPr lang="en-US" altLang="zh-CN" sz="2800" dirty="0"/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…,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)=[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…, 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当图灵机处于状态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且对一切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，第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条带的带头扫描当前方格中的符号正好是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时，图灵机就按这个下移函数定义式所规定的内容进行如下工作：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）把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条带头下当前方格中的符号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清除并写上新的带符号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）按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指出的方向移动各带的带头。这里，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表示带头往左移一格，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表示带头往右移一格，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表示带头不动。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）将图灵机的当前状态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BBFFE0B-1A72-4024-231A-FABC4F6F1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1.2 </a:t>
            </a:r>
            <a:r>
              <a:rPr lang="zh-CN" altLang="en-US"/>
              <a:t>确定图灵机与</a:t>
            </a:r>
            <a:r>
              <a:rPr lang="en-US" altLang="zh-CN"/>
              <a:t>RAM</a:t>
            </a:r>
            <a:r>
              <a:rPr lang="zh-CN" altLang="en-US"/>
              <a:t>模型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9699" name="TextBox 3">
            <a:extLst>
              <a:ext uri="{FF2B5EF4-FFF2-40B4-BE49-F238E27FC236}">
                <a16:creationId xmlns:a16="http://schemas.microsoft.com/office/drawing/2014/main" id="{01729C36-2D97-3450-DA00-246AED389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20750"/>
            <a:ext cx="8763000" cy="5567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9 </a:t>
            </a:r>
            <a:r>
              <a:rPr lang="zh-CN" altLang="en-US" dirty="0"/>
              <a:t>被这台图灵机所接收的所有输入符号串的集合，称做这台图灵机识别的一个语言。</a:t>
            </a:r>
            <a:endParaRPr lang="en-US" altLang="zh-CN" dirty="0"/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/>
              <a:t> 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10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一台图灵机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的某一格局是一个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是一个形如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xqy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的字符串，这里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的当前状态，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是在当前状态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下第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条带上的符号串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不计右端空白符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，第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个带头指向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的第一个符号，当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为空串时，第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个带头指向空白符。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B7AA2E5-B02B-6293-1E5D-D19658AB0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1.2 </a:t>
            </a:r>
            <a:r>
              <a:rPr lang="zh-CN" altLang="en-US"/>
              <a:t>确定图灵机与</a:t>
            </a:r>
            <a:r>
              <a:rPr lang="en-US" altLang="zh-CN"/>
              <a:t>RAM</a:t>
            </a:r>
            <a:r>
              <a:rPr lang="zh-CN" altLang="en-US"/>
              <a:t>模型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30723" name="TextBox 3">
            <a:extLst>
              <a:ext uri="{FF2B5EF4-FFF2-40B4-BE49-F238E27FC236}">
                <a16:creationId xmlns:a16="http://schemas.microsoft.com/office/drawing/2014/main" id="{0C427E9F-7D85-BD28-A4DB-6830A99AA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20750"/>
            <a:ext cx="8458200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如果图灵机计算一步后，它的格局由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变成了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，就记做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读做“进入”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…→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就记做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如果对某一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和某一输入串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并且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中，则称图灵机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接收输入串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4" name="TextBox 4">
            <a:extLst>
              <a:ext uri="{FF2B5EF4-FFF2-40B4-BE49-F238E27FC236}">
                <a16:creationId xmlns:a16="http://schemas.microsoft.com/office/drawing/2014/main" id="{BF39B6A8-66B7-A6F1-3A7E-887079301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733800"/>
            <a:ext cx="22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*</a:t>
            </a:r>
          </a:p>
        </p:txBody>
      </p:sp>
      <p:sp>
        <p:nvSpPr>
          <p:cNvPr id="30725" name="TextBox 5">
            <a:extLst>
              <a:ext uri="{FF2B5EF4-FFF2-40B4-BE49-F238E27FC236}">
                <a16:creationId xmlns:a16="http://schemas.microsoft.com/office/drawing/2014/main" id="{C83D0482-1C92-1B09-B14F-6C6F3440B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488" y="5181600"/>
            <a:ext cx="22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6DB1CA0-D7A3-E85F-8A1E-9A3C7FFAA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" y="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确定图灵机与</a:t>
            </a:r>
            <a:r>
              <a:rPr lang="en-US" altLang="zh-CN" dirty="0"/>
              <a:t>RAM</a:t>
            </a:r>
            <a:r>
              <a:rPr lang="zh-CN" altLang="en-US" dirty="0"/>
              <a:t>模型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32771" name="TextBox 3">
            <a:extLst>
              <a:ext uri="{FF2B5EF4-FFF2-40B4-BE49-F238E27FC236}">
                <a16:creationId xmlns:a16="http://schemas.microsoft.com/office/drawing/2014/main" id="{FCD5BD1E-39A4-11AD-579D-EB56439DF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607102"/>
            <a:ext cx="8915400" cy="580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11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一个确定图灵机程序的时间复杂性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，是它处理所有长度为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的输入所需要的最大计算步数。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当然，这是最坏情况下的时间复杂性。如果对某个长度为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的输入，图灵机不停机，则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对这个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无定义。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12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一个确定图灵机程序的空间复杂性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是处理所有长度为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的输入时，在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条带上所使用过的方格的总和。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如果某个带头无限地向右移动而不停机，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也无定义。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F1DDBE7-20E5-CF18-63DA-EE6A49BD8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1.2 </a:t>
            </a:r>
            <a:r>
              <a:rPr lang="zh-CN" altLang="en-US"/>
              <a:t>确定图灵机与</a:t>
            </a:r>
            <a:r>
              <a:rPr lang="en-US" altLang="zh-CN"/>
              <a:t>RAM</a:t>
            </a:r>
            <a:r>
              <a:rPr lang="zh-CN" altLang="en-US"/>
              <a:t>模型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33795" name="TextBox 3">
            <a:extLst>
              <a:ext uri="{FF2B5EF4-FFF2-40B4-BE49-F238E27FC236}">
                <a16:creationId xmlns:a16="http://schemas.microsoft.com/office/drawing/2014/main" id="{C30FE0C2-2FD6-4B04-2EEE-6DAABC2C6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20750"/>
            <a:ext cx="8534400" cy="4215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若存在一个多项式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，使得对所有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，则称程序为一个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多项式时间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确定图灵机程序。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13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称满足如下形式化定义的集合为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类语言（问题）：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P={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：存在一个多项式时间确定性图灵机程序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能被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识别，即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76ADA68-C12A-F045-15E1-680D12E1F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61795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确定图灵机与</a:t>
            </a:r>
            <a:r>
              <a:rPr lang="en-US" altLang="zh-CN" dirty="0"/>
              <a:t>RAM</a:t>
            </a:r>
            <a:r>
              <a:rPr lang="zh-CN" altLang="en-US" dirty="0"/>
              <a:t>模型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35843" name="TextBox 3">
            <a:extLst>
              <a:ext uri="{FF2B5EF4-FFF2-40B4-BE49-F238E27FC236}">
                <a16:creationId xmlns:a16="http://schemas.microsoft.com/office/drawing/2014/main" id="{7A15B922-CD74-278A-0A0C-9D0552863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9600"/>
            <a:ext cx="8534400" cy="6046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的组件包括：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/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）一条只读输入带，由一系列的方格和带头组成，每格可以存放一个任意大小的整数。每当读出带头下的符号时，带头自动右移一个方格。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）一条只写输出带，由一系列的方格和带头组成，每格可以记录一个任意大小的整数。开始时所有方格都为空白，一旦执行一条指令，一个整数将打印在带头所对准的方格内，然后带头右移一个方格。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）存储器，由任意多个普通寄存器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组成，每个寄存器可以存放一个任意大小的整数。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）程序控制部件，用于控制一个程序。按程序的指向和每条指令的严格定义一步步执行。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）程序存储部件，用于存储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12A302E-4D87-4F0E-0C1C-A79EDCFFA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1.2 </a:t>
            </a:r>
            <a:r>
              <a:rPr lang="zh-CN" altLang="en-US"/>
              <a:t>确定图灵机与</a:t>
            </a:r>
            <a:r>
              <a:rPr lang="en-US" altLang="zh-CN"/>
              <a:t>RAM</a:t>
            </a:r>
            <a:r>
              <a:rPr lang="zh-CN" altLang="en-US"/>
              <a:t>模型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grpSp>
        <p:nvGrpSpPr>
          <p:cNvPr id="37891" name="组合 109">
            <a:extLst>
              <a:ext uri="{FF2B5EF4-FFF2-40B4-BE49-F238E27FC236}">
                <a16:creationId xmlns:a16="http://schemas.microsoft.com/office/drawing/2014/main" id="{E05296F5-6F3C-984B-E628-49D7E0691DE5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295400"/>
            <a:ext cx="7589838" cy="4775200"/>
            <a:chOff x="762000" y="1295400"/>
            <a:chExt cx="7589460" cy="4775775"/>
          </a:xfrm>
        </p:grpSpPr>
        <p:sp>
          <p:nvSpPr>
            <p:cNvPr id="37892" name="TextBox 3">
              <a:extLst>
                <a:ext uri="{FF2B5EF4-FFF2-40B4-BE49-F238E27FC236}">
                  <a16:creationId xmlns:a16="http://schemas.microsoft.com/office/drawing/2014/main" id="{C3837387-9413-04AB-E4CB-FAB629D85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486400"/>
              <a:ext cx="54102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图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RAM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模型结构示意图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6ADBA43-3750-2798-4B06-9D12FF2BF1CE}"/>
                </a:ext>
              </a:extLst>
            </p:cNvPr>
            <p:cNvSpPr txBox="1"/>
            <p:nvPr/>
          </p:nvSpPr>
          <p:spPr>
            <a:xfrm>
              <a:off x="3489189" y="2786242"/>
              <a:ext cx="1523924" cy="83036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2400" dirty="0"/>
                <a:t>程序控制部件</a:t>
              </a:r>
              <a:endParaRPr lang="en-US" sz="2400" dirty="0"/>
            </a:p>
          </p:txBody>
        </p:sp>
        <p:sp>
          <p:nvSpPr>
            <p:cNvPr id="37894" name="TextBox 5">
              <a:extLst>
                <a:ext uri="{FF2B5EF4-FFF2-40B4-BE49-F238E27FC236}">
                  <a16:creationId xmlns:a16="http://schemas.microsoft.com/office/drawing/2014/main" id="{76A57CE1-2BA9-F518-69F7-DC8632327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9982" y="1447800"/>
              <a:ext cx="3722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800" baseline="-25000"/>
                <a:t>1</a:t>
              </a:r>
            </a:p>
          </p:txBody>
        </p:sp>
        <p:sp>
          <p:nvSpPr>
            <p:cNvPr id="37895" name="TextBox 6">
              <a:extLst>
                <a:ext uri="{FF2B5EF4-FFF2-40B4-BE49-F238E27FC236}">
                  <a16:creationId xmlns:a16="http://schemas.microsoft.com/office/drawing/2014/main" id="{7003A0AA-7DF2-43E3-74FB-8783A8865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1447800"/>
              <a:ext cx="15696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只读输入纸带</a:t>
              </a:r>
              <a:endParaRPr lang="en-US" altLang="zh-CN" sz="180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6A131F4-B58E-7A75-4F82-B5A88CBA135E}"/>
                </a:ext>
              </a:extLst>
            </p:cNvPr>
            <p:cNvSpPr/>
            <p:nvPr/>
          </p:nvSpPr>
          <p:spPr>
            <a:xfrm>
              <a:off x="1904943" y="1371609"/>
              <a:ext cx="4876557" cy="5334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82F2810-5774-5696-E4BA-A221D5EA5E61}"/>
                </a:ext>
              </a:extLst>
            </p:cNvPr>
            <p:cNvCxnSpPr/>
            <p:nvPr/>
          </p:nvCxnSpPr>
          <p:spPr>
            <a:xfrm>
              <a:off x="2362120" y="1371609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EFBA86E-E593-03DC-CDAA-1021529EA0CB}"/>
                </a:ext>
              </a:extLst>
            </p:cNvPr>
            <p:cNvCxnSpPr/>
            <p:nvPr/>
          </p:nvCxnSpPr>
          <p:spPr>
            <a:xfrm>
              <a:off x="2819298" y="1371609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422BA0C-4AD8-7DAF-1D7D-DBEA07F7124D}"/>
                </a:ext>
              </a:extLst>
            </p:cNvPr>
            <p:cNvCxnSpPr/>
            <p:nvPr/>
          </p:nvCxnSpPr>
          <p:spPr>
            <a:xfrm>
              <a:off x="3276475" y="1371609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DFDA043-CAE4-5C0B-4C4A-58EBC7055109}"/>
                </a:ext>
              </a:extLst>
            </p:cNvPr>
            <p:cNvCxnSpPr/>
            <p:nvPr/>
          </p:nvCxnSpPr>
          <p:spPr>
            <a:xfrm>
              <a:off x="3962241" y="1371609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39A92E5-108E-93B1-6AE1-6D56CA51D29F}"/>
                </a:ext>
              </a:extLst>
            </p:cNvPr>
            <p:cNvCxnSpPr/>
            <p:nvPr/>
          </p:nvCxnSpPr>
          <p:spPr>
            <a:xfrm>
              <a:off x="4419418" y="1371609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02" name="TextBox 21">
              <a:extLst>
                <a:ext uri="{FF2B5EF4-FFF2-40B4-BE49-F238E27FC236}">
                  <a16:creationId xmlns:a16="http://schemas.microsoft.com/office/drawing/2014/main" id="{26C588D2-8FB2-4320-EA07-924771A92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14478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37903" name="TextBox 22">
              <a:extLst>
                <a:ext uri="{FF2B5EF4-FFF2-40B4-BE49-F238E27FC236}">
                  <a16:creationId xmlns:a16="http://schemas.microsoft.com/office/drawing/2014/main" id="{E519189E-A088-B85A-A28C-757B593AF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14478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601009A-44B1-A35C-BBB7-DFADD5985A61}"/>
                </a:ext>
              </a:extLst>
            </p:cNvPr>
            <p:cNvSpPr/>
            <p:nvPr/>
          </p:nvSpPr>
          <p:spPr>
            <a:xfrm>
              <a:off x="6705304" y="1295400"/>
              <a:ext cx="152392" cy="7620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7905" name="TextBox 49">
              <a:extLst>
                <a:ext uri="{FF2B5EF4-FFF2-40B4-BE49-F238E27FC236}">
                  <a16:creationId xmlns:a16="http://schemas.microsoft.com/office/drawing/2014/main" id="{D6F237C1-180D-577A-6B0E-54D5BCB16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1228" y="1447800"/>
              <a:ext cx="3722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800" baseline="-25000"/>
                <a:t>2</a:t>
              </a:r>
            </a:p>
          </p:txBody>
        </p:sp>
        <p:sp>
          <p:nvSpPr>
            <p:cNvPr id="37906" name="TextBox 50">
              <a:extLst>
                <a:ext uri="{FF2B5EF4-FFF2-40B4-BE49-F238E27FC236}">
                  <a16:creationId xmlns:a16="http://schemas.microsoft.com/office/drawing/2014/main" id="{6237C6FA-0237-F136-CFA9-A063DD0BF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4382" y="1429656"/>
              <a:ext cx="3722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800" baseline="-25000"/>
                <a:t>3</a:t>
              </a:r>
            </a:p>
          </p:txBody>
        </p:sp>
        <p:sp>
          <p:nvSpPr>
            <p:cNvPr id="37907" name="TextBox 52">
              <a:extLst>
                <a:ext uri="{FF2B5EF4-FFF2-40B4-BE49-F238E27FC236}">
                  <a16:creationId xmlns:a16="http://schemas.microsoft.com/office/drawing/2014/main" id="{79AF572F-3AC0-7365-4214-C78696357A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4800600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25000"/>
                <a:t>1</a:t>
              </a:r>
            </a:p>
          </p:txBody>
        </p:sp>
        <p:sp>
          <p:nvSpPr>
            <p:cNvPr id="37908" name="TextBox 53">
              <a:extLst>
                <a:ext uri="{FF2B5EF4-FFF2-40B4-BE49-F238E27FC236}">
                  <a16:creationId xmlns:a16="http://schemas.microsoft.com/office/drawing/2014/main" id="{72B82148-BDD2-A333-FF2C-05756E9B0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6140" y="4800600"/>
              <a:ext cx="15696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只写输出纸带</a:t>
              </a:r>
              <a:endParaRPr lang="en-US" altLang="zh-CN" sz="1800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8022CE2-1B2D-9D4A-01AB-50AA5B4A012B}"/>
                </a:ext>
              </a:extLst>
            </p:cNvPr>
            <p:cNvSpPr/>
            <p:nvPr/>
          </p:nvSpPr>
          <p:spPr>
            <a:xfrm>
              <a:off x="1858908" y="4724813"/>
              <a:ext cx="4876557" cy="5334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01A912F-BC7E-0286-A670-72BC3BD5CCE8}"/>
                </a:ext>
              </a:extLst>
            </p:cNvPr>
            <p:cNvCxnSpPr/>
            <p:nvPr/>
          </p:nvCxnSpPr>
          <p:spPr>
            <a:xfrm>
              <a:off x="2316086" y="4724813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A8FAC88-3478-521A-8605-882190BF0BDF}"/>
                </a:ext>
              </a:extLst>
            </p:cNvPr>
            <p:cNvCxnSpPr/>
            <p:nvPr/>
          </p:nvCxnSpPr>
          <p:spPr>
            <a:xfrm>
              <a:off x="2773263" y="4724813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1C575B0-009B-427A-98C7-05F03818C30D}"/>
                </a:ext>
              </a:extLst>
            </p:cNvPr>
            <p:cNvCxnSpPr/>
            <p:nvPr/>
          </p:nvCxnSpPr>
          <p:spPr>
            <a:xfrm>
              <a:off x="3230440" y="4724813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340E591B-CB30-EA46-3A79-0EA0C6EEEF81}"/>
                </a:ext>
              </a:extLst>
            </p:cNvPr>
            <p:cNvCxnSpPr/>
            <p:nvPr/>
          </p:nvCxnSpPr>
          <p:spPr>
            <a:xfrm>
              <a:off x="3916206" y="4724813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9076A645-FFEF-77E8-F99D-8136F96D25C9}"/>
                </a:ext>
              </a:extLst>
            </p:cNvPr>
            <p:cNvCxnSpPr/>
            <p:nvPr/>
          </p:nvCxnSpPr>
          <p:spPr>
            <a:xfrm>
              <a:off x="4373383" y="4724813"/>
              <a:ext cx="0" cy="53346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15" name="TextBox 61">
              <a:extLst>
                <a:ext uri="{FF2B5EF4-FFF2-40B4-BE49-F238E27FC236}">
                  <a16:creationId xmlns:a16="http://schemas.microsoft.com/office/drawing/2014/main" id="{3A046DD9-1A03-C6D8-1BDE-905A69464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3340" y="48006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37916" name="TextBox 63">
              <a:extLst>
                <a:ext uri="{FF2B5EF4-FFF2-40B4-BE49-F238E27FC236}">
                  <a16:creationId xmlns:a16="http://schemas.microsoft.com/office/drawing/2014/main" id="{64F2A2B3-813B-AD0F-9058-237323179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3540" y="480060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D3616D86-A586-05C4-59F0-54346502B3F6}"/>
                </a:ext>
              </a:extLst>
            </p:cNvPr>
            <p:cNvSpPr/>
            <p:nvPr/>
          </p:nvSpPr>
          <p:spPr>
            <a:xfrm>
              <a:off x="6659269" y="4648604"/>
              <a:ext cx="152392" cy="7620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37918" name="TextBox 69">
              <a:extLst>
                <a:ext uri="{FF2B5EF4-FFF2-40B4-BE49-F238E27FC236}">
                  <a16:creationId xmlns:a16="http://schemas.microsoft.com/office/drawing/2014/main" id="{2AA00AF5-FB23-6A05-4497-65E9F681D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5568" y="4800600"/>
              <a:ext cx="3722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25000"/>
                <a:t>2</a:t>
              </a:r>
            </a:p>
          </p:txBody>
        </p:sp>
        <p:sp>
          <p:nvSpPr>
            <p:cNvPr id="37919" name="TextBox 70">
              <a:extLst>
                <a:ext uri="{FF2B5EF4-FFF2-40B4-BE49-F238E27FC236}">
                  <a16:creationId xmlns:a16="http://schemas.microsoft.com/office/drawing/2014/main" id="{DA384C49-0F7E-957F-4C1E-C6A610183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8722" y="4782456"/>
              <a:ext cx="3722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25000"/>
                <a:t>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2B5EE8E-C6FE-B95A-3882-8D4DCAF0DEA1}"/>
                </a:ext>
              </a:extLst>
            </p:cNvPr>
            <p:cNvSpPr txBox="1"/>
            <p:nvPr/>
          </p:nvSpPr>
          <p:spPr>
            <a:xfrm>
              <a:off x="762000" y="2602070"/>
              <a:ext cx="1066747" cy="1200295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sz="2400" dirty="0"/>
                <a:t>程序存储部件</a:t>
              </a:r>
              <a:endParaRPr lang="en-US" sz="2400" dirty="0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5E372D3B-F60B-639E-63A4-AAA16E823FA2}"/>
                </a:ext>
              </a:extLst>
            </p:cNvPr>
            <p:cNvSpPr/>
            <p:nvPr/>
          </p:nvSpPr>
          <p:spPr>
            <a:xfrm>
              <a:off x="6933893" y="2133701"/>
              <a:ext cx="838158" cy="22862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BD090089-64ED-7064-4A01-8767748B4E86}"/>
                </a:ext>
              </a:extLst>
            </p:cNvPr>
            <p:cNvCxnSpPr/>
            <p:nvPr/>
          </p:nvCxnSpPr>
          <p:spPr>
            <a:xfrm>
              <a:off x="6933893" y="2605246"/>
              <a:ext cx="838158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ACEB61F9-C5FE-74FA-8A5C-ADBB50AE3E16}"/>
                </a:ext>
              </a:extLst>
            </p:cNvPr>
            <p:cNvCxnSpPr/>
            <p:nvPr/>
          </p:nvCxnSpPr>
          <p:spPr>
            <a:xfrm>
              <a:off x="6933893" y="3076789"/>
              <a:ext cx="838158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47EA495E-12DD-D679-3EFD-D0435F0FF5B9}"/>
                </a:ext>
              </a:extLst>
            </p:cNvPr>
            <p:cNvCxnSpPr/>
            <p:nvPr/>
          </p:nvCxnSpPr>
          <p:spPr>
            <a:xfrm>
              <a:off x="6933893" y="3581675"/>
              <a:ext cx="838158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25" name="TextBox 4">
              <a:extLst>
                <a:ext uri="{FF2B5EF4-FFF2-40B4-BE49-F238E27FC236}">
                  <a16:creationId xmlns:a16="http://schemas.microsoft.com/office/drawing/2014/main" id="{44EB15F3-0569-87A3-F4B4-2A61E29C4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3821668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/>
                <a:t>存储器</a:t>
              </a:r>
              <a:endParaRPr lang="en-US" altLang="zh-CN" sz="1800"/>
            </a:p>
          </p:txBody>
        </p:sp>
        <p:sp>
          <p:nvSpPr>
            <p:cNvPr id="37926" name="TextBox 78">
              <a:extLst>
                <a:ext uri="{FF2B5EF4-FFF2-40B4-BE49-F238E27FC236}">
                  <a16:creationId xmlns:a16="http://schemas.microsoft.com/office/drawing/2014/main" id="{2A0DC8E1-9CF6-0193-2696-FD13570C4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3110" y="2195286"/>
              <a:ext cx="4106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/>
                <a:t>0</a:t>
              </a:r>
            </a:p>
          </p:txBody>
        </p:sp>
        <p:sp>
          <p:nvSpPr>
            <p:cNvPr id="37927" name="TextBox 79">
              <a:extLst>
                <a:ext uri="{FF2B5EF4-FFF2-40B4-BE49-F238E27FC236}">
                  <a16:creationId xmlns:a16="http://schemas.microsoft.com/office/drawing/2014/main" id="{A851BCDB-296A-1946-7C20-AFD73B1C2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9258" y="2664154"/>
              <a:ext cx="4106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800" baseline="-25000"/>
                <a:t>1</a:t>
              </a:r>
            </a:p>
          </p:txBody>
        </p:sp>
        <p:sp>
          <p:nvSpPr>
            <p:cNvPr id="37928" name="TextBox 80">
              <a:extLst>
                <a:ext uri="{FF2B5EF4-FFF2-40B4-BE49-F238E27FC236}">
                  <a16:creationId xmlns:a16="http://schemas.microsoft.com/office/drawing/2014/main" id="{C3762FE6-62BD-737E-FCF4-12FFA256C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800" y="3200400"/>
              <a:ext cx="46166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/>
                <a:t>…</a:t>
              </a:r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2FFEA686-4608-F3F2-7941-E35309F71021}"/>
                </a:ext>
              </a:extLst>
            </p:cNvPr>
            <p:cNvCxnSpPr/>
            <p:nvPr/>
          </p:nvCxnSpPr>
          <p:spPr>
            <a:xfrm>
              <a:off x="5024226" y="3200629"/>
              <a:ext cx="19049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A88B9C24-64B4-4333-C356-D338CDEF4C21}"/>
                </a:ext>
              </a:extLst>
            </p:cNvPr>
            <p:cNvCxnSpPr>
              <a:stCxn id="72" idx="3"/>
              <a:endCxn id="4" idx="1"/>
            </p:cNvCxnSpPr>
            <p:nvPr/>
          </p:nvCxnSpPr>
          <p:spPr>
            <a:xfrm flipV="1">
              <a:off x="1828747" y="3202218"/>
              <a:ext cx="166044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066B1B8-CB1F-6955-2C86-3FE0CFF0D173}"/>
                </a:ext>
              </a:extLst>
            </p:cNvPr>
            <p:cNvCxnSpPr/>
            <p:nvPr/>
          </p:nvCxnSpPr>
          <p:spPr>
            <a:xfrm flipV="1">
              <a:off x="4190829" y="1905073"/>
              <a:ext cx="0" cy="89069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B8E51E90-4ED6-541E-9587-5B5D0CD538B7}"/>
                </a:ext>
              </a:extLst>
            </p:cNvPr>
            <p:cNvCxnSpPr/>
            <p:nvPr/>
          </p:nvCxnSpPr>
          <p:spPr>
            <a:xfrm>
              <a:off x="4219403" y="3608667"/>
              <a:ext cx="0" cy="685883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102050D3-6F96-D4CD-7E4E-F15D8E2E7638}"/>
                </a:ext>
              </a:extLst>
            </p:cNvPr>
            <p:cNvCxnSpPr/>
            <p:nvPr/>
          </p:nvCxnSpPr>
          <p:spPr>
            <a:xfrm flipH="1">
              <a:off x="2612933" y="4280259"/>
              <a:ext cx="160012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35090248-F1FC-9226-B5D3-37196B3EBE62}"/>
                </a:ext>
              </a:extLst>
            </p:cNvPr>
            <p:cNvCxnSpPr/>
            <p:nvPr/>
          </p:nvCxnSpPr>
          <p:spPr>
            <a:xfrm>
              <a:off x="2611346" y="4267558"/>
              <a:ext cx="0" cy="446142"/>
            </a:xfrm>
            <a:prstGeom prst="line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F50434A6-B64E-4EBA-2535-CD6E537F4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1.2 </a:t>
            </a:r>
            <a:r>
              <a:rPr lang="zh-CN" altLang="en-US"/>
              <a:t>确定图灵机与</a:t>
            </a:r>
            <a:r>
              <a:rPr lang="en-US" altLang="zh-CN"/>
              <a:t>RAM</a:t>
            </a:r>
            <a:r>
              <a:rPr lang="zh-CN" altLang="en-US"/>
              <a:t>模型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39939" name="TextBox 3">
            <a:extLst>
              <a:ext uri="{FF2B5EF4-FFF2-40B4-BE49-F238E27FC236}">
                <a16:creationId xmlns:a16="http://schemas.microsoft.com/office/drawing/2014/main" id="{31ECCD46-A77E-7954-CEFF-F08CEAF69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82638"/>
            <a:ext cx="8534400" cy="5962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的解释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/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程序定义了从输入信息到输出信息的映射。可以解释为：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程序或计算函数，或识别一个语言。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）衡量一个算法好坏可以用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程序的执行所用的时间和消耗的内存来度量。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的均匀时间耗费是指被执行的指令和转移指令的总条数；均匀空间耗费是指计算中使用过的寄存器的总数。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的对数时间耗费是指被执行的每条指令的时间耗费之和；对数空间耗费是指计算中普通寄存器存过的自然数的最大长度之和。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B470808-A9E4-46DE-45B6-B7AAB8982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1.2 </a:t>
            </a:r>
            <a:r>
              <a:rPr lang="zh-CN" altLang="en-US"/>
              <a:t>确定图灵机与</a:t>
            </a:r>
            <a:r>
              <a:rPr lang="en-US" altLang="zh-CN"/>
              <a:t>RAM</a:t>
            </a:r>
            <a:r>
              <a:rPr lang="zh-CN" altLang="en-US"/>
              <a:t>模型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1987" name="TextBox 3">
            <a:extLst>
              <a:ext uri="{FF2B5EF4-FFF2-40B4-BE49-F238E27FC236}">
                <a16:creationId xmlns:a16="http://schemas.microsoft.com/office/drawing/2014/main" id="{CBD5ED1A-8689-5BE8-A336-F5A1C50E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68375"/>
            <a:ext cx="8534400" cy="522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14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对于函数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，如果存在两个多项式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，使得除去有限多个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值外，不等式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成立，则称函数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是多项式相关的。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设确定图灵机是求解某一问题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的图灵机，对问题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的任何长度为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的输入，确定图灵机处理它的时间复杂性为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。那么，存在一个求解问题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程序，它的时间复杂性不超过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E781937-4387-6CD7-56D4-6343EB0B1A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762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确定图灵机与</a:t>
            </a:r>
            <a:r>
              <a:rPr lang="en-US" altLang="zh-CN" dirty="0"/>
              <a:t>RAM</a:t>
            </a:r>
            <a:r>
              <a:rPr lang="zh-CN" altLang="en-US" dirty="0"/>
              <a:t>模型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44035" name="TextBox 3">
            <a:extLst>
              <a:ext uri="{FF2B5EF4-FFF2-40B4-BE49-F238E27FC236}">
                <a16:creationId xmlns:a16="http://schemas.microsoft.com/office/drawing/2014/main" id="{7D6092F7-BD7D-E72E-A327-7FCC1D420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6573"/>
            <a:ext cx="8534400" cy="638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通过构造一个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程序模拟求解问题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带确定性图灵机的工作，来证明本定理。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将图灵机的第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条带上第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个单元与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的第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Symbol" panose="05050102010706020507" pitchFamily="18" charset="2"/>
                <a:cs typeface="Times New Roman" panose="02020603050405020304" pitchFamily="18" charset="0"/>
              </a:rPr>
              <a:t>-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1)+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单元对应起来，这建立了带方格与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内存单元的一一对应关系。这里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是一个常数，它给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留下了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个工作单元，其中有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个用于存放图灵机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个带头的当前位置。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程序可以借助这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个单元，用间接寻址方式读出（改写）任何带头下的当前符号。而图灵机的带头移动在 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中为修改记录带头的当前位置的那个单元内容。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2F7D440-B1DF-CC5C-BEF8-42F6B2F4A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62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确定图灵机与</a:t>
            </a:r>
            <a:r>
              <a:rPr lang="en-US" altLang="zh-CN" dirty="0"/>
              <a:t>RAM</a:t>
            </a:r>
            <a:r>
              <a:rPr lang="zh-CN" altLang="en-US" dirty="0"/>
              <a:t>模型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46083" name="TextBox 3">
            <a:extLst>
              <a:ext uri="{FF2B5EF4-FFF2-40B4-BE49-F238E27FC236}">
                <a16:creationId xmlns:a16="http://schemas.microsoft.com/office/drawing/2014/main" id="{2CB56414-96D6-B0C9-E835-EFA6B2B53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8534400" cy="638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sz="3000" b="1" dirty="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3000" b="1" dirty="0">
                <a:latin typeface="+mn-ea"/>
                <a:ea typeface="+mn-ea"/>
                <a:cs typeface="Times New Roman" panose="02020603050405020304" pitchFamily="18" charset="0"/>
              </a:rPr>
              <a:t>证明</a:t>
            </a:r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（续）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在均匀耗费下，设图灵机的任何计算步时间耗费为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程序模拟它的时间耗费不超过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ck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，因此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程序能在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时间内完成对图灵机程序的模拟。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在对数耗费下，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处理一个大小为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的整数需要的时间不超过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(log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。因此，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模拟图灵机的时间耗费不超过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)log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是一个常数。因为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对图灵机是必然的，所以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模拟图灵机所需时间不超过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)log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，也就是对一切自然数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)log</a:t>
            </a:r>
            <a:r>
              <a:rPr lang="en-US" altLang="zh-CN" sz="3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不超过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DAFF7B7-524F-44ED-6BDC-C837C2D63C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1.2 </a:t>
            </a:r>
            <a:r>
              <a:rPr lang="zh-CN" altLang="en-US"/>
              <a:t>确定图灵机与</a:t>
            </a:r>
            <a:r>
              <a:rPr lang="en-US" altLang="zh-CN"/>
              <a:t>RAM</a:t>
            </a:r>
            <a:r>
              <a:rPr lang="zh-CN" altLang="en-US"/>
              <a:t>模型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8131" name="TextBox 3">
            <a:extLst>
              <a:ext uri="{FF2B5EF4-FFF2-40B4-BE49-F238E27FC236}">
                <a16:creationId xmlns:a16="http://schemas.microsoft.com/office/drawing/2014/main" id="{D06A21DF-2028-569F-35F4-6DBE5B42E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39449"/>
            <a:ext cx="8534400" cy="5569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程序所能识别的一个语言。在对数耗费标准下，这个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程序的时间复杂性是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，存在一台能识别同一个语言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的多带确定图灵机，其时间复杂性为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由定理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和定理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可得：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4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在对数耗费下，对于同一算法，采用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模型和确定图灵机模型的时间耗费是多项式相关的。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2E47D18-C123-4055-8E56-08E246F5D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确定图灵机与</a:t>
            </a:r>
            <a:r>
              <a:rPr lang="en-US" altLang="zh-CN" dirty="0"/>
              <a:t>RAM</a:t>
            </a:r>
            <a:r>
              <a:rPr lang="zh-CN" altLang="en-US" dirty="0"/>
              <a:t>模型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p:sp>
        <p:nvSpPr>
          <p:cNvPr id="50179" name="TextBox 3">
            <a:extLst>
              <a:ext uri="{FF2B5EF4-FFF2-40B4-BE49-F238E27FC236}">
                <a16:creationId xmlns:a16="http://schemas.microsoft.com/office/drawing/2014/main" id="{0A312741-94D5-6792-0623-3CAA35E1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534400" cy="4338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的意义</a:t>
            </a:r>
            <a:endParaRPr lang="en-US" altLang="zh-CN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图灵机模型比较原始，故要构造一台图灵机来描述一个算法比较困难。而计算问题的分类正是基于图灵机的。大多数情况下，采用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模型来描述算法较为容易。在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模型下，如果一个算法的复杂性不超过多项式，则这个算法在图灵机模型下也不超过多项式。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6AC26EE-3875-B2C0-0F6E-4E6ECBB97E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6722</TotalTime>
  <Words>3138</Words>
  <Application>Microsoft Office PowerPoint</Application>
  <PresentationFormat>全屏显示(4:3)</PresentationFormat>
  <Paragraphs>191</Paragraphs>
  <Slides>28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宋体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第十五讲 计算复杂性理论 上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288</cp:revision>
  <cp:lastPrinted>2026-04-26T16:13:35Z</cp:lastPrinted>
  <dcterms:created xsi:type="dcterms:W3CDTF">1601-01-01T00:00:00Z</dcterms:created>
  <dcterms:modified xsi:type="dcterms:W3CDTF">2026-04-27T02:35:00Z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