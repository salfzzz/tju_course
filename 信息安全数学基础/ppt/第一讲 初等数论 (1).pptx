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11" r:id="rId2"/>
    <p:sldId id="327" r:id="rId3"/>
    <p:sldId id="312" r:id="rId4"/>
    <p:sldId id="256" r:id="rId5"/>
    <p:sldId id="257" r:id="rId6"/>
    <p:sldId id="290" r:id="rId7"/>
    <p:sldId id="258" r:id="rId8"/>
    <p:sldId id="291" r:id="rId9"/>
    <p:sldId id="313" r:id="rId10"/>
    <p:sldId id="314" r:id="rId11"/>
    <p:sldId id="262" r:id="rId12"/>
    <p:sldId id="315" r:id="rId13"/>
    <p:sldId id="263" r:id="rId14"/>
    <p:sldId id="316" r:id="rId15"/>
    <p:sldId id="293" r:id="rId16"/>
    <p:sldId id="317" r:id="rId17"/>
    <p:sldId id="265" r:id="rId18"/>
    <p:sldId id="318" r:id="rId19"/>
    <p:sldId id="320" r:id="rId20"/>
    <p:sldId id="294" r:id="rId21"/>
    <p:sldId id="319" r:id="rId22"/>
    <p:sldId id="295" r:id="rId23"/>
    <p:sldId id="321" r:id="rId24"/>
    <p:sldId id="296" r:id="rId25"/>
    <p:sldId id="322" r:id="rId26"/>
    <p:sldId id="310" r:id="rId2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2" autoAdjust="0"/>
    <p:restoredTop sz="87132" autoAdjust="0"/>
  </p:normalViewPr>
  <p:slideViewPr>
    <p:cSldViewPr>
      <p:cViewPr varScale="1">
        <p:scale>
          <a:sx n="59" d="100"/>
          <a:sy n="59" d="100"/>
        </p:scale>
        <p:origin x="142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14B8ACB-558F-C4BE-F670-47DA49053A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9D7593E-FA1E-3A3A-EA52-2753D667B6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2F6D61A4-0992-CC6F-DE5E-8EE26FB31E9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BF0CB566-7874-2B5B-F35B-8BF144EEBD8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FEAB27-2728-4DC2-B881-CC86AFC732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BE8DA9C-6A41-EBE5-3540-C594431F2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A3DF31-5D9F-5AE2-3F1F-370391F201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1174404C-8F83-4558-8B7D-1F975F99DBED}" type="datetimeFigureOut">
              <a:rPr lang="en-US"/>
              <a:pPr>
                <a:defRPr/>
              </a:pPr>
              <a:t>3/8/2026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8DE8793-8B43-FCF4-0468-7DA443FEC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D626649-192D-CBD1-7798-DC9744EBD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116138-1675-A478-5292-5E16DC25EA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DD5066-A951-40CF-1876-49EE485A1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E827C26-28F5-441B-AB6A-7BD73AE809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6C021929-1C6F-F127-716D-86CDFC112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99635D7-B8A7-4502-8BFC-79979D9B3EAE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5C629B59-90D7-0A36-CDDF-DA1CFB3332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B3255DF-8FA3-E677-AD09-042DA92077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7A4335AF-E261-537F-FFB3-11D94C95F5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B1234C2E-0DE8-A3FF-7311-DA4654ADC0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75FCEBD9-75C5-1EBB-E80D-388C90256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CAEF93B-6381-484D-AEE3-FC1D7AA62FAC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617076C5-AB04-8FF7-2160-8DB4302CEE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0E149423-5DA8-01BD-C6E9-0C4DDFABB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4284151F-8836-E24E-91A6-46C8B4FEF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BFCA41-18CB-4324-97E3-786C7482833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11CD4C55-E6A0-CA43-E04D-B2F0420A6A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99D2F5DC-09E1-3E54-6F47-FC4C1E215F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706B235-8AC8-4C69-0C13-053B40971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72CC6B-4A6D-457C-862F-1FDC6C1D67CB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B39EDFA1-06ED-CBEF-DB50-3CDFAB51DB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12208B11-3F01-B1F0-3234-766203D8E4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F58FFE58-1058-8117-8A7F-7AC990BC7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1611E4-6375-4A41-9010-580ECDC44554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AC10EF8B-1BE5-4BA1-75FC-50D2A94359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51A56AD-D2C1-0A63-F7CF-F320B50DCC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A9B921E8-673A-3C61-4B3F-6A3E95ECA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ACE1FF3-62C6-4027-B6B3-3685585CD77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CC65B8DA-A982-0A22-54D1-9A434EAE71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DEC71D29-1258-F0DB-EB41-D4B78705D4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A7128643-31BA-7809-25D3-746D76B19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06D24D4-0220-414C-B8EB-B94F73FBF71E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456B4AB0-4381-85AF-E924-20855CB1A2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65958BB3-6C16-A084-C2F3-556C2411A7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BF83560A-D2B1-5839-6718-700EE1BC0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165EA1-B530-47DE-B57F-EE8A9D51EB95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F97E52-29AC-4945-AF31-84A1156CB6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69E4A5-0C27-B09C-A1A5-EE858FB0F8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77ADF4-22D8-97EA-9F67-5F18C474E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B44D0-B9BD-4ABC-8DF0-4D28D8C44B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000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C14051-2AFD-B1BF-CF6B-D1D0B0758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9BF10D-E9DC-1640-18B9-6BD0752CB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8A74AF-800E-58EB-FE35-F8AA362569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0B5B4E-661B-432C-859C-DE1C596772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213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5AEB65-71C8-6F39-BA03-BE1EC45166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84D862-1BDD-32E9-EDF7-7BCE2D517B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092EAC-B32F-4396-3638-7B9B7FC304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D0DA6-91C8-4106-B18F-56739E99B3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17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6F980-51D3-BF4C-CB4A-AB1D07A451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90D06B-3B99-4DDC-DE35-02C96EE24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DF08F-DE96-2F44-695E-E6A2762FF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0BD13-FE32-4719-84B0-953A33BA92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05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B4AE82-6040-E9CE-4E6E-C44C498B49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FE540AB-E284-FDEC-957B-B2250C16F4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E51C74-DCF4-93F4-6AD0-43C0472AAA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49B05-3D88-464A-B72C-85741AD79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53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792C548-4E38-2C00-DAFC-53F9E65AB3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42540B-57A8-DC8A-E302-0B984D92A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8370CA-0529-3663-E680-0AFD171AE6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499DA-5522-489F-B76A-892A754390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30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C13818-0758-E5F9-3A11-A43F51425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A4354BF-65EA-36CD-474D-C020F71E9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57A579-4B1E-6850-3272-C1114DE0C2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F43B3-629C-45EF-BEDD-19D004AD60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47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93F44E-39C5-F796-F67D-1DB996BD5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04BF4E-EF44-6CE3-593A-53DC22C40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778784-919F-94E6-3E93-E1CCBEF45A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8682B-C203-4E39-96FA-DC015E02DF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448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49B8D-81A3-53EE-ACCE-4A2546B029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7C2E5-7F99-315C-1704-36D09DC1B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D0791E-A2A6-B8EF-7633-50FCB9F87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AE0D6-26C3-4990-8B39-F408EBA1B0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952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863EA7-F219-7FFD-5DEC-016F8C3D5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624BCA-C3D6-1994-EDA0-9F7DB935B5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807530-A842-FF67-7957-BCC73C8E15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E93282-1012-434D-8894-B5C9800CB9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37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AF9AB8-F7B9-5EFB-95BF-74B4F4492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AC82DF-9D47-423B-07C2-B51092076D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28DBF3-2E2E-BE68-A395-CF07505F74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A6E64-6F4A-47E4-A5F8-1B47890468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326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B0D8FE-3DB4-C620-3D6D-6F92AD7C4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DD593C-A947-05AE-9C37-7F8C6BFDB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9B6898-96A0-1319-FE73-F0605908B0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DAC91D-D5FB-921A-E988-4AFFB56236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9F992A0-54A1-186F-A4B7-3B78FE4FC1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1B38A5C-0F63-4AA7-8D75-5D9917B1BF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4062194-F4CC-6AF6-1052-1C1B8AE7D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76200"/>
            <a:ext cx="5486400" cy="936625"/>
          </a:xfrm>
        </p:spPr>
        <p:txBody>
          <a:bodyPr/>
          <a:lstStyle/>
          <a:p>
            <a:pPr eaLnBrk="1" hangingPunct="1"/>
            <a:r>
              <a:rPr lang="zh-CN" altLang="en-US"/>
              <a:t>信息安全数学基础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7C0DA7E-390E-E6BE-6378-DEFC6F3F2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900" y="1096962"/>
            <a:ext cx="8039100" cy="54562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教师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孙达志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课程资源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智慧树                          微信群 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                        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教师联系方式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孙达志 </a:t>
            </a:r>
            <a:r>
              <a:rPr lang="en-US" altLang="zh-CN" sz="2400" dirty="0">
                <a:latin typeface="Times New Roman" panose="02020603050405020304" pitchFamily="18" charset="0"/>
              </a:rPr>
              <a:t>sundazhi@tju.edu.cn/13652199735(</a:t>
            </a:r>
            <a:r>
              <a:rPr lang="zh-CN" altLang="en-US" sz="2400" dirty="0">
                <a:latin typeface="Times New Roman" panose="02020603050405020304" pitchFamily="18" charset="0"/>
              </a:rPr>
              <a:t>微信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8BD645-E570-6DF2-0902-BE5672F9F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429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23E378B-6C77-271E-716F-B452F9D23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001000" cy="3657600"/>
          </a:xfrm>
        </p:spPr>
        <p:txBody>
          <a:bodyPr/>
          <a:lstStyle/>
          <a:p>
            <a:pPr algn="just" eaLnBrk="1" hangingPunct="1">
              <a:buFontTx/>
              <a:buNone/>
              <a:defRPr/>
            </a:pPr>
            <a:r>
              <a:rPr lang="zh-CN" altLang="en-US" sz="4000" b="1" dirty="0">
                <a:latin typeface="宋体" panose="02010600030101010101" pitchFamily="2" charset="-122"/>
              </a:rPr>
              <a:t>考核与评价方式及标准</a:t>
            </a:r>
            <a:endParaRPr lang="en-US" altLang="zh-CN" sz="4000" b="1" dirty="0">
              <a:latin typeface="宋体" panose="02010600030101010101" pitchFamily="2" charset="-122"/>
            </a:endParaRPr>
          </a:p>
          <a:p>
            <a:pPr indent="299720" algn="just">
              <a:lnSpc>
                <a:spcPct val="150000"/>
              </a:lnSpc>
              <a:defRPr/>
            </a:pPr>
            <a:r>
              <a:rPr lang="x-none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平时成绩占20%：</a:t>
            </a:r>
            <a:r>
              <a:rPr lang="zh-CN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出勤</a:t>
            </a:r>
            <a:r>
              <a:rPr lang="x-none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课堂</a:t>
            </a:r>
            <a:r>
              <a:rPr lang="x-none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作业。</a:t>
            </a:r>
            <a:endParaRPr lang="zh-CN" altLang="zh-CN" sz="3600" kern="1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indent="299720" algn="just">
              <a:lnSpc>
                <a:spcPct val="150000"/>
              </a:lnSpc>
              <a:defRPr/>
            </a:pPr>
            <a:r>
              <a:rPr lang="x-none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结课考试占80%：闭卷考试</a:t>
            </a:r>
            <a:r>
              <a:rPr lang="zh-CN" altLang="zh-CN" sz="3600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3600" kern="1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4F85E39-E3A6-6783-210E-B96AA223E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305800" cy="19050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 </a:t>
            </a:r>
            <a:r>
              <a:rPr lang="zh-CN" altLang="en-US" sz="3600" b="1">
                <a:latin typeface="宋体" panose="02010600030101010101" pitchFamily="2" charset="-122"/>
              </a:rPr>
              <a:t>参考书</a:t>
            </a:r>
            <a:r>
              <a:rPr lang="zh-CN" altLang="en-US" sz="3600" b="1"/>
              <a:t> </a:t>
            </a:r>
            <a:endParaRPr lang="en-US" altLang="zh-CN" sz="3600" b="1"/>
          </a:p>
          <a:p>
            <a:pPr algn="just" eaLnBrk="1" hangingPunct="1">
              <a:buFontTx/>
              <a:buNone/>
            </a:pPr>
            <a:r>
              <a:rPr lang="en-US" altLang="zh-CN" sz="3600"/>
              <a:t>   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李超，付绍静　编著，信息安全数学基础，电子工业出版社，</a:t>
            </a:r>
            <a:r>
              <a:rPr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</a:p>
        </p:txBody>
      </p:sp>
      <p:pic>
        <p:nvPicPr>
          <p:cNvPr id="7171" name="图片 2" descr="Book.jpg">
            <a:extLst>
              <a:ext uri="{FF2B5EF4-FFF2-40B4-BE49-F238E27FC236}">
                <a16:creationId xmlns:a16="http://schemas.microsoft.com/office/drawing/2014/main" id="{3053408E-5B22-47DF-86FA-BF961237C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214563"/>
            <a:ext cx="2819400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8E7C459-B172-06C5-C8DE-35937D6861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129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第一讲 初等数论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167D32F3-2B58-CF43-BDEE-B4A3443CD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458200" cy="3657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   </a:t>
            </a:r>
            <a:r>
              <a:rPr lang="zh-CN" altLang="en-US" sz="3600" dirty="0"/>
              <a:t>数论是研究整数的科学，是数学的重要分支。实践表明，数论在信息安全中有很多应用。特别是，在密码学中，大多数公钥密码算法都是以数论为理论基础设计的。数论中又以同余理论在密码学中应用的最为广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AF48F30-1003-B735-E1FD-4824AAF81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 dirty="0"/>
              <a:t>本讲提要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7D1C5F7-5A46-579A-A2C4-6745BB5D92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6172200" cy="83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3600" dirty="0"/>
              <a:t> </a:t>
            </a:r>
            <a:r>
              <a:rPr lang="zh-CN" altLang="en-US" sz="3600" dirty="0"/>
              <a:t>整数的基本概念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88EF4A7-D5D8-C538-1EB7-6BDCA56DC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90500"/>
            <a:ext cx="3733800" cy="609600"/>
          </a:xfrm>
        </p:spPr>
        <p:txBody>
          <a:bodyPr/>
          <a:lstStyle/>
          <a:p>
            <a:pPr algn="l" eaLnBrk="1" hangingPunct="1"/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整除性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568F59-31C7-F5C0-61CE-B8894451E97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838200"/>
                <a:ext cx="8229599" cy="19431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定义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en-US" dirty="0"/>
                  <a:t>对于整数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。我们说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整除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，如果存在一个整数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使得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𝑘𝑎</m:t>
                    </m:r>
                  </m:oMath>
                </a14:m>
                <a:r>
                  <a:rPr lang="zh-CN" altLang="en-US" dirty="0"/>
                  <a:t>，我们把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叫做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的因数，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叫做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的倍数，记为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。如果这个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不存在，我们说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不整除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568F59-31C7-F5C0-61CE-B8894451E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838200"/>
                <a:ext cx="8229599" cy="1943100"/>
              </a:xfrm>
              <a:blipFill>
                <a:blip r:embed="rId2"/>
                <a:stretch>
                  <a:fillRect l="-1481" t="-4088" r="-74" b="-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1CF93E6-3326-4F88-9E3F-E92C5ACF136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7586" y="2590800"/>
                <a:ext cx="8860971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性质</a:t>
                </a:r>
                <a:endParaRPr lang="en-US" altLang="zh-CN" b="1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（</a:t>
                </a:r>
                <a:r>
                  <a:rPr lang="en-US" altLang="zh-CN" sz="2600" kern="0" dirty="0">
                    <a:latin typeface="+mn-ea"/>
                  </a:rPr>
                  <a:t>1</a:t>
                </a:r>
                <a:r>
                  <a:rPr lang="zh-CN" altLang="en-US" sz="2600" kern="0" dirty="0">
                    <a:latin typeface="+mn-ea"/>
                  </a:rPr>
                  <a:t>）</a:t>
                </a:r>
                <a:r>
                  <a:rPr lang="zh-CN" altLang="en-US" sz="2600" kern="0" dirty="0"/>
                  <a:t>对于任意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sz="2600" kern="0" dirty="0"/>
                  <a:t>，有</a:t>
                </a:r>
                <a14:m>
                  <m:oMath xmlns:m="http://schemas.openxmlformats.org/officeDocument/2006/math"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|0</m:t>
                    </m:r>
                    <m:r>
                      <a:rPr lang="zh-CN" altLang="en-US" sz="2600" b="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600" i="1" smtClean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zh-CN" altLang="en-US" sz="2600" kern="0" dirty="0"/>
                  <a:t>对于任意</a:t>
                </a:r>
                <a14:m>
                  <m:oMath xmlns:m="http://schemas.openxmlformats.org/officeDocument/2006/math">
                    <m:r>
                      <a:rPr lang="en-US" altLang="zh-CN" sz="2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600" kern="0" dirty="0"/>
                  <a:t>，有</a:t>
                </a:r>
                <a14:m>
                  <m:oMath xmlns:m="http://schemas.openxmlformats.org/officeDocument/2006/math">
                    <m:r>
                      <a:rPr lang="en-US" altLang="zh-CN" sz="2600" b="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kern="0" dirty="0"/>
                  <a:t>。</a:t>
                </a:r>
                <a:endParaRPr lang="en-US" altLang="zh-CN" sz="2600" kern="0" dirty="0"/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+mn-ea"/>
                  </a:rPr>
                  <a:t>（</a:t>
                </a:r>
                <a:r>
                  <a:rPr lang="en-US" altLang="zh-CN" sz="2600" kern="0" dirty="0">
                    <a:latin typeface="+mn-ea"/>
                  </a:rPr>
                  <a:t>2</a:t>
                </a:r>
                <a:r>
                  <a:rPr lang="zh-CN" altLang="en-US" sz="2600" kern="0" dirty="0">
                    <a:latin typeface="+mn-ea"/>
                  </a:rPr>
                  <a:t>）</a:t>
                </a:r>
                <a:r>
                  <a:rPr lang="zh-CN" altLang="en-US" sz="2600" kern="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600" b="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b="0" i="1" ker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600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600" kern="0" dirty="0"/>
                  <a:t>，则</a:t>
                </a:r>
                <a:r>
                  <a:rPr lang="en-US" altLang="zh-CN" sz="26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b="0" i="1" ker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600" kern="0" dirty="0"/>
                  <a:t>。</a:t>
                </a:r>
                <a:endParaRPr lang="en-US" altLang="zh-CN" sz="2600" kern="0" dirty="0"/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+mn-ea"/>
                  </a:rPr>
                  <a:t>（</a:t>
                </a:r>
                <a:r>
                  <a:rPr lang="en-US" altLang="zh-CN" sz="2600" kern="0" dirty="0">
                    <a:latin typeface="+mn-ea"/>
                  </a:rPr>
                  <a:t>3</a:t>
                </a:r>
                <a:r>
                  <a:rPr lang="zh-CN" altLang="en-US" sz="2600" kern="0" dirty="0">
                    <a:latin typeface="+mn-ea"/>
                  </a:rPr>
                  <a:t>）</a:t>
                </a:r>
                <a:r>
                  <a:rPr lang="zh-CN" altLang="en-US" sz="2600" kern="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，则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𝑠𝑏</m:t>
                        </m:r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𝑡𝑐</m:t>
                        </m:r>
                      </m:e>
                    </m:d>
                  </m:oMath>
                </a14:m>
                <a:r>
                  <a:rPr lang="zh-CN" altLang="en-US" sz="2600" kern="0" dirty="0"/>
                  <a:t>，这里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600" kern="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600" kern="0" dirty="0"/>
                  <a:t>是任意整数。</a:t>
                </a:r>
                <a:endParaRPr lang="en-US" altLang="zh-CN" sz="2600" kern="0" dirty="0"/>
              </a:p>
              <a:p>
                <a:pPr marL="0" indent="0">
                  <a:buNone/>
                </a:pPr>
                <a:r>
                  <a:rPr lang="zh-CN" altLang="en-US" sz="26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性质证明</a:t>
                </a:r>
                <a:r>
                  <a:rPr lang="en-US" altLang="zh-CN" sz="26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）显而易见。</a:t>
                </a:r>
                <a:endParaRPr lang="en-US" altLang="zh-CN" sz="2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）由定义存在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，满足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𝑘𝑎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𝑙𝑏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，所以有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𝑙𝑘𝑎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）由定义可写出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𝑠𝑏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𝑡𝑐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6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𝑠𝑏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𝑡𝑐</m:t>
                        </m:r>
                      </m:e>
                    </m:d>
                    <m:r>
                      <a:rPr lang="zh-CN" altLang="en-US" sz="2600" i="1" kern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kern="0" dirty="0"/>
              </a:p>
            </p:txBody>
          </p:sp>
        </mc:Choice>
        <mc:Fallback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1CF93E6-3326-4F88-9E3F-E92C5ACF1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586" y="2590800"/>
                <a:ext cx="8860971" cy="4114800"/>
              </a:xfrm>
              <a:prstGeom prst="rect">
                <a:avLst/>
              </a:prstGeom>
              <a:blipFill>
                <a:blip r:embed="rId3"/>
                <a:stretch>
                  <a:fillRect l="-1445" t="-1481" r="-206" b="-45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57C0F572-CD89-1C68-B295-AD746B79B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35814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+mn-ea"/>
              </a:rPr>
              <a:t>1 </a:t>
            </a:r>
            <a:r>
              <a:rPr lang="zh-CN" altLang="en-US" dirty="0">
                <a:latin typeface="+mn-ea"/>
              </a:rPr>
              <a:t>整除性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续</a:t>
            </a:r>
            <a:r>
              <a:rPr lang="en-US" altLang="zh-CN" dirty="0">
                <a:latin typeface="+mn-ea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F842FE59-3FAB-AAB1-5869-52E74437B20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838200"/>
                <a:ext cx="8229599" cy="2590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是两个整数，其中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，则存在两个唯一的整数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及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，使得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成立。</a:t>
                </a:r>
              </a:p>
              <a:p>
                <a:pPr marL="0" indent="0">
                  <a:buFontTx/>
                  <a:buNone/>
                </a:pPr>
                <a:endParaRPr lang="zh-CN" altLang="en-US" kern="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F842FE59-3FAB-AAB1-5869-52E74437B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838200"/>
                <a:ext cx="8229599" cy="2590800"/>
              </a:xfrm>
              <a:prstGeom prst="rect">
                <a:avLst/>
              </a:prstGeom>
              <a:blipFill>
                <a:blip r:embed="rId2"/>
                <a:stretch>
                  <a:fillRect l="-1852" t="-4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BAD0CA9D-7865-1CCB-FC41-78B091CDC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35814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+mn-ea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整除性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续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A87D188-A3A3-D86E-7883-FDA4BD76BD1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0243" y="990600"/>
                <a:ext cx="8534400" cy="40984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做序列：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必在序列某两项之间，即存在某个整数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，有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𝑞𝑏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1)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，除余式成立。</a:t>
                </a:r>
              </a:p>
              <a:p>
                <a:pPr marL="0" indent="0">
                  <a:buNone/>
                </a:pPr>
                <a:endParaRPr lang="zh-CN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endParaRPr lang="zh-CN" altLang="en-US" kern="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A87D188-A3A3-D86E-7883-FDA4BD76B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243" y="990600"/>
                <a:ext cx="8534400" cy="4098471"/>
              </a:xfrm>
              <a:prstGeom prst="rect">
                <a:avLst/>
              </a:prstGeom>
              <a:blipFill>
                <a:blip r:embed="rId2"/>
                <a:stretch>
                  <a:fillRect l="-1857" t="-2530" r="-1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F666841A-AAD2-5D40-E5EF-329F413AB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35814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+mn-ea"/>
              </a:rPr>
              <a:t>1 </a:t>
            </a:r>
            <a:r>
              <a:rPr lang="zh-CN" altLang="en-US" dirty="0">
                <a:latin typeface="+mn-ea"/>
              </a:rPr>
              <a:t>整除性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续</a:t>
            </a:r>
            <a:r>
              <a:rPr lang="en-US" altLang="zh-CN" dirty="0">
                <a:latin typeface="+mn-ea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D621270-6CC4-FC7D-3C3C-361A2EECF88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1034143"/>
                <a:ext cx="8844643" cy="3690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（续）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如果还存在另一对整数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即有</a:t>
                </a:r>
                <a:endParaRPr lang="en-US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。而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zh-CN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endParaRPr lang="zh-CN" altLang="en-US" kern="0" dirty="0"/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D621270-6CC4-FC7D-3C3C-361A2EECF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034143"/>
                <a:ext cx="8844643" cy="3690257"/>
              </a:xfrm>
              <a:prstGeom prst="rect">
                <a:avLst/>
              </a:prstGeom>
              <a:blipFill>
                <a:blip r:embed="rId2"/>
                <a:stretch>
                  <a:fillRect l="-1793" t="-2810" r="-15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612CD9B5-2728-9E1D-2E4E-E8B15AB35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7586" y="152400"/>
            <a:ext cx="3886200" cy="53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dirty="0">
                <a:latin typeface="+mn-ea"/>
              </a:rPr>
              <a:t>2 </a:t>
            </a:r>
            <a:r>
              <a:rPr lang="zh-CN" altLang="en-US" sz="3600" dirty="0">
                <a:latin typeface="+mn-ea"/>
              </a:rPr>
              <a:t>最大公约数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1B0071E5-3B22-9648-54E6-5FE594355C1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343" y="723900"/>
                <a:ext cx="8001000" cy="3429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个不全为零的整数。若整数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是它们之中每一个的因数，那么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就叫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的一个公因数。整数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的公因数中最大的一个叫最大公约数，记作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，若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，就说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互素。</a:t>
                </a:r>
                <a:endParaRPr lang="zh-CN" altLang="en-US" kern="0" dirty="0"/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1B0071E5-3B22-9648-54E6-5FE594355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343" y="723900"/>
                <a:ext cx="8001000" cy="3429000"/>
              </a:xfrm>
              <a:prstGeom prst="rect">
                <a:avLst/>
              </a:prstGeom>
              <a:blipFill>
                <a:blip r:embed="rId3"/>
                <a:stretch>
                  <a:fillRect l="-1904" t="-3025" r="-1904" b="-76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3FFA79-EA02-B430-150E-5E9B0C5425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4359729"/>
                <a:ext cx="8534400" cy="228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是任意三个不全为零的整数，且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是整数，则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zh-CN" altLang="en-US" kern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3FFA79-EA02-B430-150E-5E9B0C542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4359729"/>
                <a:ext cx="8534400" cy="2286000"/>
              </a:xfrm>
              <a:prstGeom prst="rect">
                <a:avLst/>
              </a:prstGeom>
              <a:blipFill>
                <a:blip r:embed="rId4"/>
                <a:stretch>
                  <a:fillRect l="-1786" t="-4533" r="-1786" b="-6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3D696050-1955-200D-8BAF-B0299A14D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6858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宋体" panose="02010600030101010101" pitchFamily="2" charset="-122"/>
              </a:rPr>
              <a:t>2 </a:t>
            </a:r>
            <a:r>
              <a:rPr lang="zh-CN" altLang="en-US" dirty="0">
                <a:latin typeface="宋体" panose="02010600030101010101" pitchFamily="2" charset="-122"/>
              </a:rPr>
              <a:t>最大公约数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续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383BE88-9A73-62B3-D71E-6625BF4DFC7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1034143"/>
                <a:ext cx="8844643" cy="3309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zh-CN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，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zh-CN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，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𝑏𝑞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brk m:alnAt="7"/>
                      </m:rP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同理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，于是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m:rPr>
                            <m:brk m:alnAt="7"/>
                          </m:rP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FontTx/>
                  <a:buNone/>
                </a:pPr>
                <a:endParaRPr lang="zh-CN" altLang="en-US" kern="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383BE88-9A73-62B3-D71E-6625BF4DF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034143"/>
                <a:ext cx="8844643" cy="3309257"/>
              </a:xfrm>
              <a:prstGeom prst="rect">
                <a:avLst/>
              </a:prstGeom>
              <a:blipFill>
                <a:blip r:embed="rId3"/>
                <a:stretch>
                  <a:fillRect l="-1793" t="-31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6">
            <a:extLst>
              <a:ext uri="{FF2B5EF4-FFF2-40B4-BE49-F238E27FC236}">
                <a16:creationId xmlns:a16="http://schemas.microsoft.com/office/drawing/2014/main" id="{1ACA9226-50D4-FC70-5913-26DABBCF4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62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2 </a:t>
            </a:r>
            <a:r>
              <a:rPr lang="zh-CN" altLang="en-US" sz="2800" dirty="0">
                <a:latin typeface="宋体" panose="02010600030101010101" pitchFamily="2" charset="-122"/>
              </a:rPr>
              <a:t>最大公约数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续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1BD2407-2815-0ECB-83C1-AEB7C9200D5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595313"/>
                <a:ext cx="8534400" cy="579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</a:t>
                </a:r>
                <a:r>
                  <a:rPr lang="zh-CN" altLang="zh-CN" dirty="0">
                    <a:latin typeface="+mn-ea"/>
                  </a:rPr>
                  <a:t>算法的表述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不失一般性假定任意</a:t>
                </a:r>
                <a:r>
                  <a:rPr lang="zh-CN" altLang="en-US" dirty="0">
                    <a:latin typeface="+mn-ea"/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zh-CN" dirty="0">
                    <a:latin typeface="+mn-ea"/>
                  </a:rPr>
                  <a:t>有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0&lt;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</m:sub>
                    </m:sSub>
                  </m:oMath>
                </a14:m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1BD2407-2815-0ECB-83C1-AEB7C920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95313"/>
                <a:ext cx="8534400" cy="5791200"/>
              </a:xfrm>
              <a:prstGeom prst="rect">
                <a:avLst/>
              </a:prstGeom>
              <a:blipFill>
                <a:blip r:embed="rId3"/>
                <a:stretch>
                  <a:fillRect l="-1786" t="-1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3A2B9871-5CDA-0A0F-3825-4221D224B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57912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latin typeface="宋体" panose="02010600030101010101" pitchFamily="2" charset="-122"/>
              </a:rPr>
              <a:t>2 </a:t>
            </a:r>
            <a:r>
              <a:rPr lang="zh-CN" altLang="en-US" dirty="0">
                <a:latin typeface="宋体" panose="02010600030101010101" pitchFamily="2" charset="-122"/>
              </a:rPr>
              <a:t>最大公约数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续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855B006-38A9-AE8A-E8AC-443661B0F84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90600"/>
                <a:ext cx="8305800" cy="1600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任意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整数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就是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算法过程中最后一个不等于零的余数，即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855B006-38A9-AE8A-E8AC-443661B0F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90600"/>
                <a:ext cx="8305800" cy="1600200"/>
              </a:xfrm>
              <a:prstGeom prst="rect">
                <a:avLst/>
              </a:prstGeom>
              <a:blipFill>
                <a:blip r:embed="rId2"/>
                <a:stretch>
                  <a:fillRect l="-1909" t="-6489" r="-73" b="-80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ECFC5D-18CE-D2D3-A5F2-FEEE75CAA11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2271" y="2819400"/>
                <a:ext cx="8305800" cy="2743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根据定理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0)=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ECFC5D-18CE-D2D3-A5F2-FEEE75CAA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271" y="2819400"/>
                <a:ext cx="8305800" cy="2743200"/>
              </a:xfrm>
              <a:prstGeom prst="rect">
                <a:avLst/>
              </a:prstGeom>
              <a:blipFill>
                <a:blip r:embed="rId3"/>
                <a:stretch>
                  <a:fillRect l="-1909" t="-3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69D9A301-B1BE-74D8-8661-8D5E66F07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52400"/>
            <a:ext cx="3886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宋体" panose="02010600030101010101" pitchFamily="2" charset="-122"/>
              </a:rPr>
              <a:t>2 </a:t>
            </a:r>
            <a:r>
              <a:rPr lang="zh-CN" altLang="en-US" dirty="0">
                <a:latin typeface="宋体" panose="02010600030101010101" pitchFamily="2" charset="-122"/>
              </a:rPr>
              <a:t>最大公约数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续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E935A54-B692-1886-FA3A-1DACB81837A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800100"/>
                <a:ext cx="8763000" cy="537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若任意整数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，则存在两个整数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使得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得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推论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的公因子是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的因数。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E935A54-B692-1886-FA3A-1DACB8183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800100"/>
                <a:ext cx="8763000" cy="5372100"/>
              </a:xfrm>
              <a:prstGeom prst="rect">
                <a:avLst/>
              </a:prstGeom>
              <a:blipFill>
                <a:blip r:embed="rId3"/>
                <a:stretch>
                  <a:fillRect l="-1739" t="-1927" r="-16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B47C7307-1B51-FF13-836F-CF81C4E7C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52400"/>
            <a:ext cx="3886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宋体" panose="02010600030101010101" pitchFamily="2" charset="-122"/>
              </a:rPr>
              <a:t>2 </a:t>
            </a:r>
            <a:r>
              <a:rPr lang="zh-CN" altLang="en-US" dirty="0">
                <a:latin typeface="宋体" panose="02010600030101010101" pitchFamily="2" charset="-122"/>
              </a:rPr>
              <a:t>最大公约数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续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FE86CC3-7DCC-C02A-7FD9-64F0C26BBED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800100"/>
                <a:ext cx="8763000" cy="537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例子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(1180</a:t>
                </a:r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482)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1180=482·2+216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482=216·2+50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216=50·4+16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50=16·3+2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16=8·2+0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(1180</a:t>
                </a:r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482)=2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可以看到余数都经历了：余数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除数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被除数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忽略的过程。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FE86CC3-7DCC-C02A-7FD9-64F0C26B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800100"/>
                <a:ext cx="8763000" cy="5372100"/>
              </a:xfrm>
              <a:prstGeom prst="rect">
                <a:avLst/>
              </a:prstGeom>
              <a:blipFill>
                <a:blip r:embed="rId2"/>
                <a:stretch>
                  <a:fillRect l="-1739" t="-19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01B47F2-E8C1-2142-1327-D1EB7F708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4724400" cy="762000"/>
          </a:xfrm>
        </p:spPr>
        <p:txBody>
          <a:bodyPr/>
          <a:lstStyle/>
          <a:p>
            <a:pPr algn="l" eaLnBrk="1" hangingPunct="1"/>
            <a:r>
              <a:rPr lang="en-US" altLang="zh-CN" sz="3600" dirty="0">
                <a:latin typeface="宋体" panose="02010600030101010101" pitchFamily="2" charset="-122"/>
              </a:rPr>
              <a:t>2 </a:t>
            </a:r>
            <a:r>
              <a:rPr lang="zh-CN" altLang="en-US" sz="3600" dirty="0">
                <a:latin typeface="宋体" panose="02010600030101010101" pitchFamily="2" charset="-122"/>
              </a:rPr>
              <a:t>最大公约数</a:t>
            </a:r>
            <a:r>
              <a:rPr lang="en-US" altLang="zh-CN" sz="3600" dirty="0"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latin typeface="宋体" panose="02010600030101010101" pitchFamily="2" charset="-122"/>
              </a:rPr>
              <a:t>续</a:t>
            </a:r>
            <a:r>
              <a:rPr lang="en-US" altLang="zh-CN" sz="3600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23F93B2-9F4A-5B40-DD7D-13EDD4B417E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38200"/>
                <a:ext cx="8686800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根据定理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，我们还可以得到递推公式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，</a:t>
                </a:r>
                <a:r>
                  <a:rPr lang="en-US" altLang="zh-CN" sz="3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a:rPr lang="zh-CN" altLang="en-US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因此，由上一页例子有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=9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9 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同样有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71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，所以</a:t>
                </a:r>
                <a:r>
                  <a:rPr lang="en-US" altLang="zh-CN" sz="3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(‒29)·1180+71·482=2= (1180, 482)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这一过程被称为扩展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23F93B2-9F4A-5B40-DD7D-13EDD4B41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38200"/>
                <a:ext cx="8686800" cy="5638800"/>
              </a:xfrm>
              <a:prstGeom prst="rect">
                <a:avLst/>
              </a:prstGeom>
              <a:blipFill>
                <a:blip r:embed="rId2"/>
                <a:stretch>
                  <a:fillRect l="-1684" t="-1730" r="-16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74FC87C-CC8A-7D9C-A7D2-8608DA73B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4572000" cy="762000"/>
          </a:xfrm>
        </p:spPr>
        <p:txBody>
          <a:bodyPr/>
          <a:lstStyle/>
          <a:p>
            <a:pPr algn="l" eaLnBrk="1" hangingPunct="1"/>
            <a:r>
              <a:rPr lang="en-US" altLang="zh-CN" sz="3600" dirty="0">
                <a:latin typeface="宋体" panose="02010600030101010101" pitchFamily="2" charset="-122"/>
              </a:rPr>
              <a:t>2 </a:t>
            </a:r>
            <a:r>
              <a:rPr lang="zh-CN" altLang="en-US" sz="3600" dirty="0">
                <a:latin typeface="宋体" panose="02010600030101010101" pitchFamily="2" charset="-122"/>
              </a:rPr>
              <a:t>最大公约数</a:t>
            </a:r>
            <a:r>
              <a:rPr lang="en-US" altLang="zh-CN" sz="3600" dirty="0"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latin typeface="宋体" panose="02010600030101010101" pitchFamily="2" charset="-122"/>
              </a:rPr>
              <a:t>续</a:t>
            </a:r>
            <a:r>
              <a:rPr lang="en-US" altLang="zh-CN" sz="3600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3B0ED12-B0BA-CE4C-C736-111BFE2378D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14300" y="892629"/>
                <a:ext cx="8915400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zh-CN" b="1" dirty="0"/>
                  <a:t>递推公式推导</a:t>
                </a:r>
                <a:r>
                  <a:rPr lang="en-US" altLang="zh-CN" b="1" dirty="0"/>
                  <a:t>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考虑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0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30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−2</m:t>
                                        </m:r>
                                      </m:sub>
                                    </m:s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−2</m:t>
                                        </m:r>
                                      </m:sub>
                                    </m:s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CN" sz="3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CN" sz="3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3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zh-CN" sz="3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3B0ED12-B0BA-CE4C-C736-111BFE237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" y="892629"/>
                <a:ext cx="8915400" cy="5638800"/>
              </a:xfrm>
              <a:prstGeom prst="rect">
                <a:avLst/>
              </a:prstGeom>
              <a:blipFill>
                <a:blip r:embed="rId2"/>
                <a:stretch>
                  <a:fillRect l="-1778" t="-17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D773009E-C073-1DBA-D844-CC4355114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5334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2 </a:t>
            </a:r>
            <a:r>
              <a:rPr lang="zh-CN" altLang="en-US" sz="3600" dirty="0">
                <a:latin typeface="宋体" panose="02010600030101010101" pitchFamily="2" charset="-122"/>
              </a:rPr>
              <a:t>最大公约数</a:t>
            </a:r>
            <a:r>
              <a:rPr lang="en-US" altLang="zh-CN" sz="3600" dirty="0"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latin typeface="宋体" panose="02010600030101010101" pitchFamily="2" charset="-122"/>
              </a:rPr>
              <a:t>续</a:t>
            </a:r>
            <a:r>
              <a:rPr lang="en-US" altLang="zh-CN" sz="3600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E292E67-2882-EC0B-1BAE-6F72F849F6D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458200" cy="548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)=1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根据定理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，我们有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𝑛𝑏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𝑛𝑏𝑐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zh-CN" altLang="zh-CN" sz="3000" dirty="0">
                        <a:latin typeface="+mn-ea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zh-CN" sz="3000" dirty="0">
                        <a:latin typeface="+mn-ea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，那么有下面的定理。</a:t>
                </a:r>
              </a:p>
              <a:p>
                <a:pPr marL="0" indent="0">
                  <a:buNone/>
                </a:pPr>
                <a:r>
                  <a:rPr lang="zh-CN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</a:t>
                </a:r>
                <a:r>
                  <a:rPr lang="zh-CN" altLang="zh-CN" sz="30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个正整数，则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zh-CN" altLang="en-US" sz="30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E292E67-2882-EC0B-1BAE-6F72F849F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458200" cy="5486400"/>
              </a:xfrm>
              <a:prstGeom prst="rect">
                <a:avLst/>
              </a:prstGeom>
              <a:blipFill>
                <a:blip r:embed="rId2"/>
                <a:stretch>
                  <a:fillRect l="-1730" t="-1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9465C063-98CD-7469-674C-751049C7D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5334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2 </a:t>
            </a:r>
            <a:r>
              <a:rPr lang="zh-CN" altLang="en-US" sz="3600" dirty="0">
                <a:latin typeface="宋体" panose="02010600030101010101" pitchFamily="2" charset="-122"/>
              </a:rPr>
              <a:t>最大公约数</a:t>
            </a:r>
            <a:r>
              <a:rPr lang="en-US" altLang="zh-CN" sz="3600" dirty="0"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latin typeface="宋体" panose="02010600030101010101" pitchFamily="2" charset="-122"/>
              </a:rPr>
              <a:t>续</a:t>
            </a:r>
            <a:r>
              <a:rPr lang="en-US" altLang="zh-CN" sz="3600" dirty="0"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8E6B759-6BB8-751C-A477-DE85F692D88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38200"/>
                <a:ext cx="86868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依次类推得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 algn="just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zh-CN" altLang="zh-CN" dirty="0">
                        <a:latin typeface="+mn-ea"/>
                      </a:rPr>
                      <m:t>，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zh-CN" altLang="en-US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8E6B759-6BB8-751C-A477-DE85F692D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38200"/>
                <a:ext cx="8686800" cy="5943600"/>
              </a:xfrm>
              <a:prstGeom prst="rect">
                <a:avLst/>
              </a:prstGeom>
              <a:blipFill>
                <a:blip r:embed="rId3"/>
                <a:stretch>
                  <a:fillRect l="-1825" t="-1641" r="-17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50EF87FD-3CD7-8865-AE67-1F7EB690F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5443"/>
            <a:ext cx="5334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2 </a:t>
            </a:r>
            <a:r>
              <a:rPr lang="zh-CN" altLang="en-US" sz="3600" dirty="0">
                <a:latin typeface="宋体" panose="02010600030101010101" pitchFamily="2" charset="-122"/>
              </a:rPr>
              <a:t>最大公约数</a:t>
            </a:r>
            <a:r>
              <a:rPr lang="en-US" altLang="zh-CN" sz="3600" dirty="0">
                <a:cs typeface="Arial" panose="020B0604020202020204" pitchFamily="34" charset="0"/>
              </a:rPr>
              <a:t>(</a:t>
            </a:r>
            <a:r>
              <a:rPr lang="zh-CN" altLang="en-US" sz="3600" dirty="0">
                <a:latin typeface="宋体" panose="02010600030101010101" pitchFamily="2" charset="-122"/>
              </a:rPr>
              <a:t>续</a:t>
            </a:r>
            <a:r>
              <a:rPr lang="en-US" altLang="zh-CN" sz="3600" dirty="0">
                <a:cs typeface="Arial" panose="020B0604020202020204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94A2C07-2601-D518-3E2F-A5D1417EAFF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3156" y="664029"/>
                <a:ext cx="8920843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个正整数，则存在整数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使得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根据定理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结合定理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，有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30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30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依次代换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可得结论。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94A2C07-2601-D518-3E2F-A5D1417EA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156" y="664029"/>
                <a:ext cx="8920843" cy="5943600"/>
              </a:xfrm>
              <a:prstGeom prst="rect">
                <a:avLst/>
              </a:prstGeom>
              <a:blipFill>
                <a:blip r:embed="rId2"/>
                <a:stretch>
                  <a:fillRect l="-1640" t="-1641" r="-1572" b="-22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99727ADB-AB80-88C0-6373-B2EF749F6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40386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/>
              <a:t>3 </a:t>
            </a:r>
            <a:r>
              <a:rPr lang="zh-CN" altLang="en-US" sz="3600" dirty="0"/>
              <a:t>最小公倍数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19AB7B8-6B35-9264-A71F-3DCBCD7BB64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686800" cy="5410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≥2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个不全为零的整数。若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是这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个数中每一个的倍数，那么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就叫这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个数的一个公倍数。在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的一切公倍数中最小的正整数叫做最小公倍数，记作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 </a:t>
                </a:r>
                <a:r>
                  <a:rPr lang="zh-CN" altLang="en-US" kern="0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/>
                  <a:t>是任意的两个正整数，则</a:t>
                </a:r>
              </a:p>
              <a:p>
                <a:pPr marL="0" indent="0" algn="just">
                  <a:buNone/>
                </a:pPr>
                <a:r>
                  <a:rPr lang="en-US" altLang="zh-C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的所有公倍数就是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的所有倍数。</a:t>
                </a:r>
              </a:p>
              <a:p>
                <a:pPr marL="0" indent="0" algn="just">
                  <a:buNone/>
                </a:pPr>
                <a:r>
                  <a:rPr lang="en-US" altLang="zh-C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𝑎𝑏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19AB7B8-6B35-9264-A71F-3DCBCD7BB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686800" cy="5410200"/>
              </a:xfrm>
              <a:prstGeom prst="rect">
                <a:avLst/>
              </a:prstGeom>
              <a:blipFill>
                <a:blip r:embed="rId2"/>
                <a:stretch>
                  <a:fillRect l="-1825" t="-1914" r="-17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D49D45BA-C76D-4835-A901-919D7C34D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0"/>
            <a:ext cx="40386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/>
              <a:t>3 </a:t>
            </a:r>
            <a:r>
              <a:rPr lang="zh-CN" altLang="en-US" sz="3600" dirty="0"/>
              <a:t>最小公倍数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  <a:endParaRPr lang="zh-CN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2AC17D2-E1E9-99A9-DE55-1A454E222A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685800"/>
                <a:ext cx="86487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任意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公倍数，则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。代入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 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en-US" sz="3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3000" kern="0" dirty="0"/>
                          <m:t>，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3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所以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3000" kern="0" dirty="0"/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，这里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反之，观察上式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为任意整数时，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3000" kern="0" dirty="0"/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都为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zh-CN" sz="30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的一个公倍数。故上式可表示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zh-CN" sz="30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的一切公倍数。显然，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为最小，即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𝑎𝑏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3000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。因此，定理中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同时得证。</a:t>
                </a:r>
                <a:endParaRPr lang="zh-CN" altLang="en-US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2AC17D2-E1E9-99A9-DE55-1A454E222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85800"/>
                <a:ext cx="8648700" cy="5943600"/>
              </a:xfrm>
              <a:prstGeom prst="rect">
                <a:avLst/>
              </a:prstGeom>
              <a:blipFill>
                <a:blip r:embed="rId2"/>
                <a:stretch>
                  <a:fillRect l="-1693" t="-1641" r="-1693" b="-1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>
            <a:extLst>
              <a:ext uri="{FF2B5EF4-FFF2-40B4-BE49-F238E27FC236}">
                <a16:creationId xmlns:a16="http://schemas.microsoft.com/office/drawing/2014/main" id="{56C30F01-D9A9-0C47-A750-6B2DC5D81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2484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/>
              <a:t>3 </a:t>
            </a:r>
            <a:r>
              <a:rPr lang="zh-CN" altLang="en-US" sz="3600" dirty="0"/>
              <a:t>最小公倍数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985BCA4-0539-FEB5-7B71-99C03979A2B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458200" cy="403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zh-CN" altLang="zh-CN" sz="3000" dirty="0">
                        <a:latin typeface="+mn-ea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zh-CN" sz="3000" dirty="0">
                        <a:latin typeface="+mn-ea"/>
                      </a:rPr>
                      <m:t>，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，那么有下面的定理。</a:t>
                </a:r>
              </a:p>
              <a:p>
                <a:pPr marL="0" indent="0">
                  <a:buNone/>
                </a:pPr>
                <a:r>
                  <a:rPr lang="zh-CN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 </a:t>
                </a:r>
                <a:r>
                  <a:rPr lang="zh-CN" altLang="zh-CN" sz="30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个正整数，则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zh-CN" altLang="en-US" sz="30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985BCA4-0539-FEB5-7B71-99C03979A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458200" cy="4038600"/>
              </a:xfrm>
              <a:prstGeom prst="rect">
                <a:avLst/>
              </a:prstGeom>
              <a:blipFill>
                <a:blip r:embed="rId3"/>
                <a:stretch>
                  <a:fillRect l="-1730" t="-24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25016988-62FA-E599-7C1F-75F1BF035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0"/>
            <a:ext cx="62484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/>
              <a:t>3 </a:t>
            </a:r>
            <a:r>
              <a:rPr lang="zh-CN" altLang="en-US" sz="3600" dirty="0"/>
              <a:t>最小公倍数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99B18B13-A384-1363-D073-A3DA35FA7AA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609600"/>
                <a:ext cx="8305800" cy="6172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。由于</a:t>
                </a:r>
                <a14:m>
                  <m:oMath xmlns:m="http://schemas.openxmlformats.org/officeDocument/2006/math">
                    <m:r>
                      <a:rPr lang="en-US" altLang="zh-CN" sz="3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；由于</a:t>
                </a:r>
                <a14:m>
                  <m:oMath xmlns:m="http://schemas.openxmlformats.org/officeDocument/2006/math">
                    <m:r>
                      <a:rPr lang="en-US" altLang="zh-CN" sz="3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依次类推得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3000" dirty="0"/>
                  <a:t>又由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zh-CN" altLang="en-US" sz="3000" dirty="0"/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由定理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。结合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由定理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依次类推可以得到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∴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 algn="just">
                  <a:buNone/>
                </a:pPr>
                <a:endParaRPr lang="zh-CN" altLang="en-US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99B18B13-A384-1363-D073-A3DA35FA7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09600"/>
                <a:ext cx="8305800" cy="6172200"/>
              </a:xfrm>
              <a:prstGeom prst="rect">
                <a:avLst/>
              </a:prstGeom>
              <a:blipFill>
                <a:blip r:embed="rId2"/>
                <a:stretch>
                  <a:fillRect l="-1762" t="-1579" r="-1689" b="-20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6BE5678-817A-CB78-AD03-C48531452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905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11740</TotalTime>
  <Words>2070</Words>
  <Application>Microsoft Office PowerPoint</Application>
  <PresentationFormat>全屏显示(4:3)</PresentationFormat>
  <Paragraphs>161</Paragraphs>
  <Slides>26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信息安全数学基础</vt:lpstr>
      <vt:lpstr>PowerPoint 演示文稿</vt:lpstr>
      <vt:lpstr>PowerPoint 演示文稿</vt:lpstr>
      <vt:lpstr>第一讲 初等数论 1</vt:lpstr>
      <vt:lpstr>PowerPoint 演示文稿</vt:lpstr>
      <vt:lpstr>本讲提要</vt:lpstr>
      <vt:lpstr>1 整除性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 最大公约数(续)</vt:lpstr>
      <vt:lpstr>2 最大公约数(续)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488</cp:revision>
  <cp:lastPrinted>2026-03-08T14:01:59Z</cp:lastPrinted>
  <dcterms:created xsi:type="dcterms:W3CDTF">1601-01-01T00:00:00Z</dcterms:created>
  <dcterms:modified xsi:type="dcterms:W3CDTF">2026-03-08T15:34:29Z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