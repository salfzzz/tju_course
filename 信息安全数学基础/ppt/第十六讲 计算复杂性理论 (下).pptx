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7" r:id="rId3"/>
    <p:sldId id="264" r:id="rId4"/>
    <p:sldId id="284" r:id="rId5"/>
    <p:sldId id="289" r:id="rId6"/>
    <p:sldId id="320" r:id="rId7"/>
    <p:sldId id="321" r:id="rId8"/>
    <p:sldId id="291" r:id="rId9"/>
    <p:sldId id="290" r:id="rId10"/>
    <p:sldId id="292" r:id="rId11"/>
    <p:sldId id="293" r:id="rId12"/>
    <p:sldId id="285" r:id="rId13"/>
    <p:sldId id="286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287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8" r:id="rId32"/>
    <p:sldId id="310" r:id="rId33"/>
    <p:sldId id="317" r:id="rId34"/>
    <p:sldId id="316" r:id="rId35"/>
    <p:sldId id="315" r:id="rId36"/>
    <p:sldId id="314" r:id="rId37"/>
    <p:sldId id="313" r:id="rId38"/>
    <p:sldId id="263" r:id="rId3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8312" autoAdjust="0"/>
  </p:normalViewPr>
  <p:slideViewPr>
    <p:cSldViewPr>
      <p:cViewPr varScale="1">
        <p:scale>
          <a:sx n="60" d="100"/>
          <a:sy n="60" d="100"/>
        </p:scale>
        <p:origin x="12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EB75EEF-DD4D-EF0C-6E3E-56E81E121D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927DD5-CEEF-C462-1AC8-C940D61EF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3CBC144-A8FE-48C7-82E1-27788CEF6A70}" type="datetimeFigureOut">
              <a:rPr lang="en-US"/>
              <a:pPr>
                <a:defRPr/>
              </a:pPr>
              <a:t>4/24/2026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EEB0D4-6696-78E6-C035-07001D81CD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BCDBCE-35A7-E40F-A18A-34278679B4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70A5637-489D-41B9-B9FA-B6167E8B34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E4286F1-6600-6066-4367-E12B29EAA8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0142A7-5507-F2B4-F3E6-C9764152663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3FACFA8F-97B7-48C2-B422-E2A7BE1BC337}" type="datetimeFigureOut">
              <a:rPr lang="en-US"/>
              <a:pPr>
                <a:defRPr/>
              </a:pPr>
              <a:t>4/24/2026</a:t>
            </a:fld>
            <a:endParaRPr 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047CF7DC-C68E-0107-023E-87F8C6C64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DC321E50-F717-322E-B0FB-E43448B19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0B225C-C0D3-9538-544C-DC02F60B77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90F037-1CBE-4214-51A4-2CA53B4B9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A279FD4-0877-4844-9861-C6EBC66186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id="{4211EB1D-66AE-D450-8143-671EA78B1E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id="{F1DB4D24-1E5E-C960-8A38-7673743A21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C07913E8-B52C-793A-2767-DDEE886CD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3F90AFA-9081-4A41-A360-4B5AD15C1872}" type="slidenum">
              <a:rPr lang="en-US" altLang="zh-CN"/>
              <a:pPr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782FAB-9BF2-2819-0DCB-AD40C24D9E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111382-70D0-7A6E-9A6C-3E8AC2DFC8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50D2F5-937B-8D28-04FB-F381969C7E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63077B-2A89-43BF-B990-C139921C0A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396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05DC416-3C01-29D6-B98F-0B14318D9A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762AAF-C87A-E689-2FBC-CDFB41C746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F6321B-F607-C0D3-4BF2-BAFA2F7ED2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FF17D8-5E61-4451-B555-CD18BF8E27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433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6A25E92-771A-65AE-CA90-EE6ECD84F1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0E8B7D-7D0D-D08E-94A0-040F86D323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876C17-8103-5EA3-7301-174555BC48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64E4C-9FE3-4AC5-BC86-2124EC5F5D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698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6464CC-D286-DE23-374E-172A924F2F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239620-33B1-4EBE-C07D-7690FAEE59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9BD158-5EA0-D66D-5974-F7E8A4D8F4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105DF2-D4D5-4B57-AA15-913BF3A5B7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5958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874EDFF-7963-8908-0376-A4653B2375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B91CE53-7CCD-A8C5-7470-967B772627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CBBAD89-E46F-FCB9-F647-8A8B320030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222BA7-7FEF-418C-846A-45A2B6E2EE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3754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7DEF912-AF77-56B3-30F4-696997D3F1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A833910-80EC-0DE9-F4D3-24B46E21A5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09BA3A-8940-4349-6B41-54AEF2958B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979948-E9CA-4987-BED3-CBF29B5DAC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508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457844F-F21D-19BC-AFF2-8140C19119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DED69F1-8D92-4FA9-BED6-56982C3D74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4D0218E-9D03-701A-690F-FE55C3B8CE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7C52F1-452C-4F77-888E-EAD7444792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3465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82EA23-49C9-F5D3-0285-CFA98D96AE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F9DB94-DAC0-5328-A765-73BCE33FBA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CC8B0A-4ECB-4BA0-6B75-7BD4EE3757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359982-4DB5-41ED-ADCE-A0E4B13E9B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327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9BCA15-62E1-BE48-5E38-7E7C36B763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0446A3-D4D8-10E5-D994-C2E2955AA1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397990-6FEA-41FF-B7B5-51540C33A5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0A8ABD-590A-430E-B87F-F53BC7D9AB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640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0236D4-3520-48F3-0C0F-69F69109AD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9F848C-38F0-848B-E336-A92A906F95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453314-487D-11AB-5173-2AE917815A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95F300-CC96-42B9-AD41-B1C97BFC15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1834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895475-C99C-CCC9-2548-D85304E768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7DA103-8175-2224-347B-BFD823C15C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B7027B-672A-322F-4E2B-3BC9EC8FDD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698E1-3A40-4D38-AAAA-2F565C8769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8384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F874C06-D725-B72C-DBEA-8E8C47957C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DB23553-1A81-268D-3104-5654B299F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7ACC9E0-36F8-0146-EC0B-2B3A5937C79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F55C457-0043-CE79-C91D-BCE0F18B5D8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3008718-C5C8-505B-04E4-7CA68E8F540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8F9C7C39-6CC6-4DF3-84DB-73F30CDAED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D472893-3F1F-15CF-659A-97DE806A6D7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第十六讲 计算复杂性理论</a:t>
            </a:r>
            <a:br>
              <a:rPr lang="zh-CN" altLang="en-US" dirty="0">
                <a:latin typeface="宋体" panose="02010600030101010101" pitchFamily="2" charset="-122"/>
              </a:rPr>
            </a:br>
            <a:r>
              <a:rPr lang="zh-CN" altLang="en-US" b="1" dirty="0">
                <a:latin typeface="Times New Roman" panose="02020603050405020304" pitchFamily="18" charset="0"/>
              </a:rPr>
              <a:t>下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E69993B-A875-F2D0-A1FB-4FE7B0E3A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990600"/>
          </a:xfrm>
        </p:spPr>
        <p:txBody>
          <a:bodyPr/>
          <a:lstStyle/>
          <a:p>
            <a:pPr eaLnBrk="1" hangingPunct="1"/>
            <a:r>
              <a:rPr lang="zh-CN" altLang="en-US" sz="4000"/>
              <a:t>本讲提要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7AE0FEB-10DF-1B1F-9C0D-545986F4C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7924800" cy="30480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q"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非确定图灵机与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q"/>
            </a:pP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完全与典型的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完全问题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q"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D3343D57-5951-9541-041E-430B6E4DC8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381000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非确定图灵机与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AD3049-9B3F-A842-F6A8-F847AC220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066800"/>
            <a:ext cx="86106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defRPr/>
            </a:pPr>
            <a:r>
              <a:rPr lang="zh-CN" altLang="en-US" sz="3600" kern="0" dirty="0">
                <a:latin typeface="Times New Roman" pitchFamily="18" charset="0"/>
                <a:ea typeface="+mn-ea"/>
                <a:cs typeface="Times New Roman" pitchFamily="18" charset="0"/>
              </a:rPr>
              <a:t>   许多问题目前尚未找到多项式复杂性的解决方法，但是很容易设计出一个时间复杂性为</a:t>
            </a:r>
            <a:r>
              <a:rPr lang="zh-CN" altLang="en-US" sz="3600" kern="0" dirty="0">
                <a:latin typeface="Times New Roman" pitchFamily="18" charset="0"/>
                <a:cs typeface="Times New Roman" pitchFamily="18" charset="0"/>
              </a:rPr>
              <a:t>多项式级的算法来验证问题解答的正确性。为此，我们需要修改确定图灵机为非确定图灵机来描述这类问题的算法。</a:t>
            </a:r>
            <a:endParaRPr lang="zh-CN" altLang="en-US" sz="3600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1D2C3ABC-B0C6-13D2-C432-9E111086F1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2400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1.1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非确定图灵机与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C7AC80A-A9E3-3419-40CD-D821DDE1F62D}"/>
                  </a:ext>
                </a:extLst>
              </p:cNvPr>
              <p:cNvSpPr txBox="1"/>
              <p:nvPr/>
            </p:nvSpPr>
            <p:spPr>
              <a:xfrm>
                <a:off x="228600" y="585360"/>
                <a:ext cx="8610600" cy="6196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1">
                  <a:lnSpc>
                    <a:spcPct val="125000"/>
                  </a:lnSpc>
                </a:pPr>
                <a:r>
                  <a:rPr lang="zh-CN" altLang="en-US" sz="3000" b="1" dirty="0">
                    <a:latin typeface="+mn-ea"/>
                    <a:ea typeface="+mn-ea"/>
                  </a:rPr>
                  <a:t>例子</a:t>
                </a:r>
                <a:r>
                  <a:rPr lang="en-US" altLang="zh-CN" sz="3000" b="1" dirty="0">
                    <a:latin typeface="+mn-ea"/>
                    <a:ea typeface="+mn-ea"/>
                  </a:rPr>
                  <a:t>1 </a:t>
                </a:r>
                <a:r>
                  <a:rPr lang="zh-CN" altLang="en-US" sz="3000" dirty="0">
                    <a:latin typeface="+mn-ea"/>
                    <a:ea typeface="+mn-ea"/>
                  </a:rPr>
                  <a:t>背包问题</a:t>
                </a:r>
              </a:p>
              <a:p>
                <a:pPr eaLnBrk="1">
                  <a:lnSpc>
                    <a:spcPct val="125000"/>
                  </a:lnSpc>
                </a:pPr>
                <a:r>
                  <a:rPr lang="zh-CN" altLang="en-US" sz="3000" dirty="0">
                    <a:latin typeface="+mn-ea"/>
                    <a:ea typeface="+mn-ea"/>
                  </a:rPr>
                  <a:t>给定一个集合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𝑆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+mn-ea"/>
                          </a:rPr>
                          <m:t>，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+mn-ea"/>
                          </a:rPr>
                          <m:t>，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+mn-ea"/>
                          </a:rPr>
                          <m:t>⋯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zh-CN" altLang="en-US" sz="300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，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000" dirty="0">
                    <a:latin typeface="+mn-ea"/>
                    <a:ea typeface="+mn-ea"/>
                  </a:rPr>
                  <a:t>和一个目标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+mn-ea"/>
                      </a:rPr>
                      <m:t>𝑇</m:t>
                    </m:r>
                  </m:oMath>
                </a14:m>
                <a:r>
                  <a:rPr lang="zh-CN" altLang="en-US" sz="3000" dirty="0">
                    <a:latin typeface="+mn-ea"/>
                    <a:ea typeface="+mn-ea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≥0</m:t>
                    </m:r>
                  </m:oMath>
                </a14:m>
                <a:r>
                  <a:rPr lang="zh-CN" altLang="en-US" sz="3000" dirty="0">
                    <a:latin typeface="+mn-ea"/>
                    <a:ea typeface="+mn-ea"/>
                  </a:rPr>
                  <a:t>，是否存在一个选择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𝑉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+mn-ea"/>
                          </a:rPr>
                          <m:t>，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+mn-ea"/>
                          </a:rPr>
                          <m:t>，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+mn-ea"/>
                          </a:rPr>
                          <m:t>⋯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zh-CN" altLang="en-US" sz="300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，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000" dirty="0">
                    <a:latin typeface="+mn-ea"/>
                    <a:ea typeface="+mn-ea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=0</m:t>
                    </m:r>
                    <m:r>
                      <a:rPr lang="zh-CN" altLang="zh-CN" sz="3000">
                        <a:latin typeface="Cambria Math" panose="02040503050406030204" pitchFamily="18" charset="0"/>
                        <a:ea typeface="+mn-ea"/>
                      </a:rPr>
                      <m:t>或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+mn-ea"/>
                    <a:ea typeface="+mn-ea"/>
                  </a:rPr>
                  <a:t>，使得</a:t>
                </a:r>
              </a:p>
              <a:p>
                <a:pPr eaLnBrk="1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zh-CN" altLang="zh-CN" sz="3000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naryPr>
                        <m:sub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+mn-ea"/>
                            </a:rPr>
                            <m:t>𝑖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+mn-ea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+mn-ea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+mn-ea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+mn-ea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+mn-ea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+mn-ea"/>
                            </a:rPr>
                            <m:t>=</m:t>
                          </m:r>
                        </m:e>
                      </m:nary>
                      <m:r>
                        <a:rPr lang="en-US" altLang="zh-CN" sz="3000" i="1">
                          <a:latin typeface="Cambria Math" panose="02040503050406030204" pitchFamily="18" charset="0"/>
                          <a:ea typeface="+mn-ea"/>
                        </a:rPr>
                        <m:t>𝑇</m:t>
                      </m:r>
                      <m:r>
                        <a:rPr lang="zh-CN" altLang="en-US" sz="3000" i="1" smtClean="0">
                          <a:latin typeface="Cambria Math" panose="02040503050406030204" pitchFamily="18" charset="0"/>
                          <a:ea typeface="+mn-ea"/>
                        </a:rPr>
                        <m:t>。</m:t>
                      </m:r>
                    </m:oMath>
                  </m:oMathPara>
                </a14:m>
                <a:endParaRPr lang="zh-CN" altLang="en-US" sz="3000" dirty="0">
                  <a:latin typeface="+mn-ea"/>
                  <a:ea typeface="+mn-ea"/>
                </a:endParaRPr>
              </a:p>
              <a:p>
                <a:pPr eaLnBrk="1">
                  <a:lnSpc>
                    <a:spcPct val="125000"/>
                  </a:lnSpc>
                </a:pPr>
                <a:r>
                  <a:rPr lang="zh-CN" altLang="en-US" sz="3000" dirty="0">
                    <a:latin typeface="+mn-ea"/>
                    <a:ea typeface="+mn-ea"/>
                  </a:rPr>
                  <a:t>例如，集合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+mn-ea"/>
                      </a:rPr>
                      <m:t>𝑆</m:t>
                    </m:r>
                  </m:oMath>
                </a14:m>
                <a:r>
                  <a:rPr lang="zh-CN" altLang="en-US" sz="3000" dirty="0">
                    <a:latin typeface="+mn-ea"/>
                    <a:ea typeface="+mn-ea"/>
                  </a:rPr>
                  <a:t>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4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+mn-ea"/>
                          </a:rPr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7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+mn-ea"/>
                          </a:rPr>
                          <m:t>，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+mn-ea"/>
                          </a:rPr>
                          <m:t>，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+mn-ea"/>
                          </a:rPr>
                          <m:t>12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+mn-ea"/>
                          </a:rPr>
                          <m:t>，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+mn-ea"/>
                          </a:rPr>
                          <m:t>10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+mn-ea"/>
                    <a:ea typeface="+mn-ea"/>
                  </a:rPr>
                  <a:t>。对于目标和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+mn-ea"/>
                      </a:rPr>
                      <m:t>𝑇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</m:oMath>
                </a14:m>
                <a:r>
                  <a:rPr lang="en-US" altLang="zh-CN" sz="3000" dirty="0">
                    <a:latin typeface="+mn-ea"/>
                    <a:ea typeface="+mn-ea"/>
                  </a:rPr>
                  <a:t>17</a:t>
                </a:r>
                <a:r>
                  <a:rPr lang="zh-CN" altLang="en-US" sz="3000" dirty="0">
                    <a:latin typeface="+mn-ea"/>
                    <a:ea typeface="+mn-ea"/>
                  </a:rPr>
                  <a:t>存在一个解，即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17=4+1+12</m:t>
                    </m:r>
                  </m:oMath>
                </a14:m>
                <a:r>
                  <a:rPr lang="zh-CN" altLang="en-US" sz="3000" dirty="0">
                    <a:latin typeface="+mn-ea"/>
                    <a:ea typeface="+mn-ea"/>
                  </a:rPr>
                  <a:t>。对应的选择向量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𝑉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+mn-ea"/>
                          </a:rPr>
                          <m:t>，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+mn-ea"/>
                          </a:rPr>
                          <m:t>，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+mn-ea"/>
                          </a:rPr>
                          <m:t>，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+mn-ea"/>
                          </a:rPr>
                          <m:t>，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+mn-ea"/>
                    <a:ea typeface="+mn-ea"/>
                  </a:rPr>
                  <a:t>。而当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𝑇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=25</m:t>
                    </m:r>
                  </m:oMath>
                </a14:m>
                <a:r>
                  <a:rPr lang="zh-CN" altLang="en-US" sz="3000" dirty="0">
                    <a:latin typeface="+mn-ea"/>
                    <a:ea typeface="+mn-ea"/>
                  </a:rPr>
                  <a:t>时无解。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C7AC80A-A9E3-3419-40CD-D821DDE1F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85360"/>
                <a:ext cx="8610600" cy="6196440"/>
              </a:xfrm>
              <a:prstGeom prst="rect">
                <a:avLst/>
              </a:prstGeom>
              <a:blipFill>
                <a:blip r:embed="rId2"/>
                <a:stretch>
                  <a:fillRect l="-1700" t="-688" b="-2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320777DA-D3A4-B427-A753-88E63D8A3C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381000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非确定图灵机与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291B0A9-2092-76A0-E50B-5DFD608CF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66800"/>
            <a:ext cx="80772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非确定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带图灵机程序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由如下一个七元组构成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的定义与上一讲确定图灵机的定义相同，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×{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的一个映射，而且其中至少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有一个映射是一对多的映射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23E52EB-95E4-BAD0-31B9-860DCE7ED1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6324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1.2 </a:t>
            </a:r>
            <a:r>
              <a:rPr lang="zh-CN" altLang="en-US" dirty="0">
                <a:solidFill>
                  <a:srgbClr val="0070C0"/>
                </a:solidFill>
              </a:rPr>
              <a:t>确定图灵机与</a:t>
            </a:r>
            <a:r>
              <a:rPr lang="en-US" altLang="zh-CN" dirty="0">
                <a:solidFill>
                  <a:srgbClr val="0070C0"/>
                </a:solidFill>
              </a:rPr>
              <a:t>RAM</a:t>
            </a:r>
            <a:r>
              <a:rPr lang="zh-CN" altLang="en-US" dirty="0">
                <a:solidFill>
                  <a:srgbClr val="0070C0"/>
                </a:solidFill>
              </a:rPr>
              <a:t>模型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续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9219" name="TextBox 3">
            <a:extLst>
              <a:ext uri="{FF2B5EF4-FFF2-40B4-BE49-F238E27FC236}">
                <a16:creationId xmlns:a16="http://schemas.microsoft.com/office/drawing/2014/main" id="{8A2F2044-52AB-4449-4F15-E6CAB4354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0"/>
            <a:ext cx="8534400" cy="5962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一个确定性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带图灵机程序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(Program)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可以详细描述为一个七元组：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TM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其中，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是一个有限状态集合；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称为初始状态；</a:t>
            </a:r>
            <a:r>
              <a:rPr lang="en-US" altLang="zh-CN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称为终止状态或接收状态。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是带格中符号的有限集合；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是输入字符集，且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中的唯一空符，有</a:t>
            </a:r>
            <a:r>
              <a:rPr lang="en-US" altLang="zh-CN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 err="1">
                <a:solidFill>
                  <a:srgbClr val="0070C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2800" i="1" dirty="0" err="1">
                <a:solidFill>
                  <a:srgbClr val="0070C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称做图灵机的下移函数或有限状态控制函数，是从</a:t>
            </a:r>
            <a:r>
              <a:rPr lang="en-US" altLang="zh-CN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30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的某一个子集到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×(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×{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</a:t>
            </a:r>
            <a:r>
              <a:rPr lang="en-US" altLang="zh-CN" sz="2800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的映射函数，即对由一个当前状态和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条带上扫描到的当前符号所构成的一个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＋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元组，它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唯一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地给出一个新的状态和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个序偶，而每一个序偶由一个新的带符号和带头移动方向组成。</a:t>
            </a:r>
            <a:endParaRPr lang="en-US" altLang="zh-CN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5667EA8-7B40-DD59-194B-D7432F99D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8788" y="261871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1.2 </a:t>
            </a:r>
            <a:r>
              <a:rPr lang="zh-CN" altLang="en-US" dirty="0">
                <a:solidFill>
                  <a:srgbClr val="0070C0"/>
                </a:solidFill>
              </a:rPr>
              <a:t>确定图灵机与</a:t>
            </a:r>
            <a:r>
              <a:rPr lang="en-US" altLang="zh-CN" dirty="0">
                <a:solidFill>
                  <a:srgbClr val="0070C0"/>
                </a:solidFill>
              </a:rPr>
              <a:t>RAM</a:t>
            </a:r>
            <a:r>
              <a:rPr lang="zh-CN" altLang="en-US" dirty="0">
                <a:solidFill>
                  <a:srgbClr val="0070C0"/>
                </a:solidFill>
              </a:rPr>
              <a:t>模型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续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10243" name="TextBox 3">
            <a:extLst>
              <a:ext uri="{FF2B5EF4-FFF2-40B4-BE49-F238E27FC236}">
                <a16:creationId xmlns:a16="http://schemas.microsoft.com/office/drawing/2014/main" id="{E946B046-49C7-B758-142F-35F659186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895855"/>
            <a:ext cx="8763000" cy="5962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0070C0"/>
                </a:solidFill>
              </a:rPr>
              <a:t>假定某台图灵机的下移函数表中有一个定义式为</a:t>
            </a:r>
            <a:endParaRPr lang="en-US" altLang="zh-CN" sz="2800" dirty="0">
              <a:solidFill>
                <a:srgbClr val="0070C0"/>
              </a:solidFill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…, </a:t>
            </a:r>
            <a:r>
              <a:rPr lang="en-US" altLang="zh-CN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)=[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(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…, (</a:t>
            </a:r>
            <a:r>
              <a:rPr lang="en-US" altLang="zh-CN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当图灵机处于状态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且对一切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，第</a:t>
            </a:r>
            <a:r>
              <a:rPr lang="en-US" altLang="zh-CN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条带的带头扫描当前方格中的符号正好是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时，图灵机就按这个下移函数定义式所规定的内容进行如下工作：</a:t>
            </a:r>
            <a:endParaRPr lang="en-US" altLang="zh-CN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）把</a:t>
            </a:r>
            <a:r>
              <a:rPr lang="en-US" altLang="zh-CN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条带头下当前方格中的符号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清除并写上新的带符号</a:t>
            </a:r>
            <a:r>
              <a:rPr lang="en-US" altLang="zh-CN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）按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指出的方向移动各带的带头。这里，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表示带头往左移一格，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表示带头往右移一格，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altLang="zh-CN" sz="2800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表示带头不动。</a:t>
            </a:r>
            <a:endParaRPr lang="en-US" altLang="zh-CN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）将图灵机的当前状态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</a:t>
            </a:r>
            <a:r>
              <a:rPr lang="en-US" altLang="zh-CN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39F603D1-9ED9-E56D-29E6-4C8CDD67F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256952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非确定图灵机与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问题 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3">
                <a:extLst>
                  <a:ext uri="{FF2B5EF4-FFF2-40B4-BE49-F238E27FC236}">
                    <a16:creationId xmlns:a16="http://schemas.microsoft.com/office/drawing/2014/main" id="{E8A829CA-74E4-962D-B5CB-38D6433C04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400" y="770299"/>
                <a:ext cx="8382000" cy="5388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5000"/>
                  </a:lnSpc>
                  <a:spcBef>
                    <a:spcPct val="0"/>
                  </a:spcBef>
                  <a:buNone/>
                </a:pPr>
                <a:r>
                  <a:rPr lang="zh-CN" altLang="en-US" sz="2800" dirty="0"/>
                  <a:t>一个一对多的映射意味着，从当前状态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800" dirty="0"/>
                  <a:t>和当前扫描的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zh-CN" sz="2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个带符号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800" dirty="0"/>
                  <a:t>，可以选择新状态、新的带符号和带头移动的多种组合，即可以定义</a:t>
                </a:r>
                <a:endParaRPr lang="en-US" altLang="zh-CN" sz="2800" dirty="0"/>
              </a:p>
              <a:p>
                <a:pPr algn="just" eaLnBrk="1" hangingPunct="1">
                  <a:lnSpc>
                    <a:spcPct val="125000"/>
                  </a:lnSpc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，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，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，</m:t>
                                      </m:r>
                                      <m:d>
                                        <m:d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2800" i="1">
                                              <a:latin typeface="Cambria Math" panose="02040503050406030204" pitchFamily="18" charset="0"/>
                                            </a:rPr>
                                            <m:t>，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8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，</m:t>
                                      </m:r>
                                      <m:d>
                                        <m:d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2800" i="1">
                                              <a:latin typeface="Cambria Math" panose="02040503050406030204" pitchFamily="18" charset="0"/>
                                            </a:rPr>
                                            <m:t>，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，</m:t>
                                      </m:r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  <m:d>
                                        <m:d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2800" i="1">
                                              <a:latin typeface="Cambria Math" panose="02040503050406030204" pitchFamily="18" charset="0"/>
                                            </a:rPr>
                                            <m:t>，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，</m:t>
                                      </m:r>
                                      <m:d>
                                        <m:d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2800" i="1">
                                              <a:latin typeface="Cambria Math" panose="02040503050406030204" pitchFamily="18" charset="0"/>
                                            </a:rPr>
                                            <m:t>，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，</m:t>
                                      </m:r>
                                      <m:d>
                                        <m:d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2800" i="1">
                                              <a:latin typeface="Cambria Math" panose="02040503050406030204" pitchFamily="18" charset="0"/>
                                            </a:rPr>
                                            <m:t>，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，</m:t>
                                      </m:r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  <m:d>
                                        <m:d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2800" i="1">
                                              <a:latin typeface="Cambria Math" panose="02040503050406030204" pitchFamily="18" charset="0"/>
                                            </a:rPr>
                                            <m:t>，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d>
                                  <m:dPr>
                                    <m:ctrlPr>
                                      <a:rPr lang="zh-CN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，</m:t>
                                    </m:r>
                                    <m:sSub>
                                      <m:sSubPr>
                                        <m:ctrlPr>
                                          <a:rPr lang="zh-CN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d>
                                  <m:dPr>
                                    <m:ctrlPr>
                                      <a:rPr lang="zh-CN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，</m:t>
                                    </m:r>
                                    <m:sSub>
                                      <m:sSubPr>
                                        <m:ctrlPr>
                                          <a:rPr lang="zh-CN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  <m:d>
                                  <m:dPr>
                                    <m:ctrlPr>
                                      <a:rPr lang="zh-CN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𝑟𝑘</m:t>
                                        </m:r>
                                      </m:sub>
                                    </m:sSub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，</m:t>
                                    </m:r>
                                    <m:sSub>
                                      <m:sSubPr>
                                        <m:ctrlPr>
                                          <a:rPr lang="zh-CN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𝑟𝑘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2800" dirty="0"/>
              </a:p>
              <a:p>
                <a:pPr algn="just" eaLnBrk="1" hangingPunct="1">
                  <a:lnSpc>
                    <a:spcPct val="125000"/>
                  </a:lnSpc>
                  <a:spcBef>
                    <a:spcPct val="0"/>
                  </a:spcBef>
                  <a:buNone/>
                </a:pPr>
                <a:r>
                  <a:rPr lang="zh-CN" altLang="en-US" sz="2800" dirty="0"/>
                  <a:t>式中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zh-CN" altLang="en-US" sz="2800" dirty="0"/>
                  <a:t>。当图灵机执行时，每次可以选择（猜测）这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800" dirty="0"/>
                  <a:t>种新状态、带新符号和带头移动的某一固定组合。</a:t>
                </a:r>
                <a:endParaRPr lang="zh-CN" altLang="zh-CN" sz="2800" dirty="0"/>
              </a:p>
            </p:txBody>
          </p:sp>
        </mc:Choice>
        <mc:Fallback xmlns="">
          <p:sp>
            <p:nvSpPr>
              <p:cNvPr id="2" name="TextBox 3">
                <a:extLst>
                  <a:ext uri="{FF2B5EF4-FFF2-40B4-BE49-F238E27FC236}">
                    <a16:creationId xmlns:a16="http://schemas.microsoft.com/office/drawing/2014/main" id="{E8A829CA-74E4-962D-B5CB-38D6433C0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770299"/>
                <a:ext cx="8382000" cy="5388398"/>
              </a:xfrm>
              <a:prstGeom prst="rect">
                <a:avLst/>
              </a:prstGeom>
              <a:blipFill>
                <a:blip r:embed="rId2"/>
                <a:stretch>
                  <a:fillRect l="-1455" t="-452" r="-5745" b="-19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52B64EEC-D81A-DBC4-67F0-EF1C90541C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381000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非确定图灵机与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D27B991-20DB-76B5-5281-AAF8CBF2E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600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3600" b="1" dirty="0">
                <a:latin typeface="+mn-ea"/>
                <a:ea typeface="+mn-ea"/>
                <a:cs typeface="Times New Roman" panose="02020603050405020304" pitchFamily="18" charset="0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非确定图灵机的时间复杂性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是指，假若对于任何长度为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的可接收的输入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，都存在着一条导致接收状态的计算序列，该序列至多有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步。带头移动过程中任何一条带上被扫描到的不同方格数的总和不超过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定义为该台非确定图灵机的空间复杂性。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>
            <a:extLst>
              <a:ext uri="{FF2B5EF4-FFF2-40B4-BE49-F238E27FC236}">
                <a16:creationId xmlns:a16="http://schemas.microsoft.com/office/drawing/2014/main" id="{48934FE0-0B3D-D649-1932-75E7755990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381000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非确定图灵机与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E1073DE-B354-F56A-2A9F-5D1DFBF4F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938784"/>
            <a:ext cx="8305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是一台非确定图灵机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所可以接收的语言，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的时间复杂性是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。那么，必存在一台确定图灵机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，它所接收的语言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且时间复杂性是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，其中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是某个正常数。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若存在一个多项式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，使得对于所有的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，则称非确定图灵机程序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为一个多项式时间非确定图灵机程序。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CD7ABB4E-7C63-EB89-F86E-9FEF319CC5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381000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非确定图灵机与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EC98BF8-5B8F-E2F2-C818-D115950D3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90600"/>
            <a:ext cx="8077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3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类为：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NP={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：存在一个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多项式时间非确定图灵机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能被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识别，即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，则存在一个多项式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可以用一个时间复杂性为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O(2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的确定性算法来求解。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公开困难问题：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问题是否等于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问题？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>
            <a:extLst>
              <a:ext uri="{FF2B5EF4-FFF2-40B4-BE49-F238E27FC236}">
                <a16:creationId xmlns:a16="http://schemas.microsoft.com/office/drawing/2014/main" id="{83C0A013-2B16-153A-7073-97F5A445FD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83464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1.2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完全与典型的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完全问题</a:t>
            </a:r>
            <a:endParaRPr lang="zh-CN" altLang="en-US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D5B441A-1720-196F-DD34-BC67B3296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838200"/>
            <a:ext cx="81534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4 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称语言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在多项式时间内可以归约为语言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，写做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3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，是指存在一个多项式时间可计算的函数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，满足对所有的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，都有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x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当且仅当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称函数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为归约函数，计算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的多项式时间算法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称为归约算法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引理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1 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且满足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3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的语言，如果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86F8FA74-3543-2052-4528-D015E09018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76200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完全与典型的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完全问题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7162204-8C17-FF9F-75FF-A4B2C8EC3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609600"/>
            <a:ext cx="83820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多项式归约具有如下基本性质：如果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/>
              <a:t>。</a:t>
            </a:r>
            <a:endParaRPr lang="en-US" altLang="zh-CN" dirty="0"/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的一个多项式变换，而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的一个多项式变换。那么对于所有的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，由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所定义的函数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，就是从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所需要的变换，显然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当且仅当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的值可以由一个多项式时间确定图灵机程序来计算。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>
            <a:extLst>
              <a:ext uri="{FF2B5EF4-FFF2-40B4-BE49-F238E27FC236}">
                <a16:creationId xmlns:a16="http://schemas.microsoft.com/office/drawing/2014/main" id="{A2BB84CE-3C1D-1D38-BBB7-4D9CAB60D4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381000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完全与典型的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完全问题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24F03F-0E27-D6BE-1C28-D9BB218D2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877824"/>
            <a:ext cx="84201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语言</a:t>
            </a:r>
            <a:r>
              <a:rPr lang="en-US" sz="30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000" dirty="0">
                <a:latin typeface="Times New Roman" pitchFamily="18" charset="0"/>
                <a:cs typeface="Times New Roman" pitchFamily="18" charset="0"/>
                <a:sym typeface="Symbol"/>
              </a:rPr>
              <a:t>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{0, 1}</a:t>
            </a:r>
            <a:r>
              <a:rPr lang="en-US" altLang="zh-CN" sz="3000" baseline="30000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，如果对一个</a:t>
            </a:r>
            <a:r>
              <a:rPr lang="en-US" sz="30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000" dirty="0">
                <a:latin typeface="Times New Roman" pitchFamily="18" charset="0"/>
                <a:cs typeface="Times New Roman" pitchFamily="18" charset="0"/>
                <a:sym typeface="Symbol"/>
              </a:rPr>
              <a:t>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，有</a:t>
            </a:r>
            <a:r>
              <a:rPr lang="en-US" sz="30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000" dirty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≤</a:t>
            </a:r>
            <a:r>
              <a:rPr lang="en-US" sz="3000" i="1" baseline="-25000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3000" i="1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，则</a:t>
            </a:r>
            <a:r>
              <a:rPr lang="en-US" sz="30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也是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困难的。</a:t>
            </a:r>
            <a:endParaRPr lang="en-US" altLang="zh-CN" sz="30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endParaRPr lang="en-US" sz="30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000" b="1" dirty="0">
                <a:latin typeface="+mn-ea"/>
                <a:ea typeface="+mn-ea"/>
                <a:cs typeface="Times New Roman" pitchFamily="18" charset="0"/>
              </a:rPr>
              <a:t>定义</a:t>
            </a:r>
            <a:r>
              <a:rPr lang="en-US" altLang="zh-CN" sz="3000" b="1" dirty="0">
                <a:latin typeface="+mn-ea"/>
                <a:ea typeface="+mn-ea"/>
                <a:cs typeface="Times New Roman" pitchFamily="18" charset="0"/>
              </a:rPr>
              <a:t>5 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语言</a:t>
            </a:r>
            <a:r>
              <a:rPr lang="en-US" sz="30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000" dirty="0"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，如果对</a:t>
            </a:r>
            <a:r>
              <a:rPr lang="zh-CN" altLang="en-US" sz="3000" b="1" dirty="0">
                <a:latin typeface="Times New Roman" pitchFamily="18" charset="0"/>
                <a:cs typeface="Times New Roman" pitchFamily="18" charset="0"/>
              </a:rPr>
              <a:t>每一个</a:t>
            </a:r>
            <a:r>
              <a:rPr lang="en-US" sz="30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000" dirty="0">
                <a:latin typeface="Times New Roman" pitchFamily="18" charset="0"/>
                <a:cs typeface="Times New Roman" pitchFamily="18" charset="0"/>
                <a:sym typeface="Symbol"/>
              </a:rPr>
              <a:t>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，有</a:t>
            </a:r>
            <a:r>
              <a:rPr lang="en-US" sz="30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000" dirty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≤</a:t>
            </a:r>
            <a:r>
              <a:rPr lang="en-US" sz="3000" i="1" baseline="-25000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3000" i="1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，则称</a:t>
            </a:r>
            <a:r>
              <a:rPr lang="en-US" sz="30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是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完全的。</a:t>
            </a:r>
            <a:endParaRPr lang="en-US" altLang="zh-CN" sz="30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endParaRPr lang="en-US" altLang="zh-CN" sz="30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000" b="1" dirty="0">
                <a:latin typeface="+mn-ea"/>
                <a:ea typeface="+mn-ea"/>
                <a:cs typeface="Times New Roman" pitchFamily="18" charset="0"/>
              </a:rPr>
              <a:t>定理</a:t>
            </a:r>
            <a:r>
              <a:rPr lang="en-US" altLang="zh-CN" sz="3000" b="1" dirty="0">
                <a:latin typeface="+mn-ea"/>
                <a:ea typeface="+mn-ea"/>
                <a:cs typeface="Times New Roman" pitchFamily="18" charset="0"/>
              </a:rPr>
              <a:t>4</a:t>
            </a:r>
            <a:r>
              <a:rPr lang="en-US" sz="3000" b="1" dirty="0">
                <a:latin typeface="+mn-ea"/>
                <a:ea typeface="+mn-ea"/>
                <a:cs typeface="Times New Roman" pitchFamily="18" charset="0"/>
              </a:rPr>
              <a:t> 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如果任何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完全问题是多项式时间可求解的，则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P=NP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。等价地，如果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中的任何问题不是多项式时间可求解的，则所有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完全问题都不是多项式时间可求解的。</a:t>
            </a:r>
            <a:endParaRPr lang="en-US" sz="3000" dirty="0">
              <a:latin typeface="Arial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id="{378F93E2-F78D-29BE-535B-D2066447E9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216408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1.2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完全与典型的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完全问题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702C52-277C-8B52-1A3A-D2A248B60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33400"/>
            <a:ext cx="83820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3200" b="1" dirty="0">
                <a:latin typeface="+mn-ea"/>
                <a:ea typeface="+mn-ea"/>
                <a:cs typeface="Times New Roman" pitchFamily="18" charset="0"/>
              </a:rPr>
              <a:t>定理</a:t>
            </a:r>
            <a:r>
              <a:rPr lang="en-US" altLang="zh-CN" sz="3200" b="1" dirty="0">
                <a:latin typeface="+mn-ea"/>
                <a:ea typeface="+mn-ea"/>
                <a:cs typeface="Times New Roman" pitchFamily="18" charset="0"/>
              </a:rPr>
              <a:t>4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证明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假定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，并且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完全问题。对任意的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/>
              </a:rPr>
              <a:t>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，由定义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有，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≤</a:t>
            </a:r>
            <a:r>
              <a:rPr lang="en-US" sz="3200" i="1" baseline="-25000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。这样，根据引理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，就有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/>
              </a:rPr>
              <a:t>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。这样就证明了本定理的第一个结论。第二个结论是第一个结论的逆否命题。因此，第二个结论也得以证明</a:t>
            </a:r>
            <a:r>
              <a:rPr lang="zh-CN" altLang="en-US" sz="3600" dirty="0">
                <a:latin typeface="Arial" charset="0"/>
              </a:rPr>
              <a:t>。</a:t>
            </a:r>
            <a:endParaRPr lang="en-US" altLang="zh-CN" sz="3600" dirty="0">
              <a:latin typeface="Arial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≤</a:t>
            </a:r>
            <a:r>
              <a:rPr lang="en-US" sz="3200" i="1" baseline="-25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符号的说明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）通过≤</a:t>
            </a:r>
            <a:r>
              <a:rPr lang="en-US" sz="3200" i="1" baseline="-25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符号，一个算法复杂度猜想是：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类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&lt;NP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类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&lt;NP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完全类。</a:t>
            </a:r>
            <a:endParaRPr lang="en-US" altLang="zh-CN" sz="32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Arial" charset="0"/>
              </a:rPr>
              <a:t>（</a:t>
            </a:r>
            <a:r>
              <a:rPr lang="en-US" altLang="zh-CN" sz="3200" dirty="0">
                <a:latin typeface="Arial" charset="0"/>
              </a:rPr>
              <a:t>2</a:t>
            </a:r>
            <a:r>
              <a:rPr lang="zh-CN" altLang="en-US" sz="3200" dirty="0">
                <a:latin typeface="Arial" charset="0"/>
              </a:rPr>
              <a:t>）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 ≤</a:t>
            </a:r>
            <a:r>
              <a:rPr lang="en-US" sz="3200" i="1" baseline="-25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可为问题建立等价类和偏序关系。</a:t>
            </a:r>
            <a:endParaRPr lang="en-US" sz="3600" dirty="0">
              <a:latin typeface="Arial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endParaRPr lang="en-US" sz="3600" dirty="0">
              <a:latin typeface="Arial" charset="0"/>
            </a:endParaRPr>
          </a:p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defRPr/>
            </a:pPr>
            <a:endParaRPr lang="zh-CN" altLang="en-US" sz="3600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>
            <a:extLst>
              <a:ext uri="{FF2B5EF4-FFF2-40B4-BE49-F238E27FC236}">
                <a16:creationId xmlns:a16="http://schemas.microsoft.com/office/drawing/2014/main" id="{C030090C-15E9-8D7E-CEC5-948DF3EAC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完全与典型的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完全问题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B834358-0569-17B4-7B1B-A2B14E886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8382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都属于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完全的，且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，那么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必是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完全的。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，所以下面只需要证明对每个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可通过多项式归约到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。考虑任一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完全的，故必有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多项式归约到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。那么，根据定理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的传递性，有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，所以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完全的。</a:t>
            </a:r>
            <a:endParaRPr lang="en-US" altLang="zh-CN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70A942EF-7E30-F218-5A08-A13EC37439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完全与典型的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完全问题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9BCCD19-255E-AE72-9145-445DADB05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838200"/>
            <a:ext cx="8534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定理）布尔表达式的可满足性问题是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完全的。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定理之后证明一个问题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完全性可由以下三步组成：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）证明问题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属于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）选择一个已知的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完全问题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）构造从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多项式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变换函数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>
            <a:extLst>
              <a:ext uri="{FF2B5EF4-FFF2-40B4-BE49-F238E27FC236}">
                <a16:creationId xmlns:a16="http://schemas.microsoft.com/office/drawing/2014/main" id="{73648133-0EFA-2531-B22C-C116532042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52400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完全与典型的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完全问题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4B4663A-20DF-7DCE-D2C3-4BB285E12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48" y="609600"/>
            <a:ext cx="8531352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在布尔表达式中，一个文字是指变量或者变量的“非”；一个子句是一个或多个文字的“或”。多个子句进行“与”，所得到的布尔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表达式</a:t>
            </a: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称为合取范式 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(Conjunctive Normal Form,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CNF</a:t>
            </a:r>
            <a:r>
              <a:rPr lang="en-US" altLang="zh-CN" sz="30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。如果公式中每个子句恰好有三个不同的变量，则该公式称为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3-</a:t>
            </a: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合取范式，即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3-CNF</a:t>
            </a: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。例如，</a:t>
            </a:r>
            <a:r>
              <a:rPr lang="en-US" altLang="zh-CN" sz="30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3000" baseline="-250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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3000" baseline="-250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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3000" baseline="-25000" dirty="0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)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3000" baseline="-25000" dirty="0"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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3000" baseline="-25000" dirty="0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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3000" baseline="-25000" dirty="0">
                <a:latin typeface="Times New Roman" pitchFamily="18" charset="0"/>
                <a:ea typeface="+mn-ea"/>
                <a:cs typeface="Times New Roman" pitchFamily="18" charset="0"/>
              </a:rPr>
              <a:t>4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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 (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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3000" baseline="-25000" dirty="0"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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3000" baseline="-25000" dirty="0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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3000" baseline="-25000" dirty="0">
                <a:latin typeface="Times New Roman" pitchFamily="18" charset="0"/>
                <a:ea typeface="+mn-ea"/>
                <a:cs typeface="Times New Roman" pitchFamily="18" charset="0"/>
              </a:rPr>
              <a:t>4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) </a:t>
            </a:r>
            <a:r>
              <a:rPr lang="zh-CN" altLang="en-US" sz="3000" dirty="0">
                <a:latin typeface="Arial" charset="0"/>
              </a:rPr>
              <a:t>。</a:t>
            </a:r>
            <a:endParaRPr lang="en-US" altLang="zh-CN" sz="3000" dirty="0">
              <a:latin typeface="Arial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endParaRPr lang="en-US" altLang="zh-CN" sz="3000" b="1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000" b="1" dirty="0">
                <a:latin typeface="+mn-ea"/>
                <a:ea typeface="+mn-ea"/>
                <a:cs typeface="Times New Roman" pitchFamily="18" charset="0"/>
              </a:rPr>
              <a:t>定理</a:t>
            </a:r>
            <a:r>
              <a:rPr lang="en-US" altLang="zh-CN" sz="3000" b="1" dirty="0">
                <a:latin typeface="+mn-ea"/>
                <a:ea typeface="+mn-ea"/>
                <a:cs typeface="Times New Roman" pitchFamily="18" charset="0"/>
              </a:rPr>
              <a:t>7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3-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合取范式形式的布尔表达式的可满足性问题是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完全的。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>
            <a:extLst>
              <a:ext uri="{FF2B5EF4-FFF2-40B4-BE49-F238E27FC236}">
                <a16:creationId xmlns:a16="http://schemas.microsoft.com/office/drawing/2014/main" id="{7340B175-D59D-23AE-BBBD-2CC1027B4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完全与典型的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完全问题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DC7049F-76D9-02F0-0B11-0C0791FD6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85344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无向图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=(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V</a:t>
            </a:r>
            <a:r>
              <a:rPr lang="en-US" altLang="zh-CN" sz="3000" dirty="0"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E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中的团是一个顶点子集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V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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V</a:t>
            </a: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，其中每一对顶点之间都由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E</a:t>
            </a: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中的一条边相连。换句话说，一个团是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的一个完全子图。团的规模是指它所包含的顶点数。团问题就是关于寻找图中规模最大的团的最优化问题。一个重要的判断问题是：在图中是否存在一个给定规模为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的团，其定义为</a:t>
            </a:r>
            <a:endParaRPr lang="en-US" sz="30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CLIQUE={&lt;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,  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&gt;</a:t>
            </a: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：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是具有规模为</a:t>
            </a:r>
            <a:r>
              <a:rPr lang="en-US" sz="3000" i="1" dirty="0"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的团的图</a:t>
            </a:r>
            <a:r>
              <a:rPr 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}</a:t>
            </a:r>
            <a:r>
              <a:rPr lang="zh-CN" altLang="en-US" sz="3000" dirty="0">
                <a:latin typeface="Times New Roman" pitchFamily="18" charset="0"/>
                <a:ea typeface="+mn-ea"/>
                <a:cs typeface="Times New Roman" pitchFamily="18" charset="0"/>
              </a:rPr>
              <a:t>。</a:t>
            </a:r>
            <a:endParaRPr lang="en-US" altLang="zh-CN" sz="30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endParaRPr lang="en-US" altLang="zh-CN" sz="30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000" b="1" dirty="0">
                <a:latin typeface="+mn-ea"/>
                <a:ea typeface="+mn-ea"/>
                <a:cs typeface="Times New Roman" pitchFamily="18" charset="0"/>
              </a:rPr>
              <a:t>定理</a:t>
            </a:r>
            <a:r>
              <a:rPr lang="en-US" altLang="zh-CN" sz="3000" b="1" dirty="0">
                <a:latin typeface="+mn-ea"/>
                <a:ea typeface="+mn-ea"/>
                <a:cs typeface="Times New Roman" pitchFamily="18" charset="0"/>
              </a:rPr>
              <a:t>8</a:t>
            </a:r>
            <a:r>
              <a:rPr lang="zh-CN" altLang="en-US" sz="3000" dirty="0">
                <a:latin typeface="+mn-ea"/>
                <a:ea typeface="+mn-ea"/>
                <a:cs typeface="Times New Roman" pitchFamily="18" charset="0"/>
              </a:rPr>
              <a:t> 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团问题是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zh-CN" altLang="en-US" sz="3000" dirty="0">
                <a:latin typeface="Times New Roman" pitchFamily="18" charset="0"/>
                <a:cs typeface="Times New Roman" pitchFamily="18" charset="0"/>
              </a:rPr>
              <a:t>完全的。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>
            <a:extLst>
              <a:ext uri="{FF2B5EF4-FFF2-40B4-BE49-F238E27FC236}">
                <a16:creationId xmlns:a16="http://schemas.microsoft.com/office/drawing/2014/main" id="{11068E19-EF39-3E09-B832-83574D51B8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75438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完全与典型的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完全问题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AD59D43-7C92-F43A-AF02-D033E66C6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762000"/>
            <a:ext cx="83820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无相图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=(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V</a:t>
            </a:r>
            <a:r>
              <a:rPr lang="en-US" altLang="zh-CN" sz="2800" dirty="0"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E</a:t>
            </a:r>
            <a:r>
              <a:rPr 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的顶点覆盖</a:t>
            </a:r>
            <a:r>
              <a:rPr lang="en-US" altLang="zh-CN" sz="2800" dirty="0">
                <a:latin typeface="Times New Roman" pitchFamily="18" charset="0"/>
                <a:ea typeface="+mn-ea"/>
                <a:cs typeface="Times New Roman" pitchFamily="18" charset="0"/>
              </a:rPr>
              <a:t>(V</a:t>
            </a:r>
            <a:r>
              <a:rPr 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ertex Cover)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是指子集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V</a:t>
            </a:r>
            <a:r>
              <a:rPr lang="en-US" sz="28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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V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，满足对任意</a:t>
            </a:r>
            <a:r>
              <a:rPr lang="en-US" altLang="zh-CN" sz="28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, </a:t>
            </a:r>
            <a:r>
              <a:rPr lang="en-US" sz="28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)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E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，则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</a:t>
            </a:r>
            <a:r>
              <a:rPr lang="en-US" sz="28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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或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</a:t>
            </a:r>
            <a:r>
              <a:rPr lang="en-US" sz="28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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成立。亦即，每个顶点“覆盖”与其关联的边，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的顶点覆盖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E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中所有边的顶点组成的集合，顶点覆盖的规模是指它所包含的顶点数目。</a:t>
            </a:r>
            <a:endParaRPr lang="en-US" sz="28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顶点覆盖问题</a:t>
            </a:r>
            <a:r>
              <a:rPr lang="en-US" altLang="zh-CN" sz="28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Vertex Cover Problem</a:t>
            </a:r>
            <a:r>
              <a:rPr lang="en-US" altLang="zh-CN" sz="28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是指在给定的图中，找出具有</a:t>
            </a:r>
            <a:r>
              <a:rPr lang="zh-CN" altLang="en-US" sz="2800" b="1" dirty="0">
                <a:latin typeface="Times New Roman" pitchFamily="18" charset="0"/>
                <a:ea typeface="+mn-ea"/>
                <a:cs typeface="Times New Roman" pitchFamily="18" charset="0"/>
              </a:rPr>
              <a:t>最小规模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的顶点覆盖。把这一最优化问题重新表述为判定问题，即确定一个图是否具有一个给定规模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的顶点覆盖。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其定义为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VERTEX-COVER={&lt;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是具有规模为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的顶点覆盖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。</a:t>
            </a:r>
            <a:endParaRPr lang="en-US" sz="28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>
            <a:extLst>
              <a:ext uri="{FF2B5EF4-FFF2-40B4-BE49-F238E27FC236}">
                <a16:creationId xmlns:a16="http://schemas.microsoft.com/office/drawing/2014/main" id="{1BF32AC1-B3DB-9E2F-99E5-72E64D5722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6858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完全与典型的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完全问题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F93A25C-E296-89DE-EC86-912610393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90600"/>
            <a:ext cx="6781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buNone/>
              <a:defRPr/>
            </a:pPr>
            <a:r>
              <a:rPr lang="zh-CN" altLang="en-US" b="1" dirty="0">
                <a:latin typeface="+mn-ea"/>
                <a:ea typeface="+mn-ea"/>
                <a:cs typeface="Times New Roman" pitchFamily="18" charset="0"/>
              </a:rPr>
              <a:t>定理</a:t>
            </a:r>
            <a:r>
              <a:rPr lang="en-US" altLang="zh-CN" b="1" dirty="0">
                <a:latin typeface="+mn-ea"/>
                <a:ea typeface="+mn-ea"/>
                <a:cs typeface="Times New Roman" pitchFamily="18" charset="0"/>
              </a:rPr>
              <a:t>9 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顶点覆盖问题是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完全的。</a:t>
            </a:r>
            <a:endParaRPr lang="en-US" altLang="zh-CN" sz="36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其它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完全问题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）哈密顿回路问题。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）货郎担问题。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7E3BD99F-8D4A-6B02-5D10-53E2D2EF6F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304800"/>
            <a:ext cx="7620000" cy="6096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1.3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8DB6BF-6D74-F84F-E3EE-D28E8DDEB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7924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endParaRPr lang="zh-CN" altLang="en-US" sz="3600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87F16B-F1B1-342E-82E2-3A814477C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4400"/>
            <a:ext cx="7467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1.3.1 </a:t>
            </a:r>
            <a:r>
              <a:rPr lang="zh-CN" altLang="en-US" sz="3200" kern="0" dirty="0">
                <a:latin typeface="+mn-lt"/>
                <a:ea typeface="+mn-ea"/>
              </a:rPr>
              <a:t>基于</a:t>
            </a:r>
            <a:r>
              <a:rPr lang="zh-CN" altLang="en-US" sz="3200" kern="0" dirty="0">
                <a:latin typeface="Times New Roman" pitchFamily="18" charset="0"/>
                <a:ea typeface="+mn-ea"/>
                <a:cs typeface="Times New Roman" pitchFamily="18" charset="0"/>
              </a:rPr>
              <a:t>计算复杂度安全的基本思想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F869B4E-0994-9DA0-CA38-E5E4530D1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0"/>
            <a:ext cx="85344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Arial" charset="0"/>
              </a:rPr>
              <a:t>（</a:t>
            </a:r>
            <a:r>
              <a:rPr lang="en-US" sz="3200" dirty="0">
                <a:latin typeface="Arial" charset="0"/>
              </a:rPr>
              <a:t>1</a:t>
            </a:r>
            <a:r>
              <a:rPr lang="zh-CN" altLang="en-US" sz="3200" dirty="0">
                <a:latin typeface="Arial" charset="0"/>
              </a:rPr>
              <a:t>）仅仅在对抗“有效”敌手时，安全存在，“有效”是指在可行的计算时间内运行。</a:t>
            </a:r>
            <a:endParaRPr lang="en-US" altLang="zh-CN" sz="3200" dirty="0">
              <a:latin typeface="Arial" charset="0"/>
            </a:endParaRPr>
          </a:p>
          <a:p>
            <a:pPr eaLnBrk="1" hangingPunct="1">
              <a:lnSpc>
                <a:spcPct val="125000"/>
              </a:lnSpc>
              <a:defRPr/>
            </a:pPr>
            <a:endParaRPr lang="en-US" sz="3200" dirty="0">
              <a:latin typeface="Arial" charset="0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Arial" charset="0"/>
              </a:rPr>
              <a:t>（</a:t>
            </a:r>
            <a:r>
              <a:rPr lang="en-US" sz="3200" dirty="0">
                <a:latin typeface="Arial" charset="0"/>
              </a:rPr>
              <a:t>2</a:t>
            </a:r>
            <a:r>
              <a:rPr lang="zh-CN" altLang="en-US" sz="3200" dirty="0">
                <a:latin typeface="Arial" charset="0"/>
              </a:rPr>
              <a:t>）敌手成功的概率非常小（小到可以不关心它是否真的会发生）。</a:t>
            </a:r>
            <a:endParaRPr lang="en-US" sz="3200" dirty="0">
              <a:latin typeface="Arial" charset="0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endParaRPr lang="zh-CN" altLang="en-US" sz="3200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>
            <a:extLst>
              <a:ext uri="{FF2B5EF4-FFF2-40B4-BE49-F238E27FC236}">
                <a16:creationId xmlns:a16="http://schemas.microsoft.com/office/drawing/2014/main" id="{22775AA2-B54D-B4DD-BC26-6D952579C7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52400"/>
            <a:ext cx="8077200" cy="6096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1.3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计算复杂性理论在密码学中的应用（续）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7D305D-0218-EEB9-7C76-8E274026B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7924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endParaRPr lang="zh-CN" altLang="en-US" sz="3600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3A8F6A-B6A0-3B91-083F-D8E1ABD74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85800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1.3.1 </a:t>
            </a:r>
            <a:r>
              <a:rPr lang="zh-CN" altLang="en-US" sz="3200" kern="0" dirty="0">
                <a:latin typeface="+mn-lt"/>
                <a:ea typeface="+mn-ea"/>
              </a:rPr>
              <a:t>基于</a:t>
            </a:r>
            <a:r>
              <a:rPr lang="zh-CN" altLang="en-US" sz="3200" kern="0" dirty="0">
                <a:latin typeface="Times New Roman" pitchFamily="18" charset="0"/>
                <a:ea typeface="+mn-ea"/>
                <a:cs typeface="Times New Roman" pitchFamily="18" charset="0"/>
              </a:rPr>
              <a:t>计算复杂度安全的基本思想（续） 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F3325DE-9992-B827-BCB8-D113A6DBA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76" y="1143000"/>
            <a:ext cx="85344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Arial" charset="0"/>
              </a:rPr>
              <a:t>采用渐进方法来刻画安全的概念，于是有：</a:t>
            </a:r>
            <a:endParaRPr lang="en-US" altLang="zh-CN" sz="3200" dirty="0">
              <a:latin typeface="Arial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）将“可行的策略”或者“有效的算法”的概念，和在以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为参数的多项式时间内运行的概率算法等同看待，这里可用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PPT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表示概率多项式时间。这意味着，对于常量</a:t>
            </a:r>
            <a:r>
              <a:rPr lang="en-US" altLang="zh-CN" sz="32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3200" i="1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，安全参数为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，该算法的运行时间为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  <a:sym typeface="Symbol"/>
              </a:rPr>
              <a:t>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3200" i="1" baseline="30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。要求诚实方在多项式时间内运行方案，并且仅关心多项式时间的敌手。而且，如果是超多项式时间的攻击策略，则不被认为是在现实中有威胁的。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defRPr/>
            </a:pPr>
            <a:endParaRPr lang="zh-CN" altLang="en-US" sz="3200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>
            <a:extLst>
              <a:ext uri="{FF2B5EF4-FFF2-40B4-BE49-F238E27FC236}">
                <a16:creationId xmlns:a16="http://schemas.microsoft.com/office/drawing/2014/main" id="{F820595F-D92A-0EF2-2A5A-E9C57B6B47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8077200" cy="6096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1.3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计算复杂性理论在密码学中的应用（续）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2DBA27-9E8C-9EC4-1F8F-1B00BBB18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7924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endParaRPr lang="zh-CN" altLang="en-US" sz="3600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A416E2-35BC-33C5-8756-A866D47A8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838200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1.3.1 </a:t>
            </a:r>
            <a:r>
              <a:rPr lang="zh-CN" altLang="en-US" sz="3200" kern="0" dirty="0">
                <a:latin typeface="+mn-lt"/>
                <a:ea typeface="+mn-ea"/>
              </a:rPr>
              <a:t>基于</a:t>
            </a:r>
            <a:r>
              <a:rPr lang="zh-CN" altLang="en-US" sz="3200" kern="0" dirty="0">
                <a:latin typeface="Times New Roman" pitchFamily="18" charset="0"/>
                <a:ea typeface="+mn-ea"/>
                <a:cs typeface="Times New Roman" pitchFamily="18" charset="0"/>
              </a:rPr>
              <a:t>计算复杂度安全的基本思想（续） </a:t>
            </a: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895CAEBB-9B2D-2D0C-FE4A-F202F2182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447800"/>
            <a:ext cx="8534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）将“小的成功概率”的概念和成功概率小于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任何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为参数的多项式倒数等同看待，这意味着，对于每个常量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，当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的值足够大，敌手成功的概率小于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。比任何多项式的倒数增长得都慢的函数被称为可忽略的（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negligible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>
            <a:extLst>
              <a:ext uri="{FF2B5EF4-FFF2-40B4-BE49-F238E27FC236}">
                <a16:creationId xmlns:a16="http://schemas.microsoft.com/office/drawing/2014/main" id="{7C13EADB-3E28-9A0E-C5A6-783087F9BD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8077200" cy="6096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1.3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计算复杂性理论在密码学中的应用（续）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8955D5-632D-3D6E-489D-B7FD4DC44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7924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endParaRPr lang="zh-CN" altLang="en-US" sz="3600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4DE6F1-0127-A7DC-0E71-4C46E2187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838200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1.3.1 </a:t>
            </a:r>
            <a:r>
              <a:rPr lang="zh-CN" altLang="en-US" sz="3200" kern="0" dirty="0">
                <a:latin typeface="+mn-lt"/>
                <a:ea typeface="+mn-ea"/>
              </a:rPr>
              <a:t>基于</a:t>
            </a:r>
            <a:r>
              <a:rPr lang="zh-CN" altLang="en-US" sz="3200" kern="0" dirty="0">
                <a:latin typeface="Times New Roman" pitchFamily="18" charset="0"/>
                <a:ea typeface="+mn-ea"/>
                <a:cs typeface="Times New Roman" pitchFamily="18" charset="0"/>
              </a:rPr>
              <a:t>计算复杂度安全的基本思想（续） </a:t>
            </a:r>
          </a:p>
        </p:txBody>
      </p:sp>
      <p:sp>
        <p:nvSpPr>
          <p:cNvPr id="28677" name="Rectangle 4">
            <a:extLst>
              <a:ext uri="{FF2B5EF4-FFF2-40B4-BE49-F238E27FC236}">
                <a16:creationId xmlns:a16="http://schemas.microsoft.com/office/drawing/2014/main" id="{49FAE4E4-3A1F-98DA-1741-2DB8E45CE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95400"/>
            <a:ext cx="85344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例子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2 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假设有一个安全方案，运行了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分钟的敌手能够成功“攻破该方案”的概率为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·2</a:t>
            </a:r>
            <a:r>
              <a:rPr lang="en-US" altLang="zh-CN" sz="3000" baseline="30000" dirty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3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（这是一个关于参数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可以忽略的函数）。当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，意味着一个运行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000" dirty="0"/>
              <a:t>分钟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（大约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周）的敌手能够攻破该方案的概率为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，所以那样的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值不能用。甚至当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，一个运行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000" dirty="0"/>
              <a:t>分钟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（大约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个月）的敌手能够攻破该方案的概率约为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1/1000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，这也是不能接受的。而当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=500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时，一个运行时间超过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年的敌手攻破该方案的概率仅仅为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baseline="30000" dirty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>
            <a:extLst>
              <a:ext uri="{FF2B5EF4-FFF2-40B4-BE49-F238E27FC236}">
                <a16:creationId xmlns:a16="http://schemas.microsoft.com/office/drawing/2014/main" id="{E162E2A0-DADB-BB3A-6E8A-26CF4BE38B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8077200" cy="6096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1.3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计算复杂性理论在密码学中的应用（续）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A4C9F0-EA3B-1934-B91D-DECFD7C71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7924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endParaRPr lang="zh-CN" altLang="en-US" sz="3600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E56762-CE23-90E7-8183-08992EA9E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4400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1.3.1 </a:t>
            </a:r>
            <a:r>
              <a:rPr lang="zh-CN" altLang="en-US" sz="3200" kern="0" dirty="0">
                <a:latin typeface="+mn-lt"/>
                <a:ea typeface="+mn-ea"/>
              </a:rPr>
              <a:t>基于</a:t>
            </a:r>
            <a:r>
              <a:rPr lang="zh-CN" altLang="en-US" sz="3200" kern="0" dirty="0">
                <a:latin typeface="Times New Roman" pitchFamily="18" charset="0"/>
                <a:ea typeface="+mn-ea"/>
                <a:cs typeface="Times New Roman" pitchFamily="18" charset="0"/>
              </a:rPr>
              <a:t>计算复杂度安全的基本思想（续） </a:t>
            </a: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6C1DAE2B-0C3E-A102-07A0-AF9927AF9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136" y="1478280"/>
            <a:ext cx="85344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有效计算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：前面已经讨论有效计算是指能够在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内执行的计算。一个算法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被认为在多项式时间内运行是指：如果存在一个多项式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(·)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，使得对于每个输入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{0, 1}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的计算最多在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(|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|)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个步骤内终止（这里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表示的是字符串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的长度）。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>
            <a:extLst>
              <a:ext uri="{FF2B5EF4-FFF2-40B4-BE49-F238E27FC236}">
                <a16:creationId xmlns:a16="http://schemas.microsoft.com/office/drawing/2014/main" id="{CF9416B6-844D-E70B-71B1-6FE097020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8077200" cy="6096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1.3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计算复杂性理论在密码学中的应用（续）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566603-FFD6-17C3-0E05-A3F9C5463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7924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endParaRPr lang="zh-CN" altLang="en-US" sz="3600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13CACB-80CC-748A-5FA3-25FE6708C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56" y="723900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1.3.1 </a:t>
            </a:r>
            <a:r>
              <a:rPr lang="zh-CN" altLang="en-US" sz="3200" kern="0" dirty="0">
                <a:latin typeface="+mn-lt"/>
                <a:ea typeface="+mn-ea"/>
              </a:rPr>
              <a:t>基于</a:t>
            </a:r>
            <a:r>
              <a:rPr lang="zh-CN" altLang="en-US" sz="3200" kern="0" dirty="0">
                <a:latin typeface="Times New Roman" pitchFamily="18" charset="0"/>
                <a:ea typeface="+mn-ea"/>
                <a:cs typeface="Times New Roman" pitchFamily="18" charset="0"/>
              </a:rPr>
              <a:t>计算复杂度安全的基本思想（续） 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34D4AB1-7A1C-45F7-73D6-6BA951FD4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072" y="1219200"/>
            <a:ext cx="8610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800" b="1" dirty="0">
                <a:latin typeface="+mn-ea"/>
                <a:ea typeface="+mn-ea"/>
                <a:cs typeface="Times New Roman" pitchFamily="18" charset="0"/>
              </a:rPr>
              <a:t>定义</a:t>
            </a:r>
            <a:r>
              <a:rPr lang="en-US" altLang="zh-CN" sz="2800" b="1" dirty="0">
                <a:latin typeface="+mn-ea"/>
                <a:ea typeface="+mn-ea"/>
                <a:cs typeface="Times New Roman" pitchFamily="18" charset="0"/>
              </a:rPr>
              <a:t>6 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函数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f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为可忽略的，如果对于</a:t>
            </a:r>
            <a:r>
              <a:rPr lang="zh-CN" altLang="en-US" sz="2800" b="1" dirty="0">
                <a:latin typeface="Times New Roman" pitchFamily="18" charset="0"/>
                <a:ea typeface="+mn-ea"/>
                <a:cs typeface="Times New Roman" pitchFamily="18" charset="0"/>
              </a:rPr>
              <a:t>每个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多项式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p</a:t>
            </a:r>
            <a:r>
              <a:rPr 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sz="2800" dirty="0">
                <a:latin typeface="Times New Roman" pitchFamily="18" charset="0"/>
                <a:ea typeface="+mn-ea"/>
                <a:cs typeface="Times New Roman" pitchFamily="18" charset="0"/>
              </a:rPr>
              <a:t>·</a:t>
            </a:r>
            <a:r>
              <a:rPr 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，存在一个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，使得对于</a:t>
            </a:r>
            <a:r>
              <a:rPr lang="zh-CN" altLang="en-US" sz="2800" b="1" dirty="0">
                <a:latin typeface="Times New Roman" pitchFamily="18" charset="0"/>
                <a:ea typeface="+mn-ea"/>
                <a:cs typeface="Times New Roman" pitchFamily="18" charset="0"/>
              </a:rPr>
              <a:t>所有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的整数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&gt;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，都满足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f</a:t>
            </a:r>
            <a:r>
              <a:rPr 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8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)&lt;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1/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800" dirty="0">
                <a:latin typeface="Times New Roman" pitchFamily="18" charset="0"/>
                <a:ea typeface="+mn-ea"/>
                <a:cs typeface="Times New Roman" pitchFamily="18" charset="0"/>
              </a:rPr>
              <a:t>。</a:t>
            </a:r>
            <a:endParaRPr lang="en-US" altLang="zh-CN" sz="28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可忽略的成功概率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：对某个多项式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，如果一个敌手能够成功地攻破该方案的概率为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1/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，则该方案被认为是不安全的。但是，对任意多项式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，如果攻破该方案的概率渐进小于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1/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，则认为该方案是安全的。</a:t>
            </a:r>
            <a:endParaRPr lang="en-US" altLang="zh-CN" sz="28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endParaRPr lang="en-US" altLang="zh-CN" sz="28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800" b="1" dirty="0">
                <a:latin typeface="+mn-ea"/>
                <a:ea typeface="+mn-ea"/>
                <a:cs typeface="Times New Roman" pitchFamily="18" charset="0"/>
              </a:rPr>
              <a:t>定义</a:t>
            </a:r>
            <a:r>
              <a:rPr lang="en-US" altLang="zh-CN" sz="2800" b="1" dirty="0">
                <a:latin typeface="+mn-ea"/>
                <a:ea typeface="+mn-ea"/>
                <a:cs typeface="Times New Roman" pitchFamily="18" charset="0"/>
              </a:rPr>
              <a:t>7 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如果每个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PPT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敌手仅以可忽略的概率成功攻破一个方案，那么该方案是安全的。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>
            <a:extLst>
              <a:ext uri="{FF2B5EF4-FFF2-40B4-BE49-F238E27FC236}">
                <a16:creationId xmlns:a16="http://schemas.microsoft.com/office/drawing/2014/main" id="{4445E819-5370-6C32-4985-0D3A2AF02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335011"/>
            <a:ext cx="8077200" cy="6096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1.3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计算复杂性理论在密码学中的应用（续）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360D890-3C3C-793C-C86B-322B42DF18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1537447"/>
                <a:ext cx="8382000" cy="50919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>
                  <a:lnSpc>
                    <a:spcPct val="125000"/>
                  </a:lnSpc>
                </a:pPr>
                <a:r>
                  <a:rPr lang="zh-CN" altLang="zh-CN" sz="3000" b="1" dirty="0">
                    <a:latin typeface="+mn-ea"/>
                    <a:ea typeface="+mn-ea"/>
                  </a:rPr>
                  <a:t>例</a:t>
                </a:r>
                <a:r>
                  <a:rPr lang="zh-CN" altLang="en-US" sz="3000" b="1" dirty="0">
                    <a:latin typeface="+mn-ea"/>
                    <a:ea typeface="+mn-ea"/>
                  </a:rPr>
                  <a:t>子</a:t>
                </a:r>
                <a:r>
                  <a:rPr lang="en-US" altLang="zh-CN" sz="3000" b="1" dirty="0">
                    <a:latin typeface="+mn-ea"/>
                    <a:ea typeface="+mn-ea"/>
                  </a:rPr>
                  <a:t>3 </a:t>
                </a:r>
                <a:r>
                  <a:rPr lang="zh-CN" altLang="zh-CN" sz="3000" dirty="0">
                    <a:latin typeface="+mn-ea"/>
                    <a:ea typeface="+mn-ea"/>
                  </a:rPr>
                  <a:t>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zh-CN" sz="30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sup>
                    </m:sSup>
                  </m:oMath>
                </a14:m>
                <a:r>
                  <a:rPr lang="zh-CN" altLang="zh-CN" sz="30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zh-CN" altLang="zh-CN" sz="3000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0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</m:oMath>
                </a14:m>
                <a:r>
                  <a:rPr lang="zh-CN" altLang="zh-CN" sz="3000" dirty="0">
                    <a:latin typeface="+mn-ea"/>
                    <a:ea typeface="+mn-ea"/>
                  </a:rPr>
                  <a:t>都是可忽略的。但是，它们接近零的速度是不同的。下面计算什么样的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3000" dirty="0">
                    <a:latin typeface="+mn-ea"/>
                    <a:ea typeface="+mn-ea"/>
                  </a:rPr>
                  <a:t>值，会使得每一函数的值都小于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zh-CN" altLang="zh-CN" sz="3000" dirty="0">
                    <a:latin typeface="+mn-ea"/>
                    <a:ea typeface="+mn-ea"/>
                  </a:rPr>
                  <a:t>。</a:t>
                </a:r>
              </a:p>
              <a:p>
                <a:r>
                  <a:rPr lang="en-US" altLang="zh-CN" sz="3000" dirty="0"/>
                  <a:t>(1)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=1048576</m:t>
                    </m:r>
                  </m:oMath>
                </a14:m>
                <a:r>
                  <a:rPr lang="zh-CN" altLang="zh-CN" sz="3000" dirty="0"/>
                  <a:t>，因此对于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≥20</m:t>
                    </m:r>
                  </m:oMath>
                </a14:m>
                <a:r>
                  <a:rPr lang="zh-CN" altLang="zh-CN" sz="3000" dirty="0"/>
                  <a:t>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zh-CN" altLang="zh-CN" sz="3000" dirty="0"/>
                  <a:t>。</a:t>
                </a:r>
              </a:p>
              <a:p>
                <a:r>
                  <a:rPr lang="en-US" altLang="zh-CN" sz="3000" dirty="0"/>
                  <a:t>(2)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400</m:t>
                            </m:r>
                          </m:e>
                        </m:rad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=1048576</m:t>
                    </m:r>
                  </m:oMath>
                </a14:m>
                <a:r>
                  <a:rPr lang="zh-CN" altLang="zh-CN" sz="3000" dirty="0"/>
                  <a:t>，因此对于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≥400</m:t>
                    </m:r>
                  </m:oMath>
                </a14:m>
                <a:r>
                  <a:rPr lang="zh-CN" altLang="zh-CN" sz="3000" dirty="0"/>
                  <a:t>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zh-CN" altLang="zh-CN" sz="3000" dirty="0"/>
                  <a:t>。</a:t>
                </a:r>
              </a:p>
              <a:p>
                <a:r>
                  <a:rPr lang="en-US" altLang="zh-CN" sz="3000" dirty="0"/>
                  <a:t>(3)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32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=33554432</m:t>
                    </m:r>
                  </m:oMath>
                </a14:m>
                <a:r>
                  <a:rPr lang="zh-CN" altLang="zh-CN" sz="3000" dirty="0"/>
                  <a:t>，因此对于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≥32</m:t>
                    </m:r>
                  </m:oMath>
                </a14:m>
                <a:r>
                  <a:rPr lang="zh-CN" altLang="zh-CN" sz="3000" dirty="0"/>
                  <a:t>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zh-CN" altLang="zh-CN" sz="3000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0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zh-CN" altLang="zh-CN" sz="3000" dirty="0"/>
                  <a:t>。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360D890-3C3C-793C-C86B-322B42DF1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537447"/>
                <a:ext cx="8382000" cy="5091953"/>
              </a:xfrm>
              <a:prstGeom prst="rect">
                <a:avLst/>
              </a:prstGeom>
              <a:blipFill>
                <a:blip r:embed="rId2"/>
                <a:stretch>
                  <a:fillRect l="-167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334379D-706E-0D2C-E946-E1EE3CE6B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656" y="9613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1.3.1 </a:t>
            </a:r>
            <a:r>
              <a:rPr lang="zh-CN" altLang="en-US" sz="3200" kern="0" dirty="0">
                <a:latin typeface="+mn-lt"/>
                <a:ea typeface="+mn-ea"/>
              </a:rPr>
              <a:t>基于</a:t>
            </a:r>
            <a:r>
              <a:rPr lang="zh-CN" altLang="en-US" sz="3200" kern="0" dirty="0">
                <a:latin typeface="Times New Roman" pitchFamily="18" charset="0"/>
                <a:ea typeface="+mn-ea"/>
                <a:cs typeface="Times New Roman" pitchFamily="18" charset="0"/>
              </a:rPr>
              <a:t>计算复杂度安全的基本思想（续）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>
            <a:extLst>
              <a:ext uri="{FF2B5EF4-FFF2-40B4-BE49-F238E27FC236}">
                <a16:creationId xmlns:a16="http://schemas.microsoft.com/office/drawing/2014/main" id="{6C09F2BB-A3D7-3C4D-10E5-FE3E76A98C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8077200" cy="6096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1.3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计算复杂性理论在密码学中的应用（续）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D9268A-1F66-1798-F84D-94A0806A7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7924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endParaRPr lang="zh-CN" altLang="en-US" sz="3600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429568-8B87-AD63-B79D-C78351091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85800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1.3.1 </a:t>
            </a:r>
            <a:r>
              <a:rPr lang="zh-CN" altLang="en-US" sz="3200" kern="0" dirty="0">
                <a:latin typeface="+mn-lt"/>
                <a:ea typeface="+mn-ea"/>
              </a:rPr>
              <a:t>基于</a:t>
            </a:r>
            <a:r>
              <a:rPr lang="zh-CN" altLang="en-US" sz="3200" kern="0" dirty="0">
                <a:latin typeface="Times New Roman" pitchFamily="18" charset="0"/>
                <a:ea typeface="+mn-ea"/>
                <a:cs typeface="Times New Roman" pitchFamily="18" charset="0"/>
              </a:rPr>
              <a:t>计算复杂度安全的基本思想（续） 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7745600-B0C1-261E-5AE7-C1D4AF77E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61288"/>
            <a:ext cx="8534400" cy="569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900" b="1" dirty="0">
                <a:latin typeface="+mn-ea"/>
                <a:ea typeface="+mn-ea"/>
                <a:cs typeface="Times New Roman" pitchFamily="18" charset="0"/>
              </a:rPr>
              <a:t>定理</a:t>
            </a:r>
            <a:r>
              <a:rPr lang="en-US" altLang="zh-CN" sz="2900" b="1" dirty="0">
                <a:latin typeface="+mn-ea"/>
                <a:ea typeface="+mn-ea"/>
                <a:cs typeface="Times New Roman" pitchFamily="18" charset="0"/>
              </a:rPr>
              <a:t>10 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令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negl</a:t>
            </a:r>
            <a:r>
              <a:rPr lang="en-US" sz="2900" baseline="-250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和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negl</a:t>
            </a:r>
            <a:r>
              <a:rPr lang="en-US" sz="2900" baseline="-25000" dirty="0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为可忽略函数，则：</a:t>
            </a:r>
            <a:endParaRPr lang="en-US" sz="29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900" dirty="0">
                <a:latin typeface="+mn-ea"/>
                <a:ea typeface="+mn-ea"/>
                <a:cs typeface="Times New Roman" pitchFamily="18" charset="0"/>
              </a:rPr>
              <a:t>（</a:t>
            </a:r>
            <a:r>
              <a:rPr lang="en-US" altLang="zh-CN" sz="29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zh-CN" altLang="en-US" sz="2900" dirty="0">
                <a:latin typeface="+mn-ea"/>
                <a:ea typeface="+mn-ea"/>
                <a:cs typeface="Times New Roman" pitchFamily="18" charset="0"/>
              </a:rPr>
              <a:t>）如果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函数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negl</a:t>
            </a:r>
            <a:r>
              <a:rPr lang="en-US" sz="2900" baseline="-25000" dirty="0"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定义为</a:t>
            </a:r>
            <a:r>
              <a:rPr lang="en-US" sz="2900" i="1" dirty="0">
                <a:latin typeface="Times New Roman" pitchFamily="18" charset="0"/>
                <a:cs typeface="Times New Roman" pitchFamily="18" charset="0"/>
              </a:rPr>
              <a:t>negl</a:t>
            </a:r>
            <a:r>
              <a:rPr lang="en-US" sz="2900" baseline="-25000" dirty="0"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altLang="zh-CN" sz="29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=</a:t>
            </a:r>
            <a:r>
              <a:rPr lang="en-US" sz="2900" i="1" dirty="0">
                <a:latin typeface="Times New Roman" pitchFamily="18" charset="0"/>
                <a:cs typeface="Times New Roman" pitchFamily="18" charset="0"/>
              </a:rPr>
              <a:t>negl</a:t>
            </a:r>
            <a:r>
              <a:rPr lang="en-US" sz="29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9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9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+ </a:t>
            </a:r>
            <a:r>
              <a:rPr lang="en-US" sz="2900" i="1" dirty="0">
                <a:latin typeface="Times New Roman" pitchFamily="18" charset="0"/>
                <a:cs typeface="Times New Roman" pitchFamily="18" charset="0"/>
              </a:rPr>
              <a:t>negl</a:t>
            </a:r>
            <a:r>
              <a:rPr lang="en-US" sz="29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9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9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，则该函数也是可忽略的。</a:t>
            </a:r>
            <a:endParaRPr lang="en-US" sz="29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（</a:t>
            </a:r>
            <a:r>
              <a:rPr 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）对任何</a:t>
            </a:r>
            <a:r>
              <a:rPr lang="zh-CN" altLang="en-US" sz="2900" b="1" dirty="0">
                <a:latin typeface="Times New Roman" pitchFamily="18" charset="0"/>
                <a:ea typeface="+mn-ea"/>
                <a:cs typeface="Times New Roman" pitchFamily="18" charset="0"/>
              </a:rPr>
              <a:t>正多项式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p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，如果函数</a:t>
            </a:r>
            <a:r>
              <a:rPr lang="en-US" sz="2900" i="1" dirty="0">
                <a:latin typeface="Times New Roman" pitchFamily="18" charset="0"/>
                <a:cs typeface="Times New Roman" pitchFamily="18" charset="0"/>
              </a:rPr>
              <a:t>negl</a:t>
            </a:r>
            <a:r>
              <a:rPr lang="en-US" sz="29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900" dirty="0">
                <a:latin typeface="Times New Roman" pitchFamily="18" charset="0"/>
                <a:cs typeface="Times New Roman" pitchFamily="18" charset="0"/>
              </a:rPr>
              <a:t>定义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为</a:t>
            </a:r>
            <a:r>
              <a:rPr lang="en-US" sz="2900" i="1" dirty="0">
                <a:latin typeface="Times New Roman" pitchFamily="18" charset="0"/>
                <a:cs typeface="Times New Roman" pitchFamily="18" charset="0"/>
              </a:rPr>
              <a:t>negl</a:t>
            </a:r>
            <a:r>
              <a:rPr lang="en-US" altLang="zh-CN" sz="29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9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9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=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p</a:t>
            </a:r>
            <a:r>
              <a:rPr 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en-US" altLang="zh-CN" sz="2900" dirty="0">
                <a:latin typeface="Times New Roman" pitchFamily="18" charset="0"/>
                <a:ea typeface="+mn-ea"/>
                <a:cs typeface="Times New Roman" pitchFamily="18" charset="0"/>
              </a:rPr>
              <a:t>·</a:t>
            </a:r>
            <a:r>
              <a:rPr lang="en-US" sz="2900" i="1" dirty="0">
                <a:latin typeface="Times New Roman" pitchFamily="18" charset="0"/>
                <a:cs typeface="Times New Roman" pitchFamily="18" charset="0"/>
              </a:rPr>
              <a:t>negl</a:t>
            </a:r>
            <a:r>
              <a:rPr lang="en-US" sz="29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9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9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，则该函数</a:t>
            </a:r>
            <a:r>
              <a:rPr lang="zh-CN" altLang="en-US" sz="2900" dirty="0">
                <a:latin typeface="Times New Roman" pitchFamily="18" charset="0"/>
                <a:cs typeface="Times New Roman" pitchFamily="18" charset="0"/>
              </a:rPr>
              <a:t>也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是可忽略的。</a:t>
            </a:r>
            <a:endParaRPr lang="en-US" altLang="zh-CN" sz="29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endParaRPr lang="en-US" sz="29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900" b="1" dirty="0">
                <a:latin typeface="+mn-ea"/>
                <a:ea typeface="+mn-ea"/>
                <a:cs typeface="Times New Roman" pitchFamily="18" charset="0"/>
              </a:rPr>
              <a:t>定义</a:t>
            </a:r>
            <a:r>
              <a:rPr lang="en-US" altLang="zh-CN" sz="2900" b="1" dirty="0">
                <a:latin typeface="+mn-ea"/>
                <a:ea typeface="+mn-ea"/>
                <a:cs typeface="Times New Roman" pitchFamily="18" charset="0"/>
              </a:rPr>
              <a:t>8 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如果每个</a:t>
            </a:r>
            <a:r>
              <a:rPr lang="en-US" altLang="zh-CN" sz="2900" dirty="0">
                <a:latin typeface="Times New Roman" pitchFamily="18" charset="0"/>
                <a:ea typeface="+mn-ea"/>
                <a:cs typeface="Times New Roman" pitchFamily="18" charset="0"/>
              </a:rPr>
              <a:t>PPT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敌手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执行某个特定类型的攻击，对于</a:t>
            </a:r>
            <a:r>
              <a:rPr lang="zh-CN" altLang="en-US" sz="2900" b="1" dirty="0">
                <a:latin typeface="Times New Roman" pitchFamily="18" charset="0"/>
                <a:ea typeface="+mn-ea"/>
                <a:cs typeface="Times New Roman" pitchFamily="18" charset="0"/>
              </a:rPr>
              <a:t>每个多项式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p</a:t>
            </a:r>
            <a:r>
              <a:rPr 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sz="2900" dirty="0">
                <a:latin typeface="Times New Roman" pitchFamily="18" charset="0"/>
                <a:ea typeface="+mn-ea"/>
                <a:cs typeface="Times New Roman" pitchFamily="18" charset="0"/>
              </a:rPr>
              <a:t>·</a:t>
            </a:r>
            <a:r>
              <a:rPr 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，存在一个整数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，对于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&gt;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，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在这次攻击中成功的概率小于</a:t>
            </a:r>
            <a:r>
              <a:rPr 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1/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p</a:t>
            </a:r>
            <a:r>
              <a:rPr 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9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2900" dirty="0">
                <a:latin typeface="Times New Roman" pitchFamily="18" charset="0"/>
                <a:ea typeface="+mn-ea"/>
                <a:cs typeface="Times New Roman" pitchFamily="18" charset="0"/>
              </a:rPr>
              <a:t>，则认为该方案是安全的。</a:t>
            </a:r>
            <a:endParaRPr lang="en-US" sz="29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>
            <a:extLst>
              <a:ext uri="{FF2B5EF4-FFF2-40B4-BE49-F238E27FC236}">
                <a16:creationId xmlns:a16="http://schemas.microsoft.com/office/drawing/2014/main" id="{84D67F2C-C9DC-51AF-22C0-D158AB713E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52400"/>
            <a:ext cx="7620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1.3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954F8D-0D67-E154-C244-2D9D86903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534400" cy="569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 eaLnBrk="1" hangingPunct="1">
              <a:lnSpc>
                <a:spcPct val="125000"/>
              </a:lnSpc>
              <a:spcBef>
                <a:spcPct val="20000"/>
              </a:spcBef>
              <a:defRPr/>
            </a:pPr>
            <a:r>
              <a:rPr lang="zh-CN" altLang="en-US" sz="2600" kern="0" dirty="0">
                <a:latin typeface="Times New Roman" pitchFamily="18" charset="0"/>
                <a:ea typeface="+mn-ea"/>
                <a:cs typeface="Times New Roman" pitchFamily="18" charset="0"/>
              </a:rPr>
              <a:t>安全论证（约减）的具体方法：</a:t>
            </a:r>
            <a:endParaRPr lang="en-US" altLang="zh-CN" sz="2600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（</a:t>
            </a:r>
            <a:r>
              <a:rPr 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）假定某个</a:t>
            </a:r>
            <a:r>
              <a:rPr lang="en-US" altLang="zh-CN" sz="2600" dirty="0">
                <a:latin typeface="Times New Roman" pitchFamily="18" charset="0"/>
                <a:ea typeface="+mn-ea"/>
                <a:cs typeface="Times New Roman" pitchFamily="18" charset="0"/>
              </a:rPr>
              <a:t>PPT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敌手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攻击方案</a:t>
            </a:r>
            <a:r>
              <a:rPr 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Π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，将敌手的成功概率表示为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ε</a:t>
            </a:r>
            <a:r>
              <a:rPr 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。</a:t>
            </a:r>
            <a:endParaRPr lang="en-US" sz="26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（</a:t>
            </a:r>
            <a:r>
              <a:rPr 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）构造一个叫做“归约”的有效算法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6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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，该算法将敌手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作为子程序来使用，试图解决难题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。这里指定难题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的某个输入实例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，有效算法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600" dirty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将会对敌手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模拟出一个</a:t>
            </a:r>
            <a:r>
              <a:rPr 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Π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的实例，满足敌手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与</a:t>
            </a:r>
            <a:r>
              <a:rPr 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Π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交互。更准确地说，当敌手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作为子程序被有效算法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600" dirty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运行时，它的分布应该和当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自身与</a:t>
            </a:r>
            <a:r>
              <a:rPr 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Π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交互时的分布是相同的；如果敌手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成功攻破了由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600" dirty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模拟的</a:t>
            </a:r>
            <a:r>
              <a:rPr 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Π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的实例，则这将允许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600" dirty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解决给出的难题实例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，成功的概率至少为</a:t>
            </a:r>
            <a:r>
              <a:rPr lang="zh-CN" altLang="en-US" sz="2600" b="1" dirty="0">
                <a:latin typeface="Times New Roman" pitchFamily="18" charset="0"/>
                <a:ea typeface="+mn-ea"/>
                <a:cs typeface="Times New Roman" pitchFamily="18" charset="0"/>
              </a:rPr>
              <a:t>多项式的倒数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，即</a:t>
            </a:r>
            <a:r>
              <a:rPr 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1/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p</a:t>
            </a:r>
            <a:r>
              <a:rPr 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6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2600" dirty="0">
                <a:latin typeface="Times New Roman" pitchFamily="18" charset="0"/>
                <a:ea typeface="+mn-ea"/>
                <a:cs typeface="Times New Roman" pitchFamily="18" charset="0"/>
              </a:rPr>
              <a:t>。</a:t>
            </a:r>
            <a:endParaRPr lang="en-US" altLang="zh-CN" sz="2600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1" hangingPunct="1">
              <a:spcBef>
                <a:spcPct val="20000"/>
              </a:spcBef>
              <a:defRPr/>
            </a:pPr>
            <a:endParaRPr lang="zh-CN" altLang="en-US" sz="2800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E17DB6-2067-28B5-38C6-3225665F3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85800"/>
            <a:ext cx="6858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1.3.2</a:t>
            </a:r>
            <a:r>
              <a:rPr lang="zh-CN" altLang="en-US" sz="3200" kern="0" dirty="0">
                <a:latin typeface="+mn-lt"/>
                <a:ea typeface="+mn-ea"/>
              </a:rPr>
              <a:t>基于计算安全的加密方案</a:t>
            </a:r>
            <a:endParaRPr lang="en-US" altLang="zh-CN" sz="3200" kern="0" dirty="0">
              <a:latin typeface="+mn-lt"/>
              <a:ea typeface="+mn-ea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endParaRPr lang="zh-CN" altLang="en-US" sz="3200" kern="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>
            <a:extLst>
              <a:ext uri="{FF2B5EF4-FFF2-40B4-BE49-F238E27FC236}">
                <a16:creationId xmlns:a16="http://schemas.microsoft.com/office/drawing/2014/main" id="{4EE2B4A5-C8D8-9B1E-058D-AB2CE97364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7620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1.3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212D34-C2A6-6AF1-B6AD-42441625B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3820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（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）如果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ε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altLang="zh-CN" sz="32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不是可忽略的，则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/>
              </a:rPr>
              <a:t>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解决难题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的概率为不可忽略的概率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/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p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。这与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是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难题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的假设矛盾。</a:t>
            </a:r>
            <a:endParaRPr lang="en-US" sz="32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（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4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）因而结论是，给定一个关于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是难题的假设，不存在</a:t>
            </a:r>
            <a:r>
              <a:rPr lang="en-US" altLang="zh-CN" sz="3200" dirty="0">
                <a:latin typeface="Times New Roman" pitchFamily="18" charset="0"/>
                <a:ea typeface="+mn-ea"/>
                <a:cs typeface="Times New Roman" pitchFamily="18" charset="0"/>
              </a:rPr>
              <a:t>PPT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的敌手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能够以不可忽略的概率成功攻破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Π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，即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Π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是计算上安全的。</a:t>
            </a:r>
            <a:endParaRPr lang="en-US" sz="32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987FAB-0BDA-58B5-CB78-D2EA60D20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838200"/>
            <a:ext cx="8839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1.3.2</a:t>
            </a:r>
            <a:r>
              <a:rPr lang="zh-CN" altLang="en-US" sz="3200" kern="0" dirty="0">
                <a:latin typeface="+mn-lt"/>
                <a:ea typeface="+mn-ea"/>
              </a:rPr>
              <a:t>基于计算安全的加密方案</a:t>
            </a:r>
            <a:r>
              <a:rPr lang="en-US" altLang="zh-CN" sz="3200" kern="0" dirty="0">
                <a:latin typeface="+mn-lt"/>
                <a:ea typeface="+mn-ea"/>
              </a:rPr>
              <a:t>(</a:t>
            </a:r>
            <a:r>
              <a:rPr lang="zh-CN" altLang="en-US" sz="3200" kern="0" dirty="0">
                <a:latin typeface="+mn-lt"/>
                <a:ea typeface="+mn-ea"/>
              </a:rPr>
              <a:t>续</a:t>
            </a:r>
            <a:r>
              <a:rPr lang="en-US" altLang="zh-CN" sz="3200" kern="0" dirty="0">
                <a:latin typeface="+mn-lt"/>
                <a:ea typeface="+mn-ea"/>
              </a:rPr>
              <a:t>)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endParaRPr lang="zh-CN" altLang="en-US" sz="3200" kern="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>
            <a:extLst>
              <a:ext uri="{FF2B5EF4-FFF2-40B4-BE49-F238E27FC236}">
                <a16:creationId xmlns:a16="http://schemas.microsoft.com/office/drawing/2014/main" id="{68345EC6-AB32-A5F6-A33A-E99BF30842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78486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1.3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78BDC-69E4-C97D-7C63-DC435B0AC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984" y="1360932"/>
            <a:ext cx="8458200" cy="5268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100" b="1" dirty="0">
                <a:latin typeface="Times New Roman" pitchFamily="18" charset="0"/>
                <a:ea typeface="+mn-ea"/>
                <a:cs typeface="Times New Roman" pitchFamily="18" charset="0"/>
              </a:rPr>
              <a:t>定义</a:t>
            </a:r>
            <a:r>
              <a:rPr lang="en-US" sz="3100" b="1" dirty="0">
                <a:latin typeface="+mn-ea"/>
                <a:ea typeface="+mn-ea"/>
                <a:cs typeface="Times New Roman" pitchFamily="18" charset="0"/>
              </a:rPr>
              <a:t>9</a:t>
            </a:r>
            <a:r>
              <a:rPr lang="en-US" sz="3100" b="1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一个对称密钥加密方案是</a:t>
            </a:r>
            <a:r>
              <a:rPr lang="en-US" altLang="zh-CN" sz="3100" dirty="0">
                <a:latin typeface="Times New Roman" pitchFamily="18" charset="0"/>
                <a:ea typeface="+mn-ea"/>
                <a:cs typeface="Times New Roman" pitchFamily="18" charset="0"/>
              </a:rPr>
              <a:t>PPT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算法</a:t>
            </a:r>
            <a:r>
              <a:rPr lang="en-US" altLang="zh-CN" sz="31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Gen, Enc, Dec)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的三元组。</a:t>
            </a:r>
            <a:endParaRPr lang="en-US" sz="31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（</a:t>
            </a:r>
            <a:r>
              <a:rPr 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）密钥生成算法</a:t>
            </a:r>
            <a:r>
              <a:rPr 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Gen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的输入为安全参数</a:t>
            </a:r>
            <a:r>
              <a:rPr 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en-US" sz="3100" i="1" baseline="30000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，输出为密钥</a:t>
            </a:r>
            <a:r>
              <a:rPr lang="en-US" sz="3100" i="1" dirty="0"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：记为</a:t>
            </a:r>
            <a:r>
              <a:rPr lang="en-US" sz="3100" i="1" dirty="0"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←</a:t>
            </a:r>
            <a:r>
              <a:rPr 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Gen(</a:t>
            </a: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100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31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（</a:t>
            </a:r>
            <a:r>
              <a:rPr 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Gen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是一个随机算法）。不失一般，假设任何由</a:t>
            </a: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Gen(1</a:t>
            </a:r>
            <a:r>
              <a:rPr lang="en-US" sz="3100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31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输出的密钥</a:t>
            </a:r>
            <a:r>
              <a:rPr lang="en-US" sz="3100" i="1" dirty="0"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，都满足</a:t>
            </a:r>
            <a:r>
              <a:rPr lang="en-US" altLang="zh-CN" sz="3100" dirty="0">
                <a:latin typeface="Times New Roman" pitchFamily="18" charset="0"/>
                <a:ea typeface="+mn-ea"/>
                <a:cs typeface="Times New Roman" pitchFamily="18" charset="0"/>
              </a:rPr>
              <a:t>|</a:t>
            </a:r>
            <a:r>
              <a:rPr lang="en-US" sz="3100" i="1" dirty="0"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|≥</a:t>
            </a:r>
            <a:r>
              <a:rPr lang="en-US" sz="31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。</a:t>
            </a:r>
            <a:endParaRPr lang="en-US" sz="31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（</a:t>
            </a:r>
            <a:r>
              <a:rPr 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）加密算法</a:t>
            </a:r>
            <a:r>
              <a:rPr 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Enc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将密钥</a:t>
            </a:r>
            <a:r>
              <a:rPr lang="en-US" sz="3100" i="1" dirty="0"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和明文消息</a:t>
            </a:r>
            <a:r>
              <a:rPr lang="en-US" sz="3100" i="1" dirty="0"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en-US" sz="31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</a:t>
            </a:r>
            <a:r>
              <a:rPr 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{0</a:t>
            </a:r>
            <a:r>
              <a:rPr lang="en-US" altLang="zh-CN" sz="3100" dirty="0"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1}</a:t>
            </a:r>
            <a:r>
              <a:rPr lang="en-US" altLang="zh-CN" sz="3100" baseline="30000" dirty="0">
                <a:latin typeface="Times New Roman" pitchFamily="18" charset="0"/>
                <a:ea typeface="+mn-ea"/>
                <a:cs typeface="Times New Roman" pitchFamily="18" charset="0"/>
              </a:rPr>
              <a:t>*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作为输入，并且输出一个密文</a:t>
            </a:r>
            <a:r>
              <a:rPr lang="en-US" sz="3100" i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。因为</a:t>
            </a:r>
            <a:r>
              <a:rPr 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Enc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可能是随机化的算法，可记为</a:t>
            </a:r>
            <a:r>
              <a:rPr lang="en-US" sz="3100" i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← </a:t>
            </a:r>
            <a:r>
              <a:rPr lang="en-US" sz="3100" dirty="0" err="1">
                <a:latin typeface="Times New Roman" pitchFamily="18" charset="0"/>
                <a:ea typeface="+mn-ea"/>
                <a:cs typeface="Times New Roman" pitchFamily="18" charset="0"/>
              </a:rPr>
              <a:t>Enc</a:t>
            </a:r>
            <a:r>
              <a:rPr lang="en-US" sz="3100" i="1" baseline="-25000" dirty="0" err="1"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en-US" altLang="zh-CN" sz="31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3100" i="1" dirty="0"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en-US" altLang="zh-CN" sz="31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3100" dirty="0">
                <a:latin typeface="Times New Roman" pitchFamily="18" charset="0"/>
                <a:ea typeface="+mn-ea"/>
                <a:cs typeface="Times New Roman" pitchFamily="18" charset="0"/>
              </a:rPr>
              <a:t>。</a:t>
            </a:r>
            <a:endParaRPr lang="en-US" sz="31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FC0FEB-9791-AC4B-7A80-FD79A75AA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7772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1.3.2</a:t>
            </a:r>
            <a:r>
              <a:rPr lang="zh-CN" altLang="en-US" sz="3200" kern="0" dirty="0">
                <a:latin typeface="+mn-lt"/>
                <a:ea typeface="+mn-ea"/>
              </a:rPr>
              <a:t>基于计算安全的加密方案</a:t>
            </a:r>
            <a:r>
              <a:rPr lang="en-US" altLang="zh-CN" sz="3200" kern="0" dirty="0">
                <a:latin typeface="+mn-lt"/>
                <a:ea typeface="+mn-ea"/>
              </a:rPr>
              <a:t>(</a:t>
            </a:r>
            <a:r>
              <a:rPr lang="zh-CN" altLang="en-US" sz="3200" kern="0" dirty="0">
                <a:latin typeface="+mn-lt"/>
                <a:ea typeface="+mn-ea"/>
              </a:rPr>
              <a:t>续</a:t>
            </a:r>
            <a:r>
              <a:rPr lang="en-US" altLang="zh-CN" sz="3200" kern="0" dirty="0">
                <a:latin typeface="+mn-lt"/>
                <a:ea typeface="+mn-ea"/>
              </a:rPr>
              <a:t>)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endParaRPr lang="zh-CN" altLang="en-US" sz="3200" kern="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>
            <a:extLst>
              <a:ext uri="{FF2B5EF4-FFF2-40B4-BE49-F238E27FC236}">
                <a16:creationId xmlns:a16="http://schemas.microsoft.com/office/drawing/2014/main" id="{A94211A1-CE66-8C7D-500B-81E5B99A59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228600"/>
            <a:ext cx="8001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1.3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1DD398-E450-8870-08B0-62C24668C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定义</a:t>
            </a:r>
            <a:r>
              <a:rPr lang="en-US" altLang="zh-CN" sz="3200" b="1" dirty="0">
                <a:latin typeface="+mn-ea"/>
                <a:ea typeface="+mn-ea"/>
                <a:cs typeface="Times New Roman" pitchFamily="18" charset="0"/>
              </a:rPr>
              <a:t>9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（续）</a:t>
            </a:r>
            <a:endParaRPr lang="en-US" altLang="zh-CN" sz="32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（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）解密算法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Dec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将密钥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和密文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作为输入，输出消息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。假设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Dec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是确定性的，可记为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m:=Dec</a:t>
            </a:r>
            <a:r>
              <a:rPr lang="en-US" sz="3200" i="1" baseline="-25000" dirty="0"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r>
              <a:rPr lang="en-US" altLang="zh-CN" sz="32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。</a:t>
            </a:r>
            <a:endParaRPr lang="en-US" sz="32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如果方案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Gen, Enc, Dec)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满足：对每个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、由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Gen(1</a:t>
            </a:r>
            <a:r>
              <a:rPr lang="en-US" sz="3200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输出的密钥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，算法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Dec</a:t>
            </a:r>
            <a:r>
              <a:rPr lang="en-US" sz="3200" i="1" baseline="-25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只对消息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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{0, 1}</a:t>
            </a:r>
            <a:r>
              <a:rPr lang="en-US" sz="3200" i="1" baseline="30000" dirty="0"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r>
              <a:rPr lang="en-US" sz="3200" baseline="300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3200" i="1" baseline="30000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sz="3200" baseline="300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有定义，则可以说</a:t>
            </a:r>
            <a:r>
              <a:rPr lang="en-US" altLang="zh-CN" sz="32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Gen</a:t>
            </a:r>
            <a:r>
              <a:rPr lang="en-US" altLang="zh-CN" sz="3200" dirty="0"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Enc</a:t>
            </a:r>
            <a:r>
              <a:rPr lang="en-US" altLang="zh-CN" sz="3200" dirty="0"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Dec</a:t>
            </a:r>
            <a:r>
              <a:rPr lang="en-US" altLang="zh-CN" sz="32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是一个消息长度为定长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的对称密钥加密方案</a:t>
            </a:r>
            <a:r>
              <a:rPr lang="zh-CN" altLang="en-US" sz="3200" dirty="0">
                <a:latin typeface="Arial" charset="0"/>
              </a:rPr>
              <a:t>。</a:t>
            </a:r>
            <a:endParaRPr lang="en-US" sz="3200" dirty="0">
              <a:latin typeface="Arial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060343-102F-0BA2-68EB-08B30441E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838200"/>
            <a:ext cx="678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1.3.2</a:t>
            </a:r>
            <a:r>
              <a:rPr lang="zh-CN" altLang="en-US" sz="3200" kern="0" dirty="0">
                <a:latin typeface="+mn-lt"/>
                <a:ea typeface="+mn-ea"/>
              </a:rPr>
              <a:t>基于计算安全的加密方案</a:t>
            </a:r>
            <a:r>
              <a:rPr lang="en-US" altLang="zh-CN" sz="3200" kern="0" dirty="0">
                <a:latin typeface="+mn-lt"/>
                <a:ea typeface="+mn-ea"/>
              </a:rPr>
              <a:t>(</a:t>
            </a:r>
            <a:r>
              <a:rPr lang="zh-CN" altLang="en-US" sz="3200" kern="0" dirty="0">
                <a:latin typeface="+mn-lt"/>
                <a:ea typeface="+mn-ea"/>
              </a:rPr>
              <a:t>续</a:t>
            </a:r>
            <a:r>
              <a:rPr lang="en-US" altLang="zh-CN" sz="3200" kern="0" dirty="0">
                <a:latin typeface="+mn-lt"/>
                <a:ea typeface="+mn-ea"/>
              </a:rPr>
              <a:t>)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endParaRPr lang="zh-CN" altLang="en-US" sz="3200" kern="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>
            <a:extLst>
              <a:ext uri="{FF2B5EF4-FFF2-40B4-BE49-F238E27FC236}">
                <a16:creationId xmlns:a16="http://schemas.microsoft.com/office/drawing/2014/main" id="{8BD650E8-E0EE-9CF1-3815-B6A78412E6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78486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1.3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2B261F-84AE-8C0E-1346-37DBF3718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12727"/>
            <a:ext cx="7315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1.3.2</a:t>
            </a:r>
            <a:r>
              <a:rPr lang="zh-CN" altLang="en-US" sz="3200" kern="0" dirty="0">
                <a:latin typeface="+mn-lt"/>
                <a:ea typeface="+mn-ea"/>
              </a:rPr>
              <a:t>基于计算安全的加密方案</a:t>
            </a:r>
            <a:r>
              <a:rPr lang="en-US" altLang="zh-CN" sz="3200" kern="0" dirty="0">
                <a:latin typeface="+mn-lt"/>
                <a:ea typeface="+mn-ea"/>
              </a:rPr>
              <a:t>(</a:t>
            </a:r>
            <a:r>
              <a:rPr lang="zh-CN" altLang="en-US" sz="3200" kern="0" dirty="0">
                <a:latin typeface="+mn-lt"/>
                <a:ea typeface="+mn-ea"/>
              </a:rPr>
              <a:t>续</a:t>
            </a:r>
            <a:r>
              <a:rPr lang="en-US" altLang="zh-CN" sz="3200" kern="0" dirty="0">
                <a:latin typeface="+mn-lt"/>
                <a:ea typeface="+mn-ea"/>
              </a:rPr>
              <a:t>)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endParaRPr lang="zh-CN" altLang="en-US" sz="3200" kern="0" dirty="0">
              <a:latin typeface="+mn-lt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9352F0-84F2-2875-D4A0-8842FD8F0D9B}"/>
                  </a:ext>
                </a:extLst>
              </p:cNvPr>
              <p:cNvSpPr txBox="1"/>
              <p:nvPr/>
            </p:nvSpPr>
            <p:spPr>
              <a:xfrm>
                <a:off x="298704" y="1175518"/>
                <a:ext cx="8534400" cy="5542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zh-CN" altLang="zh-CN" sz="3000" dirty="0"/>
                  <a:t>窃听不可区分实验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Priv</m:t>
                    </m:r>
                    <m:sSubSup>
                      <m:sSub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eav</m:t>
                        </m:r>
                      </m:sup>
                    </m:sSubSup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zh-CN" sz="3000" dirty="0"/>
                  <a:t>：</a:t>
                </a:r>
              </a:p>
              <a:p>
                <a:pPr>
                  <a:lnSpc>
                    <a:spcPct val="114000"/>
                  </a:lnSpc>
                </a:pPr>
                <a:r>
                  <a:rPr lang="zh-CN" altLang="zh-CN" sz="3000" dirty="0"/>
                  <a:t>（</a:t>
                </a:r>
                <a:r>
                  <a:rPr lang="en-US" altLang="zh-CN" sz="3000" dirty="0"/>
                  <a:t>1</a:t>
                </a:r>
                <a:r>
                  <a:rPr lang="zh-CN" altLang="zh-CN" sz="3000" dirty="0"/>
                  <a:t>）输入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zh-CN" sz="3000" dirty="0"/>
                  <a:t>给敌手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zh-CN" sz="30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zh-CN" sz="3000" dirty="0"/>
                  <a:t>输出一对长度相等的消息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zh-CN" sz="300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3000" dirty="0"/>
                  <a:t>。</a:t>
                </a:r>
              </a:p>
              <a:p>
                <a:pPr>
                  <a:lnSpc>
                    <a:spcPct val="125000"/>
                  </a:lnSpc>
                </a:pPr>
                <a:r>
                  <a:rPr lang="zh-CN" altLang="zh-CN" sz="3000" dirty="0"/>
                  <a:t>（</a:t>
                </a:r>
                <a:r>
                  <a:rPr lang="en-US" altLang="zh-CN" sz="3000" dirty="0"/>
                  <a:t>2</a:t>
                </a:r>
                <a:r>
                  <a:rPr lang="zh-CN" altLang="zh-CN" sz="3000" dirty="0"/>
                  <a:t>）运行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3000" dirty="0"/>
                  <a:t>生成一个密钥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sz="3000" dirty="0"/>
                  <a:t>，选择一个随机比特数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zh-CN" sz="30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←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zh-CN" sz="3000" dirty="0"/>
                  <a:t>。</a:t>
                </a:r>
                <a:r>
                  <a:rPr lang="zh-CN" altLang="en-US" sz="3000" dirty="0"/>
                  <a:t>计算</a:t>
                </a:r>
                <a:r>
                  <a:rPr lang="zh-CN" altLang="zh-CN" sz="3000" dirty="0"/>
                  <a:t>一个密文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3000" dirty="0"/>
                  <a:t>并且给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zh-CN" sz="3000" dirty="0"/>
                  <a:t>。</a:t>
                </a:r>
                <a:r>
                  <a:rPr lang="zh-CN" altLang="en-US" sz="3000" dirty="0"/>
                  <a:t>这里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zh-CN" sz="3000" dirty="0"/>
                  <a:t>叫做挑战密文。</a:t>
                </a:r>
              </a:p>
              <a:p>
                <a:pPr>
                  <a:lnSpc>
                    <a:spcPct val="114000"/>
                  </a:lnSpc>
                </a:pPr>
                <a:r>
                  <a:rPr lang="zh-CN" altLang="zh-CN" sz="3000" dirty="0"/>
                  <a:t>（</a:t>
                </a:r>
                <a:r>
                  <a:rPr lang="en-US" altLang="zh-CN" sz="3000" dirty="0"/>
                  <a:t>3</a:t>
                </a:r>
                <a:r>
                  <a:rPr lang="zh-CN" altLang="zh-CN" sz="3000" dirty="0"/>
                  <a:t>）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zh-CN" sz="3000" dirty="0"/>
                  <a:t>输出一个比特数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zh-CN" sz="3000" dirty="0"/>
                  <a:t>。</a:t>
                </a:r>
              </a:p>
              <a:p>
                <a:pPr>
                  <a:lnSpc>
                    <a:spcPct val="114000"/>
                  </a:lnSpc>
                </a:pPr>
                <a:r>
                  <a:rPr lang="zh-CN" altLang="zh-CN" sz="3000" dirty="0"/>
                  <a:t>（</a:t>
                </a:r>
                <a:r>
                  <a:rPr lang="en-US" altLang="zh-CN" sz="3000" dirty="0"/>
                  <a:t>4</a:t>
                </a:r>
                <a:r>
                  <a:rPr lang="zh-CN" altLang="zh-CN" sz="3000" dirty="0"/>
                  <a:t>）该实验的输出被定义为：</a:t>
                </a:r>
                <a:r>
                  <a:rPr lang="zh-CN" altLang="en-US" sz="3000" dirty="0"/>
                  <a:t>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000" dirty="0"/>
                  <a:t>，输出</a:t>
                </a:r>
                <a:r>
                  <a:rPr lang="zh-CN" altLang="zh-CN" sz="3000" dirty="0"/>
                  <a:t>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sz="3000" dirty="0"/>
                  <a:t>；否则为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zh-CN" sz="3000" dirty="0"/>
                  <a:t>。</a:t>
                </a:r>
                <a:endParaRPr lang="en-US" altLang="zh-CN" sz="3000" dirty="0"/>
              </a:p>
              <a:p>
                <a:pPr>
                  <a:lnSpc>
                    <a:spcPct val="114000"/>
                  </a:lnSpc>
                </a:pPr>
                <a:r>
                  <a:rPr lang="zh-CN" altLang="zh-CN" sz="3000" dirty="0"/>
                  <a:t>如果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Priv</m:t>
                    </m:r>
                    <m:sSubSup>
                      <m:sSub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eav</m:t>
                        </m:r>
                      </m:sup>
                    </m:sSubSup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sz="3000" dirty="0"/>
                  <a:t>，则称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zh-CN" sz="3000" dirty="0"/>
                  <a:t>成功。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9352F0-84F2-2875-D4A0-8842FD8F0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04" y="1175518"/>
                <a:ext cx="8534400" cy="5542223"/>
              </a:xfrm>
              <a:prstGeom prst="rect">
                <a:avLst/>
              </a:prstGeom>
              <a:blipFill>
                <a:blip r:embed="rId2"/>
                <a:stretch>
                  <a:fillRect l="-1643" t="-1210" r="-1571" b="-1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>
            <a:extLst>
              <a:ext uri="{FF2B5EF4-FFF2-40B4-BE49-F238E27FC236}">
                <a16:creationId xmlns:a16="http://schemas.microsoft.com/office/drawing/2014/main" id="{86C113FA-D918-6A9F-BC23-BB98EC584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8001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1.3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82F247B-714B-D301-36E9-53089BFCB8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1351546"/>
                <a:ext cx="8229600" cy="52778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 eaLnBrk="1" hangingPunct="1">
                  <a:lnSpc>
                    <a:spcPct val="125000"/>
                  </a:lnSpc>
                  <a:defRPr/>
                </a:pPr>
                <a:r>
                  <a:rPr lang="zh-CN" altLang="en-US" sz="3200" b="1" dirty="0">
                    <a:latin typeface="+mn-ea"/>
                    <a:ea typeface="+mn-ea"/>
                    <a:cs typeface="Times New Roman" pitchFamily="18" charset="0"/>
                  </a:rPr>
                  <a:t>定义</a:t>
                </a:r>
                <a:r>
                  <a:rPr lang="en-US" altLang="zh-CN" sz="3200" b="1" dirty="0">
                    <a:latin typeface="+mn-ea"/>
                    <a:ea typeface="+mn-ea"/>
                    <a:cs typeface="Times New Roman" pitchFamily="18" charset="0"/>
                  </a:rPr>
                  <a:t>10</a:t>
                </a:r>
                <a:r>
                  <a:rPr lang="en-US" sz="3200" b="1" dirty="0">
                    <a:latin typeface="+mn-ea"/>
                    <a:ea typeface="+mn-ea"/>
                    <a:cs typeface="Times New Roman" pitchFamily="18" charset="0"/>
                  </a:rPr>
                  <a:t> </a:t>
                </a:r>
                <a:r>
                  <a:rPr lang="zh-CN" altLang="en-US" sz="3200" dirty="0">
                    <a:latin typeface="+mn-ea"/>
                    <a:ea typeface="+mn-ea"/>
                    <a:cs typeface="Times New Roman" pitchFamily="18" charset="0"/>
                  </a:rPr>
                  <a:t>如</a:t>
                </a:r>
                <a:r>
                  <a:rPr lang="zh-CN" altLang="en-US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果对于</a:t>
                </a:r>
                <a:r>
                  <a:rPr lang="zh-CN" altLang="en-US" sz="3200" b="1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所有的</a:t>
                </a:r>
                <a:r>
                  <a:rPr lang="en-US" altLang="zh-CN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PPT</a:t>
                </a:r>
                <a:r>
                  <a:rPr lang="zh-CN" altLang="en-US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敌手</a:t>
                </a:r>
                <a:r>
                  <a:rPr lang="en-US" sz="3200" i="1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A</a:t>
                </a:r>
                <a:r>
                  <a:rPr lang="zh-CN" altLang="en-US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，存在一个可忽略函数</a:t>
                </a:r>
                <a:r>
                  <a:rPr lang="en-US" sz="3200" i="1" dirty="0" err="1">
                    <a:latin typeface="Times New Roman" pitchFamily="18" charset="0"/>
                    <a:ea typeface="+mn-ea"/>
                    <a:cs typeface="Times New Roman" pitchFamily="18" charset="0"/>
                  </a:rPr>
                  <a:t>negl</a:t>
                </a:r>
                <a:r>
                  <a:rPr lang="zh-CN" altLang="en-US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使得</a:t>
                </a:r>
                <a:endParaRPr lang="en-US" sz="3200" dirty="0">
                  <a:latin typeface="Times New Roman" pitchFamily="18" charset="0"/>
                  <a:ea typeface="+mn-ea"/>
                  <a:cs typeface="Times New Roman" pitchFamily="18" charset="0"/>
                </a:endParaRPr>
              </a:p>
              <a:p>
                <a:pPr algn="just" eaLnBrk="1" hangingPunct="1">
                  <a:lnSpc>
                    <a:spcPct val="125000"/>
                  </a:lnSpc>
                  <a:defRPr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zh-CN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Priv</m:t>
                            </m:r>
                            <m:sSubSup>
                              <m:sSubSupPr>
                                <m:ctrlPr>
                                  <a:rPr lang="zh-CN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20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320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3200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3200">
                                    <a:latin typeface="Cambria Math" panose="02040503050406030204" pitchFamily="18" charset="0"/>
                                  </a:rPr>
                                  <m:t>eav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zh-CN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  <m:r>
                      <a:rPr lang="en-US" altLang="zh-CN" sz="320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2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𝑛𝑒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3200" dirty="0"/>
                  <a:t>，</a:t>
                </a:r>
                <a:endParaRPr lang="en-US" sz="3200" dirty="0">
                  <a:latin typeface="Times New Roman" pitchFamily="18" charset="0"/>
                  <a:ea typeface="+mn-ea"/>
                  <a:cs typeface="Times New Roman" pitchFamily="18" charset="0"/>
                </a:endParaRPr>
              </a:p>
              <a:p>
                <a:pPr algn="just" eaLnBrk="1" hangingPunct="1">
                  <a:lnSpc>
                    <a:spcPct val="125000"/>
                  </a:lnSpc>
                  <a:defRPr/>
                </a:pPr>
                <a:r>
                  <a:rPr lang="zh-CN" altLang="en-US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则一个对称密钥加密方案</a:t>
                </a:r>
                <a:r>
                  <a:rPr lang="en-US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Π=</a:t>
                </a:r>
                <a:r>
                  <a:rPr lang="en-US" altLang="zh-CN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(</a:t>
                </a:r>
                <a:r>
                  <a:rPr lang="en-US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Gen</a:t>
                </a:r>
                <a:r>
                  <a:rPr lang="en-US" altLang="zh-CN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, </a:t>
                </a:r>
                <a:r>
                  <a:rPr lang="en-US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Enc</a:t>
                </a:r>
                <a:r>
                  <a:rPr lang="en-US" altLang="zh-CN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, </a:t>
                </a:r>
                <a:r>
                  <a:rPr lang="en-US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Dec</a:t>
                </a:r>
                <a:r>
                  <a:rPr lang="en-US" altLang="zh-CN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)</a:t>
                </a:r>
                <a:r>
                  <a:rPr lang="zh-CN" altLang="en-US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具有选择明文不可区分性。其中</a:t>
                </a:r>
                <a:r>
                  <a:rPr lang="en-US" altLang="zh-CN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Pr</a:t>
                </a:r>
                <a:r>
                  <a:rPr lang="zh-CN" altLang="en-US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是概率符号，而概率的来源是</a:t>
                </a:r>
                <a:r>
                  <a:rPr lang="en-US" sz="3200" i="1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A</a:t>
                </a:r>
                <a:r>
                  <a:rPr lang="zh-CN" altLang="en-US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的随机性及实验的随机性（选择密钥、随机比特数</a:t>
                </a:r>
                <a:r>
                  <a:rPr lang="en-US" sz="3200" i="1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b</a:t>
                </a:r>
                <a:r>
                  <a:rPr lang="zh-CN" altLang="en-US" sz="3200" dirty="0">
                    <a:latin typeface="Times New Roman" pitchFamily="18" charset="0"/>
                    <a:ea typeface="+mn-ea"/>
                    <a:cs typeface="Times New Roman" pitchFamily="18" charset="0"/>
                  </a:rPr>
                  <a:t>，以及在加密过程中引入的任何随机性）。</a:t>
                </a:r>
                <a:endParaRPr lang="en-US" sz="3200" dirty="0">
                  <a:latin typeface="Times New Roman" pitchFamily="18" charset="0"/>
                  <a:ea typeface="+mn-ea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82F247B-714B-D301-36E9-53089BFCB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1351546"/>
                <a:ext cx="8229600" cy="5277853"/>
              </a:xfrm>
              <a:prstGeom prst="rect">
                <a:avLst/>
              </a:prstGeom>
              <a:blipFill>
                <a:blip r:embed="rId2"/>
                <a:stretch>
                  <a:fillRect l="-1926" t="-809" r="-6741" b="-115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026D3959-1172-A9F4-92F7-8EA5BCCD0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838200"/>
            <a:ext cx="8839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1.3.2</a:t>
            </a:r>
            <a:r>
              <a:rPr lang="zh-CN" altLang="en-US" sz="3200" kern="0" dirty="0">
                <a:latin typeface="+mn-lt"/>
                <a:ea typeface="+mn-ea"/>
              </a:rPr>
              <a:t>基于计算安全的加密方案</a:t>
            </a:r>
            <a:r>
              <a:rPr lang="en-US" altLang="zh-CN" sz="3200" kern="0" dirty="0">
                <a:latin typeface="+mn-lt"/>
                <a:ea typeface="+mn-ea"/>
              </a:rPr>
              <a:t>(</a:t>
            </a:r>
            <a:r>
              <a:rPr lang="zh-CN" altLang="en-US" sz="3200" kern="0" dirty="0">
                <a:latin typeface="+mn-lt"/>
                <a:ea typeface="+mn-ea"/>
              </a:rPr>
              <a:t>续</a:t>
            </a:r>
            <a:r>
              <a:rPr lang="en-US" altLang="zh-CN" sz="3200" kern="0" dirty="0">
                <a:latin typeface="+mn-lt"/>
                <a:ea typeface="+mn-ea"/>
              </a:rPr>
              <a:t>)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endParaRPr lang="zh-CN" altLang="en-US" sz="3200" kern="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>
            <a:extLst>
              <a:ext uri="{FF2B5EF4-FFF2-40B4-BE49-F238E27FC236}">
                <a16:creationId xmlns:a16="http://schemas.microsoft.com/office/drawing/2014/main" id="{1426724A-05F3-0C1B-DB99-587816F30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228600"/>
            <a:ext cx="7620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1.3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EF2669-0F30-602F-3B04-54C6EE320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32" y="1143000"/>
            <a:ext cx="8811768" cy="582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700" b="1" dirty="0">
                <a:latin typeface="+mn-ea"/>
                <a:ea typeface="+mn-ea"/>
                <a:cs typeface="Times New Roman" pitchFamily="18" charset="0"/>
              </a:rPr>
              <a:t>定义</a:t>
            </a:r>
            <a:r>
              <a:rPr lang="en-US" altLang="zh-CN" sz="2700" b="1" dirty="0">
                <a:latin typeface="+mn-ea"/>
                <a:ea typeface="+mn-ea"/>
                <a:cs typeface="Times New Roman" pitchFamily="18" charset="0"/>
              </a:rPr>
              <a:t>11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（伪随机发生器）令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sz="2700" dirty="0">
                <a:latin typeface="Times New Roman" pitchFamily="18" charset="0"/>
                <a:ea typeface="+mn-ea"/>
                <a:cs typeface="Times New Roman" pitchFamily="18" charset="0"/>
              </a:rPr>
              <a:t>·)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为多项式，令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为确定多项式时间算法。</a:t>
            </a:r>
            <a:r>
              <a:rPr lang="en-US" sz="2700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满足对任意输入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s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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{0</a:t>
            </a:r>
            <a:r>
              <a:rPr lang="en-US" altLang="zh-CN" sz="2700" dirty="0"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1}</a:t>
            </a:r>
            <a:r>
              <a:rPr lang="en-US" sz="2700" i="1" baseline="30000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，输出一个长度为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的字符比特串。如果该算法还满足下面两个条件，则称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是一个伪随机发生器。</a:t>
            </a:r>
            <a:endParaRPr lang="en-US" sz="27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（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）对于每个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来说，满足</a:t>
            </a:r>
            <a:r>
              <a:rPr lang="en-US" sz="2700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7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&gt;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。</a:t>
            </a:r>
            <a:endParaRPr lang="en-US" sz="27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（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）对所有的</a:t>
            </a:r>
            <a:r>
              <a:rPr lang="en-US" altLang="zh-CN" sz="2700" dirty="0">
                <a:latin typeface="Times New Roman" pitchFamily="18" charset="0"/>
                <a:ea typeface="+mn-ea"/>
                <a:cs typeface="Times New Roman" pitchFamily="18" charset="0"/>
              </a:rPr>
              <a:t>PPT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区分器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来说，存在一个可忽略函数</a:t>
            </a:r>
            <a:r>
              <a:rPr lang="en-US" sz="2700" i="1" dirty="0" err="1">
                <a:latin typeface="Times New Roman" pitchFamily="18" charset="0"/>
                <a:ea typeface="+mn-ea"/>
                <a:cs typeface="Times New Roman" pitchFamily="18" charset="0"/>
              </a:rPr>
              <a:t>negl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，满足</a:t>
            </a:r>
            <a:endParaRPr lang="en-US" sz="27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        </a:t>
            </a:r>
            <a:r>
              <a:rPr lang="en-US" altLang="zh-CN" sz="2700" dirty="0">
                <a:latin typeface="Times New Roman" pitchFamily="18" charset="0"/>
                <a:ea typeface="+mn-ea"/>
                <a:cs typeface="Times New Roman" pitchFamily="18" charset="0"/>
              </a:rPr>
              <a:t>|Pr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r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)=1)</a:t>
            </a:r>
            <a:r>
              <a:rPr lang="en-US" sz="2700" dirty="0">
                <a:latin typeface="Symbol" pitchFamily="18" charset="2"/>
                <a:ea typeface="+mn-ea"/>
                <a:cs typeface="Times New Roman" pitchFamily="18" charset="0"/>
              </a:rPr>
              <a:t>-</a:t>
            </a:r>
            <a:r>
              <a:rPr lang="en-US" altLang="zh-CN" sz="2700" dirty="0">
                <a:latin typeface="Times New Roman" pitchFamily="18" charset="0"/>
                <a:cs typeface="Times New Roman" pitchFamily="18" charset="0"/>
              </a:rPr>
              <a:t>Pr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s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))=1)</a:t>
            </a:r>
            <a:r>
              <a:rPr lang="en-US" altLang="zh-CN" sz="2700" dirty="0">
                <a:latin typeface="Times New Roman" pitchFamily="18" charset="0"/>
                <a:ea typeface="+mn-ea"/>
                <a:cs typeface="Times New Roman" pitchFamily="18" charset="0"/>
              </a:rPr>
              <a:t>|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</a:t>
            </a:r>
            <a:r>
              <a:rPr lang="en-US" sz="2700" i="1" dirty="0" err="1">
                <a:latin typeface="Times New Roman" pitchFamily="18" charset="0"/>
                <a:ea typeface="+mn-ea"/>
                <a:cs typeface="Times New Roman" pitchFamily="18" charset="0"/>
              </a:rPr>
              <a:t>negl</a:t>
            </a:r>
            <a:r>
              <a:rPr lang="en-US" altLang="zh-CN" sz="27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altLang="zh-CN" sz="27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，</a:t>
            </a:r>
            <a:endParaRPr lang="en-US" sz="27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式中，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r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是从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{0, 1}</a:t>
            </a:r>
            <a:r>
              <a:rPr lang="en-US" sz="2700" i="1" baseline="30000" dirty="0"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r>
              <a:rPr lang="en-US" sz="2700" baseline="3000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700" i="1" baseline="30000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sz="2700" baseline="3000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中均匀随机选择的，种子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s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是从</a:t>
            </a:r>
            <a:r>
              <a:rPr 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{0, 1}</a:t>
            </a:r>
            <a:r>
              <a:rPr lang="en-US" sz="2700" i="1" baseline="30000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中均匀随机选择的，并且概率源为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的随机性和对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r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、</a:t>
            </a:r>
            <a:r>
              <a:rPr lang="en-US" sz="2700" i="1" dirty="0">
                <a:latin typeface="Times New Roman" pitchFamily="18" charset="0"/>
                <a:ea typeface="+mn-ea"/>
                <a:cs typeface="Times New Roman" pitchFamily="18" charset="0"/>
              </a:rPr>
              <a:t>s</a:t>
            </a:r>
            <a:r>
              <a:rPr lang="zh-CN" altLang="en-US" sz="2700" dirty="0">
                <a:latin typeface="Times New Roman" pitchFamily="18" charset="0"/>
                <a:ea typeface="+mn-ea"/>
                <a:cs typeface="Times New Roman" pitchFamily="18" charset="0"/>
              </a:rPr>
              <a:t>的选择。</a:t>
            </a:r>
            <a:endParaRPr lang="en-US" sz="27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BE0A05-4425-4931-E9B7-3E28D5A36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85800"/>
            <a:ext cx="6629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1.3.2</a:t>
            </a:r>
            <a:r>
              <a:rPr lang="zh-CN" altLang="en-US" sz="3200" kern="0" dirty="0">
                <a:latin typeface="+mn-lt"/>
                <a:ea typeface="+mn-ea"/>
              </a:rPr>
              <a:t>基于计算安全的加密方案</a:t>
            </a:r>
            <a:r>
              <a:rPr lang="en-US" altLang="zh-CN" sz="3200" kern="0" dirty="0">
                <a:latin typeface="+mn-lt"/>
                <a:ea typeface="+mn-ea"/>
              </a:rPr>
              <a:t>(</a:t>
            </a:r>
            <a:r>
              <a:rPr lang="zh-CN" altLang="en-US" sz="3200" kern="0" dirty="0">
                <a:latin typeface="+mn-lt"/>
                <a:ea typeface="+mn-ea"/>
              </a:rPr>
              <a:t>续</a:t>
            </a:r>
            <a:r>
              <a:rPr lang="en-US" altLang="zh-CN" sz="3200" kern="0" dirty="0">
                <a:latin typeface="+mn-lt"/>
                <a:ea typeface="+mn-ea"/>
              </a:rPr>
              <a:t>)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endParaRPr lang="zh-CN" altLang="en-US" sz="3200" kern="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>
            <a:extLst>
              <a:ext uri="{FF2B5EF4-FFF2-40B4-BE49-F238E27FC236}">
                <a16:creationId xmlns:a16="http://schemas.microsoft.com/office/drawing/2014/main" id="{DB0BB8E2-8758-F388-436C-87292B87B5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77724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1.3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计算复杂性理论在密码学中的应用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93C6F1-B1C4-4AC2-92CE-1F961302A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47800"/>
            <a:ext cx="8458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defRPr/>
            </a:pPr>
            <a:r>
              <a:rPr lang="zh-CN" altLang="en-US" sz="3200" b="1" kern="0" dirty="0">
                <a:latin typeface="Times New Roman" pitchFamily="18" charset="0"/>
                <a:ea typeface="+mn-ea"/>
                <a:cs typeface="Times New Roman" pitchFamily="18" charset="0"/>
              </a:rPr>
              <a:t>可归约安全加密方案</a:t>
            </a:r>
            <a:endParaRPr lang="en-US" altLang="zh-CN" sz="32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一个可归约安全的对称加密方案可构造如下：</a:t>
            </a:r>
            <a:endParaRPr lang="en-US" sz="32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（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）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Gen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：输入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en-US" sz="3200" i="1" baseline="30000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，均匀随机选择</a:t>
            </a:r>
            <a:r>
              <a:rPr lang="en-US" sz="3200" i="1" dirty="0"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←</a:t>
            </a:r>
            <a:r>
              <a:rPr 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{0, 1}</a:t>
            </a:r>
            <a:r>
              <a:rPr lang="en-US" sz="3200" i="1" baseline="30000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zh-CN" altLang="en-US" sz="3200" dirty="0">
                <a:latin typeface="Times New Roman" pitchFamily="18" charset="0"/>
                <a:ea typeface="+mn-ea"/>
                <a:cs typeface="Times New Roman" pitchFamily="18" charset="0"/>
              </a:rPr>
              <a:t>，并将其作为密钥输出。</a:t>
            </a:r>
            <a:endParaRPr lang="en-US" altLang="zh-CN" sz="32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Enc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：输入一个密钥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{0, 1}</a:t>
            </a:r>
            <a:r>
              <a:rPr lang="en-US" sz="3200" i="1" baseline="30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，以及消息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{0, 1}</a:t>
            </a:r>
            <a:r>
              <a:rPr lang="en-US" altLang="zh-CN" sz="3200" i="1" baseline="30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，输出密文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:=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sz="32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）输入一个密钥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{0, 1}</a:t>
            </a:r>
            <a:r>
              <a:rPr lang="en-US" sz="3200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，以及一个密文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{0, 1}</a:t>
            </a:r>
            <a:r>
              <a:rPr lang="en-US" altLang="zh-CN" sz="3200" i="1" baseline="30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，输出消息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3200" dirty="0">
                <a:latin typeface="Times New Roman" pitchFamily="18" charset="0"/>
                <a:cs typeface="Times New Roman" pitchFamily="18" charset="0"/>
              </a:rPr>
              <a:t>。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  <a:defRPr/>
            </a:pPr>
            <a:endParaRPr lang="en-US" altLang="zh-CN" sz="32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  <a:defRPr/>
            </a:pPr>
            <a:endParaRPr lang="en-US" altLang="zh-CN" sz="3200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defRPr/>
            </a:pPr>
            <a:endParaRPr lang="zh-CN" altLang="en-US" sz="3600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A59BA-5A81-2911-33E4-D4F02D08F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838200"/>
            <a:ext cx="6858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kern="0" dirty="0">
                <a:latin typeface="+mn-lt"/>
                <a:ea typeface="+mn-ea"/>
              </a:rPr>
              <a:t>1.3.2</a:t>
            </a:r>
            <a:r>
              <a:rPr lang="zh-CN" altLang="en-US" sz="3200" kern="0" dirty="0">
                <a:latin typeface="+mn-lt"/>
                <a:ea typeface="+mn-ea"/>
              </a:rPr>
              <a:t>基于计算安全的加密方案</a:t>
            </a:r>
            <a:r>
              <a:rPr lang="en-US" altLang="zh-CN" sz="3200" kern="0" dirty="0">
                <a:latin typeface="+mn-lt"/>
                <a:ea typeface="+mn-ea"/>
              </a:rPr>
              <a:t>(</a:t>
            </a:r>
            <a:r>
              <a:rPr lang="zh-CN" altLang="en-US" sz="3200" kern="0" dirty="0">
                <a:latin typeface="+mn-lt"/>
                <a:ea typeface="+mn-ea"/>
              </a:rPr>
              <a:t>续</a:t>
            </a:r>
            <a:r>
              <a:rPr lang="en-US" altLang="zh-CN" sz="3200" kern="0" dirty="0">
                <a:latin typeface="+mn-lt"/>
                <a:ea typeface="+mn-ea"/>
              </a:rPr>
              <a:t>)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endParaRPr lang="zh-CN" altLang="en-US" sz="3200" kern="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A1F6A31D-8032-A3AF-64C0-E944345A30A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6000"/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5203</TotalTime>
  <Words>4447</Words>
  <Application>Microsoft Office PowerPoint</Application>
  <PresentationFormat>全屏显示(4:3)</PresentationFormat>
  <Paragraphs>179</Paragraphs>
  <Slides>38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宋体</vt:lpstr>
      <vt:lpstr>Arial</vt:lpstr>
      <vt:lpstr>Calibri</vt:lpstr>
      <vt:lpstr>Cambria Math</vt:lpstr>
      <vt:lpstr>Symbol</vt:lpstr>
      <vt:lpstr>Times New Roman</vt:lpstr>
      <vt:lpstr>Wingdings</vt:lpstr>
      <vt:lpstr>默认设计模板</vt:lpstr>
      <vt:lpstr>第十六讲 计算复杂性理论 下</vt:lpstr>
      <vt:lpstr>本讲提要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dazhi sun</cp:lastModifiedBy>
  <cp:revision>329</cp:revision>
  <cp:lastPrinted>1601-01-01T00:00:00Z</cp:lastPrinted>
  <dcterms:created xsi:type="dcterms:W3CDTF">1601-01-01T00:00:00Z</dcterms:created>
  <dcterms:modified xsi:type="dcterms:W3CDTF">2026-04-24T05:26:05Z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