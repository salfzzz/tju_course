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56" r:id="rId2"/>
    <p:sldId id="304" r:id="rId3"/>
    <p:sldId id="283" r:id="rId4"/>
    <p:sldId id="318" r:id="rId5"/>
    <p:sldId id="319" r:id="rId6"/>
    <p:sldId id="320" r:id="rId7"/>
    <p:sldId id="321" r:id="rId8"/>
    <p:sldId id="322" r:id="rId9"/>
    <p:sldId id="284" r:id="rId10"/>
    <p:sldId id="323" r:id="rId11"/>
    <p:sldId id="324" r:id="rId12"/>
    <p:sldId id="325" r:id="rId13"/>
    <p:sldId id="326" r:id="rId14"/>
    <p:sldId id="327" r:id="rId15"/>
    <p:sldId id="328" r:id="rId16"/>
    <p:sldId id="329" r:id="rId17"/>
    <p:sldId id="330" r:id="rId18"/>
    <p:sldId id="331" r:id="rId19"/>
    <p:sldId id="332" r:id="rId20"/>
    <p:sldId id="285" r:id="rId21"/>
    <p:sldId id="333" r:id="rId22"/>
    <p:sldId id="334" r:id="rId23"/>
    <p:sldId id="335" r:id="rId24"/>
    <p:sldId id="336" r:id="rId25"/>
    <p:sldId id="337" r:id="rId26"/>
    <p:sldId id="341" r:id="rId27"/>
    <p:sldId id="340" r:id="rId28"/>
    <p:sldId id="339" r:id="rId29"/>
    <p:sldId id="338" r:id="rId30"/>
    <p:sldId id="286" r:id="rId31"/>
    <p:sldId id="287" r:id="rId32"/>
    <p:sldId id="349" r:id="rId33"/>
    <p:sldId id="288" r:id="rId34"/>
    <p:sldId id="342" r:id="rId35"/>
    <p:sldId id="343" r:id="rId36"/>
    <p:sldId id="263" r:id="rId37"/>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133" autoAdjust="0"/>
  </p:normalViewPr>
  <p:slideViewPr>
    <p:cSldViewPr>
      <p:cViewPr varScale="1">
        <p:scale>
          <a:sx n="59" d="100"/>
          <a:sy n="59" d="100"/>
        </p:scale>
        <p:origin x="1290"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027187E-89AC-0989-4BC8-A7414C043432}"/>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日期占位符 2">
            <a:extLst>
              <a:ext uri="{FF2B5EF4-FFF2-40B4-BE49-F238E27FC236}">
                <a16:creationId xmlns:a16="http://schemas.microsoft.com/office/drawing/2014/main" id="{283B6A12-30A2-081A-8B0C-2D8CC216040D}"/>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03D9D5B9-A5F2-4B43-8D13-43FECCDB03A1}" type="datetimeFigureOut">
              <a:rPr lang="en-US"/>
              <a:pPr>
                <a:defRPr/>
              </a:pPr>
              <a:t>4/20/2026</a:t>
            </a:fld>
            <a:endParaRPr lang="en-US"/>
          </a:p>
        </p:txBody>
      </p:sp>
      <p:sp>
        <p:nvSpPr>
          <p:cNvPr id="4" name="页脚占位符 3">
            <a:extLst>
              <a:ext uri="{FF2B5EF4-FFF2-40B4-BE49-F238E27FC236}">
                <a16:creationId xmlns:a16="http://schemas.microsoft.com/office/drawing/2014/main" id="{D00A3ED1-0840-5B33-7BC1-983F8C67BA78}"/>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5" name="灯片编号占位符 4">
            <a:extLst>
              <a:ext uri="{FF2B5EF4-FFF2-40B4-BE49-F238E27FC236}">
                <a16:creationId xmlns:a16="http://schemas.microsoft.com/office/drawing/2014/main" id="{55835BFA-8147-FA21-1A87-07512648C111}"/>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92BE2A3-1CE9-4DE2-91DC-7E47F01C3B1C}"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47DE6A9-BA91-F54E-E6FC-C97C80A3D563}"/>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日期占位符 2">
            <a:extLst>
              <a:ext uri="{FF2B5EF4-FFF2-40B4-BE49-F238E27FC236}">
                <a16:creationId xmlns:a16="http://schemas.microsoft.com/office/drawing/2014/main" id="{47746BE2-0432-4D23-0F5A-98C07A7612BF}"/>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246BC1E1-B8EC-4097-9E6A-A18A1C47FB12}" type="datetimeFigureOut">
              <a:rPr lang="en-US"/>
              <a:pPr>
                <a:defRPr/>
              </a:pPr>
              <a:t>4/20/2026</a:t>
            </a:fld>
            <a:endParaRPr lang="en-US"/>
          </a:p>
        </p:txBody>
      </p:sp>
      <p:sp>
        <p:nvSpPr>
          <p:cNvPr id="4" name="幻灯片图像占位符 3">
            <a:extLst>
              <a:ext uri="{FF2B5EF4-FFF2-40B4-BE49-F238E27FC236}">
                <a16:creationId xmlns:a16="http://schemas.microsoft.com/office/drawing/2014/main" id="{BAB1B134-9489-93D9-CB53-9D8AF45564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备注占位符 4">
            <a:extLst>
              <a:ext uri="{FF2B5EF4-FFF2-40B4-BE49-F238E27FC236}">
                <a16:creationId xmlns:a16="http://schemas.microsoft.com/office/drawing/2014/main" id="{87F6FB7E-E9E8-095C-998D-DFA06827EB9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US" noProof="0"/>
          </a:p>
        </p:txBody>
      </p:sp>
      <p:sp>
        <p:nvSpPr>
          <p:cNvPr id="6" name="页脚占位符 5">
            <a:extLst>
              <a:ext uri="{FF2B5EF4-FFF2-40B4-BE49-F238E27FC236}">
                <a16:creationId xmlns:a16="http://schemas.microsoft.com/office/drawing/2014/main" id="{38464AA7-15B6-E4F6-4559-57D18D818E3D}"/>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灯片编号占位符 6">
            <a:extLst>
              <a:ext uri="{FF2B5EF4-FFF2-40B4-BE49-F238E27FC236}">
                <a16:creationId xmlns:a16="http://schemas.microsoft.com/office/drawing/2014/main" id="{2595BC2F-0EB7-8439-76BA-4887ED93481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A2D0038-3C5F-4816-8768-A5EE3A679ED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3EE18E8E-F965-70E2-FE56-C5F05151E9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备注占位符 2">
            <a:extLst>
              <a:ext uri="{FF2B5EF4-FFF2-40B4-BE49-F238E27FC236}">
                <a16:creationId xmlns:a16="http://schemas.microsoft.com/office/drawing/2014/main" id="{17D278AB-E938-2B23-6C61-438960BC13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7172" name="灯片编号占位符 3">
            <a:extLst>
              <a:ext uri="{FF2B5EF4-FFF2-40B4-BE49-F238E27FC236}">
                <a16:creationId xmlns:a16="http://schemas.microsoft.com/office/drawing/2014/main" id="{24C9F7F8-5CAD-85EA-798E-B6FAC8B03E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3BFF4FB-93AF-4886-9D49-767A79EDFD79}" type="slidenum">
              <a:rPr lang="en-US" altLang="zh-CN" smtClean="0">
                <a:latin typeface="Arial" panose="020B0604020202020204" pitchFamily="34" charset="0"/>
              </a:rPr>
              <a:pPr>
                <a:spcBef>
                  <a:spcPct val="0"/>
                </a:spcBef>
              </a:pPr>
              <a:t>3</a:t>
            </a:fld>
            <a:endParaRPr lang="en-US"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E91CBE61-EAA2-C1B9-1DF3-FC90996EDC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备注占位符 2">
            <a:extLst>
              <a:ext uri="{FF2B5EF4-FFF2-40B4-BE49-F238E27FC236}">
                <a16:creationId xmlns:a16="http://schemas.microsoft.com/office/drawing/2014/main" id="{2B992CB4-EBF5-0430-92EC-8C436A7216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9220" name="灯片编号占位符 3">
            <a:extLst>
              <a:ext uri="{FF2B5EF4-FFF2-40B4-BE49-F238E27FC236}">
                <a16:creationId xmlns:a16="http://schemas.microsoft.com/office/drawing/2014/main" id="{45FB40EE-671B-9FAC-144A-5BAB019F5B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93B0F137-B7F9-43E7-BD44-6656A8B78D64}" type="slidenum">
              <a:rPr lang="en-US" altLang="zh-CN" smtClean="0">
                <a:latin typeface="Arial" panose="020B0604020202020204" pitchFamily="34" charset="0"/>
              </a:rPr>
              <a:pPr>
                <a:spcBef>
                  <a:spcPct val="0"/>
                </a:spcBef>
              </a:pPr>
              <a:t>4</a:t>
            </a:fld>
            <a:endParaRPr lang="en-US"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E01C96A6-BF36-1303-E74D-243D6193D4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a:extLst>
              <a:ext uri="{FF2B5EF4-FFF2-40B4-BE49-F238E27FC236}">
                <a16:creationId xmlns:a16="http://schemas.microsoft.com/office/drawing/2014/main" id="{38C30BC2-463D-EC3E-52D9-BA9CDAA704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1268" name="灯片编号占位符 3">
            <a:extLst>
              <a:ext uri="{FF2B5EF4-FFF2-40B4-BE49-F238E27FC236}">
                <a16:creationId xmlns:a16="http://schemas.microsoft.com/office/drawing/2014/main" id="{1E646035-1810-C2DF-2145-8668EFAFE94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419412C-0463-4E9A-89DC-D3FDFB0E9446}" type="slidenum">
              <a:rPr lang="en-US" altLang="zh-CN" smtClean="0">
                <a:latin typeface="Arial" panose="020B0604020202020204" pitchFamily="34" charset="0"/>
              </a:rPr>
              <a:pPr>
                <a:spcBef>
                  <a:spcPct val="0"/>
                </a:spcBef>
              </a:pPr>
              <a:t>5</a:t>
            </a:fld>
            <a:endParaRPr lang="en-US"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CF8DA7B5-C1B3-FC06-11CB-B18E9E1CD2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a:extLst>
              <a:ext uri="{FF2B5EF4-FFF2-40B4-BE49-F238E27FC236}">
                <a16:creationId xmlns:a16="http://schemas.microsoft.com/office/drawing/2014/main" id="{FF259413-FB91-B482-1201-E0D9F81D59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3316" name="灯片编号占位符 3">
            <a:extLst>
              <a:ext uri="{FF2B5EF4-FFF2-40B4-BE49-F238E27FC236}">
                <a16:creationId xmlns:a16="http://schemas.microsoft.com/office/drawing/2014/main" id="{D8673132-C5A0-49BA-22E0-977319A86EB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BE59051-8C83-4358-BA65-8A9B3608A979}" type="slidenum">
              <a:rPr lang="en-US" altLang="zh-CN" smtClean="0">
                <a:latin typeface="Arial" panose="020B0604020202020204" pitchFamily="34" charset="0"/>
              </a:rPr>
              <a:pPr>
                <a:spcBef>
                  <a:spcPct val="0"/>
                </a:spcBef>
              </a:pPr>
              <a:t>6</a:t>
            </a:fld>
            <a:endParaRPr lang="en-US"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859AD5EF-4A85-2998-7720-21E23528AB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备注占位符 2">
            <a:extLst>
              <a:ext uri="{FF2B5EF4-FFF2-40B4-BE49-F238E27FC236}">
                <a16:creationId xmlns:a16="http://schemas.microsoft.com/office/drawing/2014/main" id="{CAAE1A4F-5487-EAAF-1C0B-81D2DF4235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5364" name="灯片编号占位符 3">
            <a:extLst>
              <a:ext uri="{FF2B5EF4-FFF2-40B4-BE49-F238E27FC236}">
                <a16:creationId xmlns:a16="http://schemas.microsoft.com/office/drawing/2014/main" id="{56C8530A-74A0-DA13-EEEF-4A283BDC47C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17C7507-752A-4D21-99D5-A352EA4D3AD6}" type="slidenum">
              <a:rPr lang="en-US" altLang="zh-CN" smtClean="0">
                <a:latin typeface="Arial" panose="020B0604020202020204" pitchFamily="34" charset="0"/>
              </a:rPr>
              <a:pPr>
                <a:spcBef>
                  <a:spcPct val="0"/>
                </a:spcBef>
              </a:pPr>
              <a:t>7</a:t>
            </a:fld>
            <a:endParaRPr lang="en-US"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4B5B5D76-633A-FD03-6450-EF65992DFB6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70889454-3383-F48B-9323-B9641B6965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7412" name="灯片编号占位符 3">
            <a:extLst>
              <a:ext uri="{FF2B5EF4-FFF2-40B4-BE49-F238E27FC236}">
                <a16:creationId xmlns:a16="http://schemas.microsoft.com/office/drawing/2014/main" id="{B40B2CB3-592A-F979-68D3-D85AE35495B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8675033-D316-49B2-8365-4022B8B01C6D}" type="slidenum">
              <a:rPr lang="en-US" altLang="zh-CN" smtClean="0">
                <a:latin typeface="Arial" panose="020B0604020202020204" pitchFamily="34" charset="0"/>
              </a:rPr>
              <a:pPr>
                <a:spcBef>
                  <a:spcPct val="0"/>
                </a:spcBef>
              </a:pPr>
              <a:t>8</a:t>
            </a:fld>
            <a:endParaRPr lang="en-US"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1951CC5C-2262-C9A1-502E-B58FF8414C7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备注占位符 2">
            <a:extLst>
              <a:ext uri="{FF2B5EF4-FFF2-40B4-BE49-F238E27FC236}">
                <a16:creationId xmlns:a16="http://schemas.microsoft.com/office/drawing/2014/main" id="{DAEB5B63-5846-A108-4880-39B2D1A454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9460" name="灯片编号占位符 3">
            <a:extLst>
              <a:ext uri="{FF2B5EF4-FFF2-40B4-BE49-F238E27FC236}">
                <a16:creationId xmlns:a16="http://schemas.microsoft.com/office/drawing/2014/main" id="{A75EE396-26E0-2BC3-BE7A-B9CF14F2AB7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9E997EAD-B3A0-4E79-93E7-85E95306A524}" type="slidenum">
              <a:rPr lang="en-US" altLang="zh-CN" smtClean="0">
                <a:latin typeface="Arial" panose="020B0604020202020204" pitchFamily="34" charset="0"/>
              </a:rPr>
              <a:pPr>
                <a:spcBef>
                  <a:spcPct val="0"/>
                </a:spcBef>
              </a:pPr>
              <a:t>9</a:t>
            </a:fld>
            <a:endParaRPr lang="en-US"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C999CF3B-7F61-FB96-8784-A995FF9AAE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a:extLst>
              <a:ext uri="{FF2B5EF4-FFF2-40B4-BE49-F238E27FC236}">
                <a16:creationId xmlns:a16="http://schemas.microsoft.com/office/drawing/2014/main" id="{356DFC3D-31C4-105D-3D90-07718B57F6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21508" name="灯片编号占位符 3">
            <a:extLst>
              <a:ext uri="{FF2B5EF4-FFF2-40B4-BE49-F238E27FC236}">
                <a16:creationId xmlns:a16="http://schemas.microsoft.com/office/drawing/2014/main" id="{5831BDBE-C90B-BF8C-DA50-A94CCD4154E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250EE57-B923-496F-BACC-D5CA73BE78C7}" type="slidenum">
              <a:rPr lang="en-US" altLang="zh-CN" smtClean="0">
                <a:latin typeface="Arial" panose="020B0604020202020204" pitchFamily="34" charset="0"/>
              </a:rPr>
              <a:pPr>
                <a:spcBef>
                  <a:spcPct val="0"/>
                </a:spcBef>
              </a:pPr>
              <a:t>10</a:t>
            </a:fld>
            <a:endParaRPr lang="en-US" altLang="zh-CN">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811D0E6C-6C1B-E2B7-4731-D17B778C3F2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备注占位符 2">
            <a:extLst>
              <a:ext uri="{FF2B5EF4-FFF2-40B4-BE49-F238E27FC236}">
                <a16:creationId xmlns:a16="http://schemas.microsoft.com/office/drawing/2014/main" id="{07F8F5C0-8D93-EAE8-D811-3E3BC45C7CE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23556" name="灯片编号占位符 3">
            <a:extLst>
              <a:ext uri="{FF2B5EF4-FFF2-40B4-BE49-F238E27FC236}">
                <a16:creationId xmlns:a16="http://schemas.microsoft.com/office/drawing/2014/main" id="{C18FDA1D-8268-8471-237E-2761A74FCB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9526B172-A759-46BC-98EF-41C33ADBAEFF}" type="slidenum">
              <a:rPr lang="en-US" altLang="zh-CN" smtClean="0">
                <a:latin typeface="Arial" panose="020B0604020202020204" pitchFamily="34" charset="0"/>
              </a:rPr>
              <a:pPr>
                <a:spcBef>
                  <a:spcPct val="0"/>
                </a:spcBef>
              </a:pPr>
              <a:t>11</a:t>
            </a:fld>
            <a:endParaRPr lang="en-US" altLang="zh-CN">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CFF78591-4849-8D47-6718-CB25617A87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备注占位符 2">
            <a:extLst>
              <a:ext uri="{FF2B5EF4-FFF2-40B4-BE49-F238E27FC236}">
                <a16:creationId xmlns:a16="http://schemas.microsoft.com/office/drawing/2014/main" id="{0629A49B-3177-E3ED-DE10-A39BC8931F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25604" name="灯片编号占位符 3">
            <a:extLst>
              <a:ext uri="{FF2B5EF4-FFF2-40B4-BE49-F238E27FC236}">
                <a16:creationId xmlns:a16="http://schemas.microsoft.com/office/drawing/2014/main" id="{F411DE2E-B9E0-0444-D6D3-299DFDE5860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DDBFFFE-1244-462B-9E2E-2FAD17C7ABE9}" type="slidenum">
              <a:rPr lang="en-US" altLang="zh-CN" smtClean="0">
                <a:latin typeface="Arial" panose="020B0604020202020204" pitchFamily="34" charset="0"/>
              </a:rPr>
              <a:pPr>
                <a:spcBef>
                  <a:spcPct val="0"/>
                </a:spcBef>
              </a:pPr>
              <a:t>12</a:t>
            </a:fld>
            <a:endParaRPr lang="en-US" altLang="zh-CN">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A52844F2-A143-752D-5447-69C8387FEED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备注占位符 2">
            <a:extLst>
              <a:ext uri="{FF2B5EF4-FFF2-40B4-BE49-F238E27FC236}">
                <a16:creationId xmlns:a16="http://schemas.microsoft.com/office/drawing/2014/main" id="{47B8AA11-1CA8-102B-896B-471C4832A5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27652" name="灯片编号占位符 3">
            <a:extLst>
              <a:ext uri="{FF2B5EF4-FFF2-40B4-BE49-F238E27FC236}">
                <a16:creationId xmlns:a16="http://schemas.microsoft.com/office/drawing/2014/main" id="{A074849A-358F-53E5-4B73-F7C3F1C86B7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B1A36EE-EA96-4960-861B-599EC4E444AD}" type="slidenum">
              <a:rPr lang="en-US" altLang="zh-CN" smtClean="0">
                <a:latin typeface="Arial" panose="020B0604020202020204" pitchFamily="34" charset="0"/>
              </a:rPr>
              <a:pPr>
                <a:spcBef>
                  <a:spcPct val="0"/>
                </a:spcBef>
              </a:pPr>
              <a:t>13</a:t>
            </a:fld>
            <a:endParaRPr lang="en-US" altLang="zh-CN">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1F455C1E-9DB9-F519-7562-2DF2AD5076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备注占位符 2">
            <a:extLst>
              <a:ext uri="{FF2B5EF4-FFF2-40B4-BE49-F238E27FC236}">
                <a16:creationId xmlns:a16="http://schemas.microsoft.com/office/drawing/2014/main" id="{90B0FA27-D708-9CC6-9ACB-BDEEB63712A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29700" name="灯片编号占位符 3">
            <a:extLst>
              <a:ext uri="{FF2B5EF4-FFF2-40B4-BE49-F238E27FC236}">
                <a16:creationId xmlns:a16="http://schemas.microsoft.com/office/drawing/2014/main" id="{4424AACF-B1CA-7ADC-8DC0-53FAA2213E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0D903EB-7484-4632-B005-053AB84F56A2}" type="slidenum">
              <a:rPr lang="en-US" altLang="zh-CN" smtClean="0">
                <a:latin typeface="Arial" panose="020B0604020202020204" pitchFamily="34" charset="0"/>
              </a:rPr>
              <a:pPr>
                <a:spcBef>
                  <a:spcPct val="0"/>
                </a:spcBef>
              </a:pPr>
              <a:t>14</a:t>
            </a:fld>
            <a:endParaRPr lang="en-US" altLang="zh-CN">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0138E562-CEFE-4F4B-CA94-57D4B396FB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a:extLst>
              <a:ext uri="{FF2B5EF4-FFF2-40B4-BE49-F238E27FC236}">
                <a16:creationId xmlns:a16="http://schemas.microsoft.com/office/drawing/2014/main" id="{9E318DE0-9982-A167-AEC0-DFF8CA4FE6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比特（</a:t>
            </a:r>
            <a:r>
              <a:rPr lang="en-US" altLang="zh-CN"/>
              <a:t>2</a:t>
            </a:r>
            <a:r>
              <a:rPr lang="zh-CN" altLang="en-US"/>
              <a:t>）、奈特（</a:t>
            </a:r>
            <a:r>
              <a:rPr lang="en-US" altLang="zh-CN"/>
              <a:t>e</a:t>
            </a:r>
            <a:r>
              <a:rPr lang="zh-CN" altLang="en-US"/>
              <a:t>）、哈特莱（</a:t>
            </a:r>
            <a:r>
              <a:rPr lang="en-US" altLang="zh-CN"/>
              <a:t>10</a:t>
            </a:r>
            <a:r>
              <a:rPr lang="zh-CN" altLang="en-US"/>
              <a:t>），</a:t>
            </a:r>
            <a:r>
              <a:rPr lang="en-US" altLang="zh-CN"/>
              <a:t>r</a:t>
            </a:r>
            <a:r>
              <a:rPr lang="zh-CN" altLang="en-US"/>
              <a:t>进制（</a:t>
            </a:r>
            <a:r>
              <a:rPr lang="en-US" altLang="zh-CN"/>
              <a:t>r</a:t>
            </a:r>
            <a:r>
              <a:rPr lang="zh-CN" altLang="en-US"/>
              <a:t>）</a:t>
            </a:r>
            <a:endParaRPr lang="en-US" altLang="zh-CN"/>
          </a:p>
        </p:txBody>
      </p:sp>
      <p:sp>
        <p:nvSpPr>
          <p:cNvPr id="31748" name="灯片编号占位符 3">
            <a:extLst>
              <a:ext uri="{FF2B5EF4-FFF2-40B4-BE49-F238E27FC236}">
                <a16:creationId xmlns:a16="http://schemas.microsoft.com/office/drawing/2014/main" id="{5E56EBE3-3479-B4FD-0672-B002189710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A2FA542-14F6-47E0-8923-3454431ACE8B}" type="slidenum">
              <a:rPr lang="en-US" altLang="zh-CN" smtClean="0">
                <a:latin typeface="Arial" panose="020B0604020202020204" pitchFamily="34" charset="0"/>
              </a:rPr>
              <a:pPr>
                <a:spcBef>
                  <a:spcPct val="0"/>
                </a:spcBef>
              </a:pPr>
              <a:t>15</a:t>
            </a:fld>
            <a:endParaRPr lang="en-US" altLang="zh-CN">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a:extLst>
              <a:ext uri="{FF2B5EF4-FFF2-40B4-BE49-F238E27FC236}">
                <a16:creationId xmlns:a16="http://schemas.microsoft.com/office/drawing/2014/main" id="{90A514A9-6598-6B57-EFA3-7BA3E37976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备注占位符 2">
            <a:extLst>
              <a:ext uri="{FF2B5EF4-FFF2-40B4-BE49-F238E27FC236}">
                <a16:creationId xmlns:a16="http://schemas.microsoft.com/office/drawing/2014/main" id="{1AACE16D-06E0-99E5-0A89-8FD7D68026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33796" name="灯片编号占位符 3">
            <a:extLst>
              <a:ext uri="{FF2B5EF4-FFF2-40B4-BE49-F238E27FC236}">
                <a16:creationId xmlns:a16="http://schemas.microsoft.com/office/drawing/2014/main" id="{D84BB361-1268-4B92-8928-B707E6407BE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95D36DAE-151E-46F4-8E2A-C7ED5A6F2CBC}" type="slidenum">
              <a:rPr lang="en-US" altLang="zh-CN" smtClean="0">
                <a:latin typeface="Arial" panose="020B0604020202020204" pitchFamily="34" charset="0"/>
              </a:rPr>
              <a:pPr>
                <a:spcBef>
                  <a:spcPct val="0"/>
                </a:spcBef>
              </a:pPr>
              <a:t>16</a:t>
            </a:fld>
            <a:endParaRPr lang="en-US" altLang="zh-CN">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CAA4A68D-F648-48C0-B81E-A51F997014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2A6335AE-513E-B7F6-FEB9-F71B33A708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35844" name="灯片编号占位符 3">
            <a:extLst>
              <a:ext uri="{FF2B5EF4-FFF2-40B4-BE49-F238E27FC236}">
                <a16:creationId xmlns:a16="http://schemas.microsoft.com/office/drawing/2014/main" id="{C4E2DE0A-198E-3204-59F1-25FC7602F93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E1CC70B-3274-45FB-BD13-F9C249F7128F}" type="slidenum">
              <a:rPr lang="en-US" altLang="zh-CN" smtClean="0">
                <a:latin typeface="Arial" panose="020B0604020202020204" pitchFamily="34" charset="0"/>
              </a:rPr>
              <a:pPr>
                <a:spcBef>
                  <a:spcPct val="0"/>
                </a:spcBef>
              </a:pPr>
              <a:t>17</a:t>
            </a:fld>
            <a:endParaRPr lang="en-US" altLang="zh-CN">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F209611D-A6F2-446A-147E-1723A195D5B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E46A706C-A9A3-CBFC-88F7-53AA2B91454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37892" name="灯片编号占位符 3">
            <a:extLst>
              <a:ext uri="{FF2B5EF4-FFF2-40B4-BE49-F238E27FC236}">
                <a16:creationId xmlns:a16="http://schemas.microsoft.com/office/drawing/2014/main" id="{C6E8ED6A-1237-57E4-3D58-879D0AC2E2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8ED874AE-B217-405C-BFB6-43B6468EB8AA}" type="slidenum">
              <a:rPr lang="en-US" altLang="zh-CN" smtClean="0">
                <a:latin typeface="Arial" panose="020B0604020202020204" pitchFamily="34" charset="0"/>
              </a:rPr>
              <a:pPr>
                <a:spcBef>
                  <a:spcPct val="0"/>
                </a:spcBef>
              </a:pPr>
              <a:t>18</a:t>
            </a:fld>
            <a:endParaRPr lang="en-US" altLang="zh-CN">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D6639F08-B14C-D365-634D-1B675F4A40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备注占位符 2">
            <a:extLst>
              <a:ext uri="{FF2B5EF4-FFF2-40B4-BE49-F238E27FC236}">
                <a16:creationId xmlns:a16="http://schemas.microsoft.com/office/drawing/2014/main" id="{5D229C8F-18F9-9745-6B48-903F4354EA4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39940" name="灯片编号占位符 3">
            <a:extLst>
              <a:ext uri="{FF2B5EF4-FFF2-40B4-BE49-F238E27FC236}">
                <a16:creationId xmlns:a16="http://schemas.microsoft.com/office/drawing/2014/main" id="{909EB90A-1778-849D-05A2-7FF61B4293A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A549BBA-DBC0-4385-8223-E2500A6561F4}" type="slidenum">
              <a:rPr lang="en-US" altLang="zh-CN" smtClean="0">
                <a:latin typeface="Arial" panose="020B0604020202020204" pitchFamily="34" charset="0"/>
              </a:rPr>
              <a:pPr>
                <a:spcBef>
                  <a:spcPct val="0"/>
                </a:spcBef>
              </a:pPr>
              <a:t>19</a:t>
            </a:fld>
            <a:endParaRPr lang="en-US" altLang="zh-CN">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0641CE56-74C2-8EE3-CF76-949EDD3D94B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备注占位符 2">
            <a:extLst>
              <a:ext uri="{FF2B5EF4-FFF2-40B4-BE49-F238E27FC236}">
                <a16:creationId xmlns:a16="http://schemas.microsoft.com/office/drawing/2014/main" id="{CED88B3E-68B6-D204-B19D-A1D58A739C4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41988" name="灯片编号占位符 3">
            <a:extLst>
              <a:ext uri="{FF2B5EF4-FFF2-40B4-BE49-F238E27FC236}">
                <a16:creationId xmlns:a16="http://schemas.microsoft.com/office/drawing/2014/main" id="{73D61A8F-B756-4DA8-D383-0D039C3C36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6F5B30C-D9E0-4DF1-8C7F-A8FE0E8DCD3C}" type="slidenum">
              <a:rPr lang="en-US" altLang="zh-CN" smtClean="0">
                <a:latin typeface="Arial" panose="020B0604020202020204" pitchFamily="34" charset="0"/>
              </a:rPr>
              <a:pPr>
                <a:spcBef>
                  <a:spcPct val="0"/>
                </a:spcBef>
              </a:pPr>
              <a:t>20</a:t>
            </a:fld>
            <a:endParaRPr lang="en-US" altLang="zh-CN">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7C8FCF16-26F9-5B94-A165-34262A7E94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备注占位符 2">
            <a:extLst>
              <a:ext uri="{FF2B5EF4-FFF2-40B4-BE49-F238E27FC236}">
                <a16:creationId xmlns:a16="http://schemas.microsoft.com/office/drawing/2014/main" id="{0A2A54BD-2BA8-D818-887E-1284668E85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44036" name="灯片编号占位符 3">
            <a:extLst>
              <a:ext uri="{FF2B5EF4-FFF2-40B4-BE49-F238E27FC236}">
                <a16:creationId xmlns:a16="http://schemas.microsoft.com/office/drawing/2014/main" id="{1C8E2A85-8EE5-EFC8-92C1-B5B6B32A0FE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8874E76-D1DD-460C-8286-1EC68BAD2F99}" type="slidenum">
              <a:rPr lang="en-US" altLang="zh-CN" smtClean="0">
                <a:latin typeface="Arial" panose="020B0604020202020204" pitchFamily="34" charset="0"/>
              </a:rPr>
              <a:pPr>
                <a:spcBef>
                  <a:spcPct val="0"/>
                </a:spcBef>
              </a:pPr>
              <a:t>21</a:t>
            </a:fld>
            <a:endParaRPr lang="en-US" altLang="zh-CN">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56B551DD-B12B-AFFA-F867-3F3AD147C42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备注占位符 2">
            <a:extLst>
              <a:ext uri="{FF2B5EF4-FFF2-40B4-BE49-F238E27FC236}">
                <a16:creationId xmlns:a16="http://schemas.microsoft.com/office/drawing/2014/main" id="{66FE7413-3427-45D6-1449-8792D98B8E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46084" name="灯片编号占位符 3">
            <a:extLst>
              <a:ext uri="{FF2B5EF4-FFF2-40B4-BE49-F238E27FC236}">
                <a16:creationId xmlns:a16="http://schemas.microsoft.com/office/drawing/2014/main" id="{AD1D9DE8-F3F5-9A70-E717-2A04AE29FDF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8EE0419C-E019-4AAF-9713-EAF445968E50}" type="slidenum">
              <a:rPr lang="en-US" altLang="zh-CN" smtClean="0">
                <a:latin typeface="Arial" panose="020B0604020202020204" pitchFamily="34" charset="0"/>
              </a:rPr>
              <a:pPr>
                <a:spcBef>
                  <a:spcPct val="0"/>
                </a:spcBef>
              </a:pPr>
              <a:t>22</a:t>
            </a:fld>
            <a:endParaRPr lang="en-US" altLang="zh-CN">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F72720B9-5A46-0FF7-D6FF-81720E334E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a:extLst>
              <a:ext uri="{FF2B5EF4-FFF2-40B4-BE49-F238E27FC236}">
                <a16:creationId xmlns:a16="http://schemas.microsoft.com/office/drawing/2014/main" id="{17FB9563-ADF6-8770-E171-A0EFA2FF96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48132" name="灯片编号占位符 3">
            <a:extLst>
              <a:ext uri="{FF2B5EF4-FFF2-40B4-BE49-F238E27FC236}">
                <a16:creationId xmlns:a16="http://schemas.microsoft.com/office/drawing/2014/main" id="{24FC4D1A-871C-3D97-6288-B8AE94EA27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894B341F-913F-46E2-822E-D38568C31CC7}" type="slidenum">
              <a:rPr lang="en-US" altLang="zh-CN" smtClean="0">
                <a:latin typeface="Arial" panose="020B0604020202020204" pitchFamily="34" charset="0"/>
              </a:rPr>
              <a:pPr>
                <a:spcBef>
                  <a:spcPct val="0"/>
                </a:spcBef>
              </a:pPr>
              <a:t>23</a:t>
            </a:fld>
            <a:endParaRPr lang="en-US" altLang="zh-CN">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a:extLst>
              <a:ext uri="{FF2B5EF4-FFF2-40B4-BE49-F238E27FC236}">
                <a16:creationId xmlns:a16="http://schemas.microsoft.com/office/drawing/2014/main" id="{601BA3FE-4EC5-BD6F-2575-4A9985198D2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备注占位符 2">
            <a:extLst>
              <a:ext uri="{FF2B5EF4-FFF2-40B4-BE49-F238E27FC236}">
                <a16:creationId xmlns:a16="http://schemas.microsoft.com/office/drawing/2014/main" id="{8D7D9D0E-7960-CA62-8BAB-30F16C3EC5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50180" name="灯片编号占位符 3">
            <a:extLst>
              <a:ext uri="{FF2B5EF4-FFF2-40B4-BE49-F238E27FC236}">
                <a16:creationId xmlns:a16="http://schemas.microsoft.com/office/drawing/2014/main" id="{B7D860A4-94E3-8E9D-722A-B642A7A8E98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2F6FDE7-472F-42DF-BF62-E4D1F1A00E5F}" type="slidenum">
              <a:rPr lang="en-US" altLang="zh-CN" smtClean="0">
                <a:latin typeface="Arial" panose="020B0604020202020204" pitchFamily="34" charset="0"/>
              </a:rPr>
              <a:pPr>
                <a:spcBef>
                  <a:spcPct val="0"/>
                </a:spcBef>
              </a:pPr>
              <a:t>24</a:t>
            </a:fld>
            <a:endParaRPr lang="en-US" altLang="zh-CN">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a:extLst>
              <a:ext uri="{FF2B5EF4-FFF2-40B4-BE49-F238E27FC236}">
                <a16:creationId xmlns:a16="http://schemas.microsoft.com/office/drawing/2014/main" id="{BC69EC5C-7FC4-E02B-AC5B-2B93E8D93AF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a:extLst>
              <a:ext uri="{FF2B5EF4-FFF2-40B4-BE49-F238E27FC236}">
                <a16:creationId xmlns:a16="http://schemas.microsoft.com/office/drawing/2014/main" id="{9910A730-D22E-7599-7F5A-535D48CCC0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52228" name="灯片编号占位符 3">
            <a:extLst>
              <a:ext uri="{FF2B5EF4-FFF2-40B4-BE49-F238E27FC236}">
                <a16:creationId xmlns:a16="http://schemas.microsoft.com/office/drawing/2014/main" id="{F07C1089-0CE0-5F3D-DF20-1E016FF219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1FCAAAD-1412-4BA6-A473-D67AE7A1E2FE}" type="slidenum">
              <a:rPr lang="en-US" altLang="zh-CN" smtClean="0">
                <a:latin typeface="Arial" panose="020B0604020202020204" pitchFamily="34" charset="0"/>
              </a:rPr>
              <a:pPr>
                <a:spcBef>
                  <a:spcPct val="0"/>
                </a:spcBef>
              </a:pPr>
              <a:t>25</a:t>
            </a:fld>
            <a:endParaRPr lang="en-US" altLang="zh-CN">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a:extLst>
              <a:ext uri="{FF2B5EF4-FFF2-40B4-BE49-F238E27FC236}">
                <a16:creationId xmlns:a16="http://schemas.microsoft.com/office/drawing/2014/main" id="{6F3E588B-151E-CCDE-7D48-D010D1F7199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备注占位符 2">
            <a:extLst>
              <a:ext uri="{FF2B5EF4-FFF2-40B4-BE49-F238E27FC236}">
                <a16:creationId xmlns:a16="http://schemas.microsoft.com/office/drawing/2014/main" id="{FDEF4947-53C5-FDC4-0FF9-377952EBF3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54276" name="灯片编号占位符 3">
            <a:extLst>
              <a:ext uri="{FF2B5EF4-FFF2-40B4-BE49-F238E27FC236}">
                <a16:creationId xmlns:a16="http://schemas.microsoft.com/office/drawing/2014/main" id="{D64A81EE-2467-A131-F4E6-E4894F42C0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BB19A064-F9F3-4788-A0EC-612376BF9A18}" type="slidenum">
              <a:rPr lang="en-US" altLang="zh-CN" smtClean="0">
                <a:latin typeface="Arial" panose="020B0604020202020204" pitchFamily="34" charset="0"/>
              </a:rPr>
              <a:pPr>
                <a:spcBef>
                  <a:spcPct val="0"/>
                </a:spcBef>
              </a:pPr>
              <a:t>26</a:t>
            </a:fld>
            <a:endParaRPr lang="en-US" altLang="zh-CN">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a:extLst>
              <a:ext uri="{FF2B5EF4-FFF2-40B4-BE49-F238E27FC236}">
                <a16:creationId xmlns:a16="http://schemas.microsoft.com/office/drawing/2014/main" id="{28A0F6A5-FC48-59C4-CB5C-31DE404FE9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备注占位符 2">
            <a:extLst>
              <a:ext uri="{FF2B5EF4-FFF2-40B4-BE49-F238E27FC236}">
                <a16:creationId xmlns:a16="http://schemas.microsoft.com/office/drawing/2014/main" id="{91770B5C-A29F-7890-A96F-83818C2671E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56324" name="灯片编号占位符 3">
            <a:extLst>
              <a:ext uri="{FF2B5EF4-FFF2-40B4-BE49-F238E27FC236}">
                <a16:creationId xmlns:a16="http://schemas.microsoft.com/office/drawing/2014/main" id="{3A20FA28-7C50-D0A1-6B6B-4388D8DB0F5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3AEEE51-0807-4A17-9EF3-4D88883DB0F0}" type="slidenum">
              <a:rPr lang="en-US" altLang="zh-CN" smtClean="0">
                <a:latin typeface="Arial" panose="020B0604020202020204" pitchFamily="34" charset="0"/>
              </a:rPr>
              <a:pPr>
                <a:spcBef>
                  <a:spcPct val="0"/>
                </a:spcBef>
              </a:pPr>
              <a:t>27</a:t>
            </a:fld>
            <a:endParaRPr lang="en-US" altLang="zh-CN">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6931001E-9CEC-EE2E-DB0D-24D60406EB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备注占位符 2">
            <a:extLst>
              <a:ext uri="{FF2B5EF4-FFF2-40B4-BE49-F238E27FC236}">
                <a16:creationId xmlns:a16="http://schemas.microsoft.com/office/drawing/2014/main" id="{532861B3-E737-1665-D5E1-B5E03C720F6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58372" name="灯片编号占位符 3">
            <a:extLst>
              <a:ext uri="{FF2B5EF4-FFF2-40B4-BE49-F238E27FC236}">
                <a16:creationId xmlns:a16="http://schemas.microsoft.com/office/drawing/2014/main" id="{9D20F989-A41D-FBF3-EBB9-0110367812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6C1624C-AA4A-4D62-97D3-11F4F07EB0E7}" type="slidenum">
              <a:rPr lang="en-US" altLang="zh-CN" smtClean="0">
                <a:latin typeface="Arial" panose="020B0604020202020204" pitchFamily="34" charset="0"/>
              </a:rPr>
              <a:pPr>
                <a:spcBef>
                  <a:spcPct val="0"/>
                </a:spcBef>
              </a:pPr>
              <a:t>28</a:t>
            </a:fld>
            <a:endParaRPr lang="en-US" altLang="zh-CN">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a:extLst>
              <a:ext uri="{FF2B5EF4-FFF2-40B4-BE49-F238E27FC236}">
                <a16:creationId xmlns:a16="http://schemas.microsoft.com/office/drawing/2014/main" id="{0787060B-EAEB-53CC-C933-6C6AA8C6150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备注占位符 2">
            <a:extLst>
              <a:ext uri="{FF2B5EF4-FFF2-40B4-BE49-F238E27FC236}">
                <a16:creationId xmlns:a16="http://schemas.microsoft.com/office/drawing/2014/main" id="{492973DD-B695-A0FC-32EB-462FB45CC8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0420" name="灯片编号占位符 3">
            <a:extLst>
              <a:ext uri="{FF2B5EF4-FFF2-40B4-BE49-F238E27FC236}">
                <a16:creationId xmlns:a16="http://schemas.microsoft.com/office/drawing/2014/main" id="{A7CF3201-8297-0A98-7175-5B173B35A08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D62951F-202C-4D48-A981-CAC150677805}" type="slidenum">
              <a:rPr lang="en-US" altLang="zh-CN" smtClean="0">
                <a:latin typeface="Arial" panose="020B0604020202020204" pitchFamily="34" charset="0"/>
              </a:rPr>
              <a:pPr>
                <a:spcBef>
                  <a:spcPct val="0"/>
                </a:spcBef>
              </a:pPr>
              <a:t>29</a:t>
            </a:fld>
            <a:endParaRPr lang="en-US" altLang="zh-CN">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675C00C9-5B94-283A-9ED3-9068F4E7843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备注占位符 2">
            <a:extLst>
              <a:ext uri="{FF2B5EF4-FFF2-40B4-BE49-F238E27FC236}">
                <a16:creationId xmlns:a16="http://schemas.microsoft.com/office/drawing/2014/main" id="{7F1985CA-EE7C-8884-D7E4-4D411CBA2FA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2468" name="灯片编号占位符 3">
            <a:extLst>
              <a:ext uri="{FF2B5EF4-FFF2-40B4-BE49-F238E27FC236}">
                <a16:creationId xmlns:a16="http://schemas.microsoft.com/office/drawing/2014/main" id="{44509D90-690C-BF36-F982-62F9A3DAFD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BBA4167-67AA-49A2-95AD-C4D99F1380A3}" type="slidenum">
              <a:rPr lang="en-US" altLang="zh-CN" smtClean="0">
                <a:latin typeface="Arial" panose="020B0604020202020204" pitchFamily="34" charset="0"/>
              </a:rPr>
              <a:pPr>
                <a:spcBef>
                  <a:spcPct val="0"/>
                </a:spcBef>
              </a:pPr>
              <a:t>30</a:t>
            </a:fld>
            <a:endParaRPr lang="en-US" altLang="zh-CN">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a:extLst>
              <a:ext uri="{FF2B5EF4-FFF2-40B4-BE49-F238E27FC236}">
                <a16:creationId xmlns:a16="http://schemas.microsoft.com/office/drawing/2014/main" id="{02C738EC-F8B1-CFEE-923D-ED61A40AA1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备注占位符 2">
            <a:extLst>
              <a:ext uri="{FF2B5EF4-FFF2-40B4-BE49-F238E27FC236}">
                <a16:creationId xmlns:a16="http://schemas.microsoft.com/office/drawing/2014/main" id="{24EAB4BB-A4E2-08D5-C1F4-52687848F8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4516" name="灯片编号占位符 3">
            <a:extLst>
              <a:ext uri="{FF2B5EF4-FFF2-40B4-BE49-F238E27FC236}">
                <a16:creationId xmlns:a16="http://schemas.microsoft.com/office/drawing/2014/main" id="{9321008F-572A-1729-AE89-35C1C703462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B528F12-475F-4553-918B-627AF595B5D1}" type="slidenum">
              <a:rPr lang="en-US" altLang="zh-CN" smtClean="0">
                <a:latin typeface="Arial" panose="020B0604020202020204" pitchFamily="34" charset="0"/>
              </a:rPr>
              <a:pPr>
                <a:spcBef>
                  <a:spcPct val="0"/>
                </a:spcBef>
              </a:pPr>
              <a:t>31</a:t>
            </a:fld>
            <a:endParaRPr lang="en-US" altLang="zh-CN">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7EFDB230-A2CE-71E5-EAB2-A1FA0A78AE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备注占位符 2">
            <a:extLst>
              <a:ext uri="{FF2B5EF4-FFF2-40B4-BE49-F238E27FC236}">
                <a16:creationId xmlns:a16="http://schemas.microsoft.com/office/drawing/2014/main" id="{F2A5D20B-1B25-6B99-1E21-A94DD3D3FD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6564" name="灯片编号占位符 3">
            <a:extLst>
              <a:ext uri="{FF2B5EF4-FFF2-40B4-BE49-F238E27FC236}">
                <a16:creationId xmlns:a16="http://schemas.microsoft.com/office/drawing/2014/main" id="{4456C052-7D96-C78C-01F3-D7AAF91B14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AC77AAD-6882-42F1-AE29-B5E9F5415592}" type="slidenum">
              <a:rPr lang="en-US" altLang="zh-CN" smtClean="0">
                <a:latin typeface="Arial" panose="020B0604020202020204" pitchFamily="34" charset="0"/>
              </a:rPr>
              <a:pPr>
                <a:spcBef>
                  <a:spcPct val="0"/>
                </a:spcBef>
              </a:pPr>
              <a:t>32</a:t>
            </a:fld>
            <a:endParaRPr lang="en-US" altLang="zh-CN">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a:extLst>
              <a:ext uri="{FF2B5EF4-FFF2-40B4-BE49-F238E27FC236}">
                <a16:creationId xmlns:a16="http://schemas.microsoft.com/office/drawing/2014/main" id="{92EDD3D1-9D6B-CBF8-A218-78645A8B12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备注占位符 2">
            <a:extLst>
              <a:ext uri="{FF2B5EF4-FFF2-40B4-BE49-F238E27FC236}">
                <a16:creationId xmlns:a16="http://schemas.microsoft.com/office/drawing/2014/main" id="{55F71118-CAA7-D69D-064D-AA72E7D95E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8612" name="灯片编号占位符 3">
            <a:extLst>
              <a:ext uri="{FF2B5EF4-FFF2-40B4-BE49-F238E27FC236}">
                <a16:creationId xmlns:a16="http://schemas.microsoft.com/office/drawing/2014/main" id="{BB531D52-E19E-E8C3-2886-04A40A746F6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5A42489-E075-48FD-B952-A7854A690B2C}" type="slidenum">
              <a:rPr lang="en-US" altLang="zh-CN" smtClean="0">
                <a:latin typeface="Arial" panose="020B0604020202020204" pitchFamily="34" charset="0"/>
              </a:rPr>
              <a:pPr>
                <a:spcBef>
                  <a:spcPct val="0"/>
                </a:spcBef>
              </a:pPr>
              <a:t>33</a:t>
            </a:fld>
            <a:endParaRPr lang="en-US" altLang="zh-CN">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a:extLst>
              <a:ext uri="{FF2B5EF4-FFF2-40B4-BE49-F238E27FC236}">
                <a16:creationId xmlns:a16="http://schemas.microsoft.com/office/drawing/2014/main" id="{9EBB5BF4-5885-C266-FA03-CE6CCEDE8B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备注占位符 2">
            <a:extLst>
              <a:ext uri="{FF2B5EF4-FFF2-40B4-BE49-F238E27FC236}">
                <a16:creationId xmlns:a16="http://schemas.microsoft.com/office/drawing/2014/main" id="{2E902425-187D-2E7D-6341-3FB42A79EBE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70660" name="灯片编号占位符 3">
            <a:extLst>
              <a:ext uri="{FF2B5EF4-FFF2-40B4-BE49-F238E27FC236}">
                <a16:creationId xmlns:a16="http://schemas.microsoft.com/office/drawing/2014/main" id="{37576A9B-7954-5D07-58E9-234B746BCA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5314CAF-9C0F-419C-A467-1B30E2CF1E7A}" type="slidenum">
              <a:rPr lang="en-US" altLang="zh-CN" smtClean="0">
                <a:latin typeface="Arial" panose="020B0604020202020204" pitchFamily="34" charset="0"/>
              </a:rPr>
              <a:pPr>
                <a:spcBef>
                  <a:spcPct val="0"/>
                </a:spcBef>
              </a:pPr>
              <a:t>34</a:t>
            </a:fld>
            <a:endParaRPr lang="en-US" altLang="zh-CN">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a:extLst>
              <a:ext uri="{FF2B5EF4-FFF2-40B4-BE49-F238E27FC236}">
                <a16:creationId xmlns:a16="http://schemas.microsoft.com/office/drawing/2014/main" id="{57D37ED7-9626-12A3-F98A-B5F85EFC98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备注占位符 2">
            <a:extLst>
              <a:ext uri="{FF2B5EF4-FFF2-40B4-BE49-F238E27FC236}">
                <a16:creationId xmlns:a16="http://schemas.microsoft.com/office/drawing/2014/main" id="{E97BA62C-FF34-D1D1-75AE-7ACF1B236D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72708" name="灯片编号占位符 3">
            <a:extLst>
              <a:ext uri="{FF2B5EF4-FFF2-40B4-BE49-F238E27FC236}">
                <a16:creationId xmlns:a16="http://schemas.microsoft.com/office/drawing/2014/main" id="{0B084458-FBD1-6136-D578-CFF44B2C4E0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DE33458-F81A-4CBF-AACC-A0A171EDC95C}" type="slidenum">
              <a:rPr lang="en-US" altLang="zh-CN" smtClean="0">
                <a:latin typeface="Arial" panose="020B0604020202020204" pitchFamily="34" charset="0"/>
              </a:rPr>
              <a:pPr>
                <a:spcBef>
                  <a:spcPct val="0"/>
                </a:spcBef>
              </a:pPr>
              <a:t>35</a:t>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en-US"/>
          </a:p>
        </p:txBody>
      </p:sp>
      <p:sp>
        <p:nvSpPr>
          <p:cNvPr id="4" name="Rectangle 4">
            <a:extLst>
              <a:ext uri="{FF2B5EF4-FFF2-40B4-BE49-F238E27FC236}">
                <a16:creationId xmlns:a16="http://schemas.microsoft.com/office/drawing/2014/main" id="{81278899-F8D2-7E3D-41D3-5919B5F3795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D4F9C90-96DA-49D7-5278-1F750D01D7B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1ED7A61-A9F0-F02F-4020-B42DEBBBB274}"/>
              </a:ext>
            </a:extLst>
          </p:cNvPr>
          <p:cNvSpPr>
            <a:spLocks noGrp="1" noChangeArrowheads="1"/>
          </p:cNvSpPr>
          <p:nvPr>
            <p:ph type="sldNum" sz="quarter" idx="12"/>
          </p:nvPr>
        </p:nvSpPr>
        <p:spPr>
          <a:ln/>
        </p:spPr>
        <p:txBody>
          <a:bodyPr/>
          <a:lstStyle>
            <a:lvl1pPr>
              <a:defRPr/>
            </a:lvl1pPr>
          </a:lstStyle>
          <a:p>
            <a:pPr>
              <a:defRPr/>
            </a:pPr>
            <a:fld id="{762F128D-7363-40CE-B29E-E0F0921BC0CA}" type="slidenum">
              <a:rPr lang="en-US" altLang="zh-CN"/>
              <a:pPr>
                <a:defRPr/>
              </a:pPr>
              <a:t>‹#›</a:t>
            </a:fld>
            <a:endParaRPr lang="en-US" altLang="zh-CN"/>
          </a:p>
        </p:txBody>
      </p:sp>
    </p:spTree>
    <p:extLst>
      <p:ext uri="{BB962C8B-B14F-4D97-AF65-F5344CB8AC3E}">
        <p14:creationId xmlns:p14="http://schemas.microsoft.com/office/powerpoint/2010/main" val="527217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a:extLst>
              <a:ext uri="{FF2B5EF4-FFF2-40B4-BE49-F238E27FC236}">
                <a16:creationId xmlns:a16="http://schemas.microsoft.com/office/drawing/2014/main" id="{1AB8C6B3-A7E7-2528-F260-13B74275C53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D855611A-7930-55C3-4E6F-F773512B943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A4AAACD-3B07-58B5-E76E-C2F358C70EC3}"/>
              </a:ext>
            </a:extLst>
          </p:cNvPr>
          <p:cNvSpPr>
            <a:spLocks noGrp="1" noChangeArrowheads="1"/>
          </p:cNvSpPr>
          <p:nvPr>
            <p:ph type="sldNum" sz="quarter" idx="12"/>
          </p:nvPr>
        </p:nvSpPr>
        <p:spPr>
          <a:ln/>
        </p:spPr>
        <p:txBody>
          <a:bodyPr/>
          <a:lstStyle>
            <a:lvl1pPr>
              <a:defRPr/>
            </a:lvl1pPr>
          </a:lstStyle>
          <a:p>
            <a:pPr>
              <a:defRPr/>
            </a:pPr>
            <a:fld id="{E86C2ED7-890B-4C42-AA09-96A5EA1CF485}" type="slidenum">
              <a:rPr lang="en-US" altLang="zh-CN"/>
              <a:pPr>
                <a:defRPr/>
              </a:pPr>
              <a:t>‹#›</a:t>
            </a:fld>
            <a:endParaRPr lang="en-US" altLang="zh-CN"/>
          </a:p>
        </p:txBody>
      </p:sp>
    </p:spTree>
    <p:extLst>
      <p:ext uri="{BB962C8B-B14F-4D97-AF65-F5344CB8AC3E}">
        <p14:creationId xmlns:p14="http://schemas.microsoft.com/office/powerpoint/2010/main" val="1921573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7DB5252B-E067-7697-EDAA-061651128BF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D7BFBCD-844F-02FC-009B-1621FF302D8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7F7F9A5-DE01-1AD2-DF45-A9895619B645}"/>
              </a:ext>
            </a:extLst>
          </p:cNvPr>
          <p:cNvSpPr>
            <a:spLocks noGrp="1" noChangeArrowheads="1"/>
          </p:cNvSpPr>
          <p:nvPr>
            <p:ph type="sldNum" sz="quarter" idx="12"/>
          </p:nvPr>
        </p:nvSpPr>
        <p:spPr>
          <a:ln/>
        </p:spPr>
        <p:txBody>
          <a:bodyPr/>
          <a:lstStyle>
            <a:lvl1pPr>
              <a:defRPr/>
            </a:lvl1pPr>
          </a:lstStyle>
          <a:p>
            <a:pPr>
              <a:defRPr/>
            </a:pPr>
            <a:fld id="{31213560-6BDC-4E80-9518-7BC74CE24BB7}" type="slidenum">
              <a:rPr lang="en-US" altLang="zh-CN"/>
              <a:pPr>
                <a:defRPr/>
              </a:pPr>
              <a:t>‹#›</a:t>
            </a:fld>
            <a:endParaRPr lang="en-US" altLang="zh-CN"/>
          </a:p>
        </p:txBody>
      </p:sp>
    </p:spTree>
    <p:extLst>
      <p:ext uri="{BB962C8B-B14F-4D97-AF65-F5344CB8AC3E}">
        <p14:creationId xmlns:p14="http://schemas.microsoft.com/office/powerpoint/2010/main" val="888612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4">
            <a:extLst>
              <a:ext uri="{FF2B5EF4-FFF2-40B4-BE49-F238E27FC236}">
                <a16:creationId xmlns:a16="http://schemas.microsoft.com/office/drawing/2014/main" id="{290BCFF3-CD61-7455-CCD8-645C01A6C5F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99777D4-C12A-AD9F-2D98-BC5A5D93ADB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708F528-4EFE-FBA6-11EA-220F7FF4EB43}"/>
              </a:ext>
            </a:extLst>
          </p:cNvPr>
          <p:cNvSpPr>
            <a:spLocks noGrp="1" noChangeArrowheads="1"/>
          </p:cNvSpPr>
          <p:nvPr>
            <p:ph type="sldNum" sz="quarter" idx="12"/>
          </p:nvPr>
        </p:nvSpPr>
        <p:spPr>
          <a:ln/>
        </p:spPr>
        <p:txBody>
          <a:bodyPr/>
          <a:lstStyle>
            <a:lvl1pPr>
              <a:defRPr/>
            </a:lvl1pPr>
          </a:lstStyle>
          <a:p>
            <a:pPr>
              <a:defRPr/>
            </a:pPr>
            <a:fld id="{2C768DF6-2CC2-41ED-8530-5E28E45480D3}" type="slidenum">
              <a:rPr lang="en-US" altLang="zh-CN"/>
              <a:pPr>
                <a:defRPr/>
              </a:pPr>
              <a:t>‹#›</a:t>
            </a:fld>
            <a:endParaRPr lang="en-US" altLang="zh-CN"/>
          </a:p>
        </p:txBody>
      </p:sp>
    </p:spTree>
    <p:extLst>
      <p:ext uri="{BB962C8B-B14F-4D97-AF65-F5344CB8AC3E}">
        <p14:creationId xmlns:p14="http://schemas.microsoft.com/office/powerpoint/2010/main" val="1418389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4">
            <a:extLst>
              <a:ext uri="{FF2B5EF4-FFF2-40B4-BE49-F238E27FC236}">
                <a16:creationId xmlns:a16="http://schemas.microsoft.com/office/drawing/2014/main" id="{60A3A68C-892E-B570-74B9-54D91393B97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51A1C3AD-CB9B-31D3-C478-AA11E36E021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A6E7E2CC-B262-22B5-B760-DC981DFA96F1}"/>
              </a:ext>
            </a:extLst>
          </p:cNvPr>
          <p:cNvSpPr>
            <a:spLocks noGrp="1" noChangeArrowheads="1"/>
          </p:cNvSpPr>
          <p:nvPr>
            <p:ph type="sldNum" sz="quarter" idx="12"/>
          </p:nvPr>
        </p:nvSpPr>
        <p:spPr>
          <a:ln/>
        </p:spPr>
        <p:txBody>
          <a:bodyPr/>
          <a:lstStyle>
            <a:lvl1pPr>
              <a:defRPr/>
            </a:lvl1pPr>
          </a:lstStyle>
          <a:p>
            <a:pPr>
              <a:defRPr/>
            </a:pPr>
            <a:fld id="{E895102A-1AFF-4F78-BED5-1597555F28EF}" type="slidenum">
              <a:rPr lang="en-US" altLang="zh-CN"/>
              <a:pPr>
                <a:defRPr/>
              </a:pPr>
              <a:t>‹#›</a:t>
            </a:fld>
            <a:endParaRPr lang="en-US" altLang="zh-CN"/>
          </a:p>
        </p:txBody>
      </p:sp>
    </p:spTree>
    <p:extLst>
      <p:ext uri="{BB962C8B-B14F-4D97-AF65-F5344CB8AC3E}">
        <p14:creationId xmlns:p14="http://schemas.microsoft.com/office/powerpoint/2010/main" val="3991182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Rectangle 4">
            <a:extLst>
              <a:ext uri="{FF2B5EF4-FFF2-40B4-BE49-F238E27FC236}">
                <a16:creationId xmlns:a16="http://schemas.microsoft.com/office/drawing/2014/main" id="{3179E20E-E2D3-E496-3931-049FDEE42F6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0250CDC1-A69F-CB1C-9736-CA7DF518482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0ECEFF7-17BB-2231-8D1A-759100B1F768}"/>
              </a:ext>
            </a:extLst>
          </p:cNvPr>
          <p:cNvSpPr>
            <a:spLocks noGrp="1" noChangeArrowheads="1"/>
          </p:cNvSpPr>
          <p:nvPr>
            <p:ph type="sldNum" sz="quarter" idx="12"/>
          </p:nvPr>
        </p:nvSpPr>
        <p:spPr>
          <a:ln/>
        </p:spPr>
        <p:txBody>
          <a:bodyPr/>
          <a:lstStyle>
            <a:lvl1pPr>
              <a:defRPr/>
            </a:lvl1pPr>
          </a:lstStyle>
          <a:p>
            <a:pPr>
              <a:defRPr/>
            </a:pPr>
            <a:fld id="{13CD510C-49BA-4D2F-8094-CFD358CEFC8B}" type="slidenum">
              <a:rPr lang="en-US" altLang="zh-CN"/>
              <a:pPr>
                <a:defRPr/>
              </a:pPr>
              <a:t>‹#›</a:t>
            </a:fld>
            <a:endParaRPr lang="en-US" altLang="zh-CN"/>
          </a:p>
        </p:txBody>
      </p:sp>
    </p:spTree>
    <p:extLst>
      <p:ext uri="{BB962C8B-B14F-4D97-AF65-F5344CB8AC3E}">
        <p14:creationId xmlns:p14="http://schemas.microsoft.com/office/powerpoint/2010/main" val="2844942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5800AC3-077B-CC76-C880-6EF234ECEE2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C52893CC-10F8-5D96-E414-E1B34110766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3648D888-9EF2-6C60-19B5-5891873290D3}"/>
              </a:ext>
            </a:extLst>
          </p:cNvPr>
          <p:cNvSpPr>
            <a:spLocks noGrp="1" noChangeArrowheads="1"/>
          </p:cNvSpPr>
          <p:nvPr>
            <p:ph type="sldNum" sz="quarter" idx="12"/>
          </p:nvPr>
        </p:nvSpPr>
        <p:spPr>
          <a:ln/>
        </p:spPr>
        <p:txBody>
          <a:bodyPr/>
          <a:lstStyle>
            <a:lvl1pPr>
              <a:defRPr/>
            </a:lvl1pPr>
          </a:lstStyle>
          <a:p>
            <a:pPr>
              <a:defRPr/>
            </a:pPr>
            <a:fld id="{9EFC5E4C-99ED-42E0-8756-6DB4CAA01852}" type="slidenum">
              <a:rPr lang="en-US" altLang="zh-CN"/>
              <a:pPr>
                <a:defRPr/>
              </a:pPr>
              <a:t>‹#›</a:t>
            </a:fld>
            <a:endParaRPr lang="en-US" altLang="zh-CN"/>
          </a:p>
        </p:txBody>
      </p:sp>
    </p:spTree>
    <p:extLst>
      <p:ext uri="{BB962C8B-B14F-4D97-AF65-F5344CB8AC3E}">
        <p14:creationId xmlns:p14="http://schemas.microsoft.com/office/powerpoint/2010/main" val="1099491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BAB2127-D6F3-03F5-4F59-0630A5B2F92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F16B405-6120-802C-DDC1-98D8362BE1D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7E62CDE-0CB6-FCAE-3A6F-609876A4773F}"/>
              </a:ext>
            </a:extLst>
          </p:cNvPr>
          <p:cNvSpPr>
            <a:spLocks noGrp="1" noChangeArrowheads="1"/>
          </p:cNvSpPr>
          <p:nvPr>
            <p:ph type="sldNum" sz="quarter" idx="12"/>
          </p:nvPr>
        </p:nvSpPr>
        <p:spPr>
          <a:ln/>
        </p:spPr>
        <p:txBody>
          <a:bodyPr/>
          <a:lstStyle>
            <a:lvl1pPr>
              <a:defRPr/>
            </a:lvl1pPr>
          </a:lstStyle>
          <a:p>
            <a:pPr>
              <a:defRPr/>
            </a:pPr>
            <a:fld id="{7CD34F31-0899-4D89-A64A-245FD13ABA35}" type="slidenum">
              <a:rPr lang="en-US" altLang="zh-CN"/>
              <a:pPr>
                <a:defRPr/>
              </a:pPr>
              <a:t>‹#›</a:t>
            </a:fld>
            <a:endParaRPr lang="en-US" altLang="zh-CN"/>
          </a:p>
        </p:txBody>
      </p:sp>
    </p:spTree>
    <p:extLst>
      <p:ext uri="{BB962C8B-B14F-4D97-AF65-F5344CB8AC3E}">
        <p14:creationId xmlns:p14="http://schemas.microsoft.com/office/powerpoint/2010/main" val="1338649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0A6F196D-C181-E162-6230-966D2B5BBEA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6078BAF-5AA2-A126-CC82-36CC1A7BC49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35BA538-6622-DB70-B0B9-2930016F466E}"/>
              </a:ext>
            </a:extLst>
          </p:cNvPr>
          <p:cNvSpPr>
            <a:spLocks noGrp="1" noChangeArrowheads="1"/>
          </p:cNvSpPr>
          <p:nvPr>
            <p:ph type="sldNum" sz="quarter" idx="12"/>
          </p:nvPr>
        </p:nvSpPr>
        <p:spPr>
          <a:ln/>
        </p:spPr>
        <p:txBody>
          <a:bodyPr/>
          <a:lstStyle>
            <a:lvl1pPr>
              <a:defRPr/>
            </a:lvl1pPr>
          </a:lstStyle>
          <a:p>
            <a:pPr>
              <a:defRPr/>
            </a:pPr>
            <a:fld id="{93EAE24A-7F70-440E-826F-FCBAF0DAD2BC}" type="slidenum">
              <a:rPr lang="en-US" altLang="zh-CN"/>
              <a:pPr>
                <a:defRPr/>
              </a:pPr>
              <a:t>‹#›</a:t>
            </a:fld>
            <a:endParaRPr lang="en-US" altLang="zh-CN"/>
          </a:p>
        </p:txBody>
      </p:sp>
    </p:spTree>
    <p:extLst>
      <p:ext uri="{BB962C8B-B14F-4D97-AF65-F5344CB8AC3E}">
        <p14:creationId xmlns:p14="http://schemas.microsoft.com/office/powerpoint/2010/main" val="1199968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a:extLst>
              <a:ext uri="{FF2B5EF4-FFF2-40B4-BE49-F238E27FC236}">
                <a16:creationId xmlns:a16="http://schemas.microsoft.com/office/drawing/2014/main" id="{CE384E82-B4F9-A1AE-CFFD-D98E958CD7A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98737C3-D871-88BB-DAF7-C3ACCE7C2C3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5FB0FC8-2D6F-AAC1-558E-22C3B914CC48}"/>
              </a:ext>
            </a:extLst>
          </p:cNvPr>
          <p:cNvSpPr>
            <a:spLocks noGrp="1" noChangeArrowheads="1"/>
          </p:cNvSpPr>
          <p:nvPr>
            <p:ph type="sldNum" sz="quarter" idx="12"/>
          </p:nvPr>
        </p:nvSpPr>
        <p:spPr>
          <a:ln/>
        </p:spPr>
        <p:txBody>
          <a:bodyPr/>
          <a:lstStyle>
            <a:lvl1pPr>
              <a:defRPr/>
            </a:lvl1pPr>
          </a:lstStyle>
          <a:p>
            <a:pPr>
              <a:defRPr/>
            </a:pPr>
            <a:fld id="{864EF387-DCCF-4EC8-B107-40922CA6DAB8}" type="slidenum">
              <a:rPr lang="en-US" altLang="zh-CN"/>
              <a:pPr>
                <a:defRPr/>
              </a:pPr>
              <a:t>‹#›</a:t>
            </a:fld>
            <a:endParaRPr lang="en-US" altLang="zh-CN"/>
          </a:p>
        </p:txBody>
      </p:sp>
    </p:spTree>
    <p:extLst>
      <p:ext uri="{BB962C8B-B14F-4D97-AF65-F5344CB8AC3E}">
        <p14:creationId xmlns:p14="http://schemas.microsoft.com/office/powerpoint/2010/main" val="2801616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a:extLst>
              <a:ext uri="{FF2B5EF4-FFF2-40B4-BE49-F238E27FC236}">
                <a16:creationId xmlns:a16="http://schemas.microsoft.com/office/drawing/2014/main" id="{934CD9E0-C37A-AEE0-022F-4F87764F911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B975555-16A9-A199-EDCF-3245317D395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693EFB6-4349-53BC-F18B-C00AFBB6D526}"/>
              </a:ext>
            </a:extLst>
          </p:cNvPr>
          <p:cNvSpPr>
            <a:spLocks noGrp="1" noChangeArrowheads="1"/>
          </p:cNvSpPr>
          <p:nvPr>
            <p:ph type="sldNum" sz="quarter" idx="12"/>
          </p:nvPr>
        </p:nvSpPr>
        <p:spPr>
          <a:ln/>
        </p:spPr>
        <p:txBody>
          <a:bodyPr/>
          <a:lstStyle>
            <a:lvl1pPr>
              <a:defRPr/>
            </a:lvl1pPr>
          </a:lstStyle>
          <a:p>
            <a:pPr>
              <a:defRPr/>
            </a:pPr>
            <a:fld id="{48FA35C3-272F-4583-9A19-272BCFB0043D}" type="slidenum">
              <a:rPr lang="en-US" altLang="zh-CN"/>
              <a:pPr>
                <a:defRPr/>
              </a:pPr>
              <a:t>‹#›</a:t>
            </a:fld>
            <a:endParaRPr lang="en-US" altLang="zh-CN"/>
          </a:p>
        </p:txBody>
      </p:sp>
    </p:spTree>
    <p:extLst>
      <p:ext uri="{BB962C8B-B14F-4D97-AF65-F5344CB8AC3E}">
        <p14:creationId xmlns:p14="http://schemas.microsoft.com/office/powerpoint/2010/main" val="1535092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0253A75-DFCC-798E-C4F6-705D5DFD4EFB}"/>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9FEC6AD7-3EF2-57F3-C958-05D46FC970BC}"/>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26E9DC2B-029E-6072-3220-CBECEDAFD519}"/>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ltLang="zh-CN"/>
          </a:p>
        </p:txBody>
      </p:sp>
      <p:sp>
        <p:nvSpPr>
          <p:cNvPr id="1029" name="Rectangle 5">
            <a:extLst>
              <a:ext uri="{FF2B5EF4-FFF2-40B4-BE49-F238E27FC236}">
                <a16:creationId xmlns:a16="http://schemas.microsoft.com/office/drawing/2014/main" id="{25EA407B-C411-335B-B40C-A436C082569A}"/>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ltLang="zh-CN"/>
          </a:p>
        </p:txBody>
      </p:sp>
      <p:sp>
        <p:nvSpPr>
          <p:cNvPr id="1030" name="Rectangle 6">
            <a:extLst>
              <a:ext uri="{FF2B5EF4-FFF2-40B4-BE49-F238E27FC236}">
                <a16:creationId xmlns:a16="http://schemas.microsoft.com/office/drawing/2014/main" id="{04EDD8D4-1B28-D794-8DEF-F564BB28403B}"/>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505D0A75-5575-4BBD-83EC-49338230A21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slide" Target="slide1.xml"/></Relationships>
</file>

<file path=ppt/slides/_rels/slide1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slide" Target="slide1.xml"/></Relationships>
</file>

<file path=ppt/slides/_rels/slide1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slide" Target="slide1.xml"/></Relationships>
</file>

<file path=ppt/slides/_rels/slide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slide" Target="slide1.xml"/></Relationships>
</file>

<file path=ppt/slides/_rels/slide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slide" Target="slide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slide" Target="slide1.xml"/><Relationship Id="rId4" Type="http://schemas.openxmlformats.org/officeDocument/2006/relationships/slide" Target="slide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slide" Target="slide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slide" Target="slide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slide" Target="slide1.xml"/></Relationships>
</file>

<file path=ppt/slides/_rels/slide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slide" Target="slide1.xml"/></Relationships>
</file>

<file path=ppt/slides/_rels/slide2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slide" Target="slide1.xml"/></Relationships>
</file>

<file path=ppt/slides/_rels/slide3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slide" Target="slide1.xml"/></Relationships>
</file>

<file path=ppt/slides/_rels/slide3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slide" Target="slide1.xml"/></Relationships>
</file>

<file path=ppt/slides/_rels/slide3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slide" Target="slide1.xml"/></Relationships>
</file>

<file path=ppt/slides/_rels/slide3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slide" Target="slide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BFA3F71-69BD-9734-7C66-7DCEE4CADD7F}"/>
              </a:ext>
            </a:extLst>
          </p:cNvPr>
          <p:cNvSpPr>
            <a:spLocks noGrp="1" noChangeArrowheads="1"/>
          </p:cNvSpPr>
          <p:nvPr>
            <p:ph type="ctrTitle"/>
          </p:nvPr>
        </p:nvSpPr>
        <p:spPr>
          <a:xfrm>
            <a:off x="381000" y="990600"/>
            <a:ext cx="7772400" cy="1470025"/>
          </a:xfrm>
        </p:spPr>
        <p:txBody>
          <a:bodyPr/>
          <a:lstStyle/>
          <a:p>
            <a:pPr eaLnBrk="1" hangingPunct="1"/>
            <a:r>
              <a:rPr lang="zh-CN" altLang="en-US" dirty="0">
                <a:latin typeface="宋体" panose="02010600030101010101" pitchFamily="2" charset="-122"/>
              </a:rPr>
              <a:t>第十二讲 信息论基础 </a:t>
            </a:r>
            <a:br>
              <a:rPr lang="en-US" altLang="zh-CN" b="1" dirty="0">
                <a:latin typeface="宋体" panose="02010600030101010101" pitchFamily="2" charset="-122"/>
              </a:rPr>
            </a:br>
            <a:r>
              <a:rPr lang="zh-CN" altLang="en-US" b="1" dirty="0">
                <a:latin typeface="宋体" panose="02010600030101010101" pitchFamily="2" charset="-122"/>
              </a:rPr>
              <a:t>上</a:t>
            </a:r>
            <a:endParaRPr lang="en-US" altLang="zh-CN" b="1" dirty="0">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0F1C565-C11C-DECB-922E-A17AE9600E7B}"/>
              </a:ext>
            </a:extLst>
          </p:cNvPr>
          <p:cNvSpPr>
            <a:spLocks noGrp="1" noChangeArrowheads="1"/>
          </p:cNvSpPr>
          <p:nvPr>
            <p:ph type="title"/>
          </p:nvPr>
        </p:nvSpPr>
        <p:spPr>
          <a:xfrm>
            <a:off x="228600" y="609600"/>
            <a:ext cx="8229600" cy="990600"/>
          </a:xfrm>
        </p:spPr>
        <p:txBody>
          <a:bodyPr/>
          <a:lstStyle/>
          <a:p>
            <a:pPr eaLnBrk="1" hangingPunct="1"/>
            <a:r>
              <a:rPr lang="zh-CN" altLang="en-US" dirty="0"/>
              <a:t>本讲提要</a:t>
            </a:r>
          </a:p>
        </p:txBody>
      </p:sp>
      <p:sp>
        <p:nvSpPr>
          <p:cNvPr id="5123" name="Rectangle 3">
            <a:extLst>
              <a:ext uri="{FF2B5EF4-FFF2-40B4-BE49-F238E27FC236}">
                <a16:creationId xmlns:a16="http://schemas.microsoft.com/office/drawing/2014/main" id="{5243452E-448E-DB61-E425-6E8435D8F361}"/>
              </a:ext>
            </a:extLst>
          </p:cNvPr>
          <p:cNvSpPr>
            <a:spLocks noGrp="1" noChangeArrowheads="1"/>
          </p:cNvSpPr>
          <p:nvPr>
            <p:ph type="body" idx="1"/>
          </p:nvPr>
        </p:nvSpPr>
        <p:spPr>
          <a:xfrm>
            <a:off x="762000" y="1905000"/>
            <a:ext cx="7162800" cy="2667000"/>
          </a:xfrm>
        </p:spPr>
        <p:txBody>
          <a:bodyPr/>
          <a:lstStyle/>
          <a:p>
            <a:pPr eaLnBrk="1" hangingPunct="1">
              <a:buFont typeface="Wingdings" panose="05000000000000000000" pitchFamily="2" charset="2"/>
              <a:buChar char="q"/>
            </a:pPr>
            <a:r>
              <a:rPr lang="zh-CN" altLang="en-US" sz="3600" dirty="0"/>
              <a:t> 通信系统的数学模型</a:t>
            </a:r>
            <a:endParaRPr lang="en-US" altLang="zh-CN" sz="3600" dirty="0"/>
          </a:p>
          <a:p>
            <a:pPr eaLnBrk="1" hangingPunct="1">
              <a:buFont typeface="Wingdings" panose="05000000000000000000" pitchFamily="2" charset="2"/>
              <a:buChar char="q"/>
            </a:pPr>
            <a:r>
              <a:rPr lang="zh-CN" altLang="en-US" sz="3600" dirty="0"/>
              <a:t> 信息的度量</a:t>
            </a:r>
            <a:endParaRPr lang="en-US" altLang="zh-CN" sz="3600" dirty="0"/>
          </a:p>
          <a:p>
            <a:pPr eaLnBrk="1" hangingPunct="1">
              <a:buFont typeface="Wingdings" panose="05000000000000000000" pitchFamily="2" charset="2"/>
              <a:buChar char="q"/>
            </a:pPr>
            <a:r>
              <a:rPr lang="zh-CN" altLang="en-US" sz="3600" dirty="0"/>
              <a:t> 联合熵与条件熵</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411B2F7-2D1F-1757-F209-268E042BDFFC}"/>
              </a:ext>
            </a:extLst>
          </p:cNvPr>
          <p:cNvSpPr>
            <a:spLocks noGrp="1" noChangeArrowheads="1"/>
          </p:cNvSpPr>
          <p:nvPr>
            <p:ph type="body" idx="1"/>
          </p:nvPr>
        </p:nvSpPr>
        <p:spPr>
          <a:xfrm>
            <a:off x="304800" y="228600"/>
            <a:ext cx="5029200" cy="533400"/>
          </a:xfrm>
        </p:spPr>
        <p:txBody>
          <a:bodyPr/>
          <a:lstStyle/>
          <a:p>
            <a:pPr eaLnBrk="1" hangingPunct="1">
              <a:buFontTx/>
              <a:buNone/>
            </a:pPr>
            <a:r>
              <a:rPr lang="en-US" altLang="zh-CN"/>
              <a:t>1 </a:t>
            </a:r>
            <a:r>
              <a:rPr lang="zh-CN" altLang="en-US"/>
              <a:t>通信系统的数学模型</a:t>
            </a:r>
            <a:endParaRPr lang="en-US" altLang="zh-CN" b="1"/>
          </a:p>
          <a:p>
            <a:pPr eaLnBrk="1" hangingPunct="1">
              <a:buFontTx/>
              <a:buNone/>
            </a:pPr>
            <a:endParaRPr lang="zh-CN" altLang="en-US"/>
          </a:p>
        </p:txBody>
      </p:sp>
      <p:sp>
        <p:nvSpPr>
          <p:cNvPr id="2" name="矩形 1">
            <a:extLst>
              <a:ext uri="{FF2B5EF4-FFF2-40B4-BE49-F238E27FC236}">
                <a16:creationId xmlns:a16="http://schemas.microsoft.com/office/drawing/2014/main" id="{965AAB7E-6FFE-AEBF-0681-4A96FB2F61E4}"/>
              </a:ext>
            </a:extLst>
          </p:cNvPr>
          <p:cNvSpPr/>
          <p:nvPr/>
        </p:nvSpPr>
        <p:spPr bwMode="auto">
          <a:xfrm>
            <a:off x="214313" y="2930525"/>
            <a:ext cx="8678862" cy="3225800"/>
          </a:xfrm>
          <a:prstGeom prst="rect">
            <a:avLst/>
          </a:prstGeom>
          <a:solidFill>
            <a:srgbClr val="FFFFFF">
              <a:lumMod val="85000"/>
            </a:srgbClr>
          </a:solidFill>
          <a:ln w="12700" cap="flat" cmpd="sng" algn="ctr">
            <a:solidFill>
              <a:srgbClr val="000000"/>
            </a:solidFill>
            <a:prstDash val="solid"/>
            <a:round/>
            <a:headEnd type="none" w="med" len="med"/>
            <a:tailEnd type="none" w="med" len="sm"/>
          </a:ln>
          <a:effectLst/>
        </p:spPr>
        <p:txBody>
          <a:bodyPr wrap="none" anchor="ctr"/>
          <a:lstStyle/>
          <a:p>
            <a:pPr algn="ctr" eaLnBrk="1" fontAlgn="auto" latinLnBrk="1" hangingPunct="1">
              <a:lnSpc>
                <a:spcPct val="80000"/>
              </a:lnSpc>
              <a:spcBef>
                <a:spcPct val="50000"/>
              </a:spcBef>
              <a:spcAft>
                <a:spcPts val="0"/>
              </a:spcAft>
              <a:buClr>
                <a:srgbClr val="FF0000"/>
              </a:buClr>
              <a:buFont typeface="Wingdings" pitchFamily="2" charset="2"/>
              <a:buNone/>
              <a:defRPr/>
            </a:pPr>
            <a:endParaRPr kumimoji="1" lang="zh-CN" altLang="en-US" sz="1000" kern="0">
              <a:noFill/>
              <a:latin typeface="굴림" pitchFamily="50" charset="-127"/>
              <a:ea typeface="굴림" pitchFamily="50" charset="-127"/>
              <a:cs typeface="Tahoma" pitchFamily="34" charset="0"/>
            </a:endParaRPr>
          </a:p>
        </p:txBody>
      </p:sp>
      <p:sp>
        <p:nvSpPr>
          <p:cNvPr id="5" name="Rectangle 2">
            <a:hlinkClick r:id="rId3" action="ppaction://hlinksldjump"/>
            <a:extLst>
              <a:ext uri="{FF2B5EF4-FFF2-40B4-BE49-F238E27FC236}">
                <a16:creationId xmlns:a16="http://schemas.microsoft.com/office/drawing/2014/main" id="{A4AFBADD-FD30-B367-28AD-57BBB92DBD57}"/>
              </a:ext>
            </a:extLst>
          </p:cNvPr>
          <p:cNvSpPr>
            <a:spLocks noChangeArrowheads="1"/>
          </p:cNvSpPr>
          <p:nvPr/>
        </p:nvSpPr>
        <p:spPr bwMode="auto">
          <a:xfrm>
            <a:off x="468313" y="914400"/>
            <a:ext cx="8208962" cy="1930400"/>
          </a:xfrm>
          <a:prstGeom prst="rect">
            <a:avLst/>
          </a:prstGeom>
          <a:noFill/>
          <a:ln w="9525">
            <a:noFill/>
            <a:miter lim="800000"/>
            <a:headEnd/>
            <a:tailEnd/>
          </a:ln>
          <a:effectLst/>
        </p:spPr>
        <p:txBody>
          <a:bodyPr>
            <a:spAutoFit/>
          </a:bodyPr>
          <a:lstStyle/>
          <a:p>
            <a:pPr eaLnBrk="1" hangingPunct="1">
              <a:lnSpc>
                <a:spcPct val="150000"/>
              </a:lnSpc>
              <a:defRPr/>
            </a:pPr>
            <a:r>
              <a:rPr lang="zh-CN" altLang="en-US" sz="2800" dirty="0">
                <a:latin typeface="宋体" pitchFamily="2" charset="-122"/>
                <a:cs typeface="Tahoma"/>
              </a:rPr>
              <a:t>现实生活中的各种通信系统，如电报、电话、图像、计算机、雷达等系统，本质上都是如图</a:t>
            </a:r>
            <a:r>
              <a:rPr lang="en-US" altLang="zh-CN" sz="2800" dirty="0">
                <a:latin typeface="宋体" pitchFamily="2" charset="-122"/>
                <a:cs typeface="Tahoma"/>
              </a:rPr>
              <a:t>1</a:t>
            </a:r>
            <a:r>
              <a:rPr lang="zh-CN" altLang="en-US" sz="2800" dirty="0">
                <a:latin typeface="宋体" pitchFamily="2" charset="-122"/>
                <a:cs typeface="Tahoma"/>
              </a:rPr>
              <a:t>所示的通信系统模型。</a:t>
            </a:r>
            <a:endParaRPr lang="en-US" altLang="zh-CN" sz="3600" dirty="0">
              <a:effectLst>
                <a:outerShdw blurRad="38100" dist="38100" dir="2700000" algn="tl">
                  <a:srgbClr val="C0C0C0"/>
                </a:outerShdw>
              </a:effectLst>
              <a:latin typeface="黑体" pitchFamily="2" charset="-122"/>
              <a:ea typeface="黑体" pitchFamily="2" charset="-122"/>
              <a:cs typeface="Tahoma"/>
            </a:endParaRPr>
          </a:p>
        </p:txBody>
      </p:sp>
      <p:sp>
        <p:nvSpPr>
          <p:cNvPr id="6" name="文本框 5">
            <a:extLst>
              <a:ext uri="{FF2B5EF4-FFF2-40B4-BE49-F238E27FC236}">
                <a16:creationId xmlns:a16="http://schemas.microsoft.com/office/drawing/2014/main" id="{6F55CFF1-4EFC-0667-2745-A8E7BDE1B9C6}"/>
              </a:ext>
            </a:extLst>
          </p:cNvPr>
          <p:cNvSpPr txBox="1"/>
          <p:nvPr/>
        </p:nvSpPr>
        <p:spPr>
          <a:xfrm>
            <a:off x="395288" y="3290888"/>
            <a:ext cx="936625" cy="523875"/>
          </a:xfrm>
          <a:prstGeom prst="rect">
            <a:avLst/>
          </a:prstGeom>
          <a:noFill/>
          <a:ln>
            <a:solidFill>
              <a:srgbClr val="000000"/>
            </a:solidFill>
          </a:ln>
        </p:spPr>
        <p:txBody>
          <a:bodyPr>
            <a:spAutoFit/>
          </a:bodyPr>
          <a:lstStyle/>
          <a:p>
            <a:pPr algn="ctr" eaLnBrk="1" fontAlgn="auto" hangingPunct="1">
              <a:spcBef>
                <a:spcPts val="0"/>
              </a:spcBef>
              <a:spcAft>
                <a:spcPts val="0"/>
              </a:spcAft>
              <a:defRPr/>
            </a:pPr>
            <a:r>
              <a:rPr kumimoji="1" lang="zh-CN" altLang="en-US" sz="2800" kern="0" dirty="0">
                <a:solidFill>
                  <a:srgbClr val="000000"/>
                </a:solidFill>
                <a:latin typeface="Times New Roman" pitchFamily="18" charset="0"/>
                <a:cs typeface="Tahoma"/>
              </a:rPr>
              <a:t>信源</a:t>
            </a:r>
          </a:p>
        </p:txBody>
      </p:sp>
      <p:sp>
        <p:nvSpPr>
          <p:cNvPr id="6150" name="文本框 6">
            <a:extLst>
              <a:ext uri="{FF2B5EF4-FFF2-40B4-BE49-F238E27FC236}">
                <a16:creationId xmlns:a16="http://schemas.microsoft.com/office/drawing/2014/main" id="{1A7A86BD-C7DA-B74C-BA3D-D8C4B55E56D2}"/>
              </a:ext>
            </a:extLst>
          </p:cNvPr>
          <p:cNvSpPr txBox="1">
            <a:spLocks noChangeArrowheads="1"/>
          </p:cNvSpPr>
          <p:nvPr/>
        </p:nvSpPr>
        <p:spPr bwMode="auto">
          <a:xfrm>
            <a:off x="395288" y="3897313"/>
            <a:ext cx="903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00"/>
                </a:solidFill>
                <a:latin typeface="Times New Roman" panose="02020603050405020304" pitchFamily="18" charset="0"/>
                <a:cs typeface="Tahoma" panose="020B0604030504040204" pitchFamily="34" charset="0"/>
              </a:rPr>
              <a:t>消息</a:t>
            </a:r>
          </a:p>
        </p:txBody>
      </p:sp>
      <p:cxnSp>
        <p:nvCxnSpPr>
          <p:cNvPr id="6151" name="直接箭头连接符 7">
            <a:extLst>
              <a:ext uri="{FF2B5EF4-FFF2-40B4-BE49-F238E27FC236}">
                <a16:creationId xmlns:a16="http://schemas.microsoft.com/office/drawing/2014/main" id="{B155B371-B34E-14D9-BE2C-3793732F61C8}"/>
              </a:ext>
            </a:extLst>
          </p:cNvPr>
          <p:cNvCxnSpPr>
            <a:cxnSpLocks noChangeShapeType="1"/>
            <a:stCxn id="6" idx="3"/>
          </p:cNvCxnSpPr>
          <p:nvPr/>
        </p:nvCxnSpPr>
        <p:spPr bwMode="auto">
          <a:xfrm>
            <a:off x="1331913" y="3552825"/>
            <a:ext cx="719137" cy="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 name="文本框 8">
            <a:extLst>
              <a:ext uri="{FF2B5EF4-FFF2-40B4-BE49-F238E27FC236}">
                <a16:creationId xmlns:a16="http://schemas.microsoft.com/office/drawing/2014/main" id="{25F7D172-1E6E-BA3F-AEF3-23F7715827FD}"/>
              </a:ext>
            </a:extLst>
          </p:cNvPr>
          <p:cNvSpPr txBox="1"/>
          <p:nvPr/>
        </p:nvSpPr>
        <p:spPr>
          <a:xfrm>
            <a:off x="2051050" y="3290888"/>
            <a:ext cx="1296988" cy="523875"/>
          </a:xfrm>
          <a:prstGeom prst="rect">
            <a:avLst/>
          </a:prstGeom>
          <a:noFill/>
          <a:ln>
            <a:solidFill>
              <a:srgbClr val="000000"/>
            </a:solidFill>
          </a:ln>
        </p:spPr>
        <p:txBody>
          <a:bodyPr>
            <a:spAutoFit/>
          </a:bodyPr>
          <a:lstStyle/>
          <a:p>
            <a:pPr algn="ctr" eaLnBrk="1" fontAlgn="auto" hangingPunct="1">
              <a:spcBef>
                <a:spcPts val="0"/>
              </a:spcBef>
              <a:spcAft>
                <a:spcPts val="0"/>
              </a:spcAft>
              <a:defRPr/>
            </a:pPr>
            <a:r>
              <a:rPr kumimoji="1" lang="zh-CN" altLang="en-US" sz="2800" kern="0" dirty="0">
                <a:solidFill>
                  <a:srgbClr val="000000"/>
                </a:solidFill>
                <a:latin typeface="Times New Roman" pitchFamily="18" charset="0"/>
                <a:cs typeface="Tahoma"/>
              </a:rPr>
              <a:t>编码器</a:t>
            </a:r>
          </a:p>
        </p:txBody>
      </p:sp>
      <p:cxnSp>
        <p:nvCxnSpPr>
          <p:cNvPr id="6153" name="直接箭头连接符 9">
            <a:extLst>
              <a:ext uri="{FF2B5EF4-FFF2-40B4-BE49-F238E27FC236}">
                <a16:creationId xmlns:a16="http://schemas.microsoft.com/office/drawing/2014/main" id="{32B17D6D-7637-271B-84C7-CDF1DC23DD8B}"/>
              </a:ext>
            </a:extLst>
          </p:cNvPr>
          <p:cNvCxnSpPr>
            <a:cxnSpLocks noChangeShapeType="1"/>
          </p:cNvCxnSpPr>
          <p:nvPr/>
        </p:nvCxnSpPr>
        <p:spPr bwMode="auto">
          <a:xfrm>
            <a:off x="3348038" y="3548063"/>
            <a:ext cx="719137" cy="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1" name="文本框 10">
            <a:extLst>
              <a:ext uri="{FF2B5EF4-FFF2-40B4-BE49-F238E27FC236}">
                <a16:creationId xmlns:a16="http://schemas.microsoft.com/office/drawing/2014/main" id="{EEB579C7-67D2-FAB6-A75C-D0A04A637D6B}"/>
              </a:ext>
            </a:extLst>
          </p:cNvPr>
          <p:cNvSpPr txBox="1"/>
          <p:nvPr/>
        </p:nvSpPr>
        <p:spPr>
          <a:xfrm>
            <a:off x="5724525" y="3297238"/>
            <a:ext cx="1295400" cy="523875"/>
          </a:xfrm>
          <a:prstGeom prst="rect">
            <a:avLst/>
          </a:prstGeom>
          <a:noFill/>
          <a:ln>
            <a:solidFill>
              <a:srgbClr val="000000"/>
            </a:solidFill>
          </a:ln>
        </p:spPr>
        <p:txBody>
          <a:bodyPr>
            <a:spAutoFit/>
          </a:bodyPr>
          <a:lstStyle/>
          <a:p>
            <a:pPr algn="ctr" eaLnBrk="1" fontAlgn="auto" hangingPunct="1">
              <a:spcBef>
                <a:spcPts val="0"/>
              </a:spcBef>
              <a:spcAft>
                <a:spcPts val="0"/>
              </a:spcAft>
              <a:defRPr/>
            </a:pPr>
            <a:r>
              <a:rPr kumimoji="1" lang="zh-CN" altLang="en-US" sz="2800" kern="0" dirty="0">
                <a:solidFill>
                  <a:srgbClr val="000000"/>
                </a:solidFill>
                <a:latin typeface="Times New Roman" pitchFamily="18" charset="0"/>
                <a:cs typeface="Tahoma"/>
              </a:rPr>
              <a:t>译码器</a:t>
            </a:r>
          </a:p>
        </p:txBody>
      </p:sp>
      <p:sp>
        <p:nvSpPr>
          <p:cNvPr id="12" name="文本框 11">
            <a:extLst>
              <a:ext uri="{FF2B5EF4-FFF2-40B4-BE49-F238E27FC236}">
                <a16:creationId xmlns:a16="http://schemas.microsoft.com/office/drawing/2014/main" id="{A4B38B95-BD4F-F1A9-0EAA-56A35B9B74CA}"/>
              </a:ext>
            </a:extLst>
          </p:cNvPr>
          <p:cNvSpPr txBox="1"/>
          <p:nvPr/>
        </p:nvSpPr>
        <p:spPr>
          <a:xfrm>
            <a:off x="4067175" y="3286125"/>
            <a:ext cx="936625" cy="523875"/>
          </a:xfrm>
          <a:prstGeom prst="rect">
            <a:avLst/>
          </a:prstGeom>
          <a:noFill/>
          <a:ln>
            <a:solidFill>
              <a:srgbClr val="000000"/>
            </a:solidFill>
          </a:ln>
        </p:spPr>
        <p:txBody>
          <a:bodyPr>
            <a:spAutoFit/>
          </a:bodyPr>
          <a:lstStyle/>
          <a:p>
            <a:pPr algn="ctr" eaLnBrk="1" fontAlgn="auto" hangingPunct="1">
              <a:spcBef>
                <a:spcPts val="0"/>
              </a:spcBef>
              <a:spcAft>
                <a:spcPts val="0"/>
              </a:spcAft>
              <a:defRPr/>
            </a:pPr>
            <a:r>
              <a:rPr kumimoji="1" lang="zh-CN" altLang="en-US" sz="2800" kern="0" dirty="0">
                <a:solidFill>
                  <a:srgbClr val="000000"/>
                </a:solidFill>
                <a:latin typeface="Times New Roman" pitchFamily="18" charset="0"/>
                <a:cs typeface="Tahoma"/>
              </a:rPr>
              <a:t>信道</a:t>
            </a:r>
          </a:p>
        </p:txBody>
      </p:sp>
      <p:cxnSp>
        <p:nvCxnSpPr>
          <p:cNvPr id="6156" name="直接箭头连接符 12">
            <a:extLst>
              <a:ext uri="{FF2B5EF4-FFF2-40B4-BE49-F238E27FC236}">
                <a16:creationId xmlns:a16="http://schemas.microsoft.com/office/drawing/2014/main" id="{F5B469D1-EF19-9F01-D05D-ECD4C7D5BD93}"/>
              </a:ext>
            </a:extLst>
          </p:cNvPr>
          <p:cNvCxnSpPr>
            <a:cxnSpLocks noChangeShapeType="1"/>
          </p:cNvCxnSpPr>
          <p:nvPr/>
        </p:nvCxnSpPr>
        <p:spPr bwMode="auto">
          <a:xfrm>
            <a:off x="5003800" y="3548063"/>
            <a:ext cx="720725" cy="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4" name="文本框 13">
            <a:extLst>
              <a:ext uri="{FF2B5EF4-FFF2-40B4-BE49-F238E27FC236}">
                <a16:creationId xmlns:a16="http://schemas.microsoft.com/office/drawing/2014/main" id="{F1120A85-3E94-DA9B-0697-1543848CC4FE}"/>
              </a:ext>
            </a:extLst>
          </p:cNvPr>
          <p:cNvSpPr txBox="1"/>
          <p:nvPr/>
        </p:nvSpPr>
        <p:spPr>
          <a:xfrm>
            <a:off x="7747000" y="3286125"/>
            <a:ext cx="936625" cy="523875"/>
          </a:xfrm>
          <a:prstGeom prst="rect">
            <a:avLst/>
          </a:prstGeom>
          <a:noFill/>
          <a:ln>
            <a:solidFill>
              <a:srgbClr val="000000"/>
            </a:solidFill>
          </a:ln>
        </p:spPr>
        <p:txBody>
          <a:bodyPr>
            <a:spAutoFit/>
          </a:bodyPr>
          <a:lstStyle/>
          <a:p>
            <a:pPr algn="ctr" eaLnBrk="1" fontAlgn="auto" hangingPunct="1">
              <a:spcBef>
                <a:spcPts val="0"/>
              </a:spcBef>
              <a:spcAft>
                <a:spcPts val="0"/>
              </a:spcAft>
              <a:defRPr/>
            </a:pPr>
            <a:r>
              <a:rPr kumimoji="1" lang="zh-CN" altLang="en-US" sz="2800" kern="0" dirty="0">
                <a:solidFill>
                  <a:srgbClr val="000000"/>
                </a:solidFill>
                <a:latin typeface="Times New Roman" pitchFamily="18" charset="0"/>
                <a:cs typeface="Tahoma"/>
              </a:rPr>
              <a:t>信宿</a:t>
            </a:r>
          </a:p>
        </p:txBody>
      </p:sp>
      <p:cxnSp>
        <p:nvCxnSpPr>
          <p:cNvPr id="6158" name="直接箭头连接符 14">
            <a:extLst>
              <a:ext uri="{FF2B5EF4-FFF2-40B4-BE49-F238E27FC236}">
                <a16:creationId xmlns:a16="http://schemas.microsoft.com/office/drawing/2014/main" id="{75047458-9DC9-6CBB-F47B-97AF5B3AC356}"/>
              </a:ext>
            </a:extLst>
          </p:cNvPr>
          <p:cNvCxnSpPr>
            <a:cxnSpLocks noChangeShapeType="1"/>
          </p:cNvCxnSpPr>
          <p:nvPr/>
        </p:nvCxnSpPr>
        <p:spPr bwMode="auto">
          <a:xfrm>
            <a:off x="7027863" y="3559175"/>
            <a:ext cx="719137" cy="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159" name="文本框 15">
            <a:extLst>
              <a:ext uri="{FF2B5EF4-FFF2-40B4-BE49-F238E27FC236}">
                <a16:creationId xmlns:a16="http://schemas.microsoft.com/office/drawing/2014/main" id="{3A8669FC-D8D8-AC65-F577-BD51963053D7}"/>
              </a:ext>
            </a:extLst>
          </p:cNvPr>
          <p:cNvSpPr txBox="1">
            <a:spLocks noChangeArrowheads="1"/>
          </p:cNvSpPr>
          <p:nvPr/>
        </p:nvSpPr>
        <p:spPr bwMode="auto">
          <a:xfrm>
            <a:off x="7780338" y="3897313"/>
            <a:ext cx="903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00"/>
                </a:solidFill>
                <a:latin typeface="Times New Roman" panose="02020603050405020304" pitchFamily="18" charset="0"/>
                <a:cs typeface="Tahoma" panose="020B0604030504040204" pitchFamily="34" charset="0"/>
              </a:rPr>
              <a:t>消息</a:t>
            </a:r>
          </a:p>
        </p:txBody>
      </p:sp>
      <p:sp>
        <p:nvSpPr>
          <p:cNvPr id="6160" name="文本框 16">
            <a:extLst>
              <a:ext uri="{FF2B5EF4-FFF2-40B4-BE49-F238E27FC236}">
                <a16:creationId xmlns:a16="http://schemas.microsoft.com/office/drawing/2014/main" id="{FFB9B7D2-04E4-B218-F32F-ADF7F38FCB3F}"/>
              </a:ext>
            </a:extLst>
          </p:cNvPr>
          <p:cNvSpPr txBox="1">
            <a:spLocks noChangeArrowheads="1"/>
          </p:cNvSpPr>
          <p:nvPr/>
        </p:nvSpPr>
        <p:spPr bwMode="auto">
          <a:xfrm>
            <a:off x="2247900" y="3897313"/>
            <a:ext cx="903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00"/>
                </a:solidFill>
                <a:latin typeface="Times New Roman" panose="02020603050405020304" pitchFamily="18" charset="0"/>
                <a:cs typeface="Tahoma" panose="020B0604030504040204" pitchFamily="34" charset="0"/>
              </a:rPr>
              <a:t>信号</a:t>
            </a:r>
          </a:p>
        </p:txBody>
      </p:sp>
      <p:cxnSp>
        <p:nvCxnSpPr>
          <p:cNvPr id="6161" name="直接箭头连接符 17">
            <a:extLst>
              <a:ext uri="{FF2B5EF4-FFF2-40B4-BE49-F238E27FC236}">
                <a16:creationId xmlns:a16="http://schemas.microsoft.com/office/drawing/2014/main" id="{76152A82-A548-6227-2C07-8E4FE508AAA3}"/>
              </a:ext>
            </a:extLst>
          </p:cNvPr>
          <p:cNvCxnSpPr>
            <a:cxnSpLocks noChangeShapeType="1"/>
            <a:endCxn id="12" idx="2"/>
          </p:cNvCxnSpPr>
          <p:nvPr/>
        </p:nvCxnSpPr>
        <p:spPr bwMode="auto">
          <a:xfrm flipH="1" flipV="1">
            <a:off x="4535488" y="3810000"/>
            <a:ext cx="3175" cy="113665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162" name="文本框 18">
            <a:extLst>
              <a:ext uri="{FF2B5EF4-FFF2-40B4-BE49-F238E27FC236}">
                <a16:creationId xmlns:a16="http://schemas.microsoft.com/office/drawing/2014/main" id="{D4C6F40F-9C83-1297-0634-78F6A1CF7F5E}"/>
              </a:ext>
            </a:extLst>
          </p:cNvPr>
          <p:cNvSpPr txBox="1">
            <a:spLocks noChangeArrowheads="1"/>
          </p:cNvSpPr>
          <p:nvPr/>
        </p:nvSpPr>
        <p:spPr bwMode="auto">
          <a:xfrm>
            <a:off x="3905250" y="4946650"/>
            <a:ext cx="1262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a:solidFill>
                  <a:srgbClr val="000000"/>
                </a:solidFill>
                <a:latin typeface="Times New Roman" panose="02020603050405020304" pitchFamily="18" charset="0"/>
                <a:cs typeface="Tahoma" panose="020B0604030504040204" pitchFamily="34" charset="0"/>
              </a:rPr>
              <a:t>噪声源</a:t>
            </a:r>
          </a:p>
        </p:txBody>
      </p:sp>
      <p:sp>
        <p:nvSpPr>
          <p:cNvPr id="6163" name="文本框 19">
            <a:extLst>
              <a:ext uri="{FF2B5EF4-FFF2-40B4-BE49-F238E27FC236}">
                <a16:creationId xmlns:a16="http://schemas.microsoft.com/office/drawing/2014/main" id="{35D64898-809E-B61C-EC6F-3BE1D1D9CE92}"/>
              </a:ext>
            </a:extLst>
          </p:cNvPr>
          <p:cNvSpPr txBox="1">
            <a:spLocks noChangeArrowheads="1"/>
          </p:cNvSpPr>
          <p:nvPr/>
        </p:nvSpPr>
        <p:spPr bwMode="auto">
          <a:xfrm>
            <a:off x="3635375" y="4154488"/>
            <a:ext cx="903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FF0000"/>
                </a:solidFill>
                <a:latin typeface="Times New Roman" panose="02020603050405020304" pitchFamily="18" charset="0"/>
                <a:cs typeface="Tahoma" panose="020B0604030504040204" pitchFamily="34" charset="0"/>
              </a:rPr>
              <a:t>干扰</a:t>
            </a:r>
          </a:p>
        </p:txBody>
      </p:sp>
      <p:sp>
        <p:nvSpPr>
          <p:cNvPr id="6164" name="文本框 20">
            <a:extLst>
              <a:ext uri="{FF2B5EF4-FFF2-40B4-BE49-F238E27FC236}">
                <a16:creationId xmlns:a16="http://schemas.microsoft.com/office/drawing/2014/main" id="{873F332C-FAEB-281F-8665-CCDB71EF353F}"/>
              </a:ext>
            </a:extLst>
          </p:cNvPr>
          <p:cNvSpPr txBox="1">
            <a:spLocks noChangeArrowheads="1"/>
          </p:cNvSpPr>
          <p:nvPr/>
        </p:nvSpPr>
        <p:spPr bwMode="auto">
          <a:xfrm>
            <a:off x="5499100" y="3932238"/>
            <a:ext cx="18240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00"/>
                </a:solidFill>
                <a:latin typeface="Times New Roman" panose="02020603050405020304" pitchFamily="18" charset="0"/>
                <a:cs typeface="Tahoma" panose="020B0604030504040204" pitchFamily="34" charset="0"/>
              </a:rPr>
              <a:t>信号</a:t>
            </a:r>
            <a:r>
              <a:rPr kumimoji="1" lang="en-US" altLang="zh-CN" sz="2800">
                <a:solidFill>
                  <a:srgbClr val="FF0000"/>
                </a:solidFill>
                <a:latin typeface="Times New Roman" panose="02020603050405020304" pitchFamily="18" charset="0"/>
                <a:cs typeface="Tahoma" panose="020B0604030504040204" pitchFamily="34" charset="0"/>
              </a:rPr>
              <a:t>+</a:t>
            </a:r>
            <a:r>
              <a:rPr kumimoji="1" lang="zh-CN" altLang="en-US" sz="2800">
                <a:solidFill>
                  <a:srgbClr val="FF0000"/>
                </a:solidFill>
                <a:latin typeface="Times New Roman" panose="02020603050405020304" pitchFamily="18" charset="0"/>
                <a:cs typeface="Tahoma" panose="020B0604030504040204" pitchFamily="34" charset="0"/>
              </a:rPr>
              <a:t>干扰</a:t>
            </a:r>
          </a:p>
        </p:txBody>
      </p:sp>
      <p:sp>
        <p:nvSpPr>
          <p:cNvPr id="6165" name="文本框 21">
            <a:extLst>
              <a:ext uri="{FF2B5EF4-FFF2-40B4-BE49-F238E27FC236}">
                <a16:creationId xmlns:a16="http://schemas.microsoft.com/office/drawing/2014/main" id="{846528BB-7332-7F84-FA5E-008ACE4EF1C2}"/>
              </a:ext>
            </a:extLst>
          </p:cNvPr>
          <p:cNvSpPr txBox="1">
            <a:spLocks noChangeArrowheads="1"/>
          </p:cNvSpPr>
          <p:nvPr/>
        </p:nvSpPr>
        <p:spPr bwMode="auto">
          <a:xfrm>
            <a:off x="3057525" y="5664200"/>
            <a:ext cx="2646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a:solidFill>
                  <a:srgbClr val="000000"/>
                </a:solidFill>
                <a:latin typeface="Times New Roman" panose="02020603050405020304" pitchFamily="18" charset="0"/>
                <a:cs typeface="Tahoma" panose="020B0604030504040204" pitchFamily="34" charset="0"/>
              </a:rPr>
              <a:t>图 </a:t>
            </a:r>
            <a:r>
              <a:rPr kumimoji="1" lang="en-US" altLang="zh-CN" sz="2400">
                <a:solidFill>
                  <a:srgbClr val="000000"/>
                </a:solidFill>
                <a:latin typeface="Times New Roman" panose="02020603050405020304" pitchFamily="18" charset="0"/>
                <a:cs typeface="Tahoma" panose="020B0604030504040204" pitchFamily="34" charset="0"/>
              </a:rPr>
              <a:t>1 </a:t>
            </a:r>
            <a:r>
              <a:rPr kumimoji="1" lang="zh-CN" altLang="en-US" sz="2400">
                <a:solidFill>
                  <a:srgbClr val="000000"/>
                </a:solidFill>
                <a:latin typeface="Times New Roman" panose="02020603050405020304" pitchFamily="18" charset="0"/>
                <a:cs typeface="Tahoma" panose="020B0604030504040204" pitchFamily="34" charset="0"/>
              </a:rPr>
              <a:t>通信系统模型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479F811-866A-607B-5BB1-E20ADDDCE129}"/>
              </a:ext>
            </a:extLst>
          </p:cNvPr>
          <p:cNvSpPr>
            <a:spLocks noGrp="1" noChangeArrowheads="1"/>
          </p:cNvSpPr>
          <p:nvPr>
            <p:ph type="body" idx="1"/>
          </p:nvPr>
        </p:nvSpPr>
        <p:spPr>
          <a:xfrm>
            <a:off x="304800" y="228600"/>
            <a:ext cx="5029200" cy="533400"/>
          </a:xfrm>
        </p:spPr>
        <p:txBody>
          <a:bodyPr/>
          <a:lstStyle/>
          <a:p>
            <a:pPr eaLnBrk="1" hangingPunct="1">
              <a:buFontTx/>
              <a:buNone/>
            </a:pPr>
            <a:r>
              <a:rPr lang="en-US" altLang="zh-CN"/>
              <a:t>1 </a:t>
            </a:r>
            <a:r>
              <a:rPr lang="zh-CN" altLang="en-US"/>
              <a:t>通信系统的数学模型（续）</a:t>
            </a:r>
            <a:endParaRPr lang="en-US" altLang="zh-CN" b="1"/>
          </a:p>
          <a:p>
            <a:pPr eaLnBrk="1" hangingPunct="1">
              <a:buFontTx/>
              <a:buNone/>
            </a:pPr>
            <a:endParaRPr lang="zh-CN" altLang="en-US"/>
          </a:p>
        </p:txBody>
      </p:sp>
      <p:sp>
        <p:nvSpPr>
          <p:cNvPr id="2" name="Rectangle 3">
            <a:extLst>
              <a:ext uri="{FF2B5EF4-FFF2-40B4-BE49-F238E27FC236}">
                <a16:creationId xmlns:a16="http://schemas.microsoft.com/office/drawing/2014/main" id="{111FBB8F-2549-86CA-BFC2-ADEF46263737}"/>
              </a:ext>
            </a:extLst>
          </p:cNvPr>
          <p:cNvSpPr>
            <a:spLocks noChangeArrowheads="1"/>
          </p:cNvSpPr>
          <p:nvPr/>
        </p:nvSpPr>
        <p:spPr bwMode="auto">
          <a:xfrm>
            <a:off x="327025" y="1012825"/>
            <a:ext cx="7948613" cy="2462213"/>
          </a:xfrm>
          <a:prstGeom prst="rect">
            <a:avLst/>
          </a:prstGeom>
          <a:noFill/>
          <a:ln w="9525">
            <a:noFill/>
            <a:miter lim="800000"/>
            <a:headEnd/>
            <a:tailEnd/>
          </a:ln>
          <a:effectLst/>
        </p:spPr>
        <p:txBody>
          <a:bodyPr>
            <a:spAutoFit/>
          </a:bodyPr>
          <a:lstStyle/>
          <a:p>
            <a:pPr marL="457200" indent="-457200" eaLnBrk="1" hangingPunct="1">
              <a:lnSpc>
                <a:spcPct val="150000"/>
              </a:lnSpc>
              <a:buFont typeface="Arial" panose="020B0604020202020204" pitchFamily="34" charset="0"/>
              <a:buChar char="•"/>
              <a:defRPr/>
            </a:pPr>
            <a:r>
              <a:rPr lang="zh-CN" altLang="en-US" sz="2800" b="1" dirty="0">
                <a:solidFill>
                  <a:srgbClr val="002060"/>
                </a:solidFill>
                <a:latin typeface="+mn-ea"/>
                <a:ea typeface="+mn-ea"/>
                <a:cs typeface="Tahoma"/>
              </a:rPr>
              <a:t>信源</a:t>
            </a:r>
            <a:endParaRPr lang="en-US" altLang="zh-CN" sz="2800" b="1" dirty="0">
              <a:solidFill>
                <a:srgbClr val="002060"/>
              </a:solidFill>
              <a:latin typeface="+mn-ea"/>
              <a:ea typeface="+mn-ea"/>
              <a:cs typeface="Tahoma"/>
            </a:endParaRPr>
          </a:p>
          <a:p>
            <a:pPr eaLnBrk="1" hangingPunct="1">
              <a:lnSpc>
                <a:spcPct val="150000"/>
              </a:lnSpc>
              <a:defRPr/>
            </a:pPr>
            <a:r>
              <a:rPr lang="zh-CN" altLang="en-US" sz="2800" dirty="0">
                <a:solidFill>
                  <a:srgbClr val="000000"/>
                </a:solidFill>
                <a:latin typeface="+mn-ea"/>
                <a:ea typeface="+mn-ea"/>
                <a:cs typeface="Tahoma"/>
              </a:rPr>
              <a:t>产生消息和消息序列的源。信源按输出的符号取值，可分为“离散信源”和“连续信源”。</a:t>
            </a:r>
            <a:endParaRPr lang="en-US" altLang="zh-CN" sz="2800" dirty="0">
              <a:solidFill>
                <a:srgbClr val="000000"/>
              </a:solidFill>
              <a:latin typeface="+mn-ea"/>
              <a:ea typeface="+mn-ea"/>
              <a:cs typeface="Tahoma"/>
            </a:endParaRPr>
          </a:p>
          <a:p>
            <a:pPr eaLnBrk="1" hangingPunct="1">
              <a:defRPr/>
            </a:pPr>
            <a:endParaRPr lang="zh-CN" altLang="en-US" sz="2800" b="1" dirty="0">
              <a:solidFill>
                <a:srgbClr val="000000"/>
              </a:solidFill>
              <a:latin typeface="+mn-ea"/>
              <a:ea typeface="+mn-ea"/>
              <a:cs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9B4899C4-DEBC-F797-F151-9A02EF89E17C}"/>
              </a:ext>
            </a:extLst>
          </p:cNvPr>
          <p:cNvSpPr>
            <a:spLocks noGrp="1" noChangeArrowheads="1"/>
          </p:cNvSpPr>
          <p:nvPr>
            <p:ph type="body" idx="1"/>
          </p:nvPr>
        </p:nvSpPr>
        <p:spPr>
          <a:xfrm>
            <a:off x="304800" y="228600"/>
            <a:ext cx="5029200" cy="533400"/>
          </a:xfrm>
        </p:spPr>
        <p:txBody>
          <a:bodyPr/>
          <a:lstStyle/>
          <a:p>
            <a:pPr eaLnBrk="1" hangingPunct="1">
              <a:buFontTx/>
              <a:buNone/>
            </a:pPr>
            <a:r>
              <a:rPr lang="en-US" altLang="zh-CN"/>
              <a:t>1 </a:t>
            </a:r>
            <a:r>
              <a:rPr lang="zh-CN" altLang="en-US"/>
              <a:t>通信系统的数学模型（续）</a:t>
            </a:r>
            <a:endParaRPr lang="en-US" altLang="zh-CN" b="1"/>
          </a:p>
          <a:p>
            <a:pPr eaLnBrk="1" hangingPunct="1">
              <a:buFontTx/>
              <a:buNone/>
            </a:pPr>
            <a:endParaRPr lang="zh-CN" altLang="en-US"/>
          </a:p>
        </p:txBody>
      </p:sp>
      <p:sp>
        <p:nvSpPr>
          <p:cNvPr id="3" name="矩形 2">
            <a:extLst>
              <a:ext uri="{FF2B5EF4-FFF2-40B4-BE49-F238E27FC236}">
                <a16:creationId xmlns:a16="http://schemas.microsoft.com/office/drawing/2014/main" id="{A5D3A1D8-46FF-C041-5688-5D00FC1D07D8}"/>
              </a:ext>
            </a:extLst>
          </p:cNvPr>
          <p:cNvSpPr/>
          <p:nvPr/>
        </p:nvSpPr>
        <p:spPr bwMode="auto">
          <a:xfrm>
            <a:off x="152400" y="4876800"/>
            <a:ext cx="8678862" cy="1847850"/>
          </a:xfrm>
          <a:prstGeom prst="rect">
            <a:avLst/>
          </a:prstGeom>
          <a:solidFill>
            <a:srgbClr val="FFFFFF">
              <a:lumMod val="85000"/>
            </a:srgbClr>
          </a:solidFill>
          <a:ln w="12700" cap="flat" cmpd="sng" algn="ctr">
            <a:solidFill>
              <a:srgbClr val="000000"/>
            </a:solidFill>
            <a:prstDash val="solid"/>
            <a:round/>
            <a:headEnd type="none" w="med" len="med"/>
            <a:tailEnd type="none" w="med" len="sm"/>
          </a:ln>
          <a:effectLst/>
        </p:spPr>
        <p:txBody>
          <a:bodyPr wrap="none" anchor="ctr"/>
          <a:lstStyle/>
          <a:p>
            <a:pPr algn="ctr" eaLnBrk="1" fontAlgn="auto" latinLnBrk="1" hangingPunct="1">
              <a:lnSpc>
                <a:spcPct val="80000"/>
              </a:lnSpc>
              <a:spcBef>
                <a:spcPct val="50000"/>
              </a:spcBef>
              <a:spcAft>
                <a:spcPts val="0"/>
              </a:spcAft>
              <a:buClr>
                <a:srgbClr val="FF0000"/>
              </a:buClr>
              <a:buFont typeface="Wingdings" pitchFamily="2" charset="2"/>
              <a:buNone/>
              <a:defRPr/>
            </a:pPr>
            <a:endParaRPr kumimoji="1" lang="zh-CN" altLang="en-US" sz="1000" kern="0">
              <a:noFill/>
              <a:latin typeface="+mn-ea"/>
              <a:ea typeface="+mn-ea"/>
              <a:cs typeface="Tahoma" pitchFamily="34" charset="0"/>
            </a:endParaRPr>
          </a:p>
        </p:txBody>
      </p:sp>
      <p:sp>
        <p:nvSpPr>
          <p:cNvPr id="4" name="Rectangle 3">
            <a:extLst>
              <a:ext uri="{FF2B5EF4-FFF2-40B4-BE49-F238E27FC236}">
                <a16:creationId xmlns:a16="http://schemas.microsoft.com/office/drawing/2014/main" id="{DECA0646-8956-9864-7CFE-075C92C1A74D}"/>
              </a:ext>
            </a:extLst>
          </p:cNvPr>
          <p:cNvSpPr>
            <a:spLocks noChangeArrowheads="1"/>
          </p:cNvSpPr>
          <p:nvPr/>
        </p:nvSpPr>
        <p:spPr bwMode="auto">
          <a:xfrm>
            <a:off x="214313" y="838200"/>
            <a:ext cx="8786812" cy="4431983"/>
          </a:xfrm>
          <a:prstGeom prst="rect">
            <a:avLst/>
          </a:prstGeom>
          <a:noFill/>
          <a:ln w="9525">
            <a:noFill/>
            <a:miter lim="800000"/>
            <a:headEnd/>
            <a:tailEnd/>
          </a:ln>
          <a:effectLst/>
        </p:spPr>
        <p:txBody>
          <a:bodyPr>
            <a:spAutoFit/>
          </a:bodyPr>
          <a:lstStyle/>
          <a:p>
            <a:pPr marL="457200" indent="-457200" eaLnBrk="1" hangingPunct="1">
              <a:lnSpc>
                <a:spcPct val="150000"/>
              </a:lnSpc>
              <a:buFont typeface="Arial" panose="020B0604020202020204" pitchFamily="34" charset="0"/>
              <a:buChar char="•"/>
              <a:defRPr/>
            </a:pPr>
            <a:r>
              <a:rPr lang="zh-CN" altLang="en-US" sz="2800" b="1" dirty="0">
                <a:solidFill>
                  <a:srgbClr val="002060"/>
                </a:solidFill>
                <a:latin typeface="+mn-ea"/>
                <a:ea typeface="+mn-ea"/>
                <a:cs typeface="Tahoma"/>
              </a:rPr>
              <a:t>编码器</a:t>
            </a:r>
            <a:endParaRPr lang="en-US" altLang="zh-CN" sz="2800" b="1" dirty="0">
              <a:solidFill>
                <a:srgbClr val="002060"/>
              </a:solidFill>
              <a:latin typeface="+mn-ea"/>
              <a:ea typeface="+mn-ea"/>
              <a:cs typeface="Tahoma"/>
            </a:endParaRPr>
          </a:p>
          <a:p>
            <a:pPr eaLnBrk="1" hangingPunct="1">
              <a:lnSpc>
                <a:spcPct val="150000"/>
              </a:lnSpc>
              <a:defRPr/>
            </a:pPr>
            <a:r>
              <a:rPr lang="zh-CN" altLang="en-US" sz="2600" dirty="0">
                <a:solidFill>
                  <a:srgbClr val="000000"/>
                </a:solidFill>
                <a:latin typeface="+mn-ea"/>
                <a:ea typeface="+mn-ea"/>
                <a:cs typeface="Tahoma"/>
              </a:rPr>
              <a:t>将信源发出的消息转换成适合在信道上传送的信号设备。编码器包括“信源编码器”、“信道编码器”、“调制器”，如图</a:t>
            </a:r>
            <a:r>
              <a:rPr lang="en-US" altLang="zh-CN" sz="2600" dirty="0">
                <a:solidFill>
                  <a:srgbClr val="000000"/>
                </a:solidFill>
                <a:latin typeface="+mn-ea"/>
                <a:ea typeface="+mn-ea"/>
                <a:cs typeface="Tahoma"/>
              </a:rPr>
              <a:t>2</a:t>
            </a:r>
            <a:r>
              <a:rPr lang="zh-CN" altLang="en-US" sz="2600" dirty="0">
                <a:solidFill>
                  <a:srgbClr val="000000"/>
                </a:solidFill>
                <a:latin typeface="+mn-ea"/>
                <a:ea typeface="+mn-ea"/>
                <a:cs typeface="Tahoma"/>
              </a:rPr>
              <a:t>所示。</a:t>
            </a:r>
            <a:endParaRPr lang="en-US" altLang="zh-CN" sz="2600" dirty="0">
              <a:solidFill>
                <a:srgbClr val="000000"/>
              </a:solidFill>
              <a:latin typeface="+mn-ea"/>
              <a:ea typeface="+mn-ea"/>
              <a:cs typeface="Tahoma"/>
            </a:endParaRPr>
          </a:p>
          <a:p>
            <a:pPr eaLnBrk="1" hangingPunct="1">
              <a:spcBef>
                <a:spcPts val="600"/>
              </a:spcBef>
              <a:buFont typeface="Wingdings" pitchFamily="2" charset="2"/>
              <a:buChar char="Ø"/>
              <a:defRPr/>
            </a:pPr>
            <a:r>
              <a:rPr lang="zh-CN" altLang="en-US" sz="2800" dirty="0">
                <a:solidFill>
                  <a:srgbClr val="000000"/>
                </a:solidFill>
                <a:latin typeface="+mn-ea"/>
                <a:ea typeface="+mn-ea"/>
                <a:cs typeface="Tahoma"/>
              </a:rPr>
              <a:t> </a:t>
            </a:r>
            <a:r>
              <a:rPr lang="zh-CN" altLang="en-US" sz="2600" dirty="0">
                <a:solidFill>
                  <a:srgbClr val="000000"/>
                </a:solidFill>
                <a:latin typeface="+mn-ea"/>
                <a:ea typeface="+mn-ea"/>
                <a:cs typeface="Tahoma"/>
              </a:rPr>
              <a:t>信源编码器：提高信息传输有效性</a:t>
            </a:r>
            <a:endParaRPr lang="en-US" altLang="zh-CN" sz="2600" dirty="0">
              <a:solidFill>
                <a:srgbClr val="000000"/>
              </a:solidFill>
              <a:latin typeface="+mn-ea"/>
              <a:ea typeface="+mn-ea"/>
              <a:cs typeface="Tahoma"/>
            </a:endParaRPr>
          </a:p>
          <a:p>
            <a:pPr eaLnBrk="1" hangingPunct="1">
              <a:spcBef>
                <a:spcPts val="600"/>
              </a:spcBef>
              <a:buFont typeface="Wingdings" pitchFamily="2" charset="2"/>
              <a:buChar char="Ø"/>
              <a:defRPr/>
            </a:pPr>
            <a:r>
              <a:rPr lang="zh-CN" altLang="en-US" sz="2600" dirty="0">
                <a:solidFill>
                  <a:srgbClr val="000000"/>
                </a:solidFill>
                <a:latin typeface="+mn-ea"/>
                <a:ea typeface="+mn-ea"/>
                <a:cs typeface="Tahoma"/>
              </a:rPr>
              <a:t> 信道编码器：解决信息传输的可靠性</a:t>
            </a:r>
            <a:endParaRPr lang="en-US" altLang="zh-CN" sz="2600" dirty="0">
              <a:solidFill>
                <a:srgbClr val="000000"/>
              </a:solidFill>
              <a:latin typeface="+mn-ea"/>
              <a:ea typeface="+mn-ea"/>
              <a:cs typeface="Tahoma"/>
            </a:endParaRPr>
          </a:p>
          <a:p>
            <a:pPr eaLnBrk="1" hangingPunct="1">
              <a:spcBef>
                <a:spcPts val="600"/>
              </a:spcBef>
              <a:buFont typeface="Wingdings" pitchFamily="2" charset="2"/>
              <a:buChar char="Ø"/>
              <a:defRPr/>
            </a:pPr>
            <a:r>
              <a:rPr lang="zh-CN" altLang="en-US" sz="2600" dirty="0">
                <a:solidFill>
                  <a:srgbClr val="000000"/>
                </a:solidFill>
                <a:latin typeface="+mn-ea"/>
                <a:ea typeface="+mn-ea"/>
                <a:cs typeface="Tahoma"/>
              </a:rPr>
              <a:t> 调制器：提高传输效率</a:t>
            </a:r>
            <a:endParaRPr lang="en-US" altLang="zh-CN" sz="2800" b="1" dirty="0">
              <a:solidFill>
                <a:srgbClr val="000000"/>
              </a:solidFill>
              <a:latin typeface="+mn-ea"/>
              <a:ea typeface="+mn-ea"/>
              <a:cs typeface="Tahoma"/>
            </a:endParaRPr>
          </a:p>
          <a:p>
            <a:pPr eaLnBrk="1" hangingPunct="1">
              <a:defRPr/>
            </a:pPr>
            <a:endParaRPr lang="zh-CN" altLang="en-US" sz="2800" b="1" dirty="0">
              <a:solidFill>
                <a:srgbClr val="000000"/>
              </a:solidFill>
              <a:latin typeface="+mn-ea"/>
              <a:ea typeface="+mn-ea"/>
              <a:cs typeface="Tahoma"/>
            </a:endParaRPr>
          </a:p>
        </p:txBody>
      </p:sp>
      <p:grpSp>
        <p:nvGrpSpPr>
          <p:cNvPr id="10245" name="组合 4">
            <a:extLst>
              <a:ext uri="{FF2B5EF4-FFF2-40B4-BE49-F238E27FC236}">
                <a16:creationId xmlns:a16="http://schemas.microsoft.com/office/drawing/2014/main" id="{67AEEFBE-C7E2-9D88-B15E-899E9EF46ADB}"/>
              </a:ext>
            </a:extLst>
          </p:cNvPr>
          <p:cNvGrpSpPr>
            <a:grpSpLocks/>
          </p:cNvGrpSpPr>
          <p:nvPr/>
        </p:nvGrpSpPr>
        <p:grpSpPr bwMode="auto">
          <a:xfrm>
            <a:off x="325437" y="5164137"/>
            <a:ext cx="8361363" cy="523875"/>
            <a:chOff x="387368" y="5157192"/>
            <a:chExt cx="8361096" cy="523220"/>
          </a:xfrm>
        </p:grpSpPr>
        <p:sp>
          <p:nvSpPr>
            <p:cNvPr id="6" name="文本框 5">
              <a:extLst>
                <a:ext uri="{FF2B5EF4-FFF2-40B4-BE49-F238E27FC236}">
                  <a16:creationId xmlns:a16="http://schemas.microsoft.com/office/drawing/2014/main" id="{53E44D72-F4B3-B755-B44F-B4E00EC13FE9}"/>
                </a:ext>
              </a:extLst>
            </p:cNvPr>
            <p:cNvSpPr txBox="1"/>
            <p:nvPr/>
          </p:nvSpPr>
          <p:spPr>
            <a:xfrm>
              <a:off x="1116008" y="5157192"/>
              <a:ext cx="2052571" cy="523220"/>
            </a:xfrm>
            <a:prstGeom prst="rect">
              <a:avLst/>
            </a:prstGeom>
            <a:noFill/>
            <a:ln>
              <a:solidFill>
                <a:srgbClr val="000000"/>
              </a:solidFill>
            </a:ln>
          </p:spPr>
          <p:txBody>
            <a:bodyPr>
              <a:spAutoFit/>
            </a:bodyPr>
            <a:lstStyle/>
            <a:p>
              <a:pPr algn="ctr" eaLnBrk="1" fontAlgn="auto" hangingPunct="1">
                <a:spcBef>
                  <a:spcPts val="0"/>
                </a:spcBef>
                <a:spcAft>
                  <a:spcPts val="0"/>
                </a:spcAft>
                <a:defRPr/>
              </a:pPr>
              <a:r>
                <a:rPr kumimoji="1" lang="zh-CN" altLang="en-US" sz="2800" kern="0" dirty="0">
                  <a:solidFill>
                    <a:srgbClr val="000000"/>
                  </a:solidFill>
                  <a:latin typeface="+mn-ea"/>
                  <a:ea typeface="+mn-ea"/>
                  <a:cs typeface="Tahoma"/>
                </a:rPr>
                <a:t>信源编码器</a:t>
              </a:r>
            </a:p>
          </p:txBody>
        </p:sp>
        <p:cxnSp>
          <p:nvCxnSpPr>
            <p:cNvPr id="10250" name="直接箭头连接符 6">
              <a:extLst>
                <a:ext uri="{FF2B5EF4-FFF2-40B4-BE49-F238E27FC236}">
                  <a16:creationId xmlns:a16="http://schemas.microsoft.com/office/drawing/2014/main" id="{83231D72-7ADA-45B7-7B2D-EA63CD5E5595}"/>
                </a:ext>
              </a:extLst>
            </p:cNvPr>
            <p:cNvCxnSpPr>
              <a:cxnSpLocks noChangeShapeType="1"/>
            </p:cNvCxnSpPr>
            <p:nvPr/>
          </p:nvCxnSpPr>
          <p:spPr bwMode="auto">
            <a:xfrm>
              <a:off x="3160910" y="5418802"/>
              <a:ext cx="720080" cy="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 name="文本框 7">
              <a:extLst>
                <a:ext uri="{FF2B5EF4-FFF2-40B4-BE49-F238E27FC236}">
                  <a16:creationId xmlns:a16="http://schemas.microsoft.com/office/drawing/2014/main" id="{26A61349-491E-ADF3-EC99-959C50754974}"/>
                </a:ext>
              </a:extLst>
            </p:cNvPr>
            <p:cNvSpPr txBox="1"/>
            <p:nvPr/>
          </p:nvSpPr>
          <p:spPr>
            <a:xfrm>
              <a:off x="3881344" y="5157192"/>
              <a:ext cx="2052571" cy="523220"/>
            </a:xfrm>
            <a:prstGeom prst="rect">
              <a:avLst/>
            </a:prstGeom>
            <a:noFill/>
            <a:ln>
              <a:solidFill>
                <a:srgbClr val="000000"/>
              </a:solidFill>
            </a:ln>
          </p:spPr>
          <p:txBody>
            <a:bodyPr>
              <a:spAutoFit/>
            </a:bodyPr>
            <a:lstStyle/>
            <a:p>
              <a:pPr algn="ctr" eaLnBrk="1" fontAlgn="auto" hangingPunct="1">
                <a:spcBef>
                  <a:spcPts val="0"/>
                </a:spcBef>
                <a:spcAft>
                  <a:spcPts val="0"/>
                </a:spcAft>
                <a:defRPr/>
              </a:pPr>
              <a:r>
                <a:rPr kumimoji="1" lang="zh-CN" altLang="en-US" sz="2800" kern="0" dirty="0">
                  <a:solidFill>
                    <a:srgbClr val="000000"/>
                  </a:solidFill>
                  <a:latin typeface="+mn-ea"/>
                  <a:ea typeface="+mn-ea"/>
                  <a:cs typeface="Tahoma"/>
                </a:rPr>
                <a:t>信道编码器</a:t>
              </a:r>
            </a:p>
          </p:txBody>
        </p:sp>
        <p:cxnSp>
          <p:nvCxnSpPr>
            <p:cNvPr id="10252" name="直接箭头连接符 8">
              <a:extLst>
                <a:ext uri="{FF2B5EF4-FFF2-40B4-BE49-F238E27FC236}">
                  <a16:creationId xmlns:a16="http://schemas.microsoft.com/office/drawing/2014/main" id="{679E1F9E-16AB-639C-D2D8-A461773FE35F}"/>
                </a:ext>
              </a:extLst>
            </p:cNvPr>
            <p:cNvCxnSpPr>
              <a:cxnSpLocks noChangeShapeType="1"/>
            </p:cNvCxnSpPr>
            <p:nvPr/>
          </p:nvCxnSpPr>
          <p:spPr bwMode="auto">
            <a:xfrm>
              <a:off x="5969222" y="5413836"/>
              <a:ext cx="720080" cy="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 name="文本框 9">
              <a:extLst>
                <a:ext uri="{FF2B5EF4-FFF2-40B4-BE49-F238E27FC236}">
                  <a16:creationId xmlns:a16="http://schemas.microsoft.com/office/drawing/2014/main" id="{ABE0625C-4C17-0EE5-062B-ADEDA61795F6}"/>
                </a:ext>
              </a:extLst>
            </p:cNvPr>
            <p:cNvSpPr txBox="1"/>
            <p:nvPr/>
          </p:nvSpPr>
          <p:spPr>
            <a:xfrm>
              <a:off x="6689542" y="5157192"/>
              <a:ext cx="1338220" cy="523220"/>
            </a:xfrm>
            <a:prstGeom prst="rect">
              <a:avLst/>
            </a:prstGeom>
            <a:noFill/>
            <a:ln>
              <a:solidFill>
                <a:srgbClr val="000000"/>
              </a:solidFill>
            </a:ln>
          </p:spPr>
          <p:txBody>
            <a:bodyPr>
              <a:spAutoFit/>
            </a:bodyPr>
            <a:lstStyle/>
            <a:p>
              <a:pPr algn="ctr" eaLnBrk="1" fontAlgn="auto" hangingPunct="1">
                <a:spcBef>
                  <a:spcPts val="0"/>
                </a:spcBef>
                <a:spcAft>
                  <a:spcPts val="0"/>
                </a:spcAft>
                <a:defRPr/>
              </a:pPr>
              <a:r>
                <a:rPr kumimoji="1" lang="zh-CN" altLang="en-US" sz="2800" kern="0" dirty="0">
                  <a:solidFill>
                    <a:srgbClr val="000000"/>
                  </a:solidFill>
                  <a:latin typeface="+mn-ea"/>
                  <a:ea typeface="+mn-ea"/>
                  <a:cs typeface="Tahoma"/>
                </a:rPr>
                <a:t>调制器</a:t>
              </a:r>
            </a:p>
          </p:txBody>
        </p:sp>
        <p:cxnSp>
          <p:nvCxnSpPr>
            <p:cNvPr id="10254" name="直接箭头连接符 10">
              <a:extLst>
                <a:ext uri="{FF2B5EF4-FFF2-40B4-BE49-F238E27FC236}">
                  <a16:creationId xmlns:a16="http://schemas.microsoft.com/office/drawing/2014/main" id="{71CE450B-EF21-312F-4CD0-DFD877F388C0}"/>
                </a:ext>
              </a:extLst>
            </p:cNvPr>
            <p:cNvCxnSpPr>
              <a:cxnSpLocks noChangeShapeType="1"/>
            </p:cNvCxnSpPr>
            <p:nvPr/>
          </p:nvCxnSpPr>
          <p:spPr bwMode="auto">
            <a:xfrm>
              <a:off x="387368" y="5413836"/>
              <a:ext cx="720080" cy="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55" name="直接箭头连接符 11">
              <a:extLst>
                <a:ext uri="{FF2B5EF4-FFF2-40B4-BE49-F238E27FC236}">
                  <a16:creationId xmlns:a16="http://schemas.microsoft.com/office/drawing/2014/main" id="{5AA9E52E-91B5-2D3C-6A8F-5AFA93EEBEAE}"/>
                </a:ext>
              </a:extLst>
            </p:cNvPr>
            <p:cNvCxnSpPr>
              <a:cxnSpLocks noChangeShapeType="1"/>
            </p:cNvCxnSpPr>
            <p:nvPr/>
          </p:nvCxnSpPr>
          <p:spPr bwMode="auto">
            <a:xfrm>
              <a:off x="8028384" y="5447838"/>
              <a:ext cx="720080" cy="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13" name="文本框 12">
            <a:extLst>
              <a:ext uri="{FF2B5EF4-FFF2-40B4-BE49-F238E27FC236}">
                <a16:creationId xmlns:a16="http://schemas.microsoft.com/office/drawing/2014/main" id="{AC985D3F-AC12-DAB1-797D-BA54AC834073}"/>
              </a:ext>
            </a:extLst>
          </p:cNvPr>
          <p:cNvSpPr txBox="1"/>
          <p:nvPr/>
        </p:nvSpPr>
        <p:spPr>
          <a:xfrm>
            <a:off x="3184525" y="6142037"/>
            <a:ext cx="2492375" cy="461963"/>
          </a:xfrm>
          <a:prstGeom prst="rect">
            <a:avLst/>
          </a:prstGeom>
          <a:noFill/>
        </p:spPr>
        <p:txBody>
          <a:bodyPr wrap="none">
            <a:spAutoFit/>
          </a:bodyPr>
          <a:lstStyle/>
          <a:p>
            <a:pPr eaLnBrk="1" hangingPunct="1">
              <a:defRPr/>
            </a:pPr>
            <a:r>
              <a:rPr kumimoji="1" lang="zh-CN" altLang="en-US" sz="2400" dirty="0">
                <a:solidFill>
                  <a:srgbClr val="000000"/>
                </a:solidFill>
                <a:latin typeface="+mn-ea"/>
                <a:ea typeface="+mn-ea"/>
                <a:cs typeface="Tahoma"/>
              </a:rPr>
              <a:t>图 </a:t>
            </a:r>
            <a:r>
              <a:rPr kumimoji="1" lang="en-US" altLang="zh-CN" sz="2400" dirty="0">
                <a:solidFill>
                  <a:srgbClr val="000000"/>
                </a:solidFill>
                <a:latin typeface="+mn-ea"/>
                <a:ea typeface="+mn-ea"/>
                <a:cs typeface="Tahoma"/>
              </a:rPr>
              <a:t>2 </a:t>
            </a:r>
            <a:r>
              <a:rPr kumimoji="1" lang="zh-CN" altLang="en-US" sz="2400" dirty="0">
                <a:solidFill>
                  <a:srgbClr val="000000"/>
                </a:solidFill>
                <a:latin typeface="+mn-ea"/>
                <a:ea typeface="+mn-ea"/>
                <a:cs typeface="Tahoma"/>
              </a:rPr>
              <a:t>编码器组成</a:t>
            </a:r>
          </a:p>
        </p:txBody>
      </p:sp>
      <p:sp>
        <p:nvSpPr>
          <p:cNvPr id="14" name="文本框 13">
            <a:extLst>
              <a:ext uri="{FF2B5EF4-FFF2-40B4-BE49-F238E27FC236}">
                <a16:creationId xmlns:a16="http://schemas.microsoft.com/office/drawing/2014/main" id="{5C3C24D0-3B26-8641-1616-584628D60ECC}"/>
              </a:ext>
            </a:extLst>
          </p:cNvPr>
          <p:cNvSpPr txBox="1"/>
          <p:nvPr/>
        </p:nvSpPr>
        <p:spPr>
          <a:xfrm>
            <a:off x="3070225" y="5472112"/>
            <a:ext cx="793750" cy="461963"/>
          </a:xfrm>
          <a:prstGeom prst="rect">
            <a:avLst/>
          </a:prstGeom>
          <a:noFill/>
        </p:spPr>
        <p:txBody>
          <a:bodyPr>
            <a:spAutoFit/>
          </a:bodyPr>
          <a:lstStyle/>
          <a:p>
            <a:pPr eaLnBrk="1" hangingPunct="1">
              <a:defRPr/>
            </a:pPr>
            <a:r>
              <a:rPr kumimoji="1" lang="zh-CN" altLang="en-US" sz="2400" dirty="0">
                <a:solidFill>
                  <a:srgbClr val="000000"/>
                </a:solidFill>
                <a:latin typeface="+mn-ea"/>
                <a:ea typeface="+mn-ea"/>
                <a:cs typeface="Tahoma"/>
              </a:rPr>
              <a:t>符号</a:t>
            </a:r>
          </a:p>
        </p:txBody>
      </p:sp>
      <p:sp>
        <p:nvSpPr>
          <p:cNvPr id="15" name="文本框 14">
            <a:extLst>
              <a:ext uri="{FF2B5EF4-FFF2-40B4-BE49-F238E27FC236}">
                <a16:creationId xmlns:a16="http://schemas.microsoft.com/office/drawing/2014/main" id="{3D076FCF-2FC3-3100-0D1C-693EEDBFEC82}"/>
              </a:ext>
            </a:extLst>
          </p:cNvPr>
          <p:cNvSpPr txBox="1"/>
          <p:nvPr/>
        </p:nvSpPr>
        <p:spPr>
          <a:xfrm>
            <a:off x="5853112" y="5464175"/>
            <a:ext cx="793750" cy="461962"/>
          </a:xfrm>
          <a:prstGeom prst="rect">
            <a:avLst/>
          </a:prstGeom>
          <a:noFill/>
        </p:spPr>
        <p:txBody>
          <a:bodyPr>
            <a:spAutoFit/>
          </a:bodyPr>
          <a:lstStyle/>
          <a:p>
            <a:pPr eaLnBrk="1" hangingPunct="1">
              <a:defRPr/>
            </a:pPr>
            <a:r>
              <a:rPr kumimoji="1" lang="zh-CN" altLang="en-US" sz="2400" dirty="0">
                <a:solidFill>
                  <a:srgbClr val="000000"/>
                </a:solidFill>
                <a:latin typeface="+mn-ea"/>
                <a:ea typeface="+mn-ea"/>
                <a:cs typeface="Tahoma"/>
              </a:rPr>
              <a:t>符号</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7BD05A8-BF2B-57BC-6063-E61668B32E64}"/>
              </a:ext>
            </a:extLst>
          </p:cNvPr>
          <p:cNvSpPr>
            <a:spLocks noGrp="1" noChangeArrowheads="1"/>
          </p:cNvSpPr>
          <p:nvPr>
            <p:ph type="body" idx="1"/>
          </p:nvPr>
        </p:nvSpPr>
        <p:spPr>
          <a:xfrm>
            <a:off x="304800" y="228600"/>
            <a:ext cx="5029200" cy="533400"/>
          </a:xfrm>
        </p:spPr>
        <p:txBody>
          <a:bodyPr/>
          <a:lstStyle/>
          <a:p>
            <a:pPr eaLnBrk="1" hangingPunct="1">
              <a:buFontTx/>
              <a:buNone/>
            </a:pPr>
            <a:r>
              <a:rPr lang="en-US" altLang="zh-CN"/>
              <a:t>1 </a:t>
            </a:r>
            <a:r>
              <a:rPr lang="zh-CN" altLang="en-US"/>
              <a:t>通信系统的数学模型（续）</a:t>
            </a:r>
            <a:endParaRPr lang="en-US" altLang="zh-CN" b="1"/>
          </a:p>
          <a:p>
            <a:pPr eaLnBrk="1" hangingPunct="1">
              <a:buFontTx/>
              <a:buNone/>
            </a:pPr>
            <a:endParaRPr lang="zh-CN" altLang="en-US"/>
          </a:p>
        </p:txBody>
      </p:sp>
      <p:sp>
        <p:nvSpPr>
          <p:cNvPr id="3" name="Rectangle 3">
            <a:extLst>
              <a:ext uri="{FF2B5EF4-FFF2-40B4-BE49-F238E27FC236}">
                <a16:creationId xmlns:a16="http://schemas.microsoft.com/office/drawing/2014/main" id="{3840105D-DAD6-9581-2492-7D80C0028D9E}"/>
              </a:ext>
            </a:extLst>
          </p:cNvPr>
          <p:cNvSpPr>
            <a:spLocks noChangeArrowheads="1"/>
          </p:cNvSpPr>
          <p:nvPr/>
        </p:nvSpPr>
        <p:spPr bwMode="auto">
          <a:xfrm>
            <a:off x="327025" y="762000"/>
            <a:ext cx="8610600" cy="5808663"/>
          </a:xfrm>
          <a:prstGeom prst="rect">
            <a:avLst/>
          </a:prstGeom>
          <a:noFill/>
          <a:ln w="9525">
            <a:noFill/>
            <a:miter lim="800000"/>
            <a:headEnd/>
            <a:tailEnd/>
          </a:ln>
          <a:effectLst/>
        </p:spPr>
        <p:txBody>
          <a:bodyPr>
            <a:spAutoFit/>
          </a:bodyPr>
          <a:lstStyle/>
          <a:p>
            <a:pPr marL="457200" indent="-457200" eaLnBrk="1" hangingPunct="1">
              <a:lnSpc>
                <a:spcPct val="150000"/>
              </a:lnSpc>
              <a:buFont typeface="Arial" panose="020B0604020202020204" pitchFamily="34" charset="0"/>
              <a:buChar char="•"/>
              <a:defRPr/>
            </a:pPr>
            <a:r>
              <a:rPr lang="zh-CN" altLang="en-US" sz="2800" b="1" dirty="0">
                <a:solidFill>
                  <a:srgbClr val="002060"/>
                </a:solidFill>
                <a:latin typeface="+mn-ea"/>
                <a:ea typeface="+mn-ea"/>
                <a:cs typeface="Tahoma"/>
              </a:rPr>
              <a:t>信道</a:t>
            </a:r>
            <a:endParaRPr lang="en-US" altLang="zh-CN" sz="2800" b="1" dirty="0">
              <a:solidFill>
                <a:srgbClr val="002060"/>
              </a:solidFill>
              <a:latin typeface="+mn-ea"/>
              <a:ea typeface="+mn-ea"/>
              <a:cs typeface="Tahoma"/>
            </a:endParaRPr>
          </a:p>
          <a:p>
            <a:pPr eaLnBrk="1" hangingPunct="1">
              <a:lnSpc>
                <a:spcPct val="150000"/>
              </a:lnSpc>
              <a:defRPr/>
            </a:pPr>
            <a:r>
              <a:rPr lang="zh-CN" altLang="en-US" sz="2800" dirty="0">
                <a:solidFill>
                  <a:srgbClr val="000000"/>
                </a:solidFill>
                <a:latin typeface="+mn-ea"/>
                <a:ea typeface="+mn-ea"/>
                <a:cs typeface="Tahoma"/>
              </a:rPr>
              <a:t>信息传输的媒质或通道。种类包括：电缆、光纤、无线电波等。信道干扰分为两大类：</a:t>
            </a:r>
            <a:endParaRPr lang="en-US" altLang="zh-CN" sz="2800" dirty="0">
              <a:solidFill>
                <a:srgbClr val="000000"/>
              </a:solidFill>
              <a:latin typeface="+mn-ea"/>
              <a:ea typeface="+mn-ea"/>
              <a:cs typeface="Tahoma"/>
            </a:endParaRPr>
          </a:p>
          <a:p>
            <a:pPr marL="457200" indent="-457200" eaLnBrk="1" hangingPunct="1">
              <a:lnSpc>
                <a:spcPct val="150000"/>
              </a:lnSpc>
              <a:buFont typeface="Wingdings" panose="05000000000000000000" pitchFamily="2" charset="2"/>
              <a:buChar char="Ø"/>
              <a:defRPr/>
            </a:pPr>
            <a:r>
              <a:rPr lang="zh-CN" altLang="en-US" sz="2800" dirty="0">
                <a:solidFill>
                  <a:srgbClr val="000000"/>
                </a:solidFill>
                <a:latin typeface="+mn-ea"/>
                <a:ea typeface="+mn-ea"/>
                <a:cs typeface="Tahoma"/>
              </a:rPr>
              <a:t>由外界引入的随机干扰，如电磁干扰、设备内部噪声等。这类干扰信号叠加在信道信号上，称为“</a:t>
            </a:r>
            <a:r>
              <a:rPr lang="zh-CN" altLang="en-US" sz="2800" b="1" dirty="0">
                <a:solidFill>
                  <a:srgbClr val="000000"/>
                </a:solidFill>
                <a:latin typeface="+mn-ea"/>
                <a:ea typeface="+mn-ea"/>
                <a:cs typeface="Tahoma"/>
              </a:rPr>
              <a:t>加性干扰</a:t>
            </a:r>
            <a:r>
              <a:rPr lang="zh-CN" altLang="en-US" sz="2800" dirty="0">
                <a:solidFill>
                  <a:srgbClr val="000000"/>
                </a:solidFill>
                <a:latin typeface="+mn-ea"/>
                <a:ea typeface="+mn-ea"/>
                <a:cs typeface="Tahoma"/>
              </a:rPr>
              <a:t>”。</a:t>
            </a:r>
            <a:endParaRPr lang="en-US" altLang="zh-CN" sz="2800" dirty="0">
              <a:solidFill>
                <a:srgbClr val="000000"/>
              </a:solidFill>
              <a:latin typeface="+mn-ea"/>
              <a:ea typeface="+mn-ea"/>
              <a:cs typeface="Tahoma"/>
            </a:endParaRPr>
          </a:p>
          <a:p>
            <a:pPr marL="457200" indent="-457200" eaLnBrk="1" hangingPunct="1">
              <a:lnSpc>
                <a:spcPct val="150000"/>
              </a:lnSpc>
              <a:buFont typeface="Wingdings" panose="05000000000000000000" pitchFamily="2" charset="2"/>
              <a:buChar char="Ø"/>
              <a:defRPr/>
            </a:pPr>
            <a:r>
              <a:rPr lang="zh-CN" altLang="en-US" sz="2800" dirty="0">
                <a:solidFill>
                  <a:srgbClr val="000000"/>
                </a:solidFill>
                <a:latin typeface="+mn-ea"/>
                <a:ea typeface="+mn-ea"/>
                <a:cs typeface="Tahoma"/>
              </a:rPr>
              <a:t>由物理条件的变化引起的参量随机变化，如温度、电离层位置等引起的信号频率、幅度、相位等变化。这类随机干扰与信道信号相乘，称为“</a:t>
            </a:r>
            <a:r>
              <a:rPr lang="zh-CN" altLang="en-US" sz="2800" b="1" dirty="0">
                <a:solidFill>
                  <a:srgbClr val="000000"/>
                </a:solidFill>
                <a:latin typeface="+mn-ea"/>
                <a:ea typeface="+mn-ea"/>
                <a:cs typeface="Tahoma"/>
              </a:rPr>
              <a:t>乘性干扰</a:t>
            </a:r>
            <a:r>
              <a:rPr lang="zh-CN" altLang="en-US" sz="2800" dirty="0">
                <a:solidFill>
                  <a:srgbClr val="000000"/>
                </a:solidFill>
                <a:latin typeface="+mn-ea"/>
                <a:ea typeface="+mn-ea"/>
                <a:cs typeface="Tahoma"/>
              </a:rPr>
              <a:t>”。</a:t>
            </a:r>
            <a:endParaRPr lang="en-US" altLang="zh-CN" sz="2800" dirty="0">
              <a:solidFill>
                <a:srgbClr val="000000"/>
              </a:solidFill>
              <a:latin typeface="+mn-ea"/>
              <a:ea typeface="+mn-ea"/>
              <a:cs typeface="Tahom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23A1D9C-9E4E-89A9-53ED-891FF61E53AA}"/>
              </a:ext>
            </a:extLst>
          </p:cNvPr>
          <p:cNvSpPr>
            <a:spLocks noGrp="1" noChangeArrowheads="1"/>
          </p:cNvSpPr>
          <p:nvPr>
            <p:ph type="body" idx="1"/>
          </p:nvPr>
        </p:nvSpPr>
        <p:spPr>
          <a:xfrm>
            <a:off x="214313" y="223838"/>
            <a:ext cx="6248400" cy="533400"/>
          </a:xfrm>
        </p:spPr>
        <p:txBody>
          <a:bodyPr/>
          <a:lstStyle/>
          <a:p>
            <a:pPr eaLnBrk="1" hangingPunct="1">
              <a:buFontTx/>
              <a:buNone/>
            </a:pPr>
            <a:r>
              <a:rPr lang="en-US" altLang="zh-CN"/>
              <a:t>1 </a:t>
            </a:r>
            <a:r>
              <a:rPr lang="zh-CN" altLang="en-US"/>
              <a:t>通信系统的数学模型（续）</a:t>
            </a:r>
            <a:endParaRPr lang="en-US" altLang="zh-CN" b="1"/>
          </a:p>
          <a:p>
            <a:pPr eaLnBrk="1" hangingPunct="1">
              <a:buFontTx/>
              <a:buNone/>
            </a:pPr>
            <a:endParaRPr lang="zh-CN" altLang="en-US"/>
          </a:p>
        </p:txBody>
      </p:sp>
      <p:sp>
        <p:nvSpPr>
          <p:cNvPr id="15" name="Rectangle 3">
            <a:extLst>
              <a:ext uri="{FF2B5EF4-FFF2-40B4-BE49-F238E27FC236}">
                <a16:creationId xmlns:a16="http://schemas.microsoft.com/office/drawing/2014/main" id="{5908E294-1CF5-0456-9EDC-AAFFABB9BEDC}"/>
              </a:ext>
            </a:extLst>
          </p:cNvPr>
          <p:cNvSpPr>
            <a:spLocks noChangeArrowheads="1"/>
          </p:cNvSpPr>
          <p:nvPr/>
        </p:nvSpPr>
        <p:spPr bwMode="auto">
          <a:xfrm>
            <a:off x="214313" y="762000"/>
            <a:ext cx="8491537" cy="3222625"/>
          </a:xfrm>
          <a:prstGeom prst="rect">
            <a:avLst/>
          </a:prstGeom>
          <a:noFill/>
          <a:ln w="9525">
            <a:noFill/>
            <a:miter lim="800000"/>
            <a:headEnd/>
            <a:tailEnd/>
          </a:ln>
          <a:effectLst/>
        </p:spPr>
        <p:txBody>
          <a:bodyPr>
            <a:spAutoFit/>
          </a:bodyPr>
          <a:lstStyle/>
          <a:p>
            <a:pPr marL="457200" indent="-457200" eaLnBrk="1" hangingPunct="1">
              <a:lnSpc>
                <a:spcPct val="150000"/>
              </a:lnSpc>
              <a:buFont typeface="Arial" panose="020B0604020202020204" pitchFamily="34" charset="0"/>
              <a:buChar char="•"/>
              <a:defRPr/>
            </a:pPr>
            <a:r>
              <a:rPr lang="zh-CN" altLang="en-US" sz="2800" b="1" dirty="0">
                <a:solidFill>
                  <a:srgbClr val="002060"/>
                </a:solidFill>
                <a:latin typeface="+mn-ea"/>
                <a:ea typeface="+mn-ea"/>
                <a:cs typeface="Tahoma"/>
              </a:rPr>
              <a:t>译码器</a:t>
            </a:r>
            <a:endParaRPr lang="en-US" altLang="zh-CN" sz="2800" b="1" dirty="0">
              <a:solidFill>
                <a:srgbClr val="002060"/>
              </a:solidFill>
              <a:latin typeface="+mn-ea"/>
              <a:ea typeface="+mn-ea"/>
              <a:cs typeface="Tahoma"/>
            </a:endParaRPr>
          </a:p>
          <a:p>
            <a:pPr eaLnBrk="1" hangingPunct="1">
              <a:lnSpc>
                <a:spcPct val="150000"/>
              </a:lnSpc>
              <a:defRPr/>
            </a:pPr>
            <a:r>
              <a:rPr lang="zh-CN" altLang="en-US" sz="2800" dirty="0">
                <a:solidFill>
                  <a:srgbClr val="000000"/>
                </a:solidFill>
                <a:latin typeface="+mn-ea"/>
                <a:ea typeface="+mn-ea"/>
                <a:cs typeface="Tahoma"/>
              </a:rPr>
              <a:t>把受干扰的信道输出尽可能恢复成原来的信源输出，并传给信宿。译码器包括“解调器”、“信道译码器”、“信源译码器”，如图</a:t>
            </a:r>
            <a:r>
              <a:rPr lang="en-US" altLang="zh-CN" sz="2800" dirty="0">
                <a:solidFill>
                  <a:srgbClr val="000000"/>
                </a:solidFill>
                <a:latin typeface="+mn-ea"/>
                <a:ea typeface="+mn-ea"/>
                <a:cs typeface="Tahoma"/>
              </a:rPr>
              <a:t>3</a:t>
            </a:r>
            <a:r>
              <a:rPr lang="zh-CN" altLang="en-US" sz="2800" dirty="0">
                <a:solidFill>
                  <a:srgbClr val="000000"/>
                </a:solidFill>
                <a:latin typeface="+mn-ea"/>
                <a:ea typeface="+mn-ea"/>
                <a:cs typeface="Tahoma"/>
              </a:rPr>
              <a:t>所示。</a:t>
            </a:r>
            <a:endParaRPr lang="en-US" altLang="zh-CN" sz="2800" dirty="0">
              <a:solidFill>
                <a:srgbClr val="000000"/>
              </a:solidFill>
              <a:latin typeface="+mn-ea"/>
              <a:ea typeface="+mn-ea"/>
              <a:cs typeface="Tahoma"/>
            </a:endParaRPr>
          </a:p>
          <a:p>
            <a:pPr indent="504000" eaLnBrk="1" hangingPunct="1">
              <a:lnSpc>
                <a:spcPct val="150000"/>
              </a:lnSpc>
              <a:defRPr/>
            </a:pPr>
            <a:endParaRPr lang="en-US" altLang="zh-CN" sz="2800" dirty="0">
              <a:solidFill>
                <a:srgbClr val="000000"/>
              </a:solidFill>
              <a:latin typeface="+mn-ea"/>
              <a:ea typeface="+mn-ea"/>
              <a:cs typeface="Tahoma"/>
            </a:endParaRPr>
          </a:p>
        </p:txBody>
      </p:sp>
      <p:sp>
        <p:nvSpPr>
          <p:cNvPr id="16" name="矩形 15">
            <a:extLst>
              <a:ext uri="{FF2B5EF4-FFF2-40B4-BE49-F238E27FC236}">
                <a16:creationId xmlns:a16="http://schemas.microsoft.com/office/drawing/2014/main" id="{CDF5AD1A-1A93-22E0-C5E5-58F9F33A7AF2}"/>
              </a:ext>
            </a:extLst>
          </p:cNvPr>
          <p:cNvSpPr/>
          <p:nvPr/>
        </p:nvSpPr>
        <p:spPr bwMode="auto">
          <a:xfrm>
            <a:off x="214313" y="3962400"/>
            <a:ext cx="8678862" cy="2209800"/>
          </a:xfrm>
          <a:prstGeom prst="rect">
            <a:avLst/>
          </a:prstGeom>
          <a:solidFill>
            <a:srgbClr val="FFFFFF">
              <a:lumMod val="85000"/>
            </a:srgbClr>
          </a:solidFill>
          <a:ln w="12700" cap="flat" cmpd="sng" algn="ctr">
            <a:solidFill>
              <a:srgbClr val="000000"/>
            </a:solidFill>
            <a:prstDash val="solid"/>
            <a:round/>
            <a:headEnd type="none" w="med" len="med"/>
            <a:tailEnd type="none" w="med" len="sm"/>
          </a:ln>
          <a:effectLst/>
        </p:spPr>
        <p:txBody>
          <a:bodyPr wrap="none" anchor="ctr"/>
          <a:lstStyle/>
          <a:p>
            <a:pPr algn="ctr" eaLnBrk="1" fontAlgn="auto" latinLnBrk="1" hangingPunct="1">
              <a:lnSpc>
                <a:spcPct val="80000"/>
              </a:lnSpc>
              <a:spcBef>
                <a:spcPct val="50000"/>
              </a:spcBef>
              <a:spcAft>
                <a:spcPts val="0"/>
              </a:spcAft>
              <a:buClr>
                <a:srgbClr val="FF0000"/>
              </a:buClr>
              <a:buFont typeface="Wingdings" pitchFamily="2" charset="2"/>
              <a:buNone/>
              <a:defRPr/>
            </a:pPr>
            <a:endParaRPr kumimoji="1" lang="zh-CN" altLang="en-US" sz="2800" kern="0">
              <a:noFill/>
              <a:latin typeface="+mn-ea"/>
              <a:ea typeface="+mn-ea"/>
              <a:cs typeface="Tahoma" pitchFamily="34" charset="0"/>
            </a:endParaRPr>
          </a:p>
        </p:txBody>
      </p:sp>
      <p:sp>
        <p:nvSpPr>
          <p:cNvPr id="17" name="文本框 16">
            <a:extLst>
              <a:ext uri="{FF2B5EF4-FFF2-40B4-BE49-F238E27FC236}">
                <a16:creationId xmlns:a16="http://schemas.microsoft.com/office/drawing/2014/main" id="{80D91665-13B1-18EB-C704-491F1DE260D0}"/>
              </a:ext>
            </a:extLst>
          </p:cNvPr>
          <p:cNvSpPr txBox="1"/>
          <p:nvPr/>
        </p:nvSpPr>
        <p:spPr>
          <a:xfrm>
            <a:off x="5930900" y="4416425"/>
            <a:ext cx="2054225" cy="523875"/>
          </a:xfrm>
          <a:prstGeom prst="rect">
            <a:avLst/>
          </a:prstGeom>
          <a:noFill/>
          <a:ln>
            <a:solidFill>
              <a:srgbClr val="000000"/>
            </a:solidFill>
          </a:ln>
        </p:spPr>
        <p:txBody>
          <a:bodyPr>
            <a:spAutoFit/>
          </a:bodyPr>
          <a:lstStyle/>
          <a:p>
            <a:pPr algn="ctr" eaLnBrk="1" fontAlgn="auto" hangingPunct="1">
              <a:spcBef>
                <a:spcPts val="0"/>
              </a:spcBef>
              <a:spcAft>
                <a:spcPts val="0"/>
              </a:spcAft>
              <a:defRPr/>
            </a:pPr>
            <a:r>
              <a:rPr kumimoji="1" lang="zh-CN" altLang="en-US" sz="2800" kern="0" dirty="0">
                <a:solidFill>
                  <a:srgbClr val="000000"/>
                </a:solidFill>
                <a:latin typeface="+mn-ea"/>
                <a:ea typeface="+mn-ea"/>
                <a:cs typeface="Tahoma"/>
              </a:rPr>
              <a:t>信源译码器</a:t>
            </a:r>
          </a:p>
        </p:txBody>
      </p:sp>
      <p:cxnSp>
        <p:nvCxnSpPr>
          <p:cNvPr id="14342" name="直接箭头连接符 17">
            <a:extLst>
              <a:ext uri="{FF2B5EF4-FFF2-40B4-BE49-F238E27FC236}">
                <a16:creationId xmlns:a16="http://schemas.microsoft.com/office/drawing/2014/main" id="{728FE1F2-6C1D-9C4C-0733-C5EC86DA13ED}"/>
              </a:ext>
            </a:extLst>
          </p:cNvPr>
          <p:cNvCxnSpPr>
            <a:cxnSpLocks/>
          </p:cNvCxnSpPr>
          <p:nvPr/>
        </p:nvCxnSpPr>
        <p:spPr bwMode="auto">
          <a:xfrm>
            <a:off x="2443163" y="4665663"/>
            <a:ext cx="720725" cy="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 name="文本框 18">
            <a:extLst>
              <a:ext uri="{FF2B5EF4-FFF2-40B4-BE49-F238E27FC236}">
                <a16:creationId xmlns:a16="http://schemas.microsoft.com/office/drawing/2014/main" id="{D112EDD1-8D0D-ECFC-31D1-0AC2945CFC18}"/>
              </a:ext>
            </a:extLst>
          </p:cNvPr>
          <p:cNvSpPr txBox="1"/>
          <p:nvPr/>
        </p:nvSpPr>
        <p:spPr>
          <a:xfrm>
            <a:off x="3160713" y="4408488"/>
            <a:ext cx="2054225" cy="523875"/>
          </a:xfrm>
          <a:prstGeom prst="rect">
            <a:avLst/>
          </a:prstGeom>
          <a:noFill/>
          <a:ln>
            <a:solidFill>
              <a:srgbClr val="000000"/>
            </a:solidFill>
          </a:ln>
        </p:spPr>
        <p:txBody>
          <a:bodyPr>
            <a:spAutoFit/>
          </a:bodyPr>
          <a:lstStyle/>
          <a:p>
            <a:pPr algn="ctr" eaLnBrk="1" fontAlgn="auto" hangingPunct="1">
              <a:spcBef>
                <a:spcPts val="0"/>
              </a:spcBef>
              <a:spcAft>
                <a:spcPts val="0"/>
              </a:spcAft>
              <a:defRPr/>
            </a:pPr>
            <a:r>
              <a:rPr kumimoji="1" lang="zh-CN" altLang="en-US" sz="2800" kern="0" dirty="0">
                <a:solidFill>
                  <a:srgbClr val="000000"/>
                </a:solidFill>
                <a:latin typeface="+mn-ea"/>
                <a:ea typeface="+mn-ea"/>
                <a:cs typeface="Tahoma"/>
              </a:rPr>
              <a:t>信道译码器</a:t>
            </a:r>
          </a:p>
        </p:txBody>
      </p:sp>
      <p:cxnSp>
        <p:nvCxnSpPr>
          <p:cNvPr id="14344" name="直接箭头连接符 19">
            <a:extLst>
              <a:ext uri="{FF2B5EF4-FFF2-40B4-BE49-F238E27FC236}">
                <a16:creationId xmlns:a16="http://schemas.microsoft.com/office/drawing/2014/main" id="{8FDDF332-ADF1-C0AA-4B5C-89AA4BC5AFDE}"/>
              </a:ext>
            </a:extLst>
          </p:cNvPr>
          <p:cNvCxnSpPr>
            <a:cxnSpLocks/>
          </p:cNvCxnSpPr>
          <p:nvPr/>
        </p:nvCxnSpPr>
        <p:spPr bwMode="auto">
          <a:xfrm>
            <a:off x="5214938" y="4665663"/>
            <a:ext cx="719137" cy="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1" name="文本框 20">
            <a:extLst>
              <a:ext uri="{FF2B5EF4-FFF2-40B4-BE49-F238E27FC236}">
                <a16:creationId xmlns:a16="http://schemas.microsoft.com/office/drawing/2014/main" id="{FF3E4754-61A7-A370-53F5-51BE81FFEF92}"/>
              </a:ext>
            </a:extLst>
          </p:cNvPr>
          <p:cNvSpPr txBox="1"/>
          <p:nvPr/>
        </p:nvSpPr>
        <p:spPr>
          <a:xfrm>
            <a:off x="1104900" y="4421188"/>
            <a:ext cx="1338263" cy="523875"/>
          </a:xfrm>
          <a:prstGeom prst="rect">
            <a:avLst/>
          </a:prstGeom>
          <a:noFill/>
          <a:ln>
            <a:solidFill>
              <a:srgbClr val="000000"/>
            </a:solidFill>
          </a:ln>
        </p:spPr>
        <p:txBody>
          <a:bodyPr>
            <a:spAutoFit/>
          </a:bodyPr>
          <a:lstStyle/>
          <a:p>
            <a:pPr algn="ctr" eaLnBrk="1" fontAlgn="auto" hangingPunct="1">
              <a:spcBef>
                <a:spcPts val="0"/>
              </a:spcBef>
              <a:spcAft>
                <a:spcPts val="0"/>
              </a:spcAft>
              <a:defRPr/>
            </a:pPr>
            <a:r>
              <a:rPr kumimoji="1" lang="zh-CN" altLang="en-US" sz="2800" kern="0" dirty="0">
                <a:solidFill>
                  <a:srgbClr val="000000"/>
                </a:solidFill>
                <a:latin typeface="+mn-ea"/>
                <a:ea typeface="+mn-ea"/>
                <a:cs typeface="Tahoma"/>
              </a:rPr>
              <a:t>解调器</a:t>
            </a:r>
          </a:p>
        </p:txBody>
      </p:sp>
      <p:cxnSp>
        <p:nvCxnSpPr>
          <p:cNvPr id="14346" name="直接箭头连接符 21">
            <a:extLst>
              <a:ext uri="{FF2B5EF4-FFF2-40B4-BE49-F238E27FC236}">
                <a16:creationId xmlns:a16="http://schemas.microsoft.com/office/drawing/2014/main" id="{07CB0C15-16C1-743D-BA56-10FAA4130B2D}"/>
              </a:ext>
            </a:extLst>
          </p:cNvPr>
          <p:cNvCxnSpPr>
            <a:cxnSpLocks/>
          </p:cNvCxnSpPr>
          <p:nvPr/>
        </p:nvCxnSpPr>
        <p:spPr bwMode="auto">
          <a:xfrm>
            <a:off x="387350" y="4678363"/>
            <a:ext cx="720725" cy="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347" name="直接箭头连接符 22">
            <a:extLst>
              <a:ext uri="{FF2B5EF4-FFF2-40B4-BE49-F238E27FC236}">
                <a16:creationId xmlns:a16="http://schemas.microsoft.com/office/drawing/2014/main" id="{FE5F84E3-AC1A-D062-0DA3-34EDF57E9FB3}"/>
              </a:ext>
            </a:extLst>
          </p:cNvPr>
          <p:cNvCxnSpPr>
            <a:cxnSpLocks/>
          </p:cNvCxnSpPr>
          <p:nvPr/>
        </p:nvCxnSpPr>
        <p:spPr bwMode="auto">
          <a:xfrm>
            <a:off x="7985125" y="4665663"/>
            <a:ext cx="720725" cy="0"/>
          </a:xfrm>
          <a:prstGeom prst="straightConnector1">
            <a:avLst/>
          </a:prstGeom>
          <a:noFill/>
          <a:ln w="127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4" name="文本框 23">
            <a:extLst>
              <a:ext uri="{FF2B5EF4-FFF2-40B4-BE49-F238E27FC236}">
                <a16:creationId xmlns:a16="http://schemas.microsoft.com/office/drawing/2014/main" id="{5949CC4F-3E07-3A72-0FC4-85297C8ADA2B}"/>
              </a:ext>
            </a:extLst>
          </p:cNvPr>
          <p:cNvSpPr txBox="1"/>
          <p:nvPr/>
        </p:nvSpPr>
        <p:spPr>
          <a:xfrm>
            <a:off x="2971800" y="5549900"/>
            <a:ext cx="2878138" cy="523875"/>
          </a:xfrm>
          <a:prstGeom prst="rect">
            <a:avLst/>
          </a:prstGeom>
          <a:noFill/>
        </p:spPr>
        <p:txBody>
          <a:bodyPr>
            <a:spAutoFit/>
          </a:bodyPr>
          <a:lstStyle/>
          <a:p>
            <a:pPr eaLnBrk="1" hangingPunct="1">
              <a:defRPr/>
            </a:pPr>
            <a:r>
              <a:rPr kumimoji="1" lang="zh-CN" altLang="en-US" sz="2800" dirty="0">
                <a:solidFill>
                  <a:srgbClr val="000000"/>
                </a:solidFill>
                <a:latin typeface="+mn-ea"/>
                <a:ea typeface="+mn-ea"/>
                <a:cs typeface="Tahoma"/>
              </a:rPr>
              <a:t>图 </a:t>
            </a:r>
            <a:r>
              <a:rPr kumimoji="1" lang="en-US" altLang="zh-CN" sz="2800" dirty="0">
                <a:solidFill>
                  <a:srgbClr val="000000"/>
                </a:solidFill>
                <a:latin typeface="+mn-ea"/>
                <a:ea typeface="+mn-ea"/>
                <a:cs typeface="Tahoma"/>
              </a:rPr>
              <a:t>3 </a:t>
            </a:r>
            <a:r>
              <a:rPr kumimoji="1" lang="zh-CN" altLang="en-US" sz="2800" dirty="0">
                <a:solidFill>
                  <a:srgbClr val="000000"/>
                </a:solidFill>
                <a:latin typeface="+mn-ea"/>
                <a:ea typeface="+mn-ea"/>
                <a:cs typeface="Tahoma"/>
              </a:rPr>
              <a:t>译码器组成</a:t>
            </a:r>
          </a:p>
        </p:txBody>
      </p:sp>
      <p:sp>
        <p:nvSpPr>
          <p:cNvPr id="25" name="文本框 24">
            <a:extLst>
              <a:ext uri="{FF2B5EF4-FFF2-40B4-BE49-F238E27FC236}">
                <a16:creationId xmlns:a16="http://schemas.microsoft.com/office/drawing/2014/main" id="{E4D1C496-BDA1-D8E4-0122-32F3E93B3826}"/>
              </a:ext>
            </a:extLst>
          </p:cNvPr>
          <p:cNvSpPr txBox="1"/>
          <p:nvPr/>
        </p:nvSpPr>
        <p:spPr>
          <a:xfrm>
            <a:off x="2420938" y="4676775"/>
            <a:ext cx="793750" cy="460375"/>
          </a:xfrm>
          <a:prstGeom prst="rect">
            <a:avLst/>
          </a:prstGeom>
          <a:noFill/>
        </p:spPr>
        <p:txBody>
          <a:bodyPr>
            <a:spAutoFit/>
          </a:bodyPr>
          <a:lstStyle/>
          <a:p>
            <a:pPr eaLnBrk="1" hangingPunct="1">
              <a:defRPr/>
            </a:pPr>
            <a:r>
              <a:rPr kumimoji="1" lang="zh-CN" altLang="en-US" sz="2400" dirty="0">
                <a:solidFill>
                  <a:srgbClr val="000000"/>
                </a:solidFill>
                <a:latin typeface="+mn-ea"/>
                <a:ea typeface="+mn-ea"/>
                <a:cs typeface="Tahoma"/>
              </a:rPr>
              <a:t>符号</a:t>
            </a:r>
          </a:p>
        </p:txBody>
      </p:sp>
      <p:sp>
        <p:nvSpPr>
          <p:cNvPr id="26" name="文本框 25">
            <a:extLst>
              <a:ext uri="{FF2B5EF4-FFF2-40B4-BE49-F238E27FC236}">
                <a16:creationId xmlns:a16="http://schemas.microsoft.com/office/drawing/2014/main" id="{19815F1A-B4CF-A257-A313-3CA179D32B1E}"/>
              </a:ext>
            </a:extLst>
          </p:cNvPr>
          <p:cNvSpPr txBox="1"/>
          <p:nvPr/>
        </p:nvSpPr>
        <p:spPr>
          <a:xfrm>
            <a:off x="5176838" y="4664075"/>
            <a:ext cx="792162" cy="461963"/>
          </a:xfrm>
          <a:prstGeom prst="rect">
            <a:avLst/>
          </a:prstGeom>
          <a:noFill/>
        </p:spPr>
        <p:txBody>
          <a:bodyPr>
            <a:spAutoFit/>
          </a:bodyPr>
          <a:lstStyle/>
          <a:p>
            <a:pPr eaLnBrk="1" hangingPunct="1">
              <a:defRPr/>
            </a:pPr>
            <a:r>
              <a:rPr kumimoji="1" lang="zh-CN" altLang="en-US" sz="2400" dirty="0">
                <a:solidFill>
                  <a:srgbClr val="000000"/>
                </a:solidFill>
                <a:latin typeface="+mn-ea"/>
                <a:ea typeface="+mn-ea"/>
                <a:cs typeface="Tahoma"/>
              </a:rPr>
              <a:t>符号</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9C5F634-3443-8757-A893-F91CD42C5338}"/>
              </a:ext>
            </a:extLst>
          </p:cNvPr>
          <p:cNvSpPr>
            <a:spLocks noGrp="1" noChangeArrowheads="1"/>
          </p:cNvSpPr>
          <p:nvPr>
            <p:ph type="body" idx="1"/>
          </p:nvPr>
        </p:nvSpPr>
        <p:spPr>
          <a:xfrm>
            <a:off x="304800" y="228600"/>
            <a:ext cx="5029200" cy="533400"/>
          </a:xfrm>
        </p:spPr>
        <p:txBody>
          <a:bodyPr/>
          <a:lstStyle/>
          <a:p>
            <a:pPr eaLnBrk="1" hangingPunct="1">
              <a:buFontTx/>
              <a:buNone/>
            </a:pPr>
            <a:r>
              <a:rPr lang="en-US" altLang="zh-CN"/>
              <a:t>1 </a:t>
            </a:r>
            <a:r>
              <a:rPr lang="zh-CN" altLang="en-US"/>
              <a:t>通信系统的数学模型（续）</a:t>
            </a:r>
            <a:endParaRPr lang="en-US" altLang="zh-CN" b="1"/>
          </a:p>
          <a:p>
            <a:pPr eaLnBrk="1" hangingPunct="1">
              <a:buFontTx/>
              <a:buNone/>
            </a:pPr>
            <a:endParaRPr lang="zh-CN" altLang="en-US"/>
          </a:p>
        </p:txBody>
      </p:sp>
      <p:sp>
        <p:nvSpPr>
          <p:cNvPr id="3" name="Rectangle 3">
            <a:extLst>
              <a:ext uri="{FF2B5EF4-FFF2-40B4-BE49-F238E27FC236}">
                <a16:creationId xmlns:a16="http://schemas.microsoft.com/office/drawing/2014/main" id="{8C9F673B-C66C-642D-0B04-664364EFFD9D}"/>
              </a:ext>
            </a:extLst>
          </p:cNvPr>
          <p:cNvSpPr>
            <a:spLocks noChangeArrowheads="1"/>
          </p:cNvSpPr>
          <p:nvPr/>
        </p:nvSpPr>
        <p:spPr bwMode="auto">
          <a:xfrm>
            <a:off x="361950" y="990600"/>
            <a:ext cx="8786813" cy="1284288"/>
          </a:xfrm>
          <a:prstGeom prst="rect">
            <a:avLst/>
          </a:prstGeom>
          <a:noFill/>
          <a:ln w="9525">
            <a:noFill/>
            <a:miter lim="800000"/>
            <a:headEnd/>
            <a:tailEnd/>
          </a:ln>
          <a:effectLst/>
        </p:spPr>
        <p:txBody>
          <a:bodyPr>
            <a:spAutoFit/>
          </a:bodyPr>
          <a:lstStyle/>
          <a:p>
            <a:pPr marL="457200" indent="-457200" eaLnBrk="1" hangingPunct="1">
              <a:lnSpc>
                <a:spcPct val="150000"/>
              </a:lnSpc>
              <a:buFont typeface="Arial" panose="020B0604020202020204" pitchFamily="34" charset="0"/>
              <a:buChar char="•"/>
              <a:defRPr/>
            </a:pPr>
            <a:r>
              <a:rPr lang="zh-CN" altLang="en-US" sz="2800" b="1" dirty="0">
                <a:solidFill>
                  <a:srgbClr val="002060"/>
                </a:solidFill>
                <a:latin typeface="+mn-ea"/>
                <a:ea typeface="+mn-ea"/>
                <a:cs typeface="Tahoma"/>
              </a:rPr>
              <a:t>信宿</a:t>
            </a:r>
            <a:endParaRPr lang="en-US" altLang="zh-CN" sz="2800" b="1" dirty="0">
              <a:solidFill>
                <a:srgbClr val="002060"/>
              </a:solidFill>
              <a:latin typeface="+mn-ea"/>
              <a:ea typeface="+mn-ea"/>
              <a:cs typeface="Tahoma"/>
            </a:endParaRPr>
          </a:p>
          <a:p>
            <a:pPr eaLnBrk="1" hangingPunct="1">
              <a:lnSpc>
                <a:spcPct val="150000"/>
              </a:lnSpc>
              <a:defRPr/>
            </a:pPr>
            <a:r>
              <a:rPr lang="zh-CN" altLang="en-US" sz="2800" dirty="0">
                <a:solidFill>
                  <a:srgbClr val="000000"/>
                </a:solidFill>
                <a:latin typeface="+mn-ea"/>
                <a:ea typeface="+mn-ea"/>
                <a:cs typeface="Tahoma"/>
              </a:rPr>
              <a:t>消息的接受者。从收到的消息试图恢复出原来的消息。</a:t>
            </a:r>
            <a:endParaRPr lang="en-US" altLang="zh-CN" sz="2800" dirty="0">
              <a:solidFill>
                <a:srgbClr val="000000"/>
              </a:solidFill>
              <a:latin typeface="+mn-ea"/>
              <a:ea typeface="+mn-ea"/>
              <a:cs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62DFB32-A342-5544-E2F7-863470AB8117}"/>
              </a:ext>
            </a:extLst>
          </p:cNvPr>
          <p:cNvSpPr>
            <a:spLocks noGrp="1" noChangeArrowheads="1"/>
          </p:cNvSpPr>
          <p:nvPr>
            <p:ph type="body" idx="1"/>
          </p:nvPr>
        </p:nvSpPr>
        <p:spPr>
          <a:xfrm>
            <a:off x="304800" y="152400"/>
            <a:ext cx="3962400" cy="609600"/>
          </a:xfrm>
        </p:spPr>
        <p:txBody>
          <a:bodyPr/>
          <a:lstStyle/>
          <a:p>
            <a:pPr eaLnBrk="1" hangingPunct="1">
              <a:buFontTx/>
              <a:buNone/>
            </a:pPr>
            <a:r>
              <a:rPr lang="en-US" altLang="zh-CN"/>
              <a:t>2 </a:t>
            </a:r>
            <a:r>
              <a:rPr lang="zh-CN" altLang="en-US"/>
              <a:t>信息的度量</a:t>
            </a:r>
            <a:endParaRPr lang="en-US" altLang="zh-CN"/>
          </a:p>
        </p:txBody>
      </p:sp>
      <p:sp>
        <p:nvSpPr>
          <p:cNvPr id="7" name="Rectangle 3">
            <a:extLst>
              <a:ext uri="{FF2B5EF4-FFF2-40B4-BE49-F238E27FC236}">
                <a16:creationId xmlns:a16="http://schemas.microsoft.com/office/drawing/2014/main" id="{AE065831-A45F-5526-F7E8-1A26A0FCC77A}"/>
              </a:ext>
            </a:extLst>
          </p:cNvPr>
          <p:cNvSpPr>
            <a:spLocks noChangeArrowheads="1"/>
          </p:cNvSpPr>
          <p:nvPr/>
        </p:nvSpPr>
        <p:spPr bwMode="auto">
          <a:xfrm>
            <a:off x="144463" y="762000"/>
            <a:ext cx="8855075" cy="4694238"/>
          </a:xfrm>
          <a:prstGeom prst="rect">
            <a:avLst/>
          </a:prstGeom>
          <a:noFill/>
          <a:ln w="9525">
            <a:noFill/>
            <a:miter lim="800000"/>
            <a:headEnd/>
            <a:tailEnd/>
          </a:ln>
          <a:effectLst/>
        </p:spPr>
        <p:txBody>
          <a:bodyPr>
            <a:spAutoFit/>
          </a:bodyPr>
          <a:lstStyle/>
          <a:p>
            <a:pPr eaLnBrk="1" hangingPunct="1">
              <a:lnSpc>
                <a:spcPct val="150000"/>
              </a:lnSpc>
              <a:defRPr/>
            </a:pPr>
            <a:r>
              <a:rPr lang="en-US" altLang="zh-CN" sz="2800" dirty="0">
                <a:solidFill>
                  <a:srgbClr val="000000"/>
                </a:solidFill>
                <a:latin typeface="+mn-ea"/>
                <a:ea typeface="+mn-ea"/>
                <a:cs typeface="Tahoma"/>
              </a:rPr>
              <a:t>   </a:t>
            </a:r>
            <a:r>
              <a:rPr lang="zh-CN" altLang="en-US" sz="2800" dirty="0">
                <a:solidFill>
                  <a:srgbClr val="000000"/>
                </a:solidFill>
                <a:latin typeface="+mn-ea"/>
                <a:ea typeface="+mn-ea"/>
                <a:cs typeface="Tahoma"/>
              </a:rPr>
              <a:t>离散信源的信息度量：</a:t>
            </a:r>
            <a:endParaRPr lang="en-US" altLang="zh-CN" sz="2800" dirty="0">
              <a:solidFill>
                <a:srgbClr val="000000"/>
              </a:solidFill>
              <a:latin typeface="+mn-ea"/>
              <a:ea typeface="+mn-ea"/>
              <a:cs typeface="Tahoma"/>
            </a:endParaRPr>
          </a:p>
          <a:p>
            <a:pPr eaLnBrk="1" hangingPunct="1">
              <a:lnSpc>
                <a:spcPct val="150000"/>
              </a:lnSpc>
              <a:buFont typeface="Wingdings" pitchFamily="2" charset="2"/>
              <a:buChar char="Ø"/>
              <a:defRPr/>
            </a:pPr>
            <a:r>
              <a:rPr lang="en-US" altLang="zh-CN" sz="2800" dirty="0">
                <a:solidFill>
                  <a:srgbClr val="000000"/>
                </a:solidFill>
                <a:latin typeface="+mn-ea"/>
                <a:ea typeface="+mn-ea"/>
                <a:cs typeface="Tahoma"/>
              </a:rPr>
              <a:t> </a:t>
            </a:r>
            <a:r>
              <a:rPr lang="zh-CN" altLang="en-US" sz="2800" dirty="0">
                <a:solidFill>
                  <a:srgbClr val="FF0000"/>
                </a:solidFill>
                <a:latin typeface="+mn-ea"/>
                <a:ea typeface="+mn-ea"/>
                <a:cs typeface="Tahoma"/>
              </a:rPr>
              <a:t>消息</a:t>
            </a:r>
            <a:r>
              <a:rPr lang="zh-CN" altLang="en-US" sz="2800" dirty="0">
                <a:solidFill>
                  <a:srgbClr val="000000"/>
                </a:solidFill>
                <a:latin typeface="+mn-ea"/>
                <a:ea typeface="+mn-ea"/>
                <a:cs typeface="Tahoma"/>
              </a:rPr>
              <a:t>或</a:t>
            </a:r>
            <a:r>
              <a:rPr lang="zh-CN" altLang="en-US" sz="2800" dirty="0">
                <a:solidFill>
                  <a:srgbClr val="FF0000"/>
                </a:solidFill>
                <a:latin typeface="+mn-ea"/>
                <a:ea typeface="+mn-ea"/>
                <a:cs typeface="Tahoma"/>
              </a:rPr>
              <a:t>消息集合</a:t>
            </a:r>
            <a:r>
              <a:rPr lang="zh-CN" altLang="en-US" sz="2800" dirty="0">
                <a:solidFill>
                  <a:srgbClr val="000000"/>
                </a:solidFill>
                <a:latin typeface="+mn-ea"/>
                <a:ea typeface="+mn-ea"/>
                <a:cs typeface="Tahoma"/>
              </a:rPr>
              <a:t>本身所含信息量多少的度量。</a:t>
            </a:r>
            <a:endParaRPr lang="en-US" altLang="zh-CN" sz="2800" dirty="0">
              <a:solidFill>
                <a:srgbClr val="000000"/>
              </a:solidFill>
              <a:latin typeface="+mn-ea"/>
              <a:ea typeface="+mn-ea"/>
              <a:cs typeface="Tahoma"/>
            </a:endParaRPr>
          </a:p>
          <a:p>
            <a:pPr eaLnBrk="1" hangingPunct="1">
              <a:lnSpc>
                <a:spcPct val="150000"/>
              </a:lnSpc>
              <a:defRPr/>
            </a:pPr>
            <a:r>
              <a:rPr lang="en-US" altLang="zh-CN" sz="2800" dirty="0">
                <a:solidFill>
                  <a:srgbClr val="000000"/>
                </a:solidFill>
                <a:latin typeface="+mn-ea"/>
                <a:ea typeface="+mn-ea"/>
                <a:cs typeface="Tahoma"/>
              </a:rPr>
              <a:t>   </a:t>
            </a:r>
            <a:r>
              <a:rPr lang="zh-CN" altLang="en-US" sz="2800" dirty="0">
                <a:solidFill>
                  <a:srgbClr val="000000"/>
                </a:solidFill>
                <a:latin typeface="+mn-ea"/>
                <a:ea typeface="+mn-ea"/>
                <a:cs typeface="Tahoma"/>
              </a:rPr>
              <a:t>使用“</a:t>
            </a:r>
            <a:r>
              <a:rPr lang="zh-CN" altLang="en-US" sz="2800" dirty="0">
                <a:solidFill>
                  <a:srgbClr val="002060"/>
                </a:solidFill>
                <a:latin typeface="+mn-ea"/>
                <a:ea typeface="+mn-ea"/>
                <a:cs typeface="Tahoma"/>
              </a:rPr>
              <a:t>自信息</a:t>
            </a:r>
            <a:r>
              <a:rPr lang="zh-CN" altLang="en-US" sz="2800" dirty="0">
                <a:solidFill>
                  <a:srgbClr val="000000"/>
                </a:solidFill>
                <a:latin typeface="+mn-ea"/>
                <a:ea typeface="+mn-ea"/>
                <a:cs typeface="Tahoma"/>
              </a:rPr>
              <a:t>”和“</a:t>
            </a:r>
            <a:r>
              <a:rPr lang="zh-CN" altLang="en-US" sz="2800" dirty="0">
                <a:solidFill>
                  <a:srgbClr val="002060"/>
                </a:solidFill>
                <a:latin typeface="+mn-ea"/>
                <a:ea typeface="+mn-ea"/>
                <a:cs typeface="Tahoma"/>
              </a:rPr>
              <a:t>信息熵</a:t>
            </a:r>
            <a:r>
              <a:rPr lang="zh-CN" altLang="en-US" sz="2800" dirty="0">
                <a:solidFill>
                  <a:srgbClr val="000000"/>
                </a:solidFill>
                <a:latin typeface="+mn-ea"/>
                <a:ea typeface="+mn-ea"/>
                <a:cs typeface="Tahoma"/>
              </a:rPr>
              <a:t>”描述。</a:t>
            </a:r>
            <a:endParaRPr lang="en-US" altLang="zh-CN" sz="2800" dirty="0">
              <a:solidFill>
                <a:srgbClr val="000000"/>
              </a:solidFill>
              <a:latin typeface="+mn-ea"/>
              <a:ea typeface="+mn-ea"/>
              <a:cs typeface="Tahoma"/>
            </a:endParaRPr>
          </a:p>
          <a:p>
            <a:pPr eaLnBrk="1" hangingPunct="1">
              <a:lnSpc>
                <a:spcPct val="150000"/>
              </a:lnSpc>
              <a:buFont typeface="Wingdings" pitchFamily="2" charset="2"/>
              <a:buChar char="Ø"/>
              <a:defRPr/>
            </a:pPr>
            <a:r>
              <a:rPr lang="en-US" altLang="zh-CN" sz="2800" dirty="0">
                <a:solidFill>
                  <a:srgbClr val="000000"/>
                </a:solidFill>
                <a:latin typeface="+mn-ea"/>
                <a:ea typeface="+mn-ea"/>
                <a:cs typeface="Tahoma"/>
              </a:rPr>
              <a:t> </a:t>
            </a:r>
            <a:r>
              <a:rPr lang="zh-CN" altLang="en-US" sz="2800" dirty="0">
                <a:solidFill>
                  <a:srgbClr val="FF0000"/>
                </a:solidFill>
                <a:latin typeface="+mn-ea"/>
                <a:ea typeface="+mn-ea"/>
                <a:cs typeface="Tahoma"/>
              </a:rPr>
              <a:t>消息之间</a:t>
            </a:r>
            <a:r>
              <a:rPr lang="zh-CN" altLang="en-US" sz="2800" dirty="0">
                <a:solidFill>
                  <a:srgbClr val="000000"/>
                </a:solidFill>
                <a:latin typeface="+mn-ea"/>
                <a:ea typeface="+mn-ea"/>
                <a:cs typeface="Tahoma"/>
              </a:rPr>
              <a:t>或</a:t>
            </a:r>
            <a:r>
              <a:rPr lang="zh-CN" altLang="en-US" sz="2800" dirty="0">
                <a:solidFill>
                  <a:srgbClr val="FF0000"/>
                </a:solidFill>
                <a:latin typeface="+mn-ea"/>
                <a:ea typeface="+mn-ea"/>
                <a:cs typeface="Tahoma"/>
              </a:rPr>
              <a:t>消息集合之间</a:t>
            </a:r>
            <a:r>
              <a:rPr lang="zh-CN" altLang="en-US" sz="2800" dirty="0">
                <a:solidFill>
                  <a:srgbClr val="000000"/>
                </a:solidFill>
                <a:latin typeface="+mn-ea"/>
                <a:ea typeface="+mn-ea"/>
                <a:cs typeface="Tahoma"/>
              </a:rPr>
              <a:t>互相提供信息量多少的度量。</a:t>
            </a:r>
            <a:endParaRPr lang="en-US" altLang="zh-CN" sz="2800" dirty="0">
              <a:solidFill>
                <a:srgbClr val="000000"/>
              </a:solidFill>
              <a:latin typeface="+mn-ea"/>
              <a:ea typeface="+mn-ea"/>
              <a:cs typeface="Tahoma"/>
            </a:endParaRPr>
          </a:p>
          <a:p>
            <a:pPr eaLnBrk="1" hangingPunct="1">
              <a:lnSpc>
                <a:spcPct val="150000"/>
              </a:lnSpc>
              <a:defRPr/>
            </a:pPr>
            <a:r>
              <a:rPr lang="zh-CN" altLang="en-US" sz="2800" dirty="0">
                <a:solidFill>
                  <a:srgbClr val="000000"/>
                </a:solidFill>
                <a:latin typeface="+mn-ea"/>
                <a:ea typeface="+mn-ea"/>
                <a:cs typeface="Tahoma"/>
              </a:rPr>
              <a:t>   使用“</a:t>
            </a:r>
            <a:r>
              <a:rPr lang="zh-CN" altLang="en-US" sz="2800" dirty="0">
                <a:solidFill>
                  <a:srgbClr val="002060"/>
                </a:solidFill>
                <a:latin typeface="+mn-ea"/>
                <a:ea typeface="+mn-ea"/>
                <a:cs typeface="Tahoma"/>
              </a:rPr>
              <a:t>互信息</a:t>
            </a:r>
            <a:r>
              <a:rPr lang="zh-CN" altLang="en-US" sz="2800" dirty="0">
                <a:solidFill>
                  <a:srgbClr val="000000"/>
                </a:solidFill>
                <a:latin typeface="+mn-ea"/>
                <a:ea typeface="+mn-ea"/>
                <a:cs typeface="Tahoma"/>
              </a:rPr>
              <a:t>”和“</a:t>
            </a:r>
            <a:r>
              <a:rPr lang="zh-CN" altLang="en-US" sz="2800" dirty="0">
                <a:solidFill>
                  <a:srgbClr val="002060"/>
                </a:solidFill>
                <a:latin typeface="+mn-ea"/>
                <a:ea typeface="+mn-ea"/>
                <a:cs typeface="Tahoma"/>
              </a:rPr>
              <a:t>平均互信息</a:t>
            </a:r>
            <a:r>
              <a:rPr lang="zh-CN" altLang="en-US" sz="2800" dirty="0">
                <a:solidFill>
                  <a:srgbClr val="000000"/>
                </a:solidFill>
                <a:latin typeface="+mn-ea"/>
                <a:ea typeface="+mn-ea"/>
                <a:cs typeface="Tahoma"/>
              </a:rPr>
              <a:t>”描述。</a:t>
            </a:r>
            <a:endParaRPr lang="en-US" altLang="zh-CN" sz="2800" dirty="0">
              <a:solidFill>
                <a:srgbClr val="000000"/>
              </a:solidFill>
              <a:latin typeface="+mn-ea"/>
              <a:ea typeface="+mn-ea"/>
              <a:cs typeface="Tahoma"/>
            </a:endParaRPr>
          </a:p>
          <a:p>
            <a:pPr eaLnBrk="1" hangingPunct="1">
              <a:spcBef>
                <a:spcPts val="600"/>
              </a:spcBef>
              <a:buFont typeface="Wingdings" pitchFamily="2" charset="2"/>
              <a:buChar char="Ø"/>
              <a:defRPr/>
            </a:pPr>
            <a:endParaRPr lang="en-US" altLang="zh-CN" sz="2800" b="1" dirty="0">
              <a:solidFill>
                <a:srgbClr val="000000"/>
              </a:solidFill>
              <a:latin typeface="+mn-ea"/>
              <a:ea typeface="+mn-ea"/>
              <a:cs typeface="Tahoma"/>
            </a:endParaRPr>
          </a:p>
          <a:p>
            <a:pPr eaLnBrk="1" hangingPunct="1">
              <a:defRPr/>
            </a:pPr>
            <a:endParaRPr lang="en-US" altLang="zh-CN" sz="2800" b="1" dirty="0">
              <a:solidFill>
                <a:srgbClr val="000000"/>
              </a:solidFill>
              <a:latin typeface="+mn-ea"/>
              <a:ea typeface="+mn-ea"/>
              <a:cs typeface="Tahoma"/>
            </a:endParaRPr>
          </a:p>
          <a:p>
            <a:pPr eaLnBrk="1" hangingPunct="1">
              <a:defRPr/>
            </a:pPr>
            <a:endParaRPr lang="zh-CN" altLang="en-US" sz="2800" b="1" dirty="0">
              <a:solidFill>
                <a:srgbClr val="000000"/>
              </a:solidFill>
              <a:latin typeface="+mn-ea"/>
              <a:ea typeface="+mn-ea"/>
              <a:cs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9EBCAF8-2578-AB0D-7844-A82DE871F3FC}"/>
              </a:ext>
            </a:extLst>
          </p:cNvPr>
          <p:cNvSpPr>
            <a:spLocks noGrp="1" noChangeArrowheads="1"/>
          </p:cNvSpPr>
          <p:nvPr>
            <p:ph type="body" idx="1"/>
          </p:nvPr>
        </p:nvSpPr>
        <p:spPr>
          <a:xfrm>
            <a:off x="304800" y="152400"/>
            <a:ext cx="396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xmlns:a14="http://schemas.microsoft.com/office/drawing/2010/main">
        <mc:Choice Requires="a14">
          <p:sp>
            <p:nvSpPr>
              <p:cNvPr id="2" name="Rectangle 3">
                <a:hlinkClick r:id="" action="ppaction://noaction"/>
                <a:extLst>
                  <a:ext uri="{FF2B5EF4-FFF2-40B4-BE49-F238E27FC236}">
                    <a16:creationId xmlns:a16="http://schemas.microsoft.com/office/drawing/2014/main" id="{DE995E66-C4D0-E94D-0128-8E917B38361E}"/>
                  </a:ext>
                </a:extLst>
              </p:cNvPr>
              <p:cNvSpPr>
                <a:spLocks noChangeArrowheads="1"/>
              </p:cNvSpPr>
              <p:nvPr/>
            </p:nvSpPr>
            <p:spPr bwMode="auto">
              <a:xfrm>
                <a:off x="0" y="762000"/>
                <a:ext cx="8607329" cy="5698932"/>
              </a:xfrm>
              <a:prstGeom prst="rect">
                <a:avLst/>
              </a:prstGeom>
              <a:noFill/>
              <a:ln w="9525">
                <a:noFill/>
                <a:miter lim="800000"/>
                <a:headEnd/>
                <a:tailEnd/>
              </a:ln>
              <a:effectLst/>
            </p:spPr>
            <p:txBody>
              <a:bodyPr wrap="square">
                <a:spAutoFit/>
              </a:bodyPr>
              <a:lstStyle/>
              <a:p>
                <a:pPr marL="457200" indent="-457200">
                  <a:lnSpc>
                    <a:spcPct val="150000"/>
                  </a:lnSpc>
                  <a:buFont typeface="Wingdings" panose="05000000000000000000" pitchFamily="2" charset="2"/>
                  <a:buChar char="Ø"/>
                  <a:defRPr/>
                </a:pPr>
                <a:r>
                  <a:rPr kumimoji="0" lang="zh-CN" altLang="en-US" sz="2800" dirty="0">
                    <a:latin typeface="+mn-ea"/>
                    <a:ea typeface="+mn-ea"/>
                  </a:rPr>
                  <a:t>例如：抛硬币的过程可以看作一个信源，用随机变量</a:t>
                </a:r>
                <a14:m>
                  <m:oMath xmlns:m="http://schemas.openxmlformats.org/officeDocument/2006/math">
                    <m:r>
                      <a:rPr kumimoji="0" lang="en-US" altLang="zh-CN" sz="2800" b="0" i="1" smtClean="0">
                        <a:latin typeface="Cambria Math" panose="02040503050406030204" pitchFamily="18" charset="0"/>
                        <a:ea typeface="+mn-ea"/>
                      </a:rPr>
                      <m:t> </m:t>
                    </m:r>
                    <m:r>
                      <a:rPr kumimoji="0" lang="en-US" altLang="zh-CN" sz="2800" b="0" i="1" smtClean="0">
                        <a:latin typeface="Cambria Math" panose="02040503050406030204" pitchFamily="18" charset="0"/>
                        <a:ea typeface="+mn-ea"/>
                      </a:rPr>
                      <m:t>𝑋</m:t>
                    </m:r>
                    <m:r>
                      <a:rPr kumimoji="0" lang="en-US" altLang="zh-CN" sz="2800" b="0" i="1" smtClean="0">
                        <a:latin typeface="Cambria Math" panose="02040503050406030204" pitchFamily="18" charset="0"/>
                        <a:ea typeface="+mn-ea"/>
                      </a:rPr>
                      <m:t> </m:t>
                    </m:r>
                  </m:oMath>
                </a14:m>
                <a:r>
                  <a:rPr lang="zh-CN" altLang="en-US" sz="2800" dirty="0">
                    <a:latin typeface="+mn-ea"/>
                    <a:ea typeface="+mn-ea"/>
                  </a:rPr>
                  <a:t>表示，而它输出的两种消息（正面、反面）看做两个基本事件</a:t>
                </a:r>
                <a14:m>
                  <m:oMath xmlns:m="http://schemas.openxmlformats.org/officeDocument/2006/math">
                    <m:r>
                      <a:rPr lang="en-US" altLang="zh-CN" sz="2800" b="0" i="1" smtClean="0">
                        <a:latin typeface="Cambria Math" panose="02040503050406030204" pitchFamily="18" charset="0"/>
                        <a:ea typeface="+mn-ea"/>
                      </a:rPr>
                      <m:t> </m:t>
                    </m:r>
                    <m:sSub>
                      <m:sSubPr>
                        <m:ctrlPr>
                          <a:rPr lang="en-US" altLang="zh-CN" sz="2800" i="1" smtClean="0">
                            <a:latin typeface="Cambria Math" panose="02040503050406030204" pitchFamily="18" charset="0"/>
                            <a:ea typeface="+mn-ea"/>
                          </a:rPr>
                        </m:ctrlPr>
                      </m:sSubPr>
                      <m:e>
                        <m:r>
                          <a:rPr lang="en-US" altLang="zh-CN" sz="2800" b="0" i="1" smtClean="0">
                            <a:latin typeface="Cambria Math" panose="02040503050406030204" pitchFamily="18" charset="0"/>
                            <a:ea typeface="+mn-ea"/>
                          </a:rPr>
                          <m:t>𝑎</m:t>
                        </m:r>
                      </m:e>
                      <m:sub>
                        <m:r>
                          <a:rPr lang="en-US" altLang="zh-CN" sz="2800" b="0" i="1" smtClean="0">
                            <a:latin typeface="Cambria Math" panose="02040503050406030204" pitchFamily="18" charset="0"/>
                            <a:ea typeface="+mn-ea"/>
                          </a:rPr>
                          <m:t>1</m:t>
                        </m:r>
                      </m:sub>
                    </m:sSub>
                    <m:r>
                      <a:rPr lang="zh-CN" altLang="en-US" sz="2800" i="1">
                        <a:latin typeface="Cambria Math" panose="02040503050406030204" pitchFamily="18" charset="0"/>
                        <a:ea typeface="+mn-ea"/>
                      </a:rPr>
                      <m:t>，</m:t>
                    </m:r>
                    <m:sSub>
                      <m:sSubPr>
                        <m:ctrlPr>
                          <a:rPr lang="en-US" altLang="zh-CN" sz="2800" i="1" smtClean="0">
                            <a:latin typeface="Cambria Math" panose="02040503050406030204" pitchFamily="18" charset="0"/>
                            <a:ea typeface="+mn-ea"/>
                          </a:rPr>
                        </m:ctrlPr>
                      </m:sSubPr>
                      <m:e>
                        <m:r>
                          <a:rPr lang="en-US" altLang="zh-CN" sz="2800" b="0" i="1" smtClean="0">
                            <a:latin typeface="Cambria Math" panose="02040503050406030204" pitchFamily="18" charset="0"/>
                            <a:ea typeface="+mn-ea"/>
                          </a:rPr>
                          <m:t>𝑎</m:t>
                        </m:r>
                      </m:e>
                      <m:sub>
                        <m:r>
                          <a:rPr lang="en-US" altLang="zh-CN" sz="2800" b="0" i="1" smtClean="0">
                            <a:latin typeface="Cambria Math" panose="02040503050406030204" pitchFamily="18" charset="0"/>
                            <a:ea typeface="+mn-ea"/>
                          </a:rPr>
                          <m:t>2</m:t>
                        </m:r>
                      </m:sub>
                    </m:sSub>
                  </m:oMath>
                </a14:m>
                <a:r>
                  <a:rPr lang="zh-CN" altLang="en-US" sz="2800" dirty="0">
                    <a:latin typeface="+mn-ea"/>
                    <a:ea typeface="+mn-ea"/>
                  </a:rPr>
                  <a:t>，概率模型为</a:t>
                </a:r>
                <a:endParaRPr lang="en-US" altLang="zh-CN" sz="2800" dirty="0">
                  <a:latin typeface="+mn-ea"/>
                  <a:ea typeface="+mn-ea"/>
                </a:endParaRPr>
              </a:p>
              <a:p>
                <a:pPr>
                  <a:lnSpc>
                    <a:spcPct val="150000"/>
                  </a:lnSpc>
                  <a:defRPr/>
                </a:pPr>
                <a14:m>
                  <m:oMathPara xmlns:m="http://schemas.openxmlformats.org/officeDocument/2006/math">
                    <m:oMathParaPr>
                      <m:jc m:val="centerGroup"/>
                    </m:oMathParaPr>
                    <m:oMath xmlns:m="http://schemas.openxmlformats.org/officeDocument/2006/math">
                      <m:d>
                        <m:dPr>
                          <m:begChr m:val="["/>
                          <m:endChr m:val="]"/>
                          <m:ctrlPr>
                            <a:rPr lang="en-US" altLang="zh-CN" sz="2800" i="1" smtClean="0">
                              <a:latin typeface="Cambria Math" panose="02040503050406030204" pitchFamily="18" charset="0"/>
                              <a:ea typeface="+mn-ea"/>
                            </a:rPr>
                          </m:ctrlPr>
                        </m:dPr>
                        <m:e>
                          <m:eqArr>
                            <m:eqArrPr>
                              <m:ctrlPr>
                                <a:rPr lang="en-US" altLang="zh-CN" sz="2800" i="1" smtClean="0">
                                  <a:latin typeface="Cambria Math" panose="02040503050406030204" pitchFamily="18" charset="0"/>
                                  <a:ea typeface="+mn-ea"/>
                                </a:rPr>
                              </m:ctrlPr>
                            </m:eqArrPr>
                            <m:e>
                              <m:r>
                                <a:rPr lang="en-US" altLang="zh-CN" sz="2800" b="0" i="1" smtClean="0">
                                  <a:latin typeface="Cambria Math" panose="02040503050406030204" pitchFamily="18" charset="0"/>
                                  <a:ea typeface="+mn-ea"/>
                                </a:rPr>
                                <m:t>𝑋</m:t>
                              </m:r>
                            </m:e>
                            <m:e>
                              <m:r>
                                <a:rPr lang="en-US" altLang="zh-CN" sz="2800" b="0" i="1" smtClean="0">
                                  <a:latin typeface="Cambria Math" panose="02040503050406030204" pitchFamily="18" charset="0"/>
                                  <a:ea typeface="+mn-ea"/>
                                </a:rPr>
                                <m:t>𝑝</m:t>
                              </m:r>
                              <m:r>
                                <a:rPr lang="en-US" altLang="zh-CN" sz="2800" b="0" i="1" smtClean="0">
                                  <a:latin typeface="Cambria Math" panose="02040503050406030204" pitchFamily="18" charset="0"/>
                                  <a:ea typeface="+mn-ea"/>
                                </a:rPr>
                                <m:t>(</m:t>
                              </m:r>
                              <m:r>
                                <a:rPr lang="en-US" altLang="zh-CN" sz="2800" b="0" i="1" smtClean="0">
                                  <a:latin typeface="Cambria Math" panose="02040503050406030204" pitchFamily="18" charset="0"/>
                                  <a:ea typeface="+mn-ea"/>
                                </a:rPr>
                                <m:t>𝑥</m:t>
                              </m:r>
                              <m:r>
                                <a:rPr lang="en-US" altLang="zh-CN" sz="2800" b="0" i="1" smtClean="0">
                                  <a:latin typeface="Cambria Math" panose="02040503050406030204" pitchFamily="18" charset="0"/>
                                  <a:ea typeface="+mn-ea"/>
                                </a:rPr>
                                <m:t>)</m:t>
                              </m:r>
                            </m:e>
                          </m:eqArr>
                        </m:e>
                      </m:d>
                      <m:r>
                        <a:rPr lang="en-US" altLang="zh-CN" sz="2800" b="0" i="1" smtClean="0">
                          <a:latin typeface="Cambria Math" panose="02040503050406030204" pitchFamily="18" charset="0"/>
                          <a:ea typeface="+mn-ea"/>
                        </a:rPr>
                        <m:t>=</m:t>
                      </m:r>
                      <m:d>
                        <m:dPr>
                          <m:begChr m:val="["/>
                          <m:endChr m:val="]"/>
                          <m:ctrlPr>
                            <a:rPr lang="en-US" altLang="zh-CN" sz="2800" i="1" smtClean="0">
                              <a:latin typeface="Cambria Math" panose="02040503050406030204" pitchFamily="18" charset="0"/>
                              <a:ea typeface="+mn-ea"/>
                            </a:rPr>
                          </m:ctrlPr>
                        </m:dPr>
                        <m:e>
                          <m:eqArr>
                            <m:eqArrPr>
                              <m:ctrlPr>
                                <a:rPr lang="en-US" altLang="zh-CN" sz="2800" i="1" smtClean="0">
                                  <a:latin typeface="Cambria Math" panose="02040503050406030204" pitchFamily="18" charset="0"/>
                                  <a:ea typeface="+mn-ea"/>
                                </a:rPr>
                              </m:ctrlPr>
                            </m:eqArrPr>
                            <m:e>
                              <m:sSub>
                                <m:sSubPr>
                                  <m:ctrlPr>
                                    <a:rPr lang="en-US" altLang="zh-CN" sz="2800" i="1" smtClean="0">
                                      <a:latin typeface="Cambria Math" panose="02040503050406030204" pitchFamily="18" charset="0"/>
                                      <a:ea typeface="+mn-ea"/>
                                    </a:rPr>
                                  </m:ctrlPr>
                                </m:sSubPr>
                                <m:e>
                                  <m:r>
                                    <a:rPr lang="en-US" altLang="zh-CN" sz="2800" b="0" i="1" smtClean="0">
                                      <a:latin typeface="Cambria Math" panose="02040503050406030204" pitchFamily="18" charset="0"/>
                                      <a:ea typeface="+mn-ea"/>
                                    </a:rPr>
                                    <m:t>𝑎</m:t>
                                  </m:r>
                                </m:e>
                                <m:sub>
                                  <m:r>
                                    <a:rPr lang="en-US" altLang="zh-CN" sz="2800" b="0" i="1" smtClean="0">
                                      <a:latin typeface="Cambria Math" panose="02040503050406030204" pitchFamily="18" charset="0"/>
                                      <a:ea typeface="+mn-ea"/>
                                    </a:rPr>
                                    <m:t>1</m:t>
                                  </m:r>
                                </m:sub>
                              </m:sSub>
                              <m:r>
                                <a:rPr lang="en-US" altLang="zh-CN" sz="2800" b="0" i="1" smtClean="0">
                                  <a:latin typeface="Cambria Math" panose="02040503050406030204" pitchFamily="18" charset="0"/>
                                  <a:ea typeface="+mn-ea"/>
                                </a:rPr>
                                <m:t>       </m:t>
                              </m:r>
                              <m:sSub>
                                <m:sSubPr>
                                  <m:ctrlPr>
                                    <a:rPr lang="en-US" altLang="zh-CN" sz="2800" i="1" smtClean="0">
                                      <a:latin typeface="Cambria Math" panose="02040503050406030204" pitchFamily="18" charset="0"/>
                                      <a:ea typeface="+mn-ea"/>
                                    </a:rPr>
                                  </m:ctrlPr>
                                </m:sSubPr>
                                <m:e>
                                  <m:r>
                                    <a:rPr lang="en-US" altLang="zh-CN" sz="2800" b="0" i="1" smtClean="0">
                                      <a:latin typeface="Cambria Math" panose="02040503050406030204" pitchFamily="18" charset="0"/>
                                      <a:ea typeface="+mn-ea"/>
                                    </a:rPr>
                                    <m:t>𝑎</m:t>
                                  </m:r>
                                </m:e>
                                <m:sub>
                                  <m:r>
                                    <a:rPr lang="en-US" altLang="zh-CN" sz="2800" b="0" i="1" smtClean="0">
                                      <a:latin typeface="Cambria Math" panose="02040503050406030204" pitchFamily="18" charset="0"/>
                                      <a:ea typeface="+mn-ea"/>
                                    </a:rPr>
                                    <m:t>2</m:t>
                                  </m:r>
                                </m:sub>
                              </m:sSub>
                            </m:e>
                            <m:e>
                              <m:r>
                                <a:rPr lang="en-US" altLang="zh-CN" sz="2800" b="0" i="1" smtClean="0">
                                  <a:latin typeface="Cambria Math" panose="02040503050406030204" pitchFamily="18" charset="0"/>
                                  <a:ea typeface="+mn-ea"/>
                                </a:rPr>
                                <m:t>0.5     0.5 </m:t>
                              </m:r>
                            </m:e>
                          </m:eqArr>
                        </m:e>
                      </m:d>
                      <m:r>
                        <a:rPr lang="zh-CN" altLang="en-US" sz="2800" i="1">
                          <a:latin typeface="Cambria Math" panose="02040503050406030204" pitchFamily="18" charset="0"/>
                          <a:ea typeface="+mn-ea"/>
                        </a:rPr>
                        <m:t>。</m:t>
                      </m:r>
                    </m:oMath>
                  </m:oMathPara>
                </a14:m>
                <a:endParaRPr lang="en-US" altLang="zh-CN" sz="2800" dirty="0">
                  <a:latin typeface="+mn-ea"/>
                  <a:ea typeface="+mn-ea"/>
                </a:endParaRPr>
              </a:p>
              <a:p>
                <a:pPr>
                  <a:lnSpc>
                    <a:spcPct val="150000"/>
                  </a:lnSpc>
                  <a:defRPr/>
                </a:pPr>
                <a:r>
                  <a:rPr lang="en-US" altLang="zh-CN" sz="2800" dirty="0">
                    <a:latin typeface="+mn-ea"/>
                    <a:ea typeface="+mn-ea"/>
                  </a:rPr>
                  <a:t>   </a:t>
                </a:r>
                <a:r>
                  <a:rPr lang="zh-CN" altLang="en-US" sz="2800" dirty="0">
                    <a:latin typeface="+mn-ea"/>
                    <a:ea typeface="+mn-ea"/>
                  </a:rPr>
                  <a:t>我们有</a:t>
                </a:r>
                <a:endParaRPr lang="en-US" altLang="zh-CN" sz="2800" dirty="0">
                  <a:latin typeface="+mn-ea"/>
                  <a:ea typeface="+mn-ea"/>
                </a:endParaRPr>
              </a:p>
              <a:p>
                <a:pPr>
                  <a:lnSpc>
                    <a:spcPct val="150000"/>
                  </a:lnSpc>
                  <a:defRPr/>
                </a:pPr>
                <a14:m>
                  <m:oMathPara xmlns:m="http://schemas.openxmlformats.org/officeDocument/2006/math">
                    <m:oMathParaPr>
                      <m:jc m:val="centerGroup"/>
                    </m:oMathParaPr>
                    <m:oMath xmlns:m="http://schemas.openxmlformats.org/officeDocument/2006/math">
                      <m:nary>
                        <m:naryPr>
                          <m:chr m:val="∑"/>
                          <m:ctrlPr>
                            <a:rPr lang="en-US" altLang="zh-CN" sz="2800" i="1" smtClean="0">
                              <a:latin typeface="Cambria Math" panose="02040503050406030204" pitchFamily="18" charset="0"/>
                              <a:ea typeface="+mn-ea"/>
                            </a:rPr>
                          </m:ctrlPr>
                        </m:naryPr>
                        <m:sub>
                          <m:r>
                            <m:rPr>
                              <m:brk m:alnAt="23"/>
                            </m:rPr>
                            <a:rPr lang="en-US" altLang="zh-CN" sz="2800" b="0" i="1" smtClean="0">
                              <a:latin typeface="Cambria Math" panose="02040503050406030204" pitchFamily="18" charset="0"/>
                              <a:ea typeface="+mn-ea"/>
                            </a:rPr>
                            <m:t>𝑖</m:t>
                          </m:r>
                          <m:r>
                            <a:rPr lang="en-US" altLang="zh-CN" sz="2800" b="0" i="1" smtClean="0">
                              <a:latin typeface="Cambria Math" panose="02040503050406030204" pitchFamily="18" charset="0"/>
                              <a:ea typeface="+mn-ea"/>
                            </a:rPr>
                            <m:t>=1</m:t>
                          </m:r>
                        </m:sub>
                        <m:sup>
                          <m:r>
                            <a:rPr lang="en-US" altLang="zh-CN" sz="2800" b="0" i="1" smtClean="0">
                              <a:latin typeface="Cambria Math" panose="02040503050406030204" pitchFamily="18" charset="0"/>
                              <a:ea typeface="+mn-ea"/>
                            </a:rPr>
                            <m:t>2</m:t>
                          </m:r>
                        </m:sup>
                        <m:e>
                          <m:r>
                            <a:rPr lang="en-US" altLang="zh-CN" sz="2800" b="0" i="1" smtClean="0">
                              <a:latin typeface="Cambria Math" panose="02040503050406030204" pitchFamily="18" charset="0"/>
                              <a:ea typeface="+mn-ea"/>
                            </a:rPr>
                            <m:t>𝑝</m:t>
                          </m:r>
                          <m:d>
                            <m:dPr>
                              <m:ctrlPr>
                                <a:rPr lang="en-US" altLang="zh-CN" sz="2800" i="1" smtClean="0">
                                  <a:latin typeface="Cambria Math" panose="02040503050406030204" pitchFamily="18" charset="0"/>
                                  <a:ea typeface="+mn-ea"/>
                                </a:rPr>
                              </m:ctrlPr>
                            </m:dPr>
                            <m:e>
                              <m:sSub>
                                <m:sSubPr>
                                  <m:ctrlPr>
                                    <a:rPr lang="en-US" altLang="zh-CN" sz="2800" i="1" smtClean="0">
                                      <a:latin typeface="Cambria Math" panose="02040503050406030204" pitchFamily="18" charset="0"/>
                                      <a:ea typeface="+mn-ea"/>
                                    </a:rPr>
                                  </m:ctrlPr>
                                </m:sSubPr>
                                <m:e>
                                  <m:r>
                                    <a:rPr lang="en-US" altLang="zh-CN" sz="2800" b="0" i="1" smtClean="0">
                                      <a:latin typeface="Cambria Math" panose="02040503050406030204" pitchFamily="18" charset="0"/>
                                      <a:ea typeface="+mn-ea"/>
                                    </a:rPr>
                                    <m:t>𝑎</m:t>
                                  </m:r>
                                </m:e>
                                <m:sub>
                                  <m:r>
                                    <a:rPr lang="en-US" altLang="zh-CN" sz="2800" b="0" i="1" smtClean="0">
                                      <a:latin typeface="Cambria Math" panose="02040503050406030204" pitchFamily="18" charset="0"/>
                                      <a:ea typeface="+mn-ea"/>
                                    </a:rPr>
                                    <m:t>𝑖</m:t>
                                  </m:r>
                                </m:sub>
                              </m:sSub>
                            </m:e>
                          </m:d>
                          <m:r>
                            <a:rPr lang="en-US" altLang="zh-CN" sz="2800" b="0" i="1" smtClean="0">
                              <a:latin typeface="Cambria Math" panose="02040503050406030204" pitchFamily="18" charset="0"/>
                              <a:ea typeface="+mn-ea"/>
                            </a:rPr>
                            <m:t>=1</m:t>
                          </m:r>
                        </m:e>
                      </m:nary>
                      <m:r>
                        <a:rPr lang="zh-CN" altLang="en-US" sz="2800" i="1">
                          <a:latin typeface="Cambria Math" panose="02040503050406030204" pitchFamily="18" charset="0"/>
                          <a:ea typeface="+mn-ea"/>
                        </a:rPr>
                        <m:t>。</m:t>
                      </m:r>
                    </m:oMath>
                  </m:oMathPara>
                </a14:m>
                <a:endParaRPr lang="en-US" altLang="zh-CN" sz="2800" dirty="0">
                  <a:latin typeface="+mn-ea"/>
                  <a:ea typeface="+mn-ea"/>
                </a:endParaRPr>
              </a:p>
            </p:txBody>
          </p:sp>
        </mc:Choice>
        <mc:Fallback xmlns="">
          <p:sp>
            <p:nvSpPr>
              <p:cNvPr id="2" name="Rectangle 3">
                <a:hlinkClick r:id="" action="ppaction://noaction"/>
                <a:extLst>
                  <a:ext uri="{FF2B5EF4-FFF2-40B4-BE49-F238E27FC236}">
                    <a16:creationId xmlns:a16="http://schemas.microsoft.com/office/drawing/2014/main" id="{DE995E66-C4D0-E94D-0128-8E917B38361E}"/>
                  </a:ext>
                </a:extLst>
              </p:cNvPr>
              <p:cNvSpPr>
                <a:spLocks noRot="1" noChangeAspect="1" noMove="1" noResize="1" noEditPoints="1" noAdjustHandles="1" noChangeArrowheads="1" noChangeShapeType="1" noTextEdit="1"/>
              </p:cNvSpPr>
              <p:nvPr/>
            </p:nvSpPr>
            <p:spPr bwMode="auto">
              <a:xfrm>
                <a:off x="0" y="762000"/>
                <a:ext cx="8607329" cy="5698932"/>
              </a:xfrm>
              <a:prstGeom prst="rect">
                <a:avLst/>
              </a:prstGeom>
              <a:blipFill>
                <a:blip r:embed="rId3"/>
                <a:stretch>
                  <a:fillRect l="-1204"/>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9CEB7D4-F088-ABE6-71CA-24B8DEEE428F}"/>
              </a:ext>
            </a:extLst>
          </p:cNvPr>
          <p:cNvSpPr>
            <a:spLocks noGrp="1" noChangeArrowheads="1"/>
          </p:cNvSpPr>
          <p:nvPr>
            <p:ph type="body" idx="1"/>
          </p:nvPr>
        </p:nvSpPr>
        <p:spPr>
          <a:xfrm>
            <a:off x="304800" y="152400"/>
            <a:ext cx="396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xmlns:a14="http://schemas.microsoft.com/office/drawing/2010/main">
        <mc:Choice Requires="a14">
          <p:sp>
            <p:nvSpPr>
              <p:cNvPr id="3" name="Rectangle 3">
                <a:hlinkClick r:id="" action="ppaction://noaction"/>
                <a:extLst>
                  <a:ext uri="{FF2B5EF4-FFF2-40B4-BE49-F238E27FC236}">
                    <a16:creationId xmlns:a16="http://schemas.microsoft.com/office/drawing/2014/main" id="{8FFE3038-BD2F-68FA-C55F-5C48A6E17E7C}"/>
                  </a:ext>
                </a:extLst>
              </p:cNvPr>
              <p:cNvSpPr>
                <a:spLocks noChangeArrowheads="1"/>
              </p:cNvSpPr>
              <p:nvPr/>
            </p:nvSpPr>
            <p:spPr bwMode="auto">
              <a:xfrm>
                <a:off x="268335" y="777633"/>
                <a:ext cx="8607329" cy="5302734"/>
              </a:xfrm>
              <a:prstGeom prst="rect">
                <a:avLst/>
              </a:prstGeom>
              <a:noFill/>
              <a:ln w="9525">
                <a:noFill/>
                <a:miter lim="800000"/>
                <a:headEnd/>
                <a:tailEnd/>
              </a:ln>
              <a:effectLst/>
            </p:spPr>
            <p:txBody>
              <a:bodyPr wrap="square">
                <a:spAutoFit/>
              </a:bodyPr>
              <a:lstStyle/>
              <a:p>
                <a:pPr marL="457200" indent="-457200">
                  <a:lnSpc>
                    <a:spcPct val="150000"/>
                  </a:lnSpc>
                  <a:buFont typeface="Wingdings" panose="05000000000000000000" pitchFamily="2" charset="2"/>
                  <a:buChar char="Ø"/>
                  <a:defRPr/>
                </a:pPr>
                <a:r>
                  <a:rPr kumimoji="0" lang="zh-CN" altLang="en-US" sz="2800" dirty="0">
                    <a:latin typeface="宋体" pitchFamily="2" charset="-122"/>
                  </a:rPr>
                  <a:t>对于一般的离散信源</a:t>
                </a:r>
                <a14:m>
                  <m:oMath xmlns:m="http://schemas.openxmlformats.org/officeDocument/2006/math">
                    <m:r>
                      <a:rPr kumimoji="0" lang="en-US" altLang="zh-CN" sz="2800" b="0" i="1" smtClean="0">
                        <a:latin typeface="Cambria Math" panose="02040503050406030204" pitchFamily="18" charset="0"/>
                      </a:rPr>
                      <m:t> </m:t>
                    </m:r>
                    <m:r>
                      <a:rPr kumimoji="0" lang="en-US" altLang="zh-CN" sz="2800" b="0" i="1" smtClean="0">
                        <a:latin typeface="Cambria Math" panose="02040503050406030204" pitchFamily="18" charset="0"/>
                      </a:rPr>
                      <m:t>𝑋</m:t>
                    </m:r>
                  </m:oMath>
                </a14:m>
                <a:r>
                  <a:rPr kumimoji="0" lang="zh-CN" altLang="en-US" sz="2800" dirty="0">
                    <a:latin typeface="宋体" pitchFamily="2" charset="-122"/>
                  </a:rPr>
                  <a:t>，假设可能取到的符号有</a:t>
                </a:r>
                <a14:m>
                  <m:oMath xmlns:m="http://schemas.openxmlformats.org/officeDocument/2006/math">
                    <m:r>
                      <a:rPr kumimoji="0" lang="en-US" altLang="zh-CN" sz="2800" b="0" i="1" smtClean="0">
                        <a:latin typeface="Cambria Math" panose="02040503050406030204" pitchFamily="18" charset="0"/>
                      </a:rPr>
                      <m:t> </m:t>
                    </m:r>
                    <m:r>
                      <a:rPr kumimoji="0" lang="en-US" altLang="zh-CN" sz="2800" b="0" i="1" smtClean="0">
                        <a:latin typeface="Cambria Math" panose="02040503050406030204" pitchFamily="18" charset="0"/>
                      </a:rPr>
                      <m:t>𝑞</m:t>
                    </m:r>
                    <m:r>
                      <a:rPr kumimoji="0" lang="en-US" altLang="zh-CN" sz="2800" b="0" i="1" smtClean="0">
                        <a:latin typeface="Cambria Math" panose="02040503050406030204" pitchFamily="18" charset="0"/>
                      </a:rPr>
                      <m:t> </m:t>
                    </m:r>
                  </m:oMath>
                </a14:m>
                <a:r>
                  <a:rPr kumimoji="0" lang="zh-CN" altLang="en-US" sz="2800" dirty="0">
                    <a:latin typeface="宋体" pitchFamily="2" charset="-122"/>
                  </a:rPr>
                  <a:t>个，其数学模型就是离散概率空间</a:t>
                </a:r>
                <a:endParaRPr lang="en-US" altLang="zh-CN" sz="2800" dirty="0"/>
              </a:p>
              <a:p>
                <a:pPr>
                  <a:lnSpc>
                    <a:spcPct val="150000"/>
                  </a:lnSpc>
                  <a:defRPr/>
                </a:pPr>
                <a14:m>
                  <m:oMathPara xmlns:m="http://schemas.openxmlformats.org/officeDocument/2006/math">
                    <m:oMathParaPr>
                      <m:jc m:val="centerGroup"/>
                    </m:oMathParaPr>
                    <m:oMath xmlns:m="http://schemas.openxmlformats.org/officeDocument/2006/math">
                      <m:d>
                        <m:dPr>
                          <m:begChr m:val="["/>
                          <m:endChr m:val="]"/>
                          <m:ctrlPr>
                            <a:rPr lang="en-US" altLang="zh-CN" sz="2800" i="1" smtClean="0">
                              <a:latin typeface="Cambria Math" panose="02040503050406030204" pitchFamily="18" charset="0"/>
                            </a:rPr>
                          </m:ctrlPr>
                        </m:dPr>
                        <m:e>
                          <m:eqArr>
                            <m:eqArrPr>
                              <m:ctrlPr>
                                <a:rPr lang="en-US" altLang="zh-CN" sz="2800" i="1" smtClean="0">
                                  <a:latin typeface="Cambria Math" panose="02040503050406030204" pitchFamily="18" charset="0"/>
                                </a:rPr>
                              </m:ctrlPr>
                            </m:eqArrPr>
                            <m:e>
                              <m:r>
                                <a:rPr lang="en-US" altLang="zh-CN" sz="2800" b="0" i="1" smtClean="0">
                                  <a:latin typeface="Cambria Math" panose="02040503050406030204" pitchFamily="18" charset="0"/>
                                </a:rPr>
                                <m:t>𝑋</m:t>
                              </m:r>
                            </m:e>
                            <m:e>
                              <m:r>
                                <a:rPr lang="en-US" altLang="zh-CN" sz="2800" b="0" i="1" smtClean="0">
                                  <a:latin typeface="Cambria Math" panose="02040503050406030204" pitchFamily="18" charset="0"/>
                                </a:rPr>
                                <m:t>𝑝</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𝑥</m:t>
                              </m:r>
                              <m:r>
                                <a:rPr lang="en-US" altLang="zh-CN" sz="2800" b="0" i="1" smtClean="0">
                                  <a:latin typeface="Cambria Math" panose="02040503050406030204" pitchFamily="18" charset="0"/>
                                </a:rPr>
                                <m:t>)</m:t>
                              </m:r>
                            </m:e>
                          </m:eqArr>
                        </m:e>
                      </m:d>
                      <m:r>
                        <a:rPr lang="en-US" altLang="zh-CN" sz="2800" b="0" i="1" smtClean="0">
                          <a:latin typeface="Cambria Math" panose="02040503050406030204" pitchFamily="18" charset="0"/>
                        </a:rPr>
                        <m:t>=</m:t>
                      </m:r>
                      <m:d>
                        <m:dPr>
                          <m:begChr m:val="["/>
                          <m:endChr m:val="]"/>
                          <m:ctrlPr>
                            <a:rPr lang="en-US" altLang="zh-CN" sz="2800" i="1" smtClean="0">
                              <a:latin typeface="Cambria Math" panose="02040503050406030204" pitchFamily="18" charset="0"/>
                            </a:rPr>
                          </m:ctrlPr>
                        </m:dPr>
                        <m:e>
                          <m:m>
                            <m:mPr>
                              <m:mcs>
                                <m:mc>
                                  <m:mcPr>
                                    <m:count m:val="3"/>
                                    <m:mcJc m:val="center"/>
                                  </m:mcPr>
                                </m:mc>
                              </m:mcs>
                              <m:ctrlPr>
                                <a:rPr lang="en-US" altLang="zh-CN" sz="2800" i="1" smtClean="0">
                                  <a:latin typeface="Cambria Math" panose="02040503050406030204" pitchFamily="18" charset="0"/>
                                </a:rPr>
                              </m:ctrlPr>
                            </m:mPr>
                            <m:mr>
                              <m:e>
                                <m:sSub>
                                  <m:sSubPr>
                                    <m:ctrlPr>
                                      <a:rPr lang="en-US" altLang="zh-CN" sz="2800" i="1" smtClean="0">
                                        <a:latin typeface="Cambria Math" panose="02040503050406030204" pitchFamily="18" charset="0"/>
                                      </a:rPr>
                                    </m:ctrlPr>
                                  </m:sSubPr>
                                  <m:e>
                                    <m:r>
                                      <m:rPr>
                                        <m:brk m:alnAt="7"/>
                                      </m:rPr>
                                      <a:rPr lang="en-US" altLang="zh-CN" sz="2800" b="0" i="1" smtClean="0">
                                        <a:latin typeface="Cambria Math" panose="02040503050406030204" pitchFamily="18" charset="0"/>
                                      </a:rPr>
                                      <m:t>𝑎</m:t>
                                    </m:r>
                                  </m:e>
                                  <m:sub>
                                    <m:r>
                                      <m:rPr>
                                        <m:brk m:alnAt="7"/>
                                      </m:rPr>
                                      <a:rPr lang="en-US" altLang="zh-CN" sz="2800" b="0" i="1" smtClean="0">
                                        <a:latin typeface="Cambria Math" panose="02040503050406030204" pitchFamily="18" charset="0"/>
                                      </a:rPr>
                                      <m:t>1</m:t>
                                    </m:r>
                                  </m:sub>
                                </m:sSub>
                              </m:e>
                              <m:e>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𝑎</m:t>
                                    </m:r>
                                  </m:e>
                                  <m:sub>
                                    <m:r>
                                      <a:rPr lang="en-US" altLang="zh-CN" sz="2800" b="0" i="1" smtClean="0">
                                        <a:latin typeface="Cambria Math" panose="02040503050406030204" pitchFamily="18" charset="0"/>
                                      </a:rPr>
                                      <m:t>2</m:t>
                                    </m:r>
                                  </m:sub>
                                </m:sSub>
                              </m:e>
                              <m:e>
                                <m:m>
                                  <m:mPr>
                                    <m:mcs>
                                      <m:mc>
                                        <m:mcPr>
                                          <m:count m:val="2"/>
                                          <m:mcJc m:val="center"/>
                                        </m:mcPr>
                                      </m:mc>
                                    </m:mcs>
                                    <m:ctrlPr>
                                      <a:rPr lang="en-US" altLang="zh-CN" sz="2800" i="1" smtClean="0">
                                        <a:latin typeface="Cambria Math" panose="02040503050406030204" pitchFamily="18" charset="0"/>
                                      </a:rPr>
                                    </m:ctrlPr>
                                  </m:mPr>
                                  <m:mr>
                                    <m:e>
                                      <m:r>
                                        <a:rPr lang="en-US" altLang="zh-CN" sz="2800" b="0" i="1" smtClean="0">
                                          <a:latin typeface="Cambria Math" panose="02040503050406030204" pitchFamily="18" charset="0"/>
                                        </a:rPr>
                                        <m:t>⋯</m:t>
                                      </m:r>
                                    </m:e>
                                    <m:e>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𝑎</m:t>
                                          </m:r>
                                        </m:e>
                                        <m:sub>
                                          <m:r>
                                            <a:rPr lang="en-US" altLang="zh-CN" sz="2800" b="0" i="1" smtClean="0">
                                              <a:latin typeface="Cambria Math" panose="02040503050406030204" pitchFamily="18" charset="0"/>
                                            </a:rPr>
                                            <m:t>𝑞</m:t>
                                          </m:r>
                                        </m:sub>
                                      </m:sSub>
                                    </m:e>
                                  </m:mr>
                                </m:m>
                              </m:e>
                            </m:mr>
                            <m:mr>
                              <m:e>
                                <m:r>
                                  <a:rPr lang="en-US" altLang="zh-CN" sz="2800" b="0" i="1" smtClean="0">
                                    <a:latin typeface="Cambria Math" panose="02040503050406030204" pitchFamily="18" charset="0"/>
                                  </a:rPr>
                                  <m:t>𝑝</m:t>
                                </m:r>
                                <m:d>
                                  <m:dPr>
                                    <m:ctrlPr>
                                      <a:rPr lang="en-US" altLang="zh-CN" sz="2800" i="1" smtClean="0">
                                        <a:latin typeface="Cambria Math" panose="02040503050406030204" pitchFamily="18" charset="0"/>
                                      </a:rPr>
                                    </m:ctrlPr>
                                  </m:dPr>
                                  <m:e>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𝑎</m:t>
                                        </m:r>
                                      </m:e>
                                      <m:sub>
                                        <m:r>
                                          <a:rPr lang="en-US" altLang="zh-CN" sz="2800" b="0" i="1" smtClean="0">
                                            <a:latin typeface="Cambria Math" panose="02040503050406030204" pitchFamily="18" charset="0"/>
                                          </a:rPr>
                                          <m:t>1</m:t>
                                        </m:r>
                                      </m:sub>
                                    </m:sSub>
                                  </m:e>
                                </m:d>
                              </m:e>
                              <m:e>
                                <m:r>
                                  <a:rPr lang="en-US" altLang="zh-CN" sz="2800" b="0" i="1" smtClean="0">
                                    <a:latin typeface="Cambria Math" panose="02040503050406030204" pitchFamily="18" charset="0"/>
                                  </a:rPr>
                                  <m:t>𝑝</m:t>
                                </m:r>
                                <m:d>
                                  <m:dPr>
                                    <m:ctrlPr>
                                      <a:rPr lang="en-US" altLang="zh-CN" sz="2800" i="1" smtClean="0">
                                        <a:latin typeface="Cambria Math" panose="02040503050406030204" pitchFamily="18" charset="0"/>
                                      </a:rPr>
                                    </m:ctrlPr>
                                  </m:dPr>
                                  <m:e>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𝑎</m:t>
                                        </m:r>
                                      </m:e>
                                      <m:sub>
                                        <m:r>
                                          <a:rPr lang="en-US" altLang="zh-CN" sz="2800" b="0" i="1" smtClean="0">
                                            <a:latin typeface="Cambria Math" panose="02040503050406030204" pitchFamily="18" charset="0"/>
                                          </a:rPr>
                                          <m:t>2</m:t>
                                        </m:r>
                                      </m:sub>
                                    </m:sSub>
                                  </m:e>
                                </m:d>
                              </m:e>
                              <m:e>
                                <m:m>
                                  <m:mPr>
                                    <m:mcs>
                                      <m:mc>
                                        <m:mcPr>
                                          <m:count m:val="2"/>
                                          <m:mcJc m:val="center"/>
                                        </m:mcPr>
                                      </m:mc>
                                    </m:mcs>
                                    <m:ctrlPr>
                                      <a:rPr lang="en-US" altLang="zh-CN" sz="2800" i="1" smtClean="0">
                                        <a:latin typeface="Cambria Math" panose="02040503050406030204" pitchFamily="18" charset="0"/>
                                      </a:rPr>
                                    </m:ctrlPr>
                                  </m:mPr>
                                  <m:mr>
                                    <m:e>
                                      <m:r>
                                        <a:rPr lang="en-US" altLang="zh-CN" sz="2800" b="0" i="1" smtClean="0">
                                          <a:latin typeface="Cambria Math" panose="02040503050406030204" pitchFamily="18" charset="0"/>
                                        </a:rPr>
                                        <m:t>⋯</m:t>
                                      </m:r>
                                    </m:e>
                                    <m:e>
                                      <m:r>
                                        <a:rPr lang="en-US" altLang="zh-CN" sz="2800" b="0" i="1" smtClean="0">
                                          <a:latin typeface="Cambria Math" panose="02040503050406030204" pitchFamily="18" charset="0"/>
                                        </a:rPr>
                                        <m:t>𝑝</m:t>
                                      </m:r>
                                      <m:d>
                                        <m:dPr>
                                          <m:ctrlPr>
                                            <a:rPr lang="en-US" altLang="zh-CN" sz="2800" i="1" smtClean="0">
                                              <a:latin typeface="Cambria Math" panose="02040503050406030204" pitchFamily="18" charset="0"/>
                                            </a:rPr>
                                          </m:ctrlPr>
                                        </m:dPr>
                                        <m:e>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𝑎</m:t>
                                              </m:r>
                                            </m:e>
                                            <m:sub>
                                              <m:r>
                                                <a:rPr lang="en-US" altLang="zh-CN" sz="2800" b="0" i="1" smtClean="0">
                                                  <a:latin typeface="Cambria Math" panose="02040503050406030204" pitchFamily="18" charset="0"/>
                                                </a:rPr>
                                                <m:t>𝑞</m:t>
                                              </m:r>
                                            </m:sub>
                                          </m:sSub>
                                        </m:e>
                                      </m:d>
                                    </m:e>
                                  </m:mr>
                                </m:m>
                              </m:e>
                            </m:mr>
                          </m:m>
                        </m:e>
                      </m:d>
                      <m:r>
                        <a:rPr lang="zh-CN" altLang="en-US" sz="2800" b="0" i="1">
                          <a:latin typeface="Cambria Math" panose="02040503050406030204" pitchFamily="18" charset="0"/>
                        </a:rPr>
                        <m:t>。</m:t>
                      </m:r>
                    </m:oMath>
                  </m:oMathPara>
                </a14:m>
                <a:endParaRPr lang="en-US" altLang="zh-CN" sz="2800" dirty="0"/>
              </a:p>
              <a:p>
                <a:pPr>
                  <a:lnSpc>
                    <a:spcPct val="150000"/>
                  </a:lnSpc>
                  <a:defRPr/>
                </a:pPr>
                <a:r>
                  <a:rPr lang="en-US" altLang="zh-CN" sz="2800" dirty="0"/>
                  <a:t>     </a:t>
                </a:r>
                <a:r>
                  <a:rPr lang="zh-CN" altLang="en-US" sz="2800" dirty="0"/>
                  <a:t>我们有</a:t>
                </a:r>
                <a:endParaRPr lang="en-US" altLang="zh-CN" sz="2800" dirty="0"/>
              </a:p>
              <a:p>
                <a:pPr>
                  <a:lnSpc>
                    <a:spcPct val="150000"/>
                  </a:lnSpc>
                  <a:defRPr/>
                </a:pPr>
                <a14:m>
                  <m:oMathPara xmlns:m="http://schemas.openxmlformats.org/officeDocument/2006/math">
                    <m:oMathParaPr>
                      <m:jc m:val="centerGroup"/>
                    </m:oMathParaPr>
                    <m:oMath xmlns:m="http://schemas.openxmlformats.org/officeDocument/2006/math">
                      <m:nary>
                        <m:naryPr>
                          <m:chr m:val="∑"/>
                          <m:ctrlPr>
                            <a:rPr lang="en-US" altLang="zh-CN" sz="2800" i="1" smtClean="0">
                              <a:latin typeface="Cambria Math" panose="02040503050406030204" pitchFamily="18" charset="0"/>
                            </a:rPr>
                          </m:ctrlPr>
                        </m:naryPr>
                        <m:sub>
                          <m:r>
                            <m:rPr>
                              <m:brk m:alnAt="23"/>
                            </m:rP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=1</m:t>
                          </m:r>
                        </m:sub>
                        <m:sup>
                          <m:r>
                            <a:rPr lang="en-US" altLang="zh-CN" sz="2800" b="0" i="1" smtClean="0">
                              <a:latin typeface="Cambria Math" panose="02040503050406030204" pitchFamily="18" charset="0"/>
                            </a:rPr>
                            <m:t>𝑞</m:t>
                          </m:r>
                        </m:sup>
                        <m:e>
                          <m:r>
                            <a:rPr lang="en-US" altLang="zh-CN" sz="2800" b="0" i="1" smtClean="0">
                              <a:latin typeface="Cambria Math" panose="02040503050406030204" pitchFamily="18" charset="0"/>
                            </a:rPr>
                            <m:t>𝑝</m:t>
                          </m:r>
                          <m:d>
                            <m:dPr>
                              <m:ctrlPr>
                                <a:rPr lang="en-US" altLang="zh-CN" sz="2800" i="1" smtClean="0">
                                  <a:latin typeface="Cambria Math" panose="02040503050406030204" pitchFamily="18" charset="0"/>
                                </a:rPr>
                              </m:ctrlPr>
                            </m:dPr>
                            <m:e>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𝑎</m:t>
                                  </m:r>
                                </m:e>
                                <m:sub>
                                  <m:r>
                                    <a:rPr lang="en-US" altLang="zh-CN" sz="2800" b="0" i="1" smtClean="0">
                                      <a:latin typeface="Cambria Math" panose="02040503050406030204" pitchFamily="18" charset="0"/>
                                    </a:rPr>
                                    <m:t>𝑖</m:t>
                                  </m:r>
                                </m:sub>
                              </m:sSub>
                            </m:e>
                          </m:d>
                          <m:r>
                            <a:rPr lang="en-US" altLang="zh-CN" sz="2800" b="0" i="1" smtClean="0">
                              <a:latin typeface="Cambria Math" panose="02040503050406030204" pitchFamily="18" charset="0"/>
                            </a:rPr>
                            <m:t>=1</m:t>
                          </m:r>
                        </m:e>
                      </m:nary>
                      <m:r>
                        <a:rPr lang="zh-CN" altLang="en-US" sz="2800" b="0" i="1">
                          <a:latin typeface="Cambria Math" panose="02040503050406030204" pitchFamily="18" charset="0"/>
                        </a:rPr>
                        <m:t>。</m:t>
                      </m:r>
                    </m:oMath>
                  </m:oMathPara>
                </a14:m>
                <a:endParaRPr lang="en-US" altLang="zh-CN" sz="2800" dirty="0"/>
              </a:p>
            </p:txBody>
          </p:sp>
        </mc:Choice>
        <mc:Fallback xmlns="">
          <p:sp>
            <p:nvSpPr>
              <p:cNvPr id="3" name="Rectangle 3">
                <a:hlinkClick r:id="" action="ppaction://noaction"/>
                <a:extLst>
                  <a:ext uri="{FF2B5EF4-FFF2-40B4-BE49-F238E27FC236}">
                    <a16:creationId xmlns:a16="http://schemas.microsoft.com/office/drawing/2014/main" id="{8FFE3038-BD2F-68FA-C55F-5C48A6E17E7C}"/>
                  </a:ext>
                </a:extLst>
              </p:cNvPr>
              <p:cNvSpPr>
                <a:spLocks noRot="1" noChangeAspect="1" noMove="1" noResize="1" noEditPoints="1" noAdjustHandles="1" noChangeArrowheads="1" noChangeShapeType="1" noTextEdit="1"/>
              </p:cNvSpPr>
              <p:nvPr/>
            </p:nvSpPr>
            <p:spPr bwMode="auto">
              <a:xfrm>
                <a:off x="268335" y="777633"/>
                <a:ext cx="8607329" cy="5302734"/>
              </a:xfrm>
              <a:prstGeom prst="rect">
                <a:avLst/>
              </a:prstGeom>
              <a:blipFill>
                <a:blip r:embed="rId3"/>
                <a:stretch>
                  <a:fillRect l="-1204"/>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916A3DF-36CF-834C-204E-C28576EA6196}"/>
              </a:ext>
            </a:extLst>
          </p:cNvPr>
          <p:cNvSpPr>
            <a:spLocks noGrp="1" noChangeArrowheads="1"/>
          </p:cNvSpPr>
          <p:nvPr>
            <p:ph type="body" idx="1"/>
          </p:nvPr>
        </p:nvSpPr>
        <p:spPr>
          <a:xfrm>
            <a:off x="304800" y="152400"/>
            <a:ext cx="3962400" cy="609600"/>
          </a:xfrm>
        </p:spPr>
        <p:txBody>
          <a:bodyPr/>
          <a:lstStyle/>
          <a:p>
            <a:pPr eaLnBrk="1" hangingPunct="1">
              <a:buFontTx/>
              <a:buNone/>
            </a:pPr>
            <a:r>
              <a:rPr lang="en-US" altLang="zh-CN"/>
              <a:t>2 </a:t>
            </a:r>
            <a:r>
              <a:rPr lang="zh-CN" altLang="en-US"/>
              <a:t>信息的度量（续）</a:t>
            </a:r>
            <a:endParaRPr lang="en-US" altLang="zh-CN"/>
          </a:p>
        </p:txBody>
      </p:sp>
      <p:sp>
        <p:nvSpPr>
          <p:cNvPr id="24580" name="文本框 3">
            <a:extLst>
              <a:ext uri="{FF2B5EF4-FFF2-40B4-BE49-F238E27FC236}">
                <a16:creationId xmlns:a16="http://schemas.microsoft.com/office/drawing/2014/main" id="{7BBE89BE-08EF-129F-3F5D-FDB3F0E04AF7}"/>
              </a:ext>
            </a:extLst>
          </p:cNvPr>
          <p:cNvSpPr txBox="1">
            <a:spLocks noChangeArrowheads="1"/>
          </p:cNvSpPr>
          <p:nvPr/>
        </p:nvSpPr>
        <p:spPr bwMode="auto">
          <a:xfrm>
            <a:off x="468313" y="5586413"/>
            <a:ext cx="8389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FF0000"/>
                </a:solidFill>
                <a:latin typeface="Times New Roman" panose="02020603050405020304" pitchFamily="18" charset="0"/>
                <a:cs typeface="Tahoma" panose="020B0604030504040204" pitchFamily="34" charset="0"/>
              </a:rPr>
              <a:t>可以证明：满足上述公理化的函数形式是对数函数。</a:t>
            </a:r>
          </a:p>
        </p:txBody>
      </p:sp>
      <mc:AlternateContent xmlns:mc="http://schemas.openxmlformats.org/markup-compatibility/2006" xmlns:a14="http://schemas.microsoft.com/office/drawing/2010/main">
        <mc:Choice Requires="a14">
          <p:sp>
            <p:nvSpPr>
              <p:cNvPr id="2" name="Rectangle 3">
                <a:hlinkClick r:id="" action="ppaction://noaction"/>
                <a:extLst>
                  <a:ext uri="{FF2B5EF4-FFF2-40B4-BE49-F238E27FC236}">
                    <a16:creationId xmlns:a16="http://schemas.microsoft.com/office/drawing/2014/main" id="{62C5A8A8-6007-9E7D-15A0-D8A9F523E9A8}"/>
                  </a:ext>
                </a:extLst>
              </p:cNvPr>
              <p:cNvSpPr>
                <a:spLocks noChangeArrowheads="1"/>
              </p:cNvSpPr>
              <p:nvPr/>
            </p:nvSpPr>
            <p:spPr bwMode="auto">
              <a:xfrm>
                <a:off x="359616" y="969765"/>
                <a:ext cx="8607329" cy="4616648"/>
              </a:xfrm>
              <a:prstGeom prst="rect">
                <a:avLst/>
              </a:prstGeom>
              <a:noFill/>
              <a:ln w="9525">
                <a:noFill/>
                <a:miter lim="800000"/>
                <a:headEnd/>
                <a:tailEnd/>
              </a:ln>
              <a:effectLst/>
            </p:spPr>
            <p:txBody>
              <a:bodyPr wrap="square">
                <a:spAutoFit/>
              </a:bodyPr>
              <a:lstStyle/>
              <a:p>
                <a:pPr>
                  <a:lnSpc>
                    <a:spcPct val="150000"/>
                  </a:lnSpc>
                  <a:defRPr/>
                </a:pPr>
                <a:r>
                  <a:rPr lang="zh-CN" altLang="en-US" sz="2800" dirty="0">
                    <a:latin typeface="+mn-ea"/>
                    <a:ea typeface="+mn-ea"/>
                  </a:rPr>
                  <a:t>自信息</a:t>
                </a:r>
                <a14:m>
                  <m:oMath xmlns:m="http://schemas.openxmlformats.org/officeDocument/2006/math">
                    <m:r>
                      <a:rPr lang="en-US" altLang="zh-CN" sz="2800" b="0" i="1" smtClean="0">
                        <a:latin typeface="Cambria Math" panose="02040503050406030204" pitchFamily="18" charset="0"/>
                        <a:ea typeface="+mn-ea"/>
                      </a:rPr>
                      <m:t> </m:t>
                    </m:r>
                    <m:r>
                      <a:rPr lang="en-US" altLang="zh-CN" sz="2800" b="0" i="1" smtClean="0">
                        <a:latin typeface="Cambria Math" panose="02040503050406030204" pitchFamily="18" charset="0"/>
                        <a:ea typeface="+mn-ea"/>
                      </a:rPr>
                      <m:t>𝐼</m:t>
                    </m:r>
                    <m:d>
                      <m:dPr>
                        <m:ctrlPr>
                          <a:rPr lang="en-US" altLang="zh-CN" sz="2800" i="1" smtClean="0">
                            <a:latin typeface="Cambria Math" panose="02040503050406030204" pitchFamily="18" charset="0"/>
                            <a:ea typeface="+mn-ea"/>
                          </a:rPr>
                        </m:ctrlPr>
                      </m:dPr>
                      <m:e>
                        <m:r>
                          <a:rPr lang="en-US" altLang="zh-CN" sz="2800" b="0" i="1" smtClean="0">
                            <a:latin typeface="Cambria Math" panose="02040503050406030204" pitchFamily="18" charset="0"/>
                            <a:ea typeface="+mn-ea"/>
                          </a:rPr>
                          <m:t>𝑥</m:t>
                        </m:r>
                      </m:e>
                    </m:d>
                    <m:r>
                      <a:rPr lang="en-US" altLang="zh-CN" sz="2800" b="0" i="1" smtClean="0">
                        <a:latin typeface="Cambria Math" panose="02040503050406030204" pitchFamily="18" charset="0"/>
                        <a:ea typeface="+mn-ea"/>
                      </a:rPr>
                      <m:t> </m:t>
                    </m:r>
                  </m:oMath>
                </a14:m>
                <a:r>
                  <a:rPr lang="zh-CN" altLang="en-US" sz="2800" dirty="0">
                    <a:latin typeface="+mn-ea"/>
                    <a:ea typeface="+mn-ea"/>
                  </a:rPr>
                  <a:t>应满足如下条件：</a:t>
                </a:r>
                <a:endParaRPr lang="en-US" altLang="zh-CN" sz="2800" dirty="0">
                  <a:latin typeface="+mn-ea"/>
                  <a:ea typeface="+mn-ea"/>
                </a:endParaRPr>
              </a:p>
              <a:p>
                <a:pPr marL="457200" indent="-457200">
                  <a:lnSpc>
                    <a:spcPct val="150000"/>
                  </a:lnSpc>
                  <a:buFont typeface="Wingdings" panose="05000000000000000000" pitchFamily="2" charset="2"/>
                  <a:buChar char="Ø"/>
                  <a:defRPr/>
                </a:pPr>
                <a14:m>
                  <m:oMath xmlns:m="http://schemas.openxmlformats.org/officeDocument/2006/math">
                    <m:r>
                      <a:rPr lang="en-US" altLang="zh-CN" sz="2800" b="0" i="1">
                        <a:latin typeface="Cambria Math" panose="02040503050406030204" pitchFamily="18" charset="0"/>
                        <a:ea typeface="+mn-ea"/>
                      </a:rPr>
                      <m:t>𝐼</m:t>
                    </m:r>
                    <m:d>
                      <m:dPr>
                        <m:ctrlPr>
                          <a:rPr lang="en-US" altLang="zh-CN" sz="2800" i="1">
                            <a:latin typeface="Cambria Math" panose="02040503050406030204" pitchFamily="18" charset="0"/>
                            <a:ea typeface="+mn-ea"/>
                          </a:rPr>
                        </m:ctrlPr>
                      </m:dPr>
                      <m:e>
                        <m:r>
                          <a:rPr lang="en-US" altLang="zh-CN" sz="2800" b="0" i="1">
                            <a:latin typeface="Cambria Math" panose="02040503050406030204" pitchFamily="18" charset="0"/>
                            <a:ea typeface="+mn-ea"/>
                          </a:rPr>
                          <m:t>𝑥</m:t>
                        </m:r>
                      </m:e>
                    </m:d>
                    <m:r>
                      <a:rPr lang="en-US" altLang="zh-CN" sz="2800" b="0" i="1" smtClean="0">
                        <a:latin typeface="Cambria Math" panose="02040503050406030204" pitchFamily="18" charset="0"/>
                        <a:ea typeface="+mn-ea"/>
                      </a:rPr>
                      <m:t> </m:t>
                    </m:r>
                  </m:oMath>
                </a14:m>
                <a:r>
                  <a:rPr lang="zh-CN" altLang="en-US" sz="2800" dirty="0">
                    <a:latin typeface="+mn-ea"/>
                    <a:ea typeface="+mn-ea"/>
                  </a:rPr>
                  <a:t>是</a:t>
                </a:r>
                <a14:m>
                  <m:oMath xmlns:m="http://schemas.openxmlformats.org/officeDocument/2006/math">
                    <m:r>
                      <a:rPr lang="en-US" altLang="zh-CN" sz="2800" b="0" i="1" dirty="0" smtClean="0">
                        <a:latin typeface="Cambria Math" panose="02040503050406030204" pitchFamily="18" charset="0"/>
                        <a:ea typeface="+mn-ea"/>
                      </a:rPr>
                      <m:t> </m:t>
                    </m:r>
                    <m:r>
                      <a:rPr lang="en-US" altLang="zh-CN" sz="2800" b="0" i="1" dirty="0" smtClean="0">
                        <a:latin typeface="Cambria Math" panose="02040503050406030204" pitchFamily="18" charset="0"/>
                        <a:ea typeface="+mn-ea"/>
                      </a:rPr>
                      <m:t>𝑝</m:t>
                    </m:r>
                    <m:d>
                      <m:dPr>
                        <m:ctrlPr>
                          <a:rPr lang="en-US" altLang="zh-CN" sz="2800" i="1" dirty="0" smtClean="0">
                            <a:latin typeface="Cambria Math" panose="02040503050406030204" pitchFamily="18" charset="0"/>
                            <a:ea typeface="+mn-ea"/>
                          </a:rPr>
                        </m:ctrlPr>
                      </m:dPr>
                      <m:e>
                        <m:r>
                          <a:rPr lang="en-US" altLang="zh-CN" sz="2800" b="0" i="1" dirty="0" smtClean="0">
                            <a:latin typeface="Cambria Math" panose="02040503050406030204" pitchFamily="18" charset="0"/>
                            <a:ea typeface="+mn-ea"/>
                          </a:rPr>
                          <m:t>𝑥</m:t>
                        </m:r>
                      </m:e>
                    </m:d>
                    <m:r>
                      <a:rPr lang="en-US" altLang="zh-CN" sz="2800" b="0" i="1" dirty="0" smtClean="0">
                        <a:latin typeface="Cambria Math" panose="02040503050406030204" pitchFamily="18" charset="0"/>
                        <a:ea typeface="+mn-ea"/>
                      </a:rPr>
                      <m:t> </m:t>
                    </m:r>
                  </m:oMath>
                </a14:m>
                <a:r>
                  <a:rPr lang="zh-CN" altLang="en-US" sz="2800" dirty="0">
                    <a:latin typeface="+mn-ea"/>
                    <a:ea typeface="+mn-ea"/>
                  </a:rPr>
                  <a:t>的严格递减函数，即小概率事件的不确定度更大，事件发生以后包含的自信息值越大。</a:t>
                </a:r>
                <a:endParaRPr lang="en-US" altLang="zh-CN" sz="2800" dirty="0">
                  <a:latin typeface="+mn-ea"/>
                  <a:ea typeface="+mn-ea"/>
                </a:endParaRPr>
              </a:p>
              <a:p>
                <a:pPr marL="457200" indent="-457200">
                  <a:lnSpc>
                    <a:spcPct val="150000"/>
                  </a:lnSpc>
                  <a:buFont typeface="Wingdings" panose="05000000000000000000" pitchFamily="2" charset="2"/>
                  <a:buChar char="Ø"/>
                  <a:defRPr/>
                </a:pPr>
                <a:r>
                  <a:rPr lang="zh-CN" altLang="en-US" sz="2800" dirty="0">
                    <a:latin typeface="+mn-ea"/>
                    <a:ea typeface="+mn-ea"/>
                  </a:rPr>
                  <a:t>当</a:t>
                </a:r>
                <a14:m>
                  <m:oMath xmlns:m="http://schemas.openxmlformats.org/officeDocument/2006/math">
                    <m:r>
                      <a:rPr lang="en-US" altLang="zh-CN" sz="2800" b="0" i="1" smtClean="0">
                        <a:latin typeface="Cambria Math" panose="02040503050406030204" pitchFamily="18" charset="0"/>
                        <a:ea typeface="+mn-ea"/>
                      </a:rPr>
                      <m:t> </m:t>
                    </m:r>
                    <m:r>
                      <a:rPr lang="en-US" altLang="zh-CN" sz="2800" b="0" i="1" smtClean="0">
                        <a:latin typeface="Cambria Math" panose="02040503050406030204" pitchFamily="18" charset="0"/>
                        <a:ea typeface="+mn-ea"/>
                      </a:rPr>
                      <m:t>𝑝</m:t>
                    </m:r>
                    <m:d>
                      <m:dPr>
                        <m:ctrlPr>
                          <a:rPr lang="en-US" altLang="zh-CN" sz="2800" i="1" smtClean="0">
                            <a:latin typeface="Cambria Math" panose="02040503050406030204" pitchFamily="18" charset="0"/>
                            <a:ea typeface="+mn-ea"/>
                          </a:rPr>
                        </m:ctrlPr>
                      </m:dPr>
                      <m:e>
                        <m:sSub>
                          <m:sSubPr>
                            <m:ctrlPr>
                              <a:rPr lang="en-US" altLang="zh-CN" sz="2800" i="1" smtClean="0">
                                <a:latin typeface="Cambria Math" panose="02040503050406030204" pitchFamily="18" charset="0"/>
                                <a:ea typeface="+mn-ea"/>
                              </a:rPr>
                            </m:ctrlPr>
                          </m:sSubPr>
                          <m:e>
                            <m:r>
                              <a:rPr lang="en-US" altLang="zh-CN" sz="2800" b="0" i="1" smtClean="0">
                                <a:latin typeface="Cambria Math" panose="02040503050406030204" pitchFamily="18" charset="0"/>
                                <a:ea typeface="+mn-ea"/>
                              </a:rPr>
                              <m:t>𝑥</m:t>
                            </m:r>
                          </m:e>
                          <m:sub>
                            <m:r>
                              <a:rPr lang="en-US" altLang="zh-CN" sz="2800" b="0" i="1" smtClean="0">
                                <a:latin typeface="Cambria Math" panose="02040503050406030204" pitchFamily="18" charset="0"/>
                                <a:ea typeface="+mn-ea"/>
                              </a:rPr>
                              <m:t>1</m:t>
                            </m:r>
                          </m:sub>
                        </m:sSub>
                      </m:e>
                    </m:d>
                    <m:r>
                      <a:rPr lang="en-US" altLang="zh-CN" sz="2800" b="0" i="1" smtClean="0">
                        <a:latin typeface="Cambria Math" panose="02040503050406030204" pitchFamily="18" charset="0"/>
                        <a:ea typeface="+mn-ea"/>
                      </a:rPr>
                      <m:t>=0 </m:t>
                    </m:r>
                  </m:oMath>
                </a14:m>
                <a:r>
                  <a:rPr lang="zh-CN" altLang="en-US" sz="2800" dirty="0">
                    <a:latin typeface="+mn-ea"/>
                    <a:ea typeface="+mn-ea"/>
                  </a:rPr>
                  <a:t>时，</a:t>
                </a:r>
                <a:r>
                  <a:rPr lang="en-US" altLang="zh-CN" sz="2800" dirty="0">
                    <a:latin typeface="+mn-ea"/>
                    <a:ea typeface="+mn-ea"/>
                  </a:rPr>
                  <a:t> </a:t>
                </a:r>
                <a14:m>
                  <m:oMath xmlns:m="http://schemas.openxmlformats.org/officeDocument/2006/math">
                    <m:r>
                      <a:rPr lang="en-US" altLang="zh-CN" sz="2800" b="0" i="1">
                        <a:latin typeface="Cambria Math" panose="02040503050406030204" pitchFamily="18" charset="0"/>
                        <a:ea typeface="+mn-ea"/>
                      </a:rPr>
                      <m:t>𝐼</m:t>
                    </m:r>
                    <m:d>
                      <m:dPr>
                        <m:ctrlPr>
                          <a:rPr lang="en-US" altLang="zh-CN" sz="2800" i="1">
                            <a:latin typeface="Cambria Math" panose="02040503050406030204" pitchFamily="18" charset="0"/>
                            <a:ea typeface="+mn-ea"/>
                          </a:rPr>
                        </m:ctrlPr>
                      </m:dPr>
                      <m:e>
                        <m:sSub>
                          <m:sSubPr>
                            <m:ctrlPr>
                              <a:rPr lang="en-US" altLang="zh-CN" sz="2800" i="1" smtClean="0">
                                <a:latin typeface="Cambria Math" panose="02040503050406030204" pitchFamily="18" charset="0"/>
                                <a:ea typeface="+mn-ea"/>
                              </a:rPr>
                            </m:ctrlPr>
                          </m:sSubPr>
                          <m:e>
                            <m:r>
                              <a:rPr lang="en-US" altLang="zh-CN" sz="2800" b="0" i="1">
                                <a:latin typeface="Cambria Math" panose="02040503050406030204" pitchFamily="18" charset="0"/>
                                <a:ea typeface="+mn-ea"/>
                              </a:rPr>
                              <m:t>𝑥</m:t>
                            </m:r>
                          </m:e>
                          <m:sub>
                            <m:r>
                              <a:rPr lang="en-US" altLang="zh-CN" sz="2800" b="0" i="1" smtClean="0">
                                <a:latin typeface="Cambria Math" panose="02040503050406030204" pitchFamily="18" charset="0"/>
                                <a:ea typeface="+mn-ea"/>
                              </a:rPr>
                              <m:t>1</m:t>
                            </m:r>
                          </m:sub>
                        </m:sSub>
                      </m:e>
                    </m:d>
                    <m:r>
                      <a:rPr lang="en-US" altLang="zh-CN" sz="2800" b="0" i="1" smtClean="0">
                        <a:latin typeface="Cambria Math" panose="02040503050406030204" pitchFamily="18" charset="0"/>
                        <a:ea typeface="+mn-ea"/>
                      </a:rPr>
                      <m:t>→∞</m:t>
                    </m:r>
                    <m:r>
                      <a:rPr lang="en-US" altLang="zh-CN" sz="2800" b="0" i="1">
                        <a:latin typeface="Cambria Math" panose="02040503050406030204" pitchFamily="18" charset="0"/>
                        <a:ea typeface="+mn-ea"/>
                      </a:rPr>
                      <m:t> </m:t>
                    </m:r>
                  </m:oMath>
                </a14:m>
                <a:r>
                  <a:rPr lang="zh-CN" altLang="en-US" sz="2800" dirty="0">
                    <a:latin typeface="+mn-ea"/>
                    <a:ea typeface="+mn-ea"/>
                  </a:rPr>
                  <a:t>，</a:t>
                </a:r>
                <a:endParaRPr lang="en-US" altLang="zh-CN" sz="2800" dirty="0">
                  <a:latin typeface="+mn-ea"/>
                  <a:ea typeface="+mn-ea"/>
                </a:endParaRPr>
              </a:p>
              <a:p>
                <a:pPr>
                  <a:lnSpc>
                    <a:spcPct val="150000"/>
                  </a:lnSpc>
                  <a:defRPr/>
                </a:pPr>
                <a:r>
                  <a:rPr lang="en-US" altLang="zh-CN" sz="2800" dirty="0">
                    <a:latin typeface="+mn-ea"/>
                    <a:ea typeface="+mn-ea"/>
                  </a:rPr>
                  <a:t>   </a:t>
                </a:r>
                <a:r>
                  <a:rPr lang="zh-CN" altLang="en-US" sz="2800" dirty="0">
                    <a:latin typeface="+mn-ea"/>
                    <a:ea typeface="+mn-ea"/>
                  </a:rPr>
                  <a:t>当</a:t>
                </a:r>
                <a14:m>
                  <m:oMath xmlns:m="http://schemas.openxmlformats.org/officeDocument/2006/math">
                    <m:r>
                      <a:rPr lang="en-US" altLang="zh-CN" sz="2800" b="0" i="1">
                        <a:latin typeface="Cambria Math" panose="02040503050406030204" pitchFamily="18" charset="0"/>
                        <a:ea typeface="+mn-ea"/>
                      </a:rPr>
                      <m:t> </m:t>
                    </m:r>
                    <m:r>
                      <a:rPr lang="en-US" altLang="zh-CN" sz="2800" b="0" i="1">
                        <a:latin typeface="Cambria Math" panose="02040503050406030204" pitchFamily="18" charset="0"/>
                        <a:ea typeface="+mn-ea"/>
                      </a:rPr>
                      <m:t>𝑝</m:t>
                    </m:r>
                    <m:d>
                      <m:dPr>
                        <m:ctrlPr>
                          <a:rPr lang="en-US" altLang="zh-CN" sz="2800" i="1">
                            <a:latin typeface="Cambria Math" panose="02040503050406030204" pitchFamily="18" charset="0"/>
                            <a:ea typeface="+mn-ea"/>
                          </a:rPr>
                        </m:ctrlPr>
                      </m:dPr>
                      <m:e>
                        <m:sSub>
                          <m:sSubPr>
                            <m:ctrlPr>
                              <a:rPr lang="en-US" altLang="zh-CN" sz="2800" i="1">
                                <a:latin typeface="Cambria Math" panose="02040503050406030204" pitchFamily="18" charset="0"/>
                                <a:ea typeface="+mn-ea"/>
                              </a:rPr>
                            </m:ctrlPr>
                          </m:sSubPr>
                          <m:e>
                            <m:r>
                              <a:rPr lang="en-US" altLang="zh-CN" sz="2800" b="0" i="1">
                                <a:latin typeface="Cambria Math" panose="02040503050406030204" pitchFamily="18" charset="0"/>
                                <a:ea typeface="+mn-ea"/>
                              </a:rPr>
                              <m:t>𝑥</m:t>
                            </m:r>
                          </m:e>
                          <m:sub>
                            <m:r>
                              <a:rPr lang="en-US" altLang="zh-CN" sz="2800" b="0" i="1">
                                <a:latin typeface="Cambria Math" panose="02040503050406030204" pitchFamily="18" charset="0"/>
                                <a:ea typeface="+mn-ea"/>
                              </a:rPr>
                              <m:t>1</m:t>
                            </m:r>
                          </m:sub>
                        </m:sSub>
                      </m:e>
                    </m:d>
                    <m:r>
                      <a:rPr lang="en-US" altLang="zh-CN" sz="2800" b="0" i="1">
                        <a:latin typeface="Cambria Math" panose="02040503050406030204" pitchFamily="18" charset="0"/>
                        <a:ea typeface="+mn-ea"/>
                      </a:rPr>
                      <m:t>=</m:t>
                    </m:r>
                    <m:r>
                      <a:rPr lang="en-US" altLang="zh-CN" sz="2800" b="0" i="1" smtClean="0">
                        <a:latin typeface="Cambria Math" panose="02040503050406030204" pitchFamily="18" charset="0"/>
                        <a:ea typeface="+mn-ea"/>
                      </a:rPr>
                      <m:t>1</m:t>
                    </m:r>
                    <m:r>
                      <a:rPr lang="en-US" altLang="zh-CN" sz="2800" b="0" i="1">
                        <a:latin typeface="Cambria Math" panose="02040503050406030204" pitchFamily="18" charset="0"/>
                        <a:ea typeface="+mn-ea"/>
                      </a:rPr>
                      <m:t> </m:t>
                    </m:r>
                  </m:oMath>
                </a14:m>
                <a:r>
                  <a:rPr lang="zh-CN" altLang="en-US" sz="2800" dirty="0">
                    <a:latin typeface="+mn-ea"/>
                    <a:ea typeface="+mn-ea"/>
                  </a:rPr>
                  <a:t>时，</a:t>
                </a:r>
                <a:r>
                  <a:rPr lang="en-US" altLang="zh-CN" sz="2800" dirty="0">
                    <a:latin typeface="+mn-ea"/>
                    <a:ea typeface="+mn-ea"/>
                  </a:rPr>
                  <a:t> </a:t>
                </a:r>
                <a14:m>
                  <m:oMath xmlns:m="http://schemas.openxmlformats.org/officeDocument/2006/math">
                    <m:r>
                      <a:rPr lang="en-US" altLang="zh-CN" sz="2800" b="0" i="1">
                        <a:latin typeface="Cambria Math" panose="02040503050406030204" pitchFamily="18" charset="0"/>
                        <a:ea typeface="+mn-ea"/>
                      </a:rPr>
                      <m:t>𝐼</m:t>
                    </m:r>
                    <m:d>
                      <m:dPr>
                        <m:ctrlPr>
                          <a:rPr lang="en-US" altLang="zh-CN" sz="2800" i="1">
                            <a:latin typeface="Cambria Math" panose="02040503050406030204" pitchFamily="18" charset="0"/>
                            <a:ea typeface="+mn-ea"/>
                          </a:rPr>
                        </m:ctrlPr>
                      </m:dPr>
                      <m:e>
                        <m:r>
                          <a:rPr lang="en-US" altLang="zh-CN" sz="2800" b="0" i="1">
                            <a:latin typeface="Cambria Math" panose="02040503050406030204" pitchFamily="18" charset="0"/>
                            <a:ea typeface="+mn-ea"/>
                          </a:rPr>
                          <m:t>𝑥</m:t>
                        </m:r>
                      </m:e>
                    </m:d>
                    <m:r>
                      <a:rPr lang="en-US" altLang="zh-CN" sz="2800" b="0" i="1" smtClean="0">
                        <a:latin typeface="Cambria Math" panose="02040503050406030204" pitchFamily="18" charset="0"/>
                        <a:ea typeface="+mn-ea"/>
                      </a:rPr>
                      <m:t>=0</m:t>
                    </m:r>
                  </m:oMath>
                </a14:m>
                <a:r>
                  <a:rPr lang="zh-CN" altLang="en-US" sz="2800" dirty="0">
                    <a:latin typeface="+mn-ea"/>
                    <a:ea typeface="+mn-ea"/>
                  </a:rPr>
                  <a:t>。</a:t>
                </a:r>
                <a:endParaRPr lang="en-US" altLang="zh-CN" sz="2800" dirty="0">
                  <a:latin typeface="+mn-ea"/>
                  <a:ea typeface="+mn-ea"/>
                </a:endParaRPr>
              </a:p>
              <a:p>
                <a:pPr marL="457200" indent="-457200">
                  <a:lnSpc>
                    <a:spcPct val="150000"/>
                  </a:lnSpc>
                  <a:buFont typeface="Wingdings" panose="05000000000000000000" pitchFamily="2" charset="2"/>
                  <a:buChar char="Ø"/>
                  <a:defRPr/>
                </a:pPr>
                <a:r>
                  <a:rPr lang="zh-CN" altLang="en-US" sz="2800" dirty="0">
                    <a:latin typeface="+mn-ea"/>
                    <a:ea typeface="+mn-ea"/>
                  </a:rPr>
                  <a:t>两个不相关独立事件的总信息量等于各自提供的信息量之和。</a:t>
                </a:r>
                <a:endParaRPr lang="en-US" altLang="zh-CN" sz="2800" dirty="0">
                  <a:latin typeface="+mn-ea"/>
                  <a:ea typeface="+mn-ea"/>
                </a:endParaRPr>
              </a:p>
            </p:txBody>
          </p:sp>
        </mc:Choice>
        <mc:Fallback xmlns="">
          <p:sp>
            <p:nvSpPr>
              <p:cNvPr id="2" name="Rectangle 3">
                <a:hlinkClick r:id="" action="ppaction://noaction"/>
                <a:extLst>
                  <a:ext uri="{FF2B5EF4-FFF2-40B4-BE49-F238E27FC236}">
                    <a16:creationId xmlns:a16="http://schemas.microsoft.com/office/drawing/2014/main" id="{62C5A8A8-6007-9E7D-15A0-D8A9F523E9A8}"/>
                  </a:ext>
                </a:extLst>
              </p:cNvPr>
              <p:cNvSpPr>
                <a:spLocks noRot="1" noChangeAspect="1" noMove="1" noResize="1" noEditPoints="1" noAdjustHandles="1" noChangeArrowheads="1" noChangeShapeType="1" noTextEdit="1"/>
              </p:cNvSpPr>
              <p:nvPr/>
            </p:nvSpPr>
            <p:spPr bwMode="auto">
              <a:xfrm>
                <a:off x="359616" y="969765"/>
                <a:ext cx="8607329" cy="4616648"/>
              </a:xfrm>
              <a:prstGeom prst="rect">
                <a:avLst/>
              </a:prstGeom>
              <a:blipFill>
                <a:blip r:embed="rId3"/>
                <a:stretch>
                  <a:fillRect l="-1487" b="-661"/>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C8FC7CB5-4125-C254-1903-0EA509D8A837}"/>
              </a:ext>
            </a:extLst>
          </p:cNvPr>
          <p:cNvSpPr>
            <a:spLocks noGrp="1" noChangeArrowheads="1"/>
          </p:cNvSpPr>
          <p:nvPr>
            <p:ph type="body" idx="1"/>
          </p:nvPr>
        </p:nvSpPr>
        <p:spPr>
          <a:xfrm>
            <a:off x="304800" y="152400"/>
            <a:ext cx="396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xmlns:a14="http://schemas.microsoft.com/office/drawing/2010/main">
        <mc:Choice Requires="a14">
          <p:sp>
            <p:nvSpPr>
              <p:cNvPr id="4" name="Rectangle 2">
                <a:hlinkClick r:id="rId3" action="ppaction://hlinksldjump"/>
                <a:extLst>
                  <a:ext uri="{FF2B5EF4-FFF2-40B4-BE49-F238E27FC236}">
                    <a16:creationId xmlns:a16="http://schemas.microsoft.com/office/drawing/2014/main" id="{DC9EAD44-1D62-8517-8BFC-FB69D4165AC8}"/>
                  </a:ext>
                </a:extLst>
              </p:cNvPr>
              <p:cNvSpPr>
                <a:spLocks noChangeArrowheads="1"/>
              </p:cNvSpPr>
              <p:nvPr/>
            </p:nvSpPr>
            <p:spPr bwMode="auto">
              <a:xfrm>
                <a:off x="342900" y="876300"/>
                <a:ext cx="8208962" cy="3469604"/>
              </a:xfrm>
              <a:prstGeom prst="rect">
                <a:avLst/>
              </a:prstGeom>
              <a:noFill/>
              <a:ln w="9525">
                <a:noFill/>
                <a:miter lim="800000"/>
                <a:headEnd/>
                <a:tailEnd/>
              </a:ln>
              <a:effectLst/>
            </p:spPr>
            <p:txBody>
              <a:bodyPr>
                <a:spAutoFit/>
              </a:bodyPr>
              <a:lstStyle/>
              <a:p>
                <a:pPr eaLnBrk="1" hangingPunct="1">
                  <a:lnSpc>
                    <a:spcPct val="150000"/>
                  </a:lnSpc>
                  <a:defRPr/>
                </a:pPr>
                <a:r>
                  <a:rPr lang="zh-CN" altLang="en-US" sz="2800" b="1" dirty="0">
                    <a:latin typeface="宋体" pitchFamily="2" charset="-122"/>
                    <a:cs typeface="Tahoma"/>
                  </a:rPr>
                  <a:t>定义</a:t>
                </a:r>
                <a:r>
                  <a:rPr lang="en-US" altLang="zh-CN" sz="2800" b="1" dirty="0">
                    <a:latin typeface="Times New Roman" pitchFamily="18" charset="0"/>
                    <a:cs typeface="Times New Roman" pitchFamily="18" charset="0"/>
                  </a:rPr>
                  <a:t>1 </a:t>
                </a:r>
                <a:r>
                  <a:rPr lang="zh-CN" altLang="en-US" sz="2800" dirty="0">
                    <a:solidFill>
                      <a:srgbClr val="000000"/>
                    </a:solidFill>
                    <a:latin typeface="Times New Roman" pitchFamily="18" charset="0"/>
                    <a:cs typeface="Times New Roman" pitchFamily="18" charset="0"/>
                  </a:rPr>
                  <a:t>假设</a:t>
                </a:r>
                <a:r>
                  <a:rPr lang="zh-CN" altLang="en-US" sz="2800" dirty="0">
                    <a:solidFill>
                      <a:srgbClr val="000000"/>
                    </a:solidFill>
                    <a:latin typeface="宋体" pitchFamily="2" charset="-122"/>
                    <a:cs typeface="Tahoma"/>
                  </a:rPr>
                  <a:t>离散信源</a:t>
                </a:r>
                <a14:m>
                  <m:oMath xmlns:m="http://schemas.openxmlformats.org/officeDocument/2006/math">
                    <m:r>
                      <a:rPr lang="en-US" altLang="zh-CN" sz="2800" b="0" i="1">
                        <a:solidFill>
                          <a:srgbClr val="000000"/>
                        </a:solidFill>
                        <a:latin typeface="Cambria Math" panose="02040503050406030204" pitchFamily="18" charset="0"/>
                      </a:rPr>
                      <m:t> </m:t>
                    </m:r>
                    <m:r>
                      <a:rPr lang="en-US" altLang="zh-CN" sz="2800" b="0" i="1">
                        <a:solidFill>
                          <a:srgbClr val="000000"/>
                        </a:solidFill>
                        <a:latin typeface="Cambria Math" panose="02040503050406030204" pitchFamily="18" charset="0"/>
                      </a:rPr>
                      <m:t>𝑋</m:t>
                    </m:r>
                    <m:r>
                      <a:rPr lang="en-US" altLang="zh-CN" sz="2800" b="0" i="1" smtClean="0">
                        <a:solidFill>
                          <a:srgbClr val="000000"/>
                        </a:solidFill>
                        <a:latin typeface="Cambria Math" panose="02040503050406030204" pitchFamily="18" charset="0"/>
                      </a:rPr>
                      <m:t> </m:t>
                    </m:r>
                  </m:oMath>
                </a14:m>
                <a:r>
                  <a:rPr lang="zh-CN" altLang="en-US" sz="2800" dirty="0">
                    <a:solidFill>
                      <a:srgbClr val="000000"/>
                    </a:solidFill>
                    <a:latin typeface="宋体" pitchFamily="2" charset="-122"/>
                    <a:cs typeface="Tahoma"/>
                  </a:rPr>
                  <a:t>的概率空间为</a:t>
                </a:r>
                <a:endParaRPr lang="en-US" altLang="zh-CN" sz="2800" dirty="0">
                  <a:solidFill>
                    <a:srgbClr val="000000"/>
                  </a:solidFill>
                  <a:latin typeface="宋体" pitchFamily="2" charset="-122"/>
                  <a:cs typeface="Tahoma"/>
                </a:endParaRPr>
              </a:p>
              <a:p>
                <a:pPr algn="ctr" eaLnBrk="1" hangingPunct="1">
                  <a:lnSpc>
                    <a:spcPct val="150000"/>
                  </a:lnSpc>
                  <a:defRPr/>
                </a:pPr>
                <a14:m>
                  <m:oMath xmlns:m="http://schemas.openxmlformats.org/officeDocument/2006/math">
                    <m:d>
                      <m:dPr>
                        <m:begChr m:val="["/>
                        <m:endChr m:val="]"/>
                        <m:ctrlPr>
                          <a:rPr kumimoji="1" lang="en-US" altLang="zh-CN" sz="2800" i="1">
                            <a:solidFill>
                              <a:srgbClr val="000000"/>
                            </a:solidFill>
                            <a:latin typeface="Cambria Math" panose="02040503050406030204" pitchFamily="18" charset="0"/>
                          </a:rPr>
                        </m:ctrlPr>
                      </m:dPr>
                      <m:e>
                        <m:eqArr>
                          <m:eqArrPr>
                            <m:ctrlPr>
                              <a:rPr kumimoji="1" lang="en-US" altLang="zh-CN" sz="2800" i="1">
                                <a:solidFill>
                                  <a:srgbClr val="000000"/>
                                </a:solidFill>
                                <a:latin typeface="Cambria Math" panose="02040503050406030204" pitchFamily="18" charset="0"/>
                              </a:rPr>
                            </m:ctrlPr>
                          </m:eqArrPr>
                          <m:e>
                            <m:r>
                              <a:rPr kumimoji="1" lang="en-US" altLang="zh-CN" sz="2800" b="0" i="1">
                                <a:solidFill>
                                  <a:srgbClr val="000000"/>
                                </a:solidFill>
                                <a:latin typeface="Cambria Math" panose="02040503050406030204" pitchFamily="18" charset="0"/>
                              </a:rPr>
                              <m:t>𝑋</m:t>
                            </m:r>
                          </m:e>
                          <m:e>
                            <m:r>
                              <a:rPr kumimoji="1" lang="en-US" altLang="zh-CN" sz="2800" b="0" i="1">
                                <a:solidFill>
                                  <a:srgbClr val="000000"/>
                                </a:solidFill>
                                <a:latin typeface="Cambria Math" panose="02040503050406030204" pitchFamily="18" charset="0"/>
                              </a:rPr>
                              <m:t>𝑝</m:t>
                            </m:r>
                            <m:r>
                              <a:rPr kumimoji="1" lang="en-US" altLang="zh-CN" sz="2800" b="0" i="1">
                                <a:solidFill>
                                  <a:srgbClr val="000000"/>
                                </a:solidFill>
                                <a:latin typeface="Cambria Math" panose="02040503050406030204" pitchFamily="18" charset="0"/>
                              </a:rPr>
                              <m:t>(</m:t>
                            </m:r>
                            <m:r>
                              <a:rPr kumimoji="1" lang="en-US" altLang="zh-CN" sz="2800" b="0" i="1">
                                <a:solidFill>
                                  <a:srgbClr val="000000"/>
                                </a:solidFill>
                                <a:latin typeface="Cambria Math" panose="02040503050406030204" pitchFamily="18" charset="0"/>
                              </a:rPr>
                              <m:t>𝑥</m:t>
                            </m:r>
                            <m:r>
                              <a:rPr kumimoji="1" lang="en-US" altLang="zh-CN" sz="2800" b="0" i="1">
                                <a:solidFill>
                                  <a:srgbClr val="000000"/>
                                </a:solidFill>
                                <a:latin typeface="Cambria Math" panose="02040503050406030204" pitchFamily="18" charset="0"/>
                              </a:rPr>
                              <m:t>)</m:t>
                            </m:r>
                          </m:e>
                        </m:eqArr>
                      </m:e>
                    </m:d>
                    <m:r>
                      <a:rPr kumimoji="1" lang="en-US" altLang="zh-CN" sz="2800" b="0" i="1">
                        <a:solidFill>
                          <a:srgbClr val="000000"/>
                        </a:solidFill>
                        <a:latin typeface="Cambria Math" panose="02040503050406030204" pitchFamily="18" charset="0"/>
                      </a:rPr>
                      <m:t>=</m:t>
                    </m:r>
                    <m:d>
                      <m:dPr>
                        <m:begChr m:val="["/>
                        <m:endChr m:val="]"/>
                        <m:ctrlPr>
                          <a:rPr kumimoji="1" lang="en-US" altLang="zh-CN" sz="2800" i="1">
                            <a:solidFill>
                              <a:srgbClr val="000000"/>
                            </a:solidFill>
                            <a:latin typeface="Cambria Math" panose="02040503050406030204" pitchFamily="18" charset="0"/>
                          </a:rPr>
                        </m:ctrlPr>
                      </m:dPr>
                      <m:e>
                        <m:m>
                          <m:mPr>
                            <m:mcs>
                              <m:mc>
                                <m:mcPr>
                                  <m:count m:val="3"/>
                                  <m:mcJc m:val="center"/>
                                </m:mcPr>
                              </m:mc>
                            </m:mcs>
                            <m:ctrlPr>
                              <a:rPr kumimoji="1" lang="en-US" altLang="zh-CN" sz="2800" i="1">
                                <a:solidFill>
                                  <a:srgbClr val="000000"/>
                                </a:solidFill>
                                <a:latin typeface="Cambria Math" panose="02040503050406030204" pitchFamily="18" charset="0"/>
                              </a:rPr>
                            </m:ctrlPr>
                          </m:mPr>
                          <m:mr>
                            <m:e>
                              <m:sSub>
                                <m:sSubPr>
                                  <m:ctrlPr>
                                    <a:rPr kumimoji="1" lang="en-US" altLang="zh-CN" sz="2800" i="1">
                                      <a:solidFill>
                                        <a:srgbClr val="000000"/>
                                      </a:solidFill>
                                      <a:latin typeface="Cambria Math" panose="02040503050406030204" pitchFamily="18" charset="0"/>
                                    </a:rPr>
                                  </m:ctrlPr>
                                </m:sSubPr>
                                <m:e>
                                  <m:r>
                                    <m:rPr>
                                      <m:brk m:alnAt="7"/>
                                    </m:rPr>
                                    <a:rPr kumimoji="1" lang="en-US" altLang="zh-CN" sz="2800" b="0" i="1">
                                      <a:solidFill>
                                        <a:srgbClr val="000000"/>
                                      </a:solidFill>
                                      <a:latin typeface="Cambria Math" panose="02040503050406030204" pitchFamily="18" charset="0"/>
                                    </a:rPr>
                                    <m:t>𝑎</m:t>
                                  </m:r>
                                </m:e>
                                <m:sub>
                                  <m:r>
                                    <m:rPr>
                                      <m:brk m:alnAt="7"/>
                                    </m:rPr>
                                    <a:rPr kumimoji="1" lang="en-US" altLang="zh-CN" sz="2800" b="0" i="1">
                                      <a:solidFill>
                                        <a:srgbClr val="000000"/>
                                      </a:solidFill>
                                      <a:latin typeface="Cambria Math" panose="02040503050406030204" pitchFamily="18" charset="0"/>
                                    </a:rPr>
                                    <m:t>1</m:t>
                                  </m:r>
                                </m:sub>
                              </m:sSub>
                            </m:e>
                            <m:e>
                              <m:sSub>
                                <m:sSubPr>
                                  <m:ctrlPr>
                                    <a:rPr kumimoji="1" lang="en-US" altLang="zh-CN" sz="2800" i="1">
                                      <a:solidFill>
                                        <a:srgbClr val="000000"/>
                                      </a:solidFill>
                                      <a:latin typeface="Cambria Math" panose="02040503050406030204" pitchFamily="18" charset="0"/>
                                    </a:rPr>
                                  </m:ctrlPr>
                                </m:sSubPr>
                                <m:e>
                                  <m:r>
                                    <a:rPr kumimoji="1" lang="en-US" altLang="zh-CN" sz="2800" b="0" i="1">
                                      <a:solidFill>
                                        <a:srgbClr val="000000"/>
                                      </a:solidFill>
                                      <a:latin typeface="Cambria Math" panose="02040503050406030204" pitchFamily="18" charset="0"/>
                                    </a:rPr>
                                    <m:t>𝑎</m:t>
                                  </m:r>
                                </m:e>
                                <m:sub>
                                  <m:r>
                                    <a:rPr kumimoji="1" lang="en-US" altLang="zh-CN" sz="2800" b="0" i="1">
                                      <a:solidFill>
                                        <a:srgbClr val="000000"/>
                                      </a:solidFill>
                                      <a:latin typeface="Cambria Math" panose="02040503050406030204" pitchFamily="18" charset="0"/>
                                    </a:rPr>
                                    <m:t>2</m:t>
                                  </m:r>
                                </m:sub>
                              </m:sSub>
                            </m:e>
                            <m:e>
                              <m:m>
                                <m:mPr>
                                  <m:mcs>
                                    <m:mc>
                                      <m:mcPr>
                                        <m:count m:val="2"/>
                                        <m:mcJc m:val="center"/>
                                      </m:mcPr>
                                    </m:mc>
                                  </m:mcs>
                                  <m:ctrlPr>
                                    <a:rPr kumimoji="1" lang="en-US" altLang="zh-CN" sz="2800" i="1">
                                      <a:solidFill>
                                        <a:srgbClr val="000000"/>
                                      </a:solidFill>
                                      <a:latin typeface="Cambria Math" panose="02040503050406030204" pitchFamily="18" charset="0"/>
                                    </a:rPr>
                                  </m:ctrlPr>
                                </m:mPr>
                                <m:mr>
                                  <m:e>
                                    <m:r>
                                      <a:rPr kumimoji="1" lang="en-US" altLang="zh-CN" sz="2800" b="0" i="1">
                                        <a:solidFill>
                                          <a:srgbClr val="000000"/>
                                        </a:solidFill>
                                        <a:latin typeface="Cambria Math" panose="02040503050406030204" pitchFamily="18" charset="0"/>
                                      </a:rPr>
                                      <m:t>⋯</m:t>
                                    </m:r>
                                  </m:e>
                                  <m:e>
                                    <m:sSub>
                                      <m:sSubPr>
                                        <m:ctrlPr>
                                          <a:rPr kumimoji="1" lang="en-US" altLang="zh-CN" sz="2800" i="1">
                                            <a:solidFill>
                                              <a:srgbClr val="000000"/>
                                            </a:solidFill>
                                            <a:latin typeface="Cambria Math" panose="02040503050406030204" pitchFamily="18" charset="0"/>
                                          </a:rPr>
                                        </m:ctrlPr>
                                      </m:sSubPr>
                                      <m:e>
                                        <m:r>
                                          <a:rPr kumimoji="1" lang="en-US" altLang="zh-CN" sz="2800" b="0" i="1">
                                            <a:solidFill>
                                              <a:srgbClr val="000000"/>
                                            </a:solidFill>
                                            <a:latin typeface="Cambria Math" panose="02040503050406030204" pitchFamily="18" charset="0"/>
                                          </a:rPr>
                                          <m:t>𝑎</m:t>
                                        </m:r>
                                      </m:e>
                                      <m:sub>
                                        <m:r>
                                          <a:rPr kumimoji="1" lang="en-US" altLang="zh-CN" sz="2800" b="0" i="1">
                                            <a:solidFill>
                                              <a:srgbClr val="000000"/>
                                            </a:solidFill>
                                            <a:latin typeface="Cambria Math" panose="02040503050406030204" pitchFamily="18" charset="0"/>
                                          </a:rPr>
                                          <m:t>𝑞</m:t>
                                        </m:r>
                                      </m:sub>
                                    </m:sSub>
                                  </m:e>
                                </m:mr>
                              </m:m>
                            </m:e>
                          </m:mr>
                          <m:mr>
                            <m:e>
                              <m:r>
                                <a:rPr kumimoji="1" lang="en-US" altLang="zh-CN" sz="2800" b="0" i="1">
                                  <a:solidFill>
                                    <a:srgbClr val="000000"/>
                                  </a:solidFill>
                                  <a:latin typeface="Cambria Math" panose="02040503050406030204" pitchFamily="18" charset="0"/>
                                </a:rPr>
                                <m:t>𝑝</m:t>
                              </m:r>
                              <m:d>
                                <m:dPr>
                                  <m:ctrlPr>
                                    <a:rPr kumimoji="1" lang="en-US" altLang="zh-CN" sz="2800" i="1">
                                      <a:solidFill>
                                        <a:srgbClr val="000000"/>
                                      </a:solidFill>
                                      <a:latin typeface="Cambria Math" panose="02040503050406030204" pitchFamily="18" charset="0"/>
                                    </a:rPr>
                                  </m:ctrlPr>
                                </m:dPr>
                                <m:e>
                                  <m:sSub>
                                    <m:sSubPr>
                                      <m:ctrlPr>
                                        <a:rPr kumimoji="1" lang="en-US" altLang="zh-CN" sz="2800" i="1">
                                          <a:solidFill>
                                            <a:srgbClr val="000000"/>
                                          </a:solidFill>
                                          <a:latin typeface="Cambria Math" panose="02040503050406030204" pitchFamily="18" charset="0"/>
                                        </a:rPr>
                                      </m:ctrlPr>
                                    </m:sSubPr>
                                    <m:e>
                                      <m:r>
                                        <a:rPr kumimoji="1" lang="en-US" altLang="zh-CN" sz="2800" b="0" i="1">
                                          <a:solidFill>
                                            <a:srgbClr val="000000"/>
                                          </a:solidFill>
                                          <a:latin typeface="Cambria Math" panose="02040503050406030204" pitchFamily="18" charset="0"/>
                                        </a:rPr>
                                        <m:t>𝑎</m:t>
                                      </m:r>
                                    </m:e>
                                    <m:sub>
                                      <m:r>
                                        <a:rPr kumimoji="1" lang="en-US" altLang="zh-CN" sz="2800" b="0" i="1">
                                          <a:solidFill>
                                            <a:srgbClr val="000000"/>
                                          </a:solidFill>
                                          <a:latin typeface="Cambria Math" panose="02040503050406030204" pitchFamily="18" charset="0"/>
                                        </a:rPr>
                                        <m:t>1</m:t>
                                      </m:r>
                                    </m:sub>
                                  </m:sSub>
                                </m:e>
                              </m:d>
                            </m:e>
                            <m:e>
                              <m:r>
                                <a:rPr kumimoji="1" lang="en-US" altLang="zh-CN" sz="2800" b="0" i="1">
                                  <a:solidFill>
                                    <a:srgbClr val="000000"/>
                                  </a:solidFill>
                                  <a:latin typeface="Cambria Math" panose="02040503050406030204" pitchFamily="18" charset="0"/>
                                </a:rPr>
                                <m:t>𝑝</m:t>
                              </m:r>
                              <m:d>
                                <m:dPr>
                                  <m:ctrlPr>
                                    <a:rPr kumimoji="1" lang="en-US" altLang="zh-CN" sz="2800" i="1">
                                      <a:solidFill>
                                        <a:srgbClr val="000000"/>
                                      </a:solidFill>
                                      <a:latin typeface="Cambria Math" panose="02040503050406030204" pitchFamily="18" charset="0"/>
                                    </a:rPr>
                                  </m:ctrlPr>
                                </m:dPr>
                                <m:e>
                                  <m:sSub>
                                    <m:sSubPr>
                                      <m:ctrlPr>
                                        <a:rPr kumimoji="1" lang="en-US" altLang="zh-CN" sz="2800" i="1">
                                          <a:solidFill>
                                            <a:srgbClr val="000000"/>
                                          </a:solidFill>
                                          <a:latin typeface="Cambria Math" panose="02040503050406030204" pitchFamily="18" charset="0"/>
                                        </a:rPr>
                                      </m:ctrlPr>
                                    </m:sSubPr>
                                    <m:e>
                                      <m:r>
                                        <a:rPr kumimoji="1" lang="en-US" altLang="zh-CN" sz="2800" b="0" i="1">
                                          <a:solidFill>
                                            <a:srgbClr val="000000"/>
                                          </a:solidFill>
                                          <a:latin typeface="Cambria Math" panose="02040503050406030204" pitchFamily="18" charset="0"/>
                                        </a:rPr>
                                        <m:t>𝑎</m:t>
                                      </m:r>
                                    </m:e>
                                    <m:sub>
                                      <m:r>
                                        <a:rPr kumimoji="1" lang="en-US" altLang="zh-CN" sz="2800" b="0" i="1">
                                          <a:solidFill>
                                            <a:srgbClr val="000000"/>
                                          </a:solidFill>
                                          <a:latin typeface="Cambria Math" panose="02040503050406030204" pitchFamily="18" charset="0"/>
                                        </a:rPr>
                                        <m:t>2</m:t>
                                      </m:r>
                                    </m:sub>
                                  </m:sSub>
                                </m:e>
                              </m:d>
                            </m:e>
                            <m:e>
                              <m:m>
                                <m:mPr>
                                  <m:mcs>
                                    <m:mc>
                                      <m:mcPr>
                                        <m:count m:val="2"/>
                                        <m:mcJc m:val="center"/>
                                      </m:mcPr>
                                    </m:mc>
                                  </m:mcs>
                                  <m:ctrlPr>
                                    <a:rPr kumimoji="1" lang="en-US" altLang="zh-CN" sz="2800" i="1">
                                      <a:solidFill>
                                        <a:srgbClr val="000000"/>
                                      </a:solidFill>
                                      <a:latin typeface="Cambria Math" panose="02040503050406030204" pitchFamily="18" charset="0"/>
                                    </a:rPr>
                                  </m:ctrlPr>
                                </m:mPr>
                                <m:mr>
                                  <m:e>
                                    <m:r>
                                      <a:rPr kumimoji="1" lang="en-US" altLang="zh-CN" sz="2800" b="0" i="1">
                                        <a:solidFill>
                                          <a:srgbClr val="000000"/>
                                        </a:solidFill>
                                        <a:latin typeface="Cambria Math" panose="02040503050406030204" pitchFamily="18" charset="0"/>
                                      </a:rPr>
                                      <m:t>⋯</m:t>
                                    </m:r>
                                  </m:e>
                                  <m:e>
                                    <m:r>
                                      <a:rPr kumimoji="1" lang="en-US" altLang="zh-CN" sz="2800" b="0" i="1">
                                        <a:solidFill>
                                          <a:srgbClr val="000000"/>
                                        </a:solidFill>
                                        <a:latin typeface="Cambria Math" panose="02040503050406030204" pitchFamily="18" charset="0"/>
                                      </a:rPr>
                                      <m:t>𝑝</m:t>
                                    </m:r>
                                    <m:d>
                                      <m:dPr>
                                        <m:ctrlPr>
                                          <a:rPr kumimoji="1" lang="en-US" altLang="zh-CN" sz="2800" i="1">
                                            <a:solidFill>
                                              <a:srgbClr val="000000"/>
                                            </a:solidFill>
                                            <a:latin typeface="Cambria Math" panose="02040503050406030204" pitchFamily="18" charset="0"/>
                                          </a:rPr>
                                        </m:ctrlPr>
                                      </m:dPr>
                                      <m:e>
                                        <m:sSub>
                                          <m:sSubPr>
                                            <m:ctrlPr>
                                              <a:rPr kumimoji="1" lang="en-US" altLang="zh-CN" sz="2800" i="1">
                                                <a:solidFill>
                                                  <a:srgbClr val="000000"/>
                                                </a:solidFill>
                                                <a:latin typeface="Cambria Math" panose="02040503050406030204" pitchFamily="18" charset="0"/>
                                              </a:rPr>
                                            </m:ctrlPr>
                                          </m:sSubPr>
                                          <m:e>
                                            <m:r>
                                              <a:rPr kumimoji="1" lang="en-US" altLang="zh-CN" sz="2800" b="0" i="1">
                                                <a:solidFill>
                                                  <a:srgbClr val="000000"/>
                                                </a:solidFill>
                                                <a:latin typeface="Cambria Math" panose="02040503050406030204" pitchFamily="18" charset="0"/>
                                              </a:rPr>
                                              <m:t>𝑎</m:t>
                                            </m:r>
                                          </m:e>
                                          <m:sub>
                                            <m:r>
                                              <a:rPr kumimoji="1" lang="en-US" altLang="zh-CN" sz="2800" b="0" i="1">
                                                <a:solidFill>
                                                  <a:srgbClr val="000000"/>
                                                </a:solidFill>
                                                <a:latin typeface="Cambria Math" panose="02040503050406030204" pitchFamily="18" charset="0"/>
                                              </a:rPr>
                                              <m:t>𝑞</m:t>
                                            </m:r>
                                          </m:sub>
                                        </m:sSub>
                                      </m:e>
                                    </m:d>
                                  </m:e>
                                </m:mr>
                              </m:m>
                            </m:e>
                          </m:mr>
                        </m:m>
                      </m:e>
                    </m:d>
                  </m:oMath>
                </a14:m>
                <a:r>
                  <a:rPr lang="zh-CN" altLang="en-US" sz="2800" dirty="0">
                    <a:solidFill>
                      <a:srgbClr val="000000"/>
                    </a:solidFill>
                    <a:latin typeface="宋体" pitchFamily="2" charset="-122"/>
                    <a:cs typeface="Tahoma"/>
                  </a:rPr>
                  <a:t>。</a:t>
                </a:r>
                <a:endParaRPr lang="en-US" altLang="zh-CN" sz="2800" dirty="0">
                  <a:solidFill>
                    <a:srgbClr val="000000"/>
                  </a:solidFill>
                  <a:latin typeface="宋体" pitchFamily="2" charset="-122"/>
                  <a:cs typeface="Tahoma"/>
                </a:endParaRPr>
              </a:p>
              <a:p>
                <a:pPr eaLnBrk="1" hangingPunct="1">
                  <a:lnSpc>
                    <a:spcPct val="150000"/>
                  </a:lnSpc>
                  <a:defRPr/>
                </a:pPr>
                <a:r>
                  <a:rPr lang="zh-CN" altLang="en-US" sz="2800" dirty="0">
                    <a:solidFill>
                      <a:srgbClr val="000000"/>
                    </a:solidFill>
                    <a:latin typeface="宋体" pitchFamily="2" charset="-122"/>
                    <a:cs typeface="Tahoma"/>
                  </a:rPr>
                  <a:t>事件</a:t>
                </a:r>
                <a14:m>
                  <m:oMath xmlns:m="http://schemas.openxmlformats.org/officeDocument/2006/math">
                    <m:sSub>
                      <m:sSubPr>
                        <m:ctrlPr>
                          <a:rPr kumimoji="1" lang="en-US" altLang="zh-CN" sz="2800" i="1">
                            <a:solidFill>
                              <a:srgbClr val="000000"/>
                            </a:solidFill>
                            <a:latin typeface="Cambria Math" panose="02040503050406030204" pitchFamily="18" charset="0"/>
                          </a:rPr>
                        </m:ctrlPr>
                      </m:sSubPr>
                      <m:e>
                        <m:r>
                          <a:rPr kumimoji="1" lang="en-US" altLang="zh-CN" sz="2800" b="0" i="1" smtClean="0">
                            <a:solidFill>
                              <a:srgbClr val="000000"/>
                            </a:solidFill>
                            <a:latin typeface="Cambria Math" panose="02040503050406030204" pitchFamily="18" charset="0"/>
                          </a:rPr>
                          <m:t> </m:t>
                        </m:r>
                        <m:r>
                          <a:rPr kumimoji="1" lang="en-US" altLang="zh-CN" sz="2800" b="0" i="1">
                            <a:solidFill>
                              <a:srgbClr val="000000"/>
                            </a:solidFill>
                            <a:latin typeface="Cambria Math" panose="02040503050406030204" pitchFamily="18" charset="0"/>
                          </a:rPr>
                          <m:t>𝑎</m:t>
                        </m:r>
                      </m:e>
                      <m:sub>
                        <m:r>
                          <a:rPr kumimoji="1" lang="en-US" altLang="zh-CN" sz="2800" b="0" i="1" smtClean="0">
                            <a:solidFill>
                              <a:srgbClr val="000000"/>
                            </a:solidFill>
                            <a:latin typeface="Cambria Math" panose="02040503050406030204" pitchFamily="18" charset="0"/>
                          </a:rPr>
                          <m:t>𝑖</m:t>
                        </m:r>
                      </m:sub>
                    </m:sSub>
                    <m:r>
                      <a:rPr kumimoji="1" lang="en-US" altLang="zh-CN" sz="2800" b="0" i="1" smtClean="0">
                        <a:solidFill>
                          <a:srgbClr val="000000"/>
                        </a:solidFill>
                        <a:latin typeface="Cambria Math" panose="02040503050406030204" pitchFamily="18" charset="0"/>
                      </a:rPr>
                      <m:t> </m:t>
                    </m:r>
                  </m:oMath>
                </a14:m>
                <a:r>
                  <a:rPr lang="zh-CN" altLang="en-US" sz="2800" dirty="0">
                    <a:solidFill>
                      <a:srgbClr val="000000"/>
                    </a:solidFill>
                    <a:latin typeface="宋体" pitchFamily="2" charset="-122"/>
                    <a:cs typeface="Tahoma"/>
                  </a:rPr>
                  <a:t>的</a:t>
                </a:r>
                <a:r>
                  <a:rPr lang="zh-CN" altLang="en-US" sz="2800" dirty="0">
                    <a:solidFill>
                      <a:srgbClr val="C00000"/>
                    </a:solidFill>
                    <a:latin typeface="宋体" pitchFamily="2" charset="-122"/>
                    <a:cs typeface="Tahoma"/>
                  </a:rPr>
                  <a:t>自信息</a:t>
                </a:r>
                <a14:m>
                  <m:oMath xmlns:m="http://schemas.openxmlformats.org/officeDocument/2006/math">
                    <m:r>
                      <a:rPr lang="en-US" altLang="zh-CN" sz="2800" b="0" i="1" smtClean="0">
                        <a:solidFill>
                          <a:srgbClr val="000000"/>
                        </a:solidFill>
                        <a:latin typeface="Cambria Math" panose="02040503050406030204" pitchFamily="18" charset="0"/>
                      </a:rPr>
                      <m:t> </m:t>
                    </m:r>
                    <m:r>
                      <a:rPr lang="en-US" altLang="zh-CN" sz="2800" b="0" i="1" smtClean="0">
                        <a:solidFill>
                          <a:srgbClr val="000000"/>
                        </a:solidFill>
                        <a:latin typeface="Cambria Math" panose="02040503050406030204" pitchFamily="18" charset="0"/>
                      </a:rPr>
                      <m:t>𝐼</m:t>
                    </m:r>
                    <m:d>
                      <m:dPr>
                        <m:ctrlPr>
                          <a:rPr lang="en-US" altLang="zh-CN" sz="2800" i="1" smtClean="0">
                            <a:solidFill>
                              <a:srgbClr val="000000"/>
                            </a:solidFill>
                            <a:latin typeface="Cambria Math" panose="02040503050406030204" pitchFamily="18" charset="0"/>
                          </a:rPr>
                        </m:ctrlPr>
                      </m:dPr>
                      <m:e>
                        <m:sSub>
                          <m:sSubPr>
                            <m:ctrlPr>
                              <a:rPr lang="en-US" altLang="zh-CN"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𝑎</m:t>
                            </m:r>
                          </m:e>
                          <m:sub>
                            <m:r>
                              <a:rPr lang="en-US" altLang="zh-CN" sz="2800" b="0" i="1" smtClean="0">
                                <a:solidFill>
                                  <a:srgbClr val="000000"/>
                                </a:solidFill>
                                <a:latin typeface="Cambria Math" panose="02040503050406030204" pitchFamily="18" charset="0"/>
                              </a:rPr>
                              <m:t>𝑖</m:t>
                            </m:r>
                          </m:sub>
                        </m:sSub>
                      </m:e>
                    </m:d>
                    <m:r>
                      <a:rPr lang="en-US" altLang="zh-CN" sz="2800" b="0" i="1" smtClean="0">
                        <a:solidFill>
                          <a:srgbClr val="000000"/>
                        </a:solidFill>
                        <a:latin typeface="Cambria Math" panose="02040503050406030204" pitchFamily="18" charset="0"/>
                      </a:rPr>
                      <m:t> </m:t>
                    </m:r>
                  </m:oMath>
                </a14:m>
                <a:r>
                  <a:rPr lang="zh-CN" altLang="en-US" sz="2800" dirty="0">
                    <a:solidFill>
                      <a:srgbClr val="000000"/>
                    </a:solidFill>
                    <a:latin typeface="宋体" pitchFamily="2" charset="-122"/>
                    <a:cs typeface="Tahoma"/>
                  </a:rPr>
                  <a:t>定义为</a:t>
                </a:r>
                <a:endParaRPr lang="en-US" altLang="zh-CN" sz="2800" dirty="0">
                  <a:solidFill>
                    <a:srgbClr val="000000"/>
                  </a:solidFill>
                  <a:latin typeface="宋体" pitchFamily="2" charset="-122"/>
                  <a:cs typeface="Tahoma"/>
                </a:endParaRPr>
              </a:p>
              <a:p>
                <a:pPr algn="ctr" eaLnBrk="1" hangingPunct="1">
                  <a:lnSpc>
                    <a:spcPct val="150000"/>
                  </a:lnSpc>
                  <a:defRPr/>
                </a:pPr>
                <a14:m>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𝐼</m:t>
                    </m:r>
                    <m:d>
                      <m:dPr>
                        <m:ctrlPr>
                          <a:rPr lang="en-US" altLang="zh-CN" sz="2800" i="1" smtClean="0">
                            <a:solidFill>
                              <a:srgbClr val="000000"/>
                            </a:solidFill>
                            <a:latin typeface="Cambria Math" panose="02040503050406030204" pitchFamily="18" charset="0"/>
                            <a:cs typeface="Times New Roman" pitchFamily="18" charset="0"/>
                          </a:rPr>
                        </m:ctrlPr>
                      </m:dPr>
                      <m:e>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𝑎</m:t>
                            </m:r>
                          </m:e>
                          <m:sub>
                            <m:r>
                              <a:rPr lang="en-US" altLang="zh-CN" sz="2800" b="0" i="1" smtClean="0">
                                <a:solidFill>
                                  <a:srgbClr val="000000"/>
                                </a:solidFill>
                                <a:latin typeface="Cambria Math" panose="02040503050406030204" pitchFamily="18" charset="0"/>
                                <a:cs typeface="Times New Roman" pitchFamily="18" charset="0"/>
                              </a:rPr>
                              <m:t>𝑖</m:t>
                            </m:r>
                          </m:sub>
                        </m:sSub>
                      </m:e>
                    </m:d>
                    <m:r>
                      <a:rPr lang="en-US" altLang="zh-CN" sz="2800" b="0" i="1" smtClean="0">
                        <a:solidFill>
                          <a:srgbClr val="000000"/>
                        </a:solidFill>
                        <a:latin typeface="Cambria Math" panose="02040503050406030204" pitchFamily="18" charset="0"/>
                        <a:cs typeface="Times New Roman" pitchFamily="18" charset="0"/>
                      </a:rPr>
                      <m:t>=−</m:t>
                    </m:r>
                    <m:r>
                      <m:rPr>
                        <m:sty m:val="p"/>
                      </m:rPr>
                      <a:rPr lang="en-US" altLang="zh-CN" sz="2800" b="0" i="1" smtClean="0">
                        <a:solidFill>
                          <a:srgbClr val="000000"/>
                        </a:solidFill>
                        <a:latin typeface="Cambria Math" panose="02040503050406030204" pitchFamily="18" charset="0"/>
                        <a:cs typeface="Times New Roman" pitchFamily="18" charset="0"/>
                      </a:rPr>
                      <m:t>log</m:t>
                    </m:r>
                    <m:r>
                      <a:rPr lang="en-US" altLang="zh-CN" sz="2800" b="0" smtClean="0">
                        <a:solidFill>
                          <a:srgbClr val="000000"/>
                        </a:solidFill>
                        <a:latin typeface="Cambria Math" panose="02040503050406030204" pitchFamily="18" charset="0"/>
                        <a:cs typeface="Times New Roman" pitchFamily="18" charset="0"/>
                      </a:rPr>
                      <m:t> </m:t>
                    </m:r>
                    <m:r>
                      <a:rPr lang="en-US" altLang="zh-CN" sz="2800" b="0" i="1" smtClean="0">
                        <a:solidFill>
                          <a:srgbClr val="000000"/>
                        </a:solidFill>
                        <a:latin typeface="Cambria Math" panose="02040503050406030204" pitchFamily="18" charset="0"/>
                        <a:cs typeface="Times New Roman" pitchFamily="18" charset="0"/>
                      </a:rPr>
                      <m:t>𝑝</m:t>
                    </m:r>
                    <m:d>
                      <m:dPr>
                        <m:ctrlPr>
                          <a:rPr lang="en-US" altLang="zh-CN" sz="2800" i="1" smtClean="0">
                            <a:solidFill>
                              <a:srgbClr val="000000"/>
                            </a:solidFill>
                            <a:latin typeface="Cambria Math" panose="02040503050406030204" pitchFamily="18" charset="0"/>
                            <a:cs typeface="Times New Roman" pitchFamily="18" charset="0"/>
                          </a:rPr>
                        </m:ctrlPr>
                      </m:dPr>
                      <m:e>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𝑎</m:t>
                            </m:r>
                          </m:e>
                          <m:sub>
                            <m:r>
                              <a:rPr lang="en-US" altLang="zh-CN" sz="2800" b="0" i="1" smtClean="0">
                                <a:solidFill>
                                  <a:srgbClr val="000000"/>
                                </a:solidFill>
                                <a:latin typeface="Cambria Math" panose="02040503050406030204" pitchFamily="18" charset="0"/>
                                <a:cs typeface="Times New Roman" pitchFamily="18" charset="0"/>
                              </a:rPr>
                              <m:t>𝑖</m:t>
                            </m:r>
                          </m:sub>
                        </m:sSub>
                      </m:e>
                    </m:d>
                    <m:r>
                      <a:rPr lang="en-US" altLang="zh-CN" sz="2800" b="0" smtClean="0">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Times New Roman" pitchFamily="18" charset="0"/>
                    <a:cs typeface="Times New Roman" pitchFamily="18" charset="0"/>
                  </a:rPr>
                  <a:t>。</a:t>
                </a:r>
                <a:endParaRPr lang="en-US" altLang="zh-CN" sz="2800" dirty="0">
                  <a:solidFill>
                    <a:srgbClr val="000000"/>
                  </a:solidFill>
                  <a:latin typeface="Times New Roman" pitchFamily="18" charset="0"/>
                  <a:cs typeface="Times New Roman" pitchFamily="18" charset="0"/>
                </a:endParaRPr>
              </a:p>
            </p:txBody>
          </p:sp>
        </mc:Choice>
        <mc:Fallback xmlns="">
          <p:sp>
            <p:nvSpPr>
              <p:cNvPr id="4" name="Rectangle 2">
                <a:hlinkClick r:id="rId4" action="ppaction://hlinksldjump"/>
                <a:extLst>
                  <a:ext uri="{FF2B5EF4-FFF2-40B4-BE49-F238E27FC236}">
                    <a16:creationId xmlns:a16="http://schemas.microsoft.com/office/drawing/2014/main" id="{DC9EAD44-1D62-8517-8BFC-FB69D4165AC8}"/>
                  </a:ext>
                </a:extLst>
              </p:cNvPr>
              <p:cNvSpPr>
                <a:spLocks noRot="1" noChangeAspect="1" noMove="1" noResize="1" noEditPoints="1" noAdjustHandles="1" noChangeArrowheads="1" noChangeShapeType="1" noTextEdit="1"/>
              </p:cNvSpPr>
              <p:nvPr/>
            </p:nvSpPr>
            <p:spPr bwMode="auto">
              <a:xfrm>
                <a:off x="342900" y="876300"/>
                <a:ext cx="8208962" cy="3469604"/>
              </a:xfrm>
              <a:prstGeom prst="rect">
                <a:avLst/>
              </a:prstGeom>
              <a:blipFill>
                <a:blip r:embed="rId5"/>
                <a:stretch>
                  <a:fillRect l="-1485" b="-1054"/>
                </a:stretch>
              </a:blipFill>
              <a:ln w="9525">
                <a:no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90E8D8D-BB07-572F-0408-EAFA79C9B817}"/>
                  </a:ext>
                </a:extLst>
              </p:cNvPr>
              <p:cNvSpPr txBox="1"/>
              <p:nvPr/>
            </p:nvSpPr>
            <p:spPr>
              <a:xfrm>
                <a:off x="190500" y="4596705"/>
                <a:ext cx="8991600" cy="1384995"/>
              </a:xfrm>
              <a:prstGeom prst="rect">
                <a:avLst/>
              </a:prstGeom>
              <a:noFill/>
            </p:spPr>
            <p:txBody>
              <a:bodyPr wrap="square" rtlCol="0">
                <a:spAutoFit/>
              </a:bodyPr>
              <a:lstStyle/>
              <a:p>
                <a:r>
                  <a:rPr lang="zh-CN" altLang="en-US" sz="2800" dirty="0">
                    <a:solidFill>
                      <a:srgbClr val="FF0000"/>
                    </a:solidFill>
                  </a:rPr>
                  <a:t>注意：</a:t>
                </a:r>
                <a:endParaRPr lang="en-US" altLang="zh-CN" sz="2800" dirty="0">
                  <a:solidFill>
                    <a:srgbClr val="FF0000"/>
                  </a:solidFill>
                </a:endParaRPr>
              </a:p>
              <a:p>
                <a:pPr marL="457200" indent="-457200">
                  <a:buFont typeface="Wingdings" panose="05000000000000000000" pitchFamily="2" charset="2"/>
                  <a:buChar char="Ø"/>
                </a:pPr>
                <a14:m>
                  <m:oMath xmlns:m="http://schemas.openxmlformats.org/officeDocument/2006/math">
                    <m:r>
                      <a:rPr kumimoji="0" lang="en-US" altLang="zh-CN" sz="2800" b="0" i="1" smtClean="0">
                        <a:solidFill>
                          <a:srgbClr val="FF0000"/>
                        </a:solidFill>
                        <a:latin typeface="Cambria Math" panose="02040503050406030204" pitchFamily="18" charset="0"/>
                        <a:cs typeface="Times New Roman" pitchFamily="18" charset="0"/>
                      </a:rPr>
                      <m:t>𝐼</m:t>
                    </m:r>
                    <m:d>
                      <m:dPr>
                        <m:ctrlPr>
                          <a:rPr kumimoji="0" lang="en-US" altLang="zh-CN" sz="2800" i="1">
                            <a:solidFill>
                              <a:srgbClr val="FF0000"/>
                            </a:solidFill>
                            <a:latin typeface="Cambria Math" panose="02040503050406030204" pitchFamily="18" charset="0"/>
                            <a:cs typeface="Times New Roman" pitchFamily="18" charset="0"/>
                          </a:rPr>
                        </m:ctrlPr>
                      </m:dPr>
                      <m:e>
                        <m:sSub>
                          <m:sSubPr>
                            <m:ctrlPr>
                              <a:rPr kumimoji="0" lang="en-US" altLang="zh-CN" sz="2800" i="1">
                                <a:solidFill>
                                  <a:srgbClr val="FF0000"/>
                                </a:solidFill>
                                <a:latin typeface="Cambria Math" panose="02040503050406030204" pitchFamily="18" charset="0"/>
                                <a:cs typeface="Times New Roman" pitchFamily="18" charset="0"/>
                              </a:rPr>
                            </m:ctrlPr>
                          </m:sSubPr>
                          <m:e>
                            <m:r>
                              <a:rPr kumimoji="0" lang="en-US" altLang="zh-CN" sz="2800" b="0" i="1" smtClean="0">
                                <a:solidFill>
                                  <a:srgbClr val="FF0000"/>
                                </a:solidFill>
                                <a:latin typeface="Cambria Math" panose="02040503050406030204" pitchFamily="18" charset="0"/>
                                <a:cs typeface="Times New Roman" pitchFamily="18" charset="0"/>
                              </a:rPr>
                              <m:t>𝑎</m:t>
                            </m:r>
                          </m:e>
                          <m:sub>
                            <m:r>
                              <a:rPr kumimoji="0" lang="en-US" altLang="zh-CN" sz="2800" b="0" i="1" smtClean="0">
                                <a:solidFill>
                                  <a:srgbClr val="FF0000"/>
                                </a:solidFill>
                                <a:latin typeface="Cambria Math" panose="02040503050406030204" pitchFamily="18" charset="0"/>
                                <a:cs typeface="Times New Roman" pitchFamily="18" charset="0"/>
                              </a:rPr>
                              <m:t>𝑖</m:t>
                            </m:r>
                          </m:sub>
                        </m:sSub>
                      </m:e>
                    </m:d>
                    <m:r>
                      <a:rPr kumimoji="0" lang="en-US" altLang="zh-CN" sz="2800" b="0" i="1" smtClean="0">
                        <a:solidFill>
                          <a:srgbClr val="FF0000"/>
                        </a:solidFill>
                        <a:latin typeface="Cambria Math" panose="02040503050406030204" pitchFamily="18" charset="0"/>
                        <a:cs typeface="Times New Roman" pitchFamily="18" charset="0"/>
                      </a:rPr>
                      <m:t>≥0</m:t>
                    </m:r>
                  </m:oMath>
                </a14:m>
                <a:endParaRPr lang="en-US" altLang="zh-CN" sz="2800" dirty="0">
                  <a:solidFill>
                    <a:srgbClr val="FF0000"/>
                  </a:solidFill>
                </a:endParaRPr>
              </a:p>
              <a:p>
                <a:pPr marL="457200" indent="-457200">
                  <a:buFont typeface="Wingdings" panose="05000000000000000000" pitchFamily="2" charset="2"/>
                  <a:buChar char="Ø"/>
                </a:pPr>
                <a:r>
                  <a:rPr lang="zh-CN" altLang="en-US" sz="2800" dirty="0">
                    <a:solidFill>
                      <a:srgbClr val="FF0000"/>
                    </a:solidFill>
                  </a:rPr>
                  <a:t>对数底通常为 </a:t>
                </a:r>
                <a:r>
                  <a:rPr lang="en-US" altLang="zh-CN" sz="2800" dirty="0">
                    <a:solidFill>
                      <a:srgbClr val="FF0000"/>
                    </a:solidFill>
                  </a:rPr>
                  <a:t>2</a:t>
                </a:r>
                <a:r>
                  <a:rPr lang="zh-CN" altLang="en-US" sz="2800" dirty="0">
                    <a:solidFill>
                      <a:srgbClr val="FF0000"/>
                    </a:solidFill>
                  </a:rPr>
                  <a:t>，此时信息量的单位为 </a:t>
                </a:r>
                <a:r>
                  <a:rPr lang="en-US" altLang="zh-CN" sz="2800" dirty="0">
                    <a:solidFill>
                      <a:srgbClr val="FF0000"/>
                    </a:solidFill>
                  </a:rPr>
                  <a:t>bit</a:t>
                </a:r>
                <a:r>
                  <a:rPr lang="zh-CN" altLang="en-US" sz="2800" dirty="0">
                    <a:solidFill>
                      <a:srgbClr val="FF0000"/>
                    </a:solidFill>
                  </a:rPr>
                  <a:t>（比特）。</a:t>
                </a:r>
                <a:endParaRPr lang="en-US" altLang="zh-CN" sz="2800" dirty="0">
                  <a:solidFill>
                    <a:srgbClr val="FF0000"/>
                  </a:solidFill>
                </a:endParaRPr>
              </a:p>
            </p:txBody>
          </p:sp>
        </mc:Choice>
        <mc:Fallback xmlns="">
          <p:sp>
            <p:nvSpPr>
              <p:cNvPr id="2" name="文本框 1">
                <a:extLst>
                  <a:ext uri="{FF2B5EF4-FFF2-40B4-BE49-F238E27FC236}">
                    <a16:creationId xmlns:a16="http://schemas.microsoft.com/office/drawing/2014/main" id="{290E8D8D-BB07-572F-0408-EAFA79C9B817}"/>
                  </a:ext>
                </a:extLst>
              </p:cNvPr>
              <p:cNvSpPr txBox="1">
                <a:spLocks noRot="1" noChangeAspect="1" noMove="1" noResize="1" noEditPoints="1" noAdjustHandles="1" noChangeArrowheads="1" noChangeShapeType="1" noTextEdit="1"/>
              </p:cNvSpPr>
              <p:nvPr/>
            </p:nvSpPr>
            <p:spPr>
              <a:xfrm>
                <a:off x="190500" y="4596705"/>
                <a:ext cx="8991600" cy="1384995"/>
              </a:xfrm>
              <a:prstGeom prst="rect">
                <a:avLst/>
              </a:prstGeom>
              <a:blipFill>
                <a:blip r:embed="rId6"/>
                <a:stretch>
                  <a:fillRect l="-1356" t="-5727" b="-11454"/>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D87C3F1-652A-5D16-D968-389FDB0208F3}"/>
              </a:ext>
            </a:extLst>
          </p:cNvPr>
          <p:cNvSpPr>
            <a:spLocks noGrp="1" noChangeArrowheads="1"/>
          </p:cNvSpPr>
          <p:nvPr>
            <p:ph type="body" idx="1"/>
          </p:nvPr>
        </p:nvSpPr>
        <p:spPr>
          <a:xfrm>
            <a:off x="304800" y="152400"/>
            <a:ext cx="396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xmlns:a14="http://schemas.microsoft.com/office/drawing/2010/main">
        <mc:Choice Requires="a14">
          <p:sp>
            <p:nvSpPr>
              <p:cNvPr id="4" name="Rectangle 2">
                <a:hlinkClick r:id="rId3" action="ppaction://hlinksldjump"/>
                <a:extLst>
                  <a:ext uri="{FF2B5EF4-FFF2-40B4-BE49-F238E27FC236}">
                    <a16:creationId xmlns:a16="http://schemas.microsoft.com/office/drawing/2014/main" id="{1D84711E-861F-EEFA-EA4D-FEF3902396F9}"/>
                  </a:ext>
                </a:extLst>
              </p:cNvPr>
              <p:cNvSpPr>
                <a:spLocks noChangeArrowheads="1"/>
              </p:cNvSpPr>
              <p:nvPr/>
            </p:nvSpPr>
            <p:spPr bwMode="auto">
              <a:xfrm>
                <a:off x="304800" y="990600"/>
                <a:ext cx="8208962" cy="3323987"/>
              </a:xfrm>
              <a:prstGeom prst="rect">
                <a:avLst/>
              </a:prstGeom>
              <a:noFill/>
              <a:ln w="9525">
                <a:noFill/>
                <a:miter lim="800000"/>
                <a:headEnd/>
                <a:tailEnd/>
              </a:ln>
              <a:effectLst/>
            </p:spPr>
            <p:txBody>
              <a:bodyPr>
                <a:spAutoFit/>
              </a:bodyPr>
              <a:lstStyle/>
              <a:p>
                <a:pPr eaLnBrk="1" hangingPunct="1">
                  <a:lnSpc>
                    <a:spcPct val="150000"/>
                  </a:lnSpc>
                  <a:defRPr/>
                </a:pPr>
                <a:r>
                  <a:rPr lang="zh-CN" altLang="en-US" sz="2800" b="1" dirty="0">
                    <a:latin typeface="宋体" pitchFamily="2" charset="-122"/>
                    <a:cs typeface="Tahoma"/>
                  </a:rPr>
                  <a:t>例子</a:t>
                </a:r>
                <a:r>
                  <a:rPr lang="en-US" altLang="zh-CN" sz="2800" b="1" dirty="0">
                    <a:latin typeface="Times New Roman" pitchFamily="18" charset="0"/>
                    <a:cs typeface="Times New Roman" pitchFamily="18" charset="0"/>
                  </a:rPr>
                  <a:t>1  </a:t>
                </a:r>
                <a:r>
                  <a:rPr lang="zh-CN" altLang="en-US" sz="2800" dirty="0">
                    <a:solidFill>
                      <a:srgbClr val="000000"/>
                    </a:solidFill>
                    <a:latin typeface="Times New Roman" pitchFamily="18" charset="0"/>
                    <a:cs typeface="Times New Roman" pitchFamily="18" charset="0"/>
                  </a:rPr>
                  <a:t>英文字母</a:t>
                </a:r>
                <a:r>
                  <a:rPr lang="en-US" altLang="zh-CN" sz="2800" dirty="0">
                    <a:solidFill>
                      <a:srgbClr val="000000"/>
                    </a:solidFill>
                    <a:latin typeface="Times New Roman" pitchFamily="18" charset="0"/>
                    <a:cs typeface="Times New Roman" pitchFamily="18" charset="0"/>
                  </a:rPr>
                  <a:t> e </a:t>
                </a:r>
                <a:r>
                  <a:rPr lang="zh-CN" altLang="en-US" sz="2800" dirty="0">
                    <a:solidFill>
                      <a:srgbClr val="000000"/>
                    </a:solidFill>
                    <a:latin typeface="Times New Roman" pitchFamily="18" charset="0"/>
                    <a:cs typeface="Times New Roman" pitchFamily="18" charset="0"/>
                  </a:rPr>
                  <a:t>出现的概率为 </a:t>
                </a:r>
                <a:r>
                  <a:rPr lang="en-US" altLang="zh-CN" sz="2800" dirty="0">
                    <a:solidFill>
                      <a:srgbClr val="000000"/>
                    </a:solidFill>
                    <a:latin typeface="Times New Roman" pitchFamily="18" charset="0"/>
                    <a:cs typeface="Times New Roman" pitchFamily="18" charset="0"/>
                  </a:rPr>
                  <a:t>0.123</a:t>
                </a:r>
                <a:r>
                  <a:rPr lang="zh-CN" altLang="en-US" sz="2800" dirty="0">
                    <a:solidFill>
                      <a:srgbClr val="000000"/>
                    </a:solidFill>
                    <a:latin typeface="Times New Roman" pitchFamily="18" charset="0"/>
                    <a:cs typeface="Times New Roman" pitchFamily="18" charset="0"/>
                  </a:rPr>
                  <a:t>，</a:t>
                </a:r>
                <a:r>
                  <a:rPr lang="en-US" altLang="zh-CN" sz="2800" dirty="0">
                    <a:solidFill>
                      <a:srgbClr val="000000"/>
                    </a:solidFill>
                    <a:latin typeface="Times New Roman" pitchFamily="18" charset="0"/>
                    <a:cs typeface="Times New Roman" pitchFamily="18" charset="0"/>
                  </a:rPr>
                  <a:t>z </a:t>
                </a:r>
                <a:r>
                  <a:rPr lang="zh-CN" altLang="en-US" sz="2800" dirty="0">
                    <a:solidFill>
                      <a:srgbClr val="000000"/>
                    </a:solidFill>
                    <a:latin typeface="Times New Roman" pitchFamily="18" charset="0"/>
                    <a:cs typeface="Times New Roman" pitchFamily="18" charset="0"/>
                  </a:rPr>
                  <a:t>出现的概率为 </a:t>
                </a:r>
                <a:r>
                  <a:rPr lang="en-US" altLang="zh-CN" sz="2800" dirty="0">
                    <a:solidFill>
                      <a:srgbClr val="000000"/>
                    </a:solidFill>
                    <a:latin typeface="Times New Roman" pitchFamily="18" charset="0"/>
                    <a:cs typeface="Times New Roman" pitchFamily="18" charset="0"/>
                  </a:rPr>
                  <a:t>0.0008</a:t>
                </a:r>
                <a:r>
                  <a:rPr lang="zh-CN" altLang="en-US" sz="2800" dirty="0">
                    <a:solidFill>
                      <a:srgbClr val="000000"/>
                    </a:solidFill>
                    <a:latin typeface="Times New Roman" pitchFamily="18" charset="0"/>
                    <a:cs typeface="Times New Roman" pitchFamily="18" charset="0"/>
                  </a:rPr>
                  <a:t>，分别计算它们的自信息。</a:t>
                </a:r>
                <a:endParaRPr lang="en-US" altLang="zh-CN" sz="2800" dirty="0">
                  <a:solidFill>
                    <a:srgbClr val="000000"/>
                  </a:solidFill>
                  <a:latin typeface="Times New Roman" pitchFamily="18" charset="0"/>
                  <a:cs typeface="Times New Roman" pitchFamily="18" charset="0"/>
                </a:endParaRPr>
              </a:p>
              <a:p>
                <a:pPr eaLnBrk="1" hangingPunct="1">
                  <a:lnSpc>
                    <a:spcPct val="150000"/>
                  </a:lnSpc>
                  <a:defRPr/>
                </a:pPr>
                <a:r>
                  <a:rPr lang="zh-CN" altLang="en-US" sz="2800" dirty="0">
                    <a:solidFill>
                      <a:srgbClr val="000000"/>
                    </a:solidFill>
                    <a:latin typeface="Times New Roman" pitchFamily="18" charset="0"/>
                    <a:cs typeface="Times New Roman" pitchFamily="18" charset="0"/>
                  </a:rPr>
                  <a:t>根据自信息的定义可得</a:t>
                </a:r>
                <a:endParaRPr lang="en-US" altLang="zh-CN" sz="2800" dirty="0">
                  <a:solidFill>
                    <a:srgbClr val="000000"/>
                  </a:solidFill>
                  <a:latin typeface="Times New Roman" pitchFamily="18" charset="0"/>
                  <a:cs typeface="Times New Roman" pitchFamily="18" charset="0"/>
                </a:endParaRPr>
              </a:p>
              <a:p>
                <a:pPr eaLnBrk="1" hangingPunct="1">
                  <a:lnSpc>
                    <a:spcPct val="150000"/>
                  </a:lnSpc>
                  <a:defRPr/>
                </a:pPr>
                <a14:m>
                  <m:oMathPara xmlns:m="http://schemas.openxmlformats.org/officeDocument/2006/math">
                    <m:oMathParaPr>
                      <m:jc m:val="centerGroup"/>
                    </m:oMathParaPr>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𝐼</m:t>
                      </m:r>
                      <m:d>
                        <m:dPr>
                          <m:ctrlPr>
                            <a:rPr lang="en-US" altLang="zh-CN" sz="2800" i="1">
                              <a:solidFill>
                                <a:srgbClr val="000000"/>
                              </a:solidFill>
                              <a:latin typeface="Cambria Math" panose="02040503050406030204" pitchFamily="18" charset="0"/>
                              <a:cs typeface="Times New Roman" pitchFamily="18" charset="0"/>
                            </a:rPr>
                          </m:ctrlPr>
                        </m:dPr>
                        <m:e>
                          <m:r>
                            <a:rPr lang="en-US" altLang="zh-CN" sz="2800" b="0" i="1" smtClean="0">
                              <a:solidFill>
                                <a:srgbClr val="000000"/>
                              </a:solidFill>
                              <a:latin typeface="Cambria Math" panose="02040503050406030204" pitchFamily="18" charset="0"/>
                              <a:cs typeface="Times New Roman" pitchFamily="18" charset="0"/>
                            </a:rPr>
                            <m:t>𝑒</m:t>
                          </m:r>
                        </m:e>
                      </m:d>
                      <m:r>
                        <a:rPr lang="en-US" altLang="zh-CN" sz="2800" b="0" i="1" smtClean="0">
                          <a:solidFill>
                            <a:srgbClr val="000000"/>
                          </a:solidFill>
                          <a:latin typeface="Cambria Math" panose="02040503050406030204" pitchFamily="18" charset="0"/>
                          <a:cs typeface="Times New Roman" pitchFamily="18" charset="0"/>
                        </a:rPr>
                        <m:t>=−</m:t>
                      </m:r>
                      <m:r>
                        <m:rPr>
                          <m:sty m:val="p"/>
                        </m:rPr>
                        <a:rPr lang="en-US" altLang="zh-CN" sz="2800" b="0" i="1" smtClean="0">
                          <a:solidFill>
                            <a:srgbClr val="000000"/>
                          </a:solidFill>
                          <a:latin typeface="Cambria Math" panose="02040503050406030204" pitchFamily="18" charset="0"/>
                          <a:cs typeface="Times New Roman" pitchFamily="18" charset="0"/>
                        </a:rPr>
                        <m:t>log</m:t>
                      </m:r>
                      <m:r>
                        <a:rPr lang="en-US" altLang="zh-CN" sz="2800" b="0">
                          <a:solidFill>
                            <a:srgbClr val="000000"/>
                          </a:solidFill>
                          <a:latin typeface="Cambria Math" panose="02040503050406030204" pitchFamily="18" charset="0"/>
                          <a:cs typeface="Times New Roman" pitchFamily="18" charset="0"/>
                        </a:rPr>
                        <m:t> </m:t>
                      </m:r>
                      <m:r>
                        <a:rPr lang="en-US" altLang="zh-CN" sz="2800" b="0" i="1" smtClean="0">
                          <a:solidFill>
                            <a:srgbClr val="000000"/>
                          </a:solidFill>
                          <a:latin typeface="Cambria Math" panose="02040503050406030204" pitchFamily="18" charset="0"/>
                          <a:cs typeface="Times New Roman" pitchFamily="18" charset="0"/>
                        </a:rPr>
                        <m:t>0.123=3.02 </m:t>
                      </m:r>
                      <m:r>
                        <m:rPr>
                          <m:sty m:val="p"/>
                        </m:rPr>
                        <a:rPr lang="en-US" altLang="zh-CN" sz="2800" b="0" i="1" smtClean="0">
                          <a:solidFill>
                            <a:srgbClr val="000000"/>
                          </a:solidFill>
                          <a:latin typeface="Cambria Math" panose="02040503050406030204" pitchFamily="18" charset="0"/>
                          <a:cs typeface="Times New Roman" pitchFamily="18" charset="0"/>
                        </a:rPr>
                        <m:t>bit</m:t>
                      </m:r>
                    </m:oMath>
                  </m:oMathPara>
                </a14:m>
                <a:endParaRPr lang="en-US" altLang="zh-CN" sz="2800" dirty="0">
                  <a:solidFill>
                    <a:srgbClr val="000000"/>
                  </a:solidFill>
                  <a:latin typeface="Times New Roman" pitchFamily="18" charset="0"/>
                  <a:cs typeface="Times New Roman" pitchFamily="18" charset="0"/>
                </a:endParaRPr>
              </a:p>
              <a:p>
                <a:pPr algn="ctr" eaLnBrk="1" hangingPunct="1">
                  <a:lnSpc>
                    <a:spcPct val="150000"/>
                  </a:lnSpc>
                  <a:defRPr/>
                </a:pPr>
                <a14:m>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𝐼</m:t>
                    </m:r>
                    <m:d>
                      <m:dPr>
                        <m:ctrlPr>
                          <a:rPr lang="en-US" altLang="zh-CN" sz="2800" i="1">
                            <a:solidFill>
                              <a:srgbClr val="000000"/>
                            </a:solidFill>
                            <a:latin typeface="Cambria Math" panose="02040503050406030204" pitchFamily="18" charset="0"/>
                            <a:cs typeface="Times New Roman" pitchFamily="18" charset="0"/>
                          </a:rPr>
                        </m:ctrlPr>
                      </m:dPr>
                      <m:e>
                        <m:r>
                          <a:rPr lang="en-US" altLang="zh-CN" sz="2800" b="0" i="1" smtClean="0">
                            <a:solidFill>
                              <a:srgbClr val="000000"/>
                            </a:solidFill>
                            <a:latin typeface="Cambria Math" panose="02040503050406030204" pitchFamily="18" charset="0"/>
                            <a:cs typeface="Times New Roman" pitchFamily="18" charset="0"/>
                          </a:rPr>
                          <m:t>𝑧</m:t>
                        </m:r>
                      </m:e>
                    </m:d>
                    <m:r>
                      <a:rPr lang="en-US" altLang="zh-CN" sz="2800" b="0" i="1" smtClean="0">
                        <a:solidFill>
                          <a:srgbClr val="000000"/>
                        </a:solidFill>
                        <a:latin typeface="Cambria Math" panose="02040503050406030204" pitchFamily="18" charset="0"/>
                        <a:cs typeface="Times New Roman" pitchFamily="18" charset="0"/>
                      </a:rPr>
                      <m:t>=−</m:t>
                    </m:r>
                    <m:r>
                      <m:rPr>
                        <m:sty m:val="p"/>
                      </m:rPr>
                      <a:rPr lang="en-US" altLang="zh-CN" sz="2800" b="0" i="1" smtClean="0">
                        <a:solidFill>
                          <a:srgbClr val="000000"/>
                        </a:solidFill>
                        <a:latin typeface="Cambria Math" panose="02040503050406030204" pitchFamily="18" charset="0"/>
                        <a:cs typeface="Times New Roman" pitchFamily="18" charset="0"/>
                      </a:rPr>
                      <m:t>log</m:t>
                    </m:r>
                    <m:r>
                      <a:rPr lang="en-US" altLang="zh-CN" sz="2800" b="0">
                        <a:solidFill>
                          <a:srgbClr val="000000"/>
                        </a:solidFill>
                        <a:latin typeface="Cambria Math" panose="02040503050406030204" pitchFamily="18" charset="0"/>
                        <a:cs typeface="Times New Roman" pitchFamily="18" charset="0"/>
                      </a:rPr>
                      <m:t> </m:t>
                    </m:r>
                    <m:r>
                      <a:rPr lang="en-US" altLang="zh-CN" sz="2800" b="0" i="1" smtClean="0">
                        <a:solidFill>
                          <a:srgbClr val="000000"/>
                        </a:solidFill>
                        <a:latin typeface="Cambria Math" panose="02040503050406030204" pitchFamily="18" charset="0"/>
                        <a:cs typeface="Times New Roman" pitchFamily="18" charset="0"/>
                      </a:rPr>
                      <m:t>0.0008=10.29 </m:t>
                    </m:r>
                    <m:r>
                      <m:rPr>
                        <m:sty m:val="p"/>
                      </m:rPr>
                      <a:rPr lang="en-US" altLang="zh-CN" sz="2800" b="0" i="1" smtClean="0">
                        <a:solidFill>
                          <a:srgbClr val="000000"/>
                        </a:solidFill>
                        <a:latin typeface="Cambria Math" panose="02040503050406030204" pitchFamily="18" charset="0"/>
                        <a:cs typeface="Times New Roman" pitchFamily="18" charset="0"/>
                      </a:rPr>
                      <m:t>bit</m:t>
                    </m:r>
                  </m:oMath>
                </a14:m>
                <a:r>
                  <a:rPr lang="zh-CN" altLang="en-US" sz="2800" dirty="0">
                    <a:solidFill>
                      <a:srgbClr val="000000"/>
                    </a:solidFill>
                    <a:latin typeface="Times New Roman" pitchFamily="18" charset="0"/>
                    <a:cs typeface="Times New Roman" pitchFamily="18" charset="0"/>
                  </a:rPr>
                  <a:t>。</a:t>
                </a:r>
                <a:endParaRPr lang="en-US" altLang="zh-CN" sz="2800" dirty="0">
                  <a:solidFill>
                    <a:srgbClr val="000000"/>
                  </a:solidFill>
                  <a:latin typeface="Times New Roman" pitchFamily="18" charset="0"/>
                  <a:cs typeface="Times New Roman" pitchFamily="18" charset="0"/>
                </a:endParaRPr>
              </a:p>
            </p:txBody>
          </p:sp>
        </mc:Choice>
        <mc:Fallback xmlns="">
          <p:sp>
            <p:nvSpPr>
              <p:cNvPr id="4" name="Rectangle 2">
                <a:hlinkClick r:id="rId4" action="ppaction://hlinksldjump"/>
                <a:extLst>
                  <a:ext uri="{FF2B5EF4-FFF2-40B4-BE49-F238E27FC236}">
                    <a16:creationId xmlns:a16="http://schemas.microsoft.com/office/drawing/2014/main" id="{1D84711E-861F-EEFA-EA4D-FEF3902396F9}"/>
                  </a:ext>
                </a:extLst>
              </p:cNvPr>
              <p:cNvSpPr>
                <a:spLocks noRot="1" noChangeAspect="1" noMove="1" noResize="1" noEditPoints="1" noAdjustHandles="1" noChangeArrowheads="1" noChangeShapeType="1" noTextEdit="1"/>
              </p:cNvSpPr>
              <p:nvPr/>
            </p:nvSpPr>
            <p:spPr bwMode="auto">
              <a:xfrm>
                <a:off x="304800" y="990600"/>
                <a:ext cx="8208962" cy="3323987"/>
              </a:xfrm>
              <a:prstGeom prst="rect">
                <a:avLst/>
              </a:prstGeom>
              <a:blipFill>
                <a:blip r:embed="rId5"/>
                <a:stretch>
                  <a:fillRect l="-1485" b="-1101"/>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916CFC0-756C-EEA4-56E9-DCFCD9DF233B}"/>
              </a:ext>
            </a:extLst>
          </p:cNvPr>
          <p:cNvSpPr>
            <a:spLocks noGrp="1" noChangeArrowheads="1"/>
          </p:cNvSpPr>
          <p:nvPr>
            <p:ph type="body" idx="1"/>
          </p:nvPr>
        </p:nvSpPr>
        <p:spPr>
          <a:xfrm>
            <a:off x="228600" y="228600"/>
            <a:ext cx="3962400" cy="609600"/>
          </a:xfrm>
        </p:spPr>
        <p:txBody>
          <a:bodyPr/>
          <a:lstStyle/>
          <a:p>
            <a:pPr eaLnBrk="1" hangingPunct="1">
              <a:buFontTx/>
              <a:buNone/>
            </a:pPr>
            <a:r>
              <a:rPr lang="en-US" altLang="zh-CN"/>
              <a:t>2 </a:t>
            </a:r>
            <a:r>
              <a:rPr lang="zh-CN" altLang="en-US"/>
              <a:t>信息的度量（续）</a:t>
            </a:r>
            <a:endParaRPr lang="en-US" altLang="zh-CN"/>
          </a:p>
        </p:txBody>
      </p:sp>
      <p:sp>
        <p:nvSpPr>
          <p:cNvPr id="3" name="文本框 2">
            <a:extLst>
              <a:ext uri="{FF2B5EF4-FFF2-40B4-BE49-F238E27FC236}">
                <a16:creationId xmlns:a16="http://schemas.microsoft.com/office/drawing/2014/main" id="{97CC29C8-73A0-E9FB-E4DB-4EA974FDA541}"/>
              </a:ext>
            </a:extLst>
          </p:cNvPr>
          <p:cNvSpPr txBox="1"/>
          <p:nvPr/>
        </p:nvSpPr>
        <p:spPr>
          <a:xfrm>
            <a:off x="381000" y="4903788"/>
            <a:ext cx="8391525" cy="954087"/>
          </a:xfrm>
          <a:prstGeom prst="rect">
            <a:avLst/>
          </a:prstGeom>
          <a:noFill/>
        </p:spPr>
        <p:txBody>
          <a:bodyPr>
            <a:spAutoFit/>
          </a:bodyPr>
          <a:lstStyle/>
          <a:p>
            <a:pPr eaLnBrk="1" hangingPunct="1">
              <a:defRPr/>
            </a:pPr>
            <a:r>
              <a:rPr kumimoji="1" lang="zh-CN" altLang="en-US" sz="2800" b="1" dirty="0">
                <a:solidFill>
                  <a:srgbClr val="FF0000"/>
                </a:solidFill>
                <a:latin typeface="Times New Roman" pitchFamily="18" charset="0"/>
                <a:cs typeface="Tahoma"/>
              </a:rPr>
              <a:t>注意：</a:t>
            </a:r>
            <a:endParaRPr kumimoji="1" lang="en-US" altLang="zh-CN" sz="2800" b="1" dirty="0">
              <a:solidFill>
                <a:srgbClr val="FF0000"/>
              </a:solidFill>
              <a:latin typeface="Times New Roman" pitchFamily="18" charset="0"/>
              <a:cs typeface="Tahoma"/>
            </a:endParaRPr>
          </a:p>
          <a:p>
            <a:pPr marL="457200" indent="-457200" eaLnBrk="1" hangingPunct="1">
              <a:buFont typeface="Wingdings" panose="05000000000000000000" pitchFamily="2" charset="2"/>
              <a:buChar char="Ø"/>
              <a:defRPr/>
            </a:pPr>
            <a:r>
              <a:rPr kumimoji="1" lang="zh-CN" altLang="en-US" sz="2800" b="1" dirty="0">
                <a:solidFill>
                  <a:srgbClr val="FF0000"/>
                </a:solidFill>
                <a:latin typeface="Times New Roman" pitchFamily="18" charset="0"/>
                <a:cs typeface="Tahoma"/>
              </a:rPr>
              <a:t>平均自信息又被称为信息熵、信源熵，简称熵。</a:t>
            </a:r>
            <a:endParaRPr kumimoji="1" lang="en-US" altLang="zh-CN" sz="2800" b="1" dirty="0">
              <a:solidFill>
                <a:srgbClr val="FF0000"/>
              </a:solidFill>
              <a:latin typeface="Times New Roman" pitchFamily="18" charset="0"/>
              <a:cs typeface="Tahoma"/>
            </a:endParaRPr>
          </a:p>
        </p:txBody>
      </p:sp>
      <mc:AlternateContent xmlns:mc="http://schemas.openxmlformats.org/markup-compatibility/2006" xmlns:a14="http://schemas.microsoft.com/office/drawing/2010/main">
        <mc:Choice Requires="a14">
          <p:sp>
            <p:nvSpPr>
              <p:cNvPr id="4" name="Rectangle 2">
                <a:hlinkClick r:id="rId3" action="ppaction://hlinksldjump"/>
                <a:extLst>
                  <a:ext uri="{FF2B5EF4-FFF2-40B4-BE49-F238E27FC236}">
                    <a16:creationId xmlns:a16="http://schemas.microsoft.com/office/drawing/2014/main" id="{97E17471-70F3-5308-553F-374BBD1E27E4}"/>
                  </a:ext>
                </a:extLst>
              </p:cNvPr>
              <p:cNvSpPr>
                <a:spLocks noChangeArrowheads="1"/>
              </p:cNvSpPr>
              <p:nvPr/>
            </p:nvSpPr>
            <p:spPr bwMode="auto">
              <a:xfrm>
                <a:off x="304800" y="914400"/>
                <a:ext cx="8208962" cy="3792770"/>
              </a:xfrm>
              <a:prstGeom prst="rect">
                <a:avLst/>
              </a:prstGeom>
              <a:noFill/>
              <a:ln w="9525">
                <a:noFill/>
                <a:miter lim="800000"/>
                <a:headEnd/>
                <a:tailEnd/>
              </a:ln>
              <a:effectLst/>
            </p:spPr>
            <p:txBody>
              <a:bodyPr>
                <a:spAutoFit/>
              </a:bodyPr>
              <a:lstStyle/>
              <a:p>
                <a:pPr eaLnBrk="1" hangingPunct="1">
                  <a:lnSpc>
                    <a:spcPct val="150000"/>
                  </a:lnSpc>
                  <a:defRPr/>
                </a:pPr>
                <a:r>
                  <a:rPr lang="zh-CN" altLang="en-US" sz="2800" b="1" dirty="0">
                    <a:latin typeface="宋体" pitchFamily="2" charset="-122"/>
                    <a:cs typeface="Tahoma"/>
                  </a:rPr>
                  <a:t>定义</a:t>
                </a:r>
                <a:r>
                  <a:rPr lang="en-US" altLang="zh-CN" sz="2800" b="1" dirty="0">
                    <a:latin typeface="Times New Roman" pitchFamily="18" charset="0"/>
                    <a:cs typeface="Times New Roman" pitchFamily="18" charset="0"/>
                  </a:rPr>
                  <a:t>2 </a:t>
                </a:r>
                <a:r>
                  <a:rPr lang="zh-CN" altLang="en-US" sz="2800" dirty="0">
                    <a:solidFill>
                      <a:srgbClr val="000000"/>
                    </a:solidFill>
                    <a:latin typeface="Times New Roman" pitchFamily="18" charset="0"/>
                    <a:cs typeface="Times New Roman" pitchFamily="18" charset="0"/>
                  </a:rPr>
                  <a:t>随机变量</a:t>
                </a:r>
                <a14:m>
                  <m:oMath xmlns:m="http://schemas.openxmlformats.org/officeDocument/2006/math">
                    <m:r>
                      <a:rPr lang="en-US" altLang="zh-CN" sz="2800" b="0" smtClean="0">
                        <a:solidFill>
                          <a:srgbClr val="000000"/>
                        </a:solidFill>
                        <a:latin typeface="Cambria Math" panose="02040503050406030204" pitchFamily="18" charset="0"/>
                      </a:rPr>
                      <m:t> </m:t>
                    </m:r>
                    <m:r>
                      <a:rPr lang="en-US" altLang="zh-CN" sz="2800" b="0" i="1">
                        <a:solidFill>
                          <a:srgbClr val="000000"/>
                        </a:solidFill>
                        <a:latin typeface="Cambria Math" panose="02040503050406030204" pitchFamily="18" charset="0"/>
                      </a:rPr>
                      <m:t>𝑋</m:t>
                    </m:r>
                    <m:r>
                      <a:rPr lang="en-US" altLang="zh-CN" sz="2800" b="0" i="1" smtClean="0">
                        <a:solidFill>
                          <a:srgbClr val="000000"/>
                        </a:solidFill>
                        <a:latin typeface="Cambria Math" panose="02040503050406030204" pitchFamily="18" charset="0"/>
                      </a:rPr>
                      <m:t> </m:t>
                    </m:r>
                  </m:oMath>
                </a14:m>
                <a:r>
                  <a:rPr lang="zh-CN" altLang="en-US" sz="2800" dirty="0">
                    <a:solidFill>
                      <a:srgbClr val="000000"/>
                    </a:solidFill>
                    <a:latin typeface="宋体" pitchFamily="2" charset="-122"/>
                    <a:cs typeface="Tahoma"/>
                  </a:rPr>
                  <a:t>的每个可能取值的自信息</a:t>
                </a:r>
                <a14:m>
                  <m:oMath xmlns:m="http://schemas.openxmlformats.org/officeDocument/2006/math">
                    <m:r>
                      <a:rPr lang="en-US" altLang="zh-CN" sz="2800" b="0" i="1" smtClean="0">
                        <a:solidFill>
                          <a:srgbClr val="000000"/>
                        </a:solidFill>
                        <a:latin typeface="Cambria Math" panose="02040503050406030204" pitchFamily="18" charset="0"/>
                      </a:rPr>
                      <m:t> </m:t>
                    </m:r>
                    <m:r>
                      <a:rPr lang="en-US" altLang="zh-CN" sz="2800" b="0" i="1" smtClean="0">
                        <a:solidFill>
                          <a:srgbClr val="000000"/>
                        </a:solidFill>
                        <a:latin typeface="Cambria Math" panose="02040503050406030204" pitchFamily="18" charset="0"/>
                      </a:rPr>
                      <m:t>𝐼</m:t>
                    </m:r>
                    <m:d>
                      <m:dPr>
                        <m:ctrlPr>
                          <a:rPr lang="en-US" altLang="zh-CN" sz="2800" i="1" smtClean="0">
                            <a:solidFill>
                              <a:srgbClr val="000000"/>
                            </a:solidFill>
                            <a:latin typeface="Cambria Math" panose="02040503050406030204" pitchFamily="18" charset="0"/>
                          </a:rPr>
                        </m:ctrlPr>
                      </m:dPr>
                      <m:e>
                        <m:sSub>
                          <m:sSubPr>
                            <m:ctrlPr>
                              <a:rPr lang="en-US" altLang="zh-CN"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𝑎</m:t>
                            </m:r>
                          </m:e>
                          <m:sub>
                            <m:r>
                              <a:rPr lang="en-US" altLang="zh-CN" sz="2800" b="0" i="1" smtClean="0">
                                <a:solidFill>
                                  <a:srgbClr val="000000"/>
                                </a:solidFill>
                                <a:latin typeface="Cambria Math" panose="02040503050406030204" pitchFamily="18" charset="0"/>
                              </a:rPr>
                              <m:t>𝑖</m:t>
                            </m:r>
                          </m:sub>
                        </m:sSub>
                      </m:e>
                    </m:d>
                    <m:r>
                      <a:rPr lang="en-US" altLang="zh-CN" sz="2800" b="0" i="1" smtClean="0">
                        <a:solidFill>
                          <a:srgbClr val="000000"/>
                        </a:solidFill>
                        <a:latin typeface="Cambria Math" panose="02040503050406030204" pitchFamily="18" charset="0"/>
                      </a:rPr>
                      <m:t> </m:t>
                    </m:r>
                  </m:oMath>
                </a14:m>
                <a:r>
                  <a:rPr lang="zh-CN" altLang="en-US" sz="2800" dirty="0">
                    <a:solidFill>
                      <a:srgbClr val="000000"/>
                    </a:solidFill>
                    <a:latin typeface="宋体" pitchFamily="2" charset="-122"/>
                    <a:cs typeface="Tahoma"/>
                  </a:rPr>
                  <a:t>的统计平均值定义为随机变量</a:t>
                </a:r>
                <a14:m>
                  <m:oMath xmlns:m="http://schemas.openxmlformats.org/officeDocument/2006/math">
                    <m:r>
                      <a:rPr lang="en-US" altLang="zh-CN" sz="2800" b="0" smtClean="0">
                        <a:solidFill>
                          <a:srgbClr val="000000"/>
                        </a:solidFill>
                        <a:latin typeface="Cambria Math" panose="02040503050406030204" pitchFamily="18" charset="0"/>
                      </a:rPr>
                      <m:t> </m:t>
                    </m:r>
                    <m:r>
                      <a:rPr lang="en-US" altLang="zh-CN" sz="2800" b="0" i="1">
                        <a:solidFill>
                          <a:srgbClr val="000000"/>
                        </a:solidFill>
                        <a:latin typeface="Cambria Math" panose="02040503050406030204" pitchFamily="18" charset="0"/>
                      </a:rPr>
                      <m:t>𝑋</m:t>
                    </m:r>
                    <m:r>
                      <a:rPr lang="en-US" altLang="zh-CN" sz="2800" b="0" i="1">
                        <a:solidFill>
                          <a:srgbClr val="000000"/>
                        </a:solidFill>
                        <a:latin typeface="Cambria Math" panose="02040503050406030204" pitchFamily="18" charset="0"/>
                      </a:rPr>
                      <m:t> </m:t>
                    </m:r>
                  </m:oMath>
                </a14:m>
                <a:r>
                  <a:rPr lang="zh-CN" altLang="en-US" sz="2800" dirty="0">
                    <a:solidFill>
                      <a:srgbClr val="000000"/>
                    </a:solidFill>
                    <a:latin typeface="宋体" pitchFamily="2" charset="-122"/>
                    <a:cs typeface="Tahoma"/>
                  </a:rPr>
                  <a:t>的</a:t>
                </a:r>
                <a:r>
                  <a:rPr lang="zh-CN" altLang="en-US" sz="2800" dirty="0">
                    <a:solidFill>
                      <a:srgbClr val="C00000"/>
                    </a:solidFill>
                    <a:latin typeface="宋体" pitchFamily="2" charset="-122"/>
                    <a:cs typeface="Tahoma"/>
                  </a:rPr>
                  <a:t>平均自信息</a:t>
                </a:r>
                <a:r>
                  <a:rPr lang="zh-CN" altLang="en-US" sz="2800" dirty="0">
                    <a:solidFill>
                      <a:srgbClr val="000000"/>
                    </a:solidFill>
                    <a:latin typeface="宋体" pitchFamily="2" charset="-122"/>
                    <a:cs typeface="Tahoma"/>
                  </a:rPr>
                  <a:t>，</a:t>
                </a:r>
                <a:endParaRPr lang="en-US" altLang="zh-CN" sz="2800" dirty="0">
                  <a:solidFill>
                    <a:srgbClr val="000000"/>
                  </a:solidFill>
                  <a:latin typeface="宋体" pitchFamily="2" charset="-122"/>
                  <a:cs typeface="Tahoma"/>
                </a:endParaRPr>
              </a:p>
              <a:p>
                <a:pPr eaLnBrk="1" hangingPunct="1">
                  <a:lnSpc>
                    <a:spcPct val="150000"/>
                  </a:lnSpc>
                  <a:defRPr/>
                </a:pPr>
                <a14:m>
                  <m:oMathPara xmlns:m="http://schemas.openxmlformats.org/officeDocument/2006/math">
                    <m:oMathParaPr>
                      <m:jc m:val="centerGroup"/>
                    </m:oMathParaPr>
                    <m:oMath xmlns:m="http://schemas.openxmlformats.org/officeDocument/2006/math">
                      <m:r>
                        <a:rPr kumimoji="1" lang="en-US" altLang="zh-CN" sz="2800" b="0" i="1" smtClean="0">
                          <a:solidFill>
                            <a:srgbClr val="000000"/>
                          </a:solidFill>
                          <a:latin typeface="Cambria Math" panose="02040503050406030204" pitchFamily="18" charset="0"/>
                        </a:rPr>
                        <m:t>𝐻</m:t>
                      </m:r>
                      <m:d>
                        <m:dPr>
                          <m:ctrlPr>
                            <a:rPr kumimoji="1" lang="en-US" altLang="zh-CN" sz="2800" i="1" smtClean="0">
                              <a:solidFill>
                                <a:srgbClr val="000000"/>
                              </a:solidFill>
                              <a:latin typeface="Cambria Math" panose="02040503050406030204" pitchFamily="18" charset="0"/>
                            </a:rPr>
                          </m:ctrlPr>
                        </m:dPr>
                        <m:e>
                          <m:r>
                            <a:rPr kumimoji="1" lang="en-US" altLang="zh-CN" sz="2800" b="0" i="1" smtClean="0">
                              <a:solidFill>
                                <a:srgbClr val="000000"/>
                              </a:solidFill>
                              <a:latin typeface="Cambria Math" panose="02040503050406030204" pitchFamily="18" charset="0"/>
                            </a:rPr>
                            <m:t>𝑋</m:t>
                          </m:r>
                        </m:e>
                      </m:d>
                      <m:r>
                        <a:rPr kumimoji="1" lang="en-US" altLang="zh-CN" sz="2800" b="0" i="1" smtClean="0">
                          <a:solidFill>
                            <a:srgbClr val="000000"/>
                          </a:solidFill>
                          <a:latin typeface="Cambria Math" panose="02040503050406030204" pitchFamily="18" charset="0"/>
                        </a:rPr>
                        <m:t>=</m:t>
                      </m:r>
                      <m:r>
                        <a:rPr kumimoji="1" lang="en-US" altLang="zh-CN" sz="2800" b="0" i="1" smtClean="0">
                          <a:solidFill>
                            <a:srgbClr val="000000"/>
                          </a:solidFill>
                          <a:latin typeface="Cambria Math" panose="02040503050406030204" pitchFamily="18" charset="0"/>
                        </a:rPr>
                        <m:t>𝐸</m:t>
                      </m:r>
                      <m:d>
                        <m:dPr>
                          <m:ctrlPr>
                            <a:rPr kumimoji="1" lang="en-US" altLang="zh-CN" sz="2800" i="1" smtClean="0">
                              <a:solidFill>
                                <a:srgbClr val="000000"/>
                              </a:solidFill>
                              <a:latin typeface="Cambria Math" panose="02040503050406030204" pitchFamily="18" charset="0"/>
                            </a:rPr>
                          </m:ctrlPr>
                        </m:dPr>
                        <m:e>
                          <m:r>
                            <a:rPr kumimoji="1" lang="en-US" altLang="zh-CN" sz="2800" b="0" i="1" smtClean="0">
                              <a:solidFill>
                                <a:srgbClr val="000000"/>
                              </a:solidFill>
                              <a:latin typeface="Cambria Math" panose="02040503050406030204" pitchFamily="18" charset="0"/>
                            </a:rPr>
                            <m:t>𝐼</m:t>
                          </m:r>
                          <m:d>
                            <m:dPr>
                              <m:ctrlPr>
                                <a:rPr kumimoji="1" lang="en-US" altLang="zh-CN" sz="2800" i="1" smtClean="0">
                                  <a:solidFill>
                                    <a:srgbClr val="000000"/>
                                  </a:solidFill>
                                  <a:latin typeface="Cambria Math" panose="02040503050406030204" pitchFamily="18" charset="0"/>
                                </a:rPr>
                              </m:ctrlPr>
                            </m:dPr>
                            <m:e>
                              <m:r>
                                <a:rPr kumimoji="1" lang="en-US" altLang="zh-CN" sz="2800" b="0" i="1" smtClean="0">
                                  <a:solidFill>
                                    <a:srgbClr val="000000"/>
                                  </a:solidFill>
                                  <a:latin typeface="Cambria Math" panose="02040503050406030204" pitchFamily="18" charset="0"/>
                                </a:rPr>
                                <m:t>𝑋</m:t>
                              </m:r>
                            </m:e>
                          </m:d>
                        </m:e>
                      </m:d>
                      <m:r>
                        <a:rPr kumimoji="1" lang="en-US" altLang="zh-CN" sz="2800" b="0" i="1" smtClean="0">
                          <a:solidFill>
                            <a:srgbClr val="000000"/>
                          </a:solidFill>
                          <a:latin typeface="Cambria Math" panose="02040503050406030204" pitchFamily="18" charset="0"/>
                        </a:rPr>
                        <m:t>=−</m:t>
                      </m:r>
                      <m:nary>
                        <m:naryPr>
                          <m:chr m:val="∑"/>
                          <m:ctrlPr>
                            <a:rPr kumimoji="1" lang="en-US" altLang="zh-CN" sz="2800" i="1" smtClean="0">
                              <a:solidFill>
                                <a:srgbClr val="000000"/>
                              </a:solidFill>
                              <a:latin typeface="Cambria Math" panose="02040503050406030204" pitchFamily="18" charset="0"/>
                            </a:rPr>
                          </m:ctrlPr>
                        </m:naryPr>
                        <m:sub>
                          <m:r>
                            <m:rPr>
                              <m:brk m:alnAt="23"/>
                            </m:rPr>
                            <a:rPr kumimoji="1" lang="en-US" altLang="zh-CN" sz="2800" b="0" i="1" smtClean="0">
                              <a:solidFill>
                                <a:srgbClr val="000000"/>
                              </a:solidFill>
                              <a:latin typeface="Cambria Math" panose="02040503050406030204" pitchFamily="18" charset="0"/>
                            </a:rPr>
                            <m:t>𝑖</m:t>
                          </m:r>
                          <m:r>
                            <a:rPr kumimoji="1" lang="en-US" altLang="zh-CN" sz="2800" b="0" i="1" smtClean="0">
                              <a:solidFill>
                                <a:srgbClr val="000000"/>
                              </a:solidFill>
                              <a:latin typeface="Cambria Math" panose="02040503050406030204" pitchFamily="18" charset="0"/>
                            </a:rPr>
                            <m:t>=1</m:t>
                          </m:r>
                        </m:sub>
                        <m:sup>
                          <m:r>
                            <a:rPr kumimoji="1" lang="en-US" altLang="zh-CN" sz="2800" b="0" i="1" smtClean="0">
                              <a:solidFill>
                                <a:srgbClr val="000000"/>
                              </a:solidFill>
                              <a:latin typeface="Cambria Math" panose="02040503050406030204" pitchFamily="18" charset="0"/>
                            </a:rPr>
                            <m:t>𝑞</m:t>
                          </m:r>
                        </m:sup>
                        <m:e>
                          <m:r>
                            <a:rPr kumimoji="1" lang="en-US" altLang="zh-CN" sz="2800" b="0" i="1" smtClean="0">
                              <a:solidFill>
                                <a:srgbClr val="000000"/>
                              </a:solidFill>
                              <a:latin typeface="Cambria Math" panose="02040503050406030204" pitchFamily="18" charset="0"/>
                            </a:rPr>
                            <m:t>𝑝</m:t>
                          </m:r>
                          <m:d>
                            <m:dPr>
                              <m:ctrlPr>
                                <a:rPr kumimoji="1" lang="en-US" altLang="zh-CN" sz="2800" i="1" smtClean="0">
                                  <a:solidFill>
                                    <a:srgbClr val="000000"/>
                                  </a:solidFill>
                                  <a:latin typeface="Cambria Math" panose="02040503050406030204" pitchFamily="18" charset="0"/>
                                </a:rPr>
                              </m:ctrlPr>
                            </m:dPr>
                            <m:e>
                              <m:sSub>
                                <m:sSubPr>
                                  <m:ctrlPr>
                                    <a:rPr kumimoji="1" lang="en-US" altLang="zh-CN" sz="2800" i="1" smtClean="0">
                                      <a:solidFill>
                                        <a:srgbClr val="000000"/>
                                      </a:solidFill>
                                      <a:latin typeface="Cambria Math" panose="02040503050406030204" pitchFamily="18" charset="0"/>
                                    </a:rPr>
                                  </m:ctrlPr>
                                </m:sSubPr>
                                <m:e>
                                  <m:r>
                                    <a:rPr kumimoji="1" lang="en-US" altLang="zh-CN" sz="2800" b="0" i="1" smtClean="0">
                                      <a:solidFill>
                                        <a:srgbClr val="000000"/>
                                      </a:solidFill>
                                      <a:latin typeface="Cambria Math" panose="02040503050406030204" pitchFamily="18" charset="0"/>
                                    </a:rPr>
                                    <m:t>𝑎</m:t>
                                  </m:r>
                                </m:e>
                                <m:sub>
                                  <m:r>
                                    <a:rPr kumimoji="1" lang="en-US" altLang="zh-CN" sz="2800" b="0" i="1" smtClean="0">
                                      <a:solidFill>
                                        <a:srgbClr val="000000"/>
                                      </a:solidFill>
                                      <a:latin typeface="Cambria Math" panose="02040503050406030204" pitchFamily="18" charset="0"/>
                                    </a:rPr>
                                    <m:t>𝑖</m:t>
                                  </m:r>
                                </m:sub>
                              </m:sSub>
                            </m:e>
                          </m:d>
                        </m:e>
                      </m:nary>
                      <m:r>
                        <m:rPr>
                          <m:sty m:val="p"/>
                        </m:rPr>
                        <a:rPr lang="en-US" altLang="zh-CN" sz="2800" b="0" i="1">
                          <a:solidFill>
                            <a:srgbClr val="000000"/>
                          </a:solidFill>
                          <a:latin typeface="Cambria Math" panose="02040503050406030204" pitchFamily="18" charset="0"/>
                          <a:cs typeface="Times New Roman" pitchFamily="18" charset="0"/>
                        </a:rPr>
                        <m:t>log</m:t>
                      </m:r>
                      <m:r>
                        <a:rPr lang="en-US" altLang="zh-CN" sz="2800" b="0">
                          <a:solidFill>
                            <a:srgbClr val="000000"/>
                          </a:solidFill>
                          <a:latin typeface="Cambria Math" panose="02040503050406030204" pitchFamily="18" charset="0"/>
                          <a:cs typeface="Times New Roman" pitchFamily="18" charset="0"/>
                        </a:rPr>
                        <m:t> </m:t>
                      </m:r>
                      <m:r>
                        <a:rPr lang="en-US" altLang="zh-CN" sz="2800" b="0" i="1">
                          <a:solidFill>
                            <a:srgbClr val="000000"/>
                          </a:solidFill>
                          <a:latin typeface="Cambria Math" panose="02040503050406030204" pitchFamily="18" charset="0"/>
                          <a:cs typeface="Times New Roman" pitchFamily="18" charset="0"/>
                        </a:rPr>
                        <m:t>𝑝</m:t>
                      </m:r>
                      <m:d>
                        <m:dPr>
                          <m:ctrlPr>
                            <a:rPr lang="en-US" altLang="zh-CN" sz="2800" i="1">
                              <a:solidFill>
                                <a:srgbClr val="000000"/>
                              </a:solidFill>
                              <a:latin typeface="Cambria Math" panose="02040503050406030204" pitchFamily="18" charset="0"/>
                              <a:cs typeface="Times New Roman" pitchFamily="18" charset="0"/>
                            </a:rPr>
                          </m:ctrlPr>
                        </m:dPr>
                        <m:e>
                          <m:sSub>
                            <m:sSubPr>
                              <m:ctrlPr>
                                <a:rPr lang="en-US" altLang="zh-CN" sz="2800" i="1">
                                  <a:solidFill>
                                    <a:srgbClr val="000000"/>
                                  </a:solidFill>
                                  <a:latin typeface="Cambria Math" panose="02040503050406030204" pitchFamily="18" charset="0"/>
                                  <a:cs typeface="Times New Roman" pitchFamily="18" charset="0"/>
                                </a:rPr>
                              </m:ctrlPr>
                            </m:sSubPr>
                            <m:e>
                              <m:r>
                                <a:rPr lang="en-US" altLang="zh-CN" sz="2800" b="0" i="1">
                                  <a:solidFill>
                                    <a:srgbClr val="000000"/>
                                  </a:solidFill>
                                  <a:latin typeface="Cambria Math" panose="02040503050406030204" pitchFamily="18" charset="0"/>
                                  <a:cs typeface="Times New Roman" pitchFamily="18" charset="0"/>
                                </a:rPr>
                                <m:t>𝑎</m:t>
                              </m:r>
                            </m:e>
                            <m:sub>
                              <m:r>
                                <a:rPr lang="en-US" altLang="zh-CN" sz="2800" b="0" i="1">
                                  <a:solidFill>
                                    <a:srgbClr val="000000"/>
                                  </a:solidFill>
                                  <a:latin typeface="Cambria Math" panose="02040503050406030204" pitchFamily="18" charset="0"/>
                                  <a:cs typeface="Times New Roman" pitchFamily="18" charset="0"/>
                                </a:rPr>
                                <m:t>𝑖</m:t>
                              </m:r>
                            </m:sub>
                          </m:sSub>
                        </m:e>
                      </m:d>
                      <m:r>
                        <a:rPr lang="zh-CN" altLang="en-US" sz="2800" b="0" i="1" smtClean="0">
                          <a:solidFill>
                            <a:srgbClr val="000000"/>
                          </a:solidFill>
                          <a:latin typeface="Cambria Math" panose="02040503050406030204" pitchFamily="18" charset="0"/>
                          <a:cs typeface="Times New Roman" pitchFamily="18" charset="0"/>
                        </a:rPr>
                        <m:t>，</m:t>
                      </m:r>
                    </m:oMath>
                  </m:oMathPara>
                </a14:m>
                <a:endParaRPr lang="en-US" altLang="zh-CN" sz="2800" dirty="0">
                  <a:solidFill>
                    <a:srgbClr val="000000"/>
                  </a:solidFill>
                  <a:latin typeface="宋体" pitchFamily="2" charset="-122"/>
                  <a:cs typeface="Tahoma"/>
                </a:endParaRPr>
              </a:p>
              <a:p>
                <a:pPr eaLnBrk="1" hangingPunct="1">
                  <a:lnSpc>
                    <a:spcPct val="150000"/>
                  </a:lnSpc>
                  <a:defRPr/>
                </a:pPr>
                <a:r>
                  <a:rPr lang="zh-CN" altLang="en-US" sz="2800" dirty="0">
                    <a:solidFill>
                      <a:srgbClr val="000000"/>
                    </a:solidFill>
                    <a:latin typeface="宋体" pitchFamily="2" charset="-122"/>
                    <a:cs typeface="Tahoma"/>
                  </a:rPr>
                  <a:t>这里</a:t>
                </a:r>
                <a14:m>
                  <m:oMath xmlns:m="http://schemas.openxmlformats.org/officeDocument/2006/math">
                    <m:r>
                      <a:rPr kumimoji="1" lang="en-US" altLang="zh-CN" sz="2800" b="0" smtClean="0">
                        <a:solidFill>
                          <a:srgbClr val="000000"/>
                        </a:solidFill>
                        <a:latin typeface="Cambria Math" panose="02040503050406030204" pitchFamily="18" charset="0"/>
                      </a:rPr>
                      <m:t> </m:t>
                    </m:r>
                    <m:r>
                      <a:rPr kumimoji="1" lang="en-US" altLang="zh-CN" sz="2800" b="0" i="1" smtClean="0">
                        <a:solidFill>
                          <a:srgbClr val="000000"/>
                        </a:solidFill>
                        <a:latin typeface="Cambria Math" panose="02040503050406030204" pitchFamily="18" charset="0"/>
                      </a:rPr>
                      <m:t>𝑞</m:t>
                    </m:r>
                    <m:r>
                      <a:rPr kumimoji="1" lang="en-US" altLang="zh-CN" sz="2800" b="0" i="1" smtClean="0">
                        <a:solidFill>
                          <a:srgbClr val="000000"/>
                        </a:solidFill>
                        <a:latin typeface="Cambria Math" panose="02040503050406030204" pitchFamily="18" charset="0"/>
                      </a:rPr>
                      <m:t> </m:t>
                    </m:r>
                  </m:oMath>
                </a14:m>
                <a:r>
                  <a:rPr lang="zh-CN" altLang="en-US" sz="2800" dirty="0">
                    <a:solidFill>
                      <a:srgbClr val="000000"/>
                    </a:solidFill>
                    <a:latin typeface="宋体" pitchFamily="2" charset="-122"/>
                    <a:cs typeface="Tahoma"/>
                  </a:rPr>
                  <a:t>为</a:t>
                </a:r>
                <a14:m>
                  <m:oMath xmlns:m="http://schemas.openxmlformats.org/officeDocument/2006/math">
                    <m:r>
                      <a:rPr kumimoji="1" lang="en-US" altLang="zh-CN" sz="2800" b="0" smtClean="0">
                        <a:solidFill>
                          <a:srgbClr val="000000"/>
                        </a:solidFill>
                        <a:latin typeface="Cambria Math" panose="02040503050406030204" pitchFamily="18" charset="0"/>
                      </a:rPr>
                      <m:t> </m:t>
                    </m:r>
                    <m:r>
                      <a:rPr kumimoji="1" lang="en-US" altLang="zh-CN" sz="2800" b="0" i="1">
                        <a:solidFill>
                          <a:srgbClr val="000000"/>
                        </a:solidFill>
                        <a:latin typeface="Cambria Math" panose="02040503050406030204" pitchFamily="18" charset="0"/>
                      </a:rPr>
                      <m:t>𝑋</m:t>
                    </m:r>
                    <m:r>
                      <a:rPr kumimoji="1" lang="en-US" altLang="zh-CN" sz="2800" b="0" i="1" smtClean="0">
                        <a:solidFill>
                          <a:srgbClr val="000000"/>
                        </a:solidFill>
                        <a:latin typeface="Cambria Math" panose="02040503050406030204" pitchFamily="18" charset="0"/>
                      </a:rPr>
                      <m:t> </m:t>
                    </m:r>
                  </m:oMath>
                </a14:m>
                <a:r>
                  <a:rPr lang="zh-CN" altLang="en-US" sz="2800" dirty="0">
                    <a:solidFill>
                      <a:srgbClr val="000000"/>
                    </a:solidFill>
                    <a:latin typeface="宋体" pitchFamily="2" charset="-122"/>
                    <a:cs typeface="Tahoma"/>
                  </a:rPr>
                  <a:t>的所有可能取值的个数。</a:t>
                </a:r>
                <a:endParaRPr lang="en-US" altLang="zh-CN" sz="2800" dirty="0">
                  <a:solidFill>
                    <a:srgbClr val="000000"/>
                  </a:solidFill>
                  <a:latin typeface="Times New Roman" pitchFamily="18" charset="0"/>
                  <a:cs typeface="Times New Roman" pitchFamily="18" charset="0"/>
                </a:endParaRPr>
              </a:p>
            </p:txBody>
          </p:sp>
        </mc:Choice>
        <mc:Fallback xmlns="">
          <p:sp>
            <p:nvSpPr>
              <p:cNvPr id="4" name="Rectangle 2">
                <a:hlinkClick r:id="rId4" action="ppaction://hlinksldjump"/>
                <a:extLst>
                  <a:ext uri="{FF2B5EF4-FFF2-40B4-BE49-F238E27FC236}">
                    <a16:creationId xmlns:a16="http://schemas.microsoft.com/office/drawing/2014/main" id="{97E17471-70F3-5308-553F-374BBD1E27E4}"/>
                  </a:ext>
                </a:extLst>
              </p:cNvPr>
              <p:cNvSpPr>
                <a:spLocks noRot="1" noChangeAspect="1" noMove="1" noResize="1" noEditPoints="1" noAdjustHandles="1" noChangeArrowheads="1" noChangeShapeType="1" noTextEdit="1"/>
              </p:cNvSpPr>
              <p:nvPr/>
            </p:nvSpPr>
            <p:spPr bwMode="auto">
              <a:xfrm>
                <a:off x="304800" y="914400"/>
                <a:ext cx="8208962" cy="3792770"/>
              </a:xfrm>
              <a:prstGeom prst="rect">
                <a:avLst/>
              </a:prstGeom>
              <a:blipFill>
                <a:blip r:embed="rId5"/>
                <a:stretch>
                  <a:fillRect l="-1485" r="-371" b="-965"/>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B982517-F5F7-2133-D355-C346307B6C56}"/>
              </a:ext>
            </a:extLst>
          </p:cNvPr>
          <p:cNvSpPr>
            <a:spLocks noGrp="1" noChangeArrowheads="1"/>
          </p:cNvSpPr>
          <p:nvPr>
            <p:ph type="body" idx="1"/>
          </p:nvPr>
        </p:nvSpPr>
        <p:spPr>
          <a:xfrm>
            <a:off x="304800" y="152400"/>
            <a:ext cx="396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xmlns:a14="http://schemas.microsoft.com/office/drawing/2010/main">
        <mc:Choice Requires="a14">
          <p:sp>
            <p:nvSpPr>
              <p:cNvPr id="2" name="Rectangle 2">
                <a:hlinkClick r:id="rId3" action="ppaction://hlinksldjump"/>
                <a:extLst>
                  <a:ext uri="{FF2B5EF4-FFF2-40B4-BE49-F238E27FC236}">
                    <a16:creationId xmlns:a16="http://schemas.microsoft.com/office/drawing/2014/main" id="{753A26E6-8E69-BC05-1035-AA76472E5D53}"/>
                  </a:ext>
                </a:extLst>
              </p:cNvPr>
              <p:cNvSpPr>
                <a:spLocks noChangeArrowheads="1"/>
              </p:cNvSpPr>
              <p:nvPr/>
            </p:nvSpPr>
            <p:spPr bwMode="auto">
              <a:xfrm>
                <a:off x="184954" y="903917"/>
                <a:ext cx="8806646" cy="5014514"/>
              </a:xfrm>
              <a:prstGeom prst="rect">
                <a:avLst/>
              </a:prstGeom>
              <a:noFill/>
              <a:ln w="9525">
                <a:noFill/>
                <a:miter lim="800000"/>
                <a:headEnd/>
                <a:tailEnd/>
              </a:ln>
              <a:effectLst/>
            </p:spPr>
            <p:txBody>
              <a:bodyPr wrap="square">
                <a:spAutoFit/>
              </a:bodyPr>
              <a:lstStyle/>
              <a:p>
                <a:pPr eaLnBrk="1" hangingPunct="1">
                  <a:lnSpc>
                    <a:spcPct val="150000"/>
                  </a:lnSpc>
                  <a:defRPr/>
                </a:pPr>
                <a:r>
                  <a:rPr lang="zh-CN" altLang="en-US" sz="2800" b="1" dirty="0">
                    <a:latin typeface="宋体" pitchFamily="2" charset="-122"/>
                    <a:cs typeface="Tahoma"/>
                  </a:rPr>
                  <a:t>例子</a:t>
                </a:r>
                <a:r>
                  <a:rPr lang="en-US" altLang="zh-CN" sz="2800" b="1" dirty="0">
                    <a:latin typeface="Times New Roman" pitchFamily="18" charset="0"/>
                    <a:cs typeface="Times New Roman" pitchFamily="18" charset="0"/>
                  </a:rPr>
                  <a:t>2  </a:t>
                </a:r>
                <a:r>
                  <a:rPr lang="zh-CN" altLang="en-US" sz="2800" dirty="0">
                    <a:solidFill>
                      <a:srgbClr val="000000"/>
                    </a:solidFill>
                    <a:latin typeface="Times New Roman" pitchFamily="18" charset="0"/>
                    <a:cs typeface="Times New Roman" pitchFamily="18" charset="0"/>
                  </a:rPr>
                  <a:t>随机变量</a:t>
                </a:r>
                <a14:m>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 </m:t>
                    </m:r>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𝑋</m:t>
                        </m:r>
                      </m:e>
                      <m:sub>
                        <m:r>
                          <a:rPr lang="en-US" altLang="zh-CN" sz="2800" b="0" i="1" smtClean="0">
                            <a:solidFill>
                              <a:srgbClr val="000000"/>
                            </a:solidFill>
                            <a:latin typeface="Cambria Math" panose="02040503050406030204" pitchFamily="18" charset="0"/>
                            <a:cs typeface="Times New Roman" pitchFamily="18" charset="0"/>
                          </a:rPr>
                          <m:t>1</m:t>
                        </m:r>
                      </m:sub>
                    </m:sSub>
                    <m:r>
                      <a:rPr lang="zh-CN" altLang="en-US" sz="2800" b="0" i="1">
                        <a:solidFill>
                          <a:srgbClr val="000000"/>
                        </a:solidFill>
                        <a:latin typeface="Cambria Math" panose="02040503050406030204" pitchFamily="18" charset="0"/>
                        <a:cs typeface="Times New Roman" pitchFamily="18" charset="0"/>
                      </a:rPr>
                      <m:t>，</m:t>
                    </m:r>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𝑋</m:t>
                        </m:r>
                      </m:e>
                      <m:sub>
                        <m:r>
                          <a:rPr lang="en-US" altLang="zh-CN" sz="2800" b="0" i="1" smtClean="0">
                            <a:solidFill>
                              <a:srgbClr val="000000"/>
                            </a:solidFill>
                            <a:latin typeface="Cambria Math" panose="02040503050406030204" pitchFamily="18" charset="0"/>
                            <a:cs typeface="Times New Roman" pitchFamily="18" charset="0"/>
                          </a:rPr>
                          <m:t>2</m:t>
                        </m:r>
                      </m:sub>
                    </m:sSub>
                    <m:r>
                      <a:rPr lang="en-US" altLang="zh-CN" sz="2800" b="0" i="1" smtClean="0">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Times New Roman" pitchFamily="18" charset="0"/>
                    <a:cs typeface="Times New Roman" pitchFamily="18" charset="0"/>
                  </a:rPr>
                  <a:t>的概率空间为</a:t>
                </a:r>
                <a:endParaRPr lang="en-US" altLang="zh-CN" sz="2800" dirty="0">
                  <a:solidFill>
                    <a:srgbClr val="000000"/>
                  </a:solidFill>
                  <a:latin typeface="Times New Roman" pitchFamily="18" charset="0"/>
                  <a:cs typeface="Times New Roman" pitchFamily="18" charset="0"/>
                </a:endParaRPr>
              </a:p>
              <a:p>
                <a:pPr eaLnBrk="1" hangingPunct="1">
                  <a:lnSpc>
                    <a:spcPct val="150000"/>
                  </a:lnSpc>
                  <a:defRPr/>
                </a:pPr>
                <a14:m>
                  <m:oMath xmlns:m="http://schemas.openxmlformats.org/officeDocument/2006/math">
                    <m:d>
                      <m:dPr>
                        <m:begChr m:val="["/>
                        <m:endChr m:val="]"/>
                        <m:ctrlPr>
                          <a:rPr kumimoji="1" lang="en-US" altLang="zh-CN" sz="2800" i="1">
                            <a:solidFill>
                              <a:srgbClr val="000000"/>
                            </a:solidFill>
                            <a:latin typeface="Cambria Math" panose="02040503050406030204" pitchFamily="18" charset="0"/>
                          </a:rPr>
                        </m:ctrlPr>
                      </m:dPr>
                      <m:e>
                        <m:eqArr>
                          <m:eqArrPr>
                            <m:ctrlPr>
                              <a:rPr kumimoji="1" lang="en-US" altLang="zh-CN" sz="2800" i="1">
                                <a:solidFill>
                                  <a:srgbClr val="000000"/>
                                </a:solidFill>
                                <a:latin typeface="Cambria Math" panose="02040503050406030204" pitchFamily="18" charset="0"/>
                              </a:rPr>
                            </m:ctrlPr>
                          </m:eqArrPr>
                          <m:e>
                            <m:sSub>
                              <m:sSubPr>
                                <m:ctrlPr>
                                  <a:rPr kumimoji="1" lang="en-US" altLang="zh-CN" sz="2800" i="1" smtClean="0">
                                    <a:solidFill>
                                      <a:srgbClr val="000000"/>
                                    </a:solidFill>
                                    <a:latin typeface="Cambria Math" panose="02040503050406030204" pitchFamily="18" charset="0"/>
                                  </a:rPr>
                                </m:ctrlPr>
                              </m:sSubPr>
                              <m:e>
                                <m:r>
                                  <a:rPr kumimoji="1" lang="en-US" altLang="zh-CN" sz="2800" b="0" i="1">
                                    <a:solidFill>
                                      <a:srgbClr val="000000"/>
                                    </a:solidFill>
                                    <a:latin typeface="Cambria Math" panose="02040503050406030204" pitchFamily="18" charset="0"/>
                                  </a:rPr>
                                  <m:t>𝑋</m:t>
                                </m:r>
                              </m:e>
                              <m:sub>
                                <m:r>
                                  <a:rPr kumimoji="1" lang="en-US" altLang="zh-CN" sz="2800" b="0" i="1" smtClean="0">
                                    <a:solidFill>
                                      <a:srgbClr val="000000"/>
                                    </a:solidFill>
                                    <a:latin typeface="Cambria Math" panose="02040503050406030204" pitchFamily="18" charset="0"/>
                                  </a:rPr>
                                  <m:t>1</m:t>
                                </m:r>
                              </m:sub>
                            </m:sSub>
                          </m:e>
                          <m:e>
                            <m:r>
                              <a:rPr kumimoji="1" lang="en-US" altLang="zh-CN" sz="2800" b="0" i="1">
                                <a:solidFill>
                                  <a:srgbClr val="000000"/>
                                </a:solidFill>
                                <a:latin typeface="Cambria Math" panose="02040503050406030204" pitchFamily="18" charset="0"/>
                              </a:rPr>
                              <m:t>𝑝</m:t>
                            </m:r>
                            <m:r>
                              <a:rPr kumimoji="1" lang="en-US" altLang="zh-CN" sz="2800" b="0" i="1">
                                <a:solidFill>
                                  <a:srgbClr val="000000"/>
                                </a:solidFill>
                                <a:latin typeface="Cambria Math" panose="02040503050406030204" pitchFamily="18" charset="0"/>
                              </a:rPr>
                              <m:t>(</m:t>
                            </m:r>
                            <m:r>
                              <a:rPr kumimoji="1" lang="en-US" altLang="zh-CN" sz="2800" b="0" i="1">
                                <a:solidFill>
                                  <a:srgbClr val="000000"/>
                                </a:solidFill>
                                <a:latin typeface="Cambria Math" panose="02040503050406030204" pitchFamily="18" charset="0"/>
                              </a:rPr>
                              <m:t>𝑥</m:t>
                            </m:r>
                            <m:r>
                              <a:rPr kumimoji="1" lang="en-US" altLang="zh-CN" sz="2800" b="0" i="1">
                                <a:solidFill>
                                  <a:srgbClr val="000000"/>
                                </a:solidFill>
                                <a:latin typeface="Cambria Math" panose="02040503050406030204" pitchFamily="18" charset="0"/>
                              </a:rPr>
                              <m:t>)</m:t>
                            </m:r>
                          </m:e>
                        </m:eqArr>
                      </m:e>
                    </m:d>
                    <m:r>
                      <a:rPr kumimoji="1" lang="en-US" altLang="zh-CN" sz="2800" b="0" i="1">
                        <a:solidFill>
                          <a:srgbClr val="000000"/>
                        </a:solidFill>
                        <a:latin typeface="Cambria Math" panose="02040503050406030204" pitchFamily="18" charset="0"/>
                      </a:rPr>
                      <m:t>=</m:t>
                    </m:r>
                    <m:d>
                      <m:dPr>
                        <m:begChr m:val="["/>
                        <m:endChr m:val="]"/>
                        <m:ctrlPr>
                          <a:rPr kumimoji="1" lang="en-US" altLang="zh-CN" sz="2800" i="1">
                            <a:solidFill>
                              <a:srgbClr val="000000"/>
                            </a:solidFill>
                            <a:latin typeface="Cambria Math" panose="02040503050406030204" pitchFamily="18" charset="0"/>
                          </a:rPr>
                        </m:ctrlPr>
                      </m:dPr>
                      <m:e>
                        <m:m>
                          <m:mPr>
                            <m:mcs>
                              <m:mc>
                                <m:mcPr>
                                  <m:count m:val="2"/>
                                  <m:mcJc m:val="center"/>
                                </m:mcPr>
                              </m:mc>
                            </m:mcs>
                            <m:ctrlPr>
                              <a:rPr kumimoji="1" lang="en-US" altLang="zh-CN" sz="2800" i="1" smtClean="0">
                                <a:solidFill>
                                  <a:srgbClr val="000000"/>
                                </a:solidFill>
                                <a:latin typeface="Cambria Math" panose="02040503050406030204" pitchFamily="18" charset="0"/>
                              </a:rPr>
                            </m:ctrlPr>
                          </m:mPr>
                          <m:mr>
                            <m:e>
                              <m:sSub>
                                <m:sSubPr>
                                  <m:ctrlPr>
                                    <a:rPr kumimoji="1" lang="en-US" altLang="zh-CN" sz="2800" i="1" smtClean="0">
                                      <a:solidFill>
                                        <a:srgbClr val="000000"/>
                                      </a:solidFill>
                                      <a:latin typeface="Cambria Math" panose="02040503050406030204" pitchFamily="18" charset="0"/>
                                    </a:rPr>
                                  </m:ctrlPr>
                                </m:sSubPr>
                                <m:e>
                                  <m:r>
                                    <m:rPr>
                                      <m:brk m:alnAt="7"/>
                                    </m:rPr>
                                    <a:rPr kumimoji="1" lang="en-US" altLang="zh-CN" sz="2800" b="0" i="1" smtClean="0">
                                      <a:solidFill>
                                        <a:srgbClr val="000000"/>
                                      </a:solidFill>
                                      <a:latin typeface="Cambria Math" panose="02040503050406030204" pitchFamily="18" charset="0"/>
                                    </a:rPr>
                                    <m:t>𝑎</m:t>
                                  </m:r>
                                </m:e>
                                <m:sub>
                                  <m:r>
                                    <m:rPr>
                                      <m:brk m:alnAt="7"/>
                                    </m:rPr>
                                    <a:rPr kumimoji="1" lang="en-US" altLang="zh-CN" sz="2800" b="0" i="1" smtClean="0">
                                      <a:solidFill>
                                        <a:srgbClr val="000000"/>
                                      </a:solidFill>
                                      <a:latin typeface="Cambria Math" panose="02040503050406030204" pitchFamily="18" charset="0"/>
                                    </a:rPr>
                                    <m:t>1</m:t>
                                  </m:r>
                                </m:sub>
                              </m:sSub>
                            </m:e>
                            <m:e>
                              <m:sSub>
                                <m:sSubPr>
                                  <m:ctrlPr>
                                    <a:rPr kumimoji="1" lang="en-US" altLang="zh-CN" sz="2800" i="1" smtClean="0">
                                      <a:solidFill>
                                        <a:srgbClr val="000000"/>
                                      </a:solidFill>
                                      <a:latin typeface="Cambria Math" panose="02040503050406030204" pitchFamily="18" charset="0"/>
                                    </a:rPr>
                                  </m:ctrlPr>
                                </m:sSubPr>
                                <m:e>
                                  <m:r>
                                    <a:rPr kumimoji="1" lang="en-US" altLang="zh-CN" sz="2800" b="0" i="1" smtClean="0">
                                      <a:solidFill>
                                        <a:srgbClr val="000000"/>
                                      </a:solidFill>
                                      <a:latin typeface="Cambria Math" panose="02040503050406030204" pitchFamily="18" charset="0"/>
                                    </a:rPr>
                                    <m:t>𝑎</m:t>
                                  </m:r>
                                </m:e>
                                <m:sub>
                                  <m:r>
                                    <a:rPr kumimoji="1" lang="en-US" altLang="zh-CN" sz="2800" b="0" i="1" smtClean="0">
                                      <a:solidFill>
                                        <a:srgbClr val="000000"/>
                                      </a:solidFill>
                                      <a:latin typeface="Cambria Math" panose="02040503050406030204" pitchFamily="18" charset="0"/>
                                    </a:rPr>
                                    <m:t>2</m:t>
                                  </m:r>
                                </m:sub>
                              </m:sSub>
                            </m:e>
                          </m:mr>
                          <m:mr>
                            <m:e>
                              <m:r>
                                <a:rPr kumimoji="1" lang="en-US" altLang="zh-CN" sz="2800" b="0" i="1" smtClean="0">
                                  <a:solidFill>
                                    <a:srgbClr val="000000"/>
                                  </a:solidFill>
                                  <a:latin typeface="Cambria Math" panose="02040503050406030204" pitchFamily="18" charset="0"/>
                                </a:rPr>
                                <m:t>0.01</m:t>
                              </m:r>
                            </m:e>
                            <m:e>
                              <m:r>
                                <a:rPr kumimoji="1" lang="en-US" altLang="zh-CN" sz="2800" b="0" i="1" smtClean="0">
                                  <a:solidFill>
                                    <a:srgbClr val="000000"/>
                                  </a:solidFill>
                                  <a:latin typeface="Cambria Math" panose="02040503050406030204" pitchFamily="18" charset="0"/>
                                </a:rPr>
                                <m:t>0.99</m:t>
                              </m:r>
                            </m:e>
                          </m:mr>
                        </m:m>
                      </m:e>
                    </m:d>
                  </m:oMath>
                </a14:m>
                <a:r>
                  <a:rPr lang="zh-CN" altLang="en-US" sz="2800" dirty="0">
                    <a:solidFill>
                      <a:srgbClr val="000000"/>
                    </a:solidFill>
                    <a:latin typeface="Times New Roman" pitchFamily="18" charset="0"/>
                    <a:cs typeface="Times New Roman" pitchFamily="18" charset="0"/>
                  </a:rPr>
                  <a:t>，</a:t>
                </a:r>
                <a14:m>
                  <m:oMath xmlns:m="http://schemas.openxmlformats.org/officeDocument/2006/math">
                    <m:d>
                      <m:dPr>
                        <m:begChr m:val="["/>
                        <m:endChr m:val="]"/>
                        <m:ctrlPr>
                          <a:rPr kumimoji="1" lang="en-US" altLang="zh-CN" sz="2800" i="1">
                            <a:solidFill>
                              <a:srgbClr val="000000"/>
                            </a:solidFill>
                            <a:latin typeface="Cambria Math" panose="02040503050406030204" pitchFamily="18" charset="0"/>
                          </a:rPr>
                        </m:ctrlPr>
                      </m:dPr>
                      <m:e>
                        <m:eqArr>
                          <m:eqArrPr>
                            <m:ctrlPr>
                              <a:rPr kumimoji="1" lang="en-US" altLang="zh-CN" sz="2800" i="1">
                                <a:solidFill>
                                  <a:srgbClr val="000000"/>
                                </a:solidFill>
                                <a:latin typeface="Cambria Math" panose="02040503050406030204" pitchFamily="18" charset="0"/>
                              </a:rPr>
                            </m:ctrlPr>
                          </m:eqArrPr>
                          <m:e>
                            <m:sSub>
                              <m:sSubPr>
                                <m:ctrlPr>
                                  <a:rPr kumimoji="1" lang="en-US" altLang="zh-CN" sz="2800" i="1">
                                    <a:solidFill>
                                      <a:srgbClr val="000000"/>
                                    </a:solidFill>
                                    <a:latin typeface="Cambria Math" panose="02040503050406030204" pitchFamily="18" charset="0"/>
                                  </a:rPr>
                                </m:ctrlPr>
                              </m:sSubPr>
                              <m:e>
                                <m:r>
                                  <a:rPr kumimoji="1" lang="en-US" altLang="zh-CN" sz="2800" b="0" i="1">
                                    <a:solidFill>
                                      <a:srgbClr val="000000"/>
                                    </a:solidFill>
                                    <a:latin typeface="Cambria Math" panose="02040503050406030204" pitchFamily="18" charset="0"/>
                                  </a:rPr>
                                  <m:t>𝑋</m:t>
                                </m:r>
                              </m:e>
                              <m:sub>
                                <m:r>
                                  <a:rPr kumimoji="1" lang="en-US" altLang="zh-CN" sz="2800" b="0" i="1" smtClean="0">
                                    <a:solidFill>
                                      <a:srgbClr val="000000"/>
                                    </a:solidFill>
                                    <a:latin typeface="Cambria Math" panose="02040503050406030204" pitchFamily="18" charset="0"/>
                                  </a:rPr>
                                  <m:t>2</m:t>
                                </m:r>
                              </m:sub>
                            </m:sSub>
                          </m:e>
                          <m:e>
                            <m:r>
                              <a:rPr kumimoji="1" lang="en-US" altLang="zh-CN" sz="2800" b="0" i="1">
                                <a:solidFill>
                                  <a:srgbClr val="000000"/>
                                </a:solidFill>
                                <a:latin typeface="Cambria Math" panose="02040503050406030204" pitchFamily="18" charset="0"/>
                              </a:rPr>
                              <m:t>𝑝</m:t>
                            </m:r>
                            <m:r>
                              <a:rPr kumimoji="1" lang="en-US" altLang="zh-CN" sz="2800" b="0" i="1">
                                <a:solidFill>
                                  <a:srgbClr val="000000"/>
                                </a:solidFill>
                                <a:latin typeface="Cambria Math" panose="02040503050406030204" pitchFamily="18" charset="0"/>
                              </a:rPr>
                              <m:t>(</m:t>
                            </m:r>
                            <m:r>
                              <a:rPr kumimoji="1" lang="en-US" altLang="zh-CN" sz="2800" b="0" i="1">
                                <a:solidFill>
                                  <a:srgbClr val="000000"/>
                                </a:solidFill>
                                <a:latin typeface="Cambria Math" panose="02040503050406030204" pitchFamily="18" charset="0"/>
                              </a:rPr>
                              <m:t>𝑥</m:t>
                            </m:r>
                            <m:r>
                              <a:rPr kumimoji="1" lang="en-US" altLang="zh-CN" sz="2800" b="0" i="1">
                                <a:solidFill>
                                  <a:srgbClr val="000000"/>
                                </a:solidFill>
                                <a:latin typeface="Cambria Math" panose="02040503050406030204" pitchFamily="18" charset="0"/>
                              </a:rPr>
                              <m:t>)</m:t>
                            </m:r>
                          </m:e>
                        </m:eqArr>
                      </m:e>
                    </m:d>
                    <m:r>
                      <a:rPr kumimoji="1" lang="en-US" altLang="zh-CN" sz="2800" b="0" i="1">
                        <a:solidFill>
                          <a:srgbClr val="000000"/>
                        </a:solidFill>
                        <a:latin typeface="Cambria Math" panose="02040503050406030204" pitchFamily="18" charset="0"/>
                      </a:rPr>
                      <m:t>=</m:t>
                    </m:r>
                    <m:d>
                      <m:dPr>
                        <m:begChr m:val="["/>
                        <m:endChr m:val="]"/>
                        <m:ctrlPr>
                          <a:rPr kumimoji="1" lang="en-US" altLang="zh-CN" sz="2800" i="1">
                            <a:solidFill>
                              <a:srgbClr val="000000"/>
                            </a:solidFill>
                            <a:latin typeface="Cambria Math" panose="02040503050406030204" pitchFamily="18" charset="0"/>
                          </a:rPr>
                        </m:ctrlPr>
                      </m:dPr>
                      <m:e>
                        <m:m>
                          <m:mPr>
                            <m:mcs>
                              <m:mc>
                                <m:mcPr>
                                  <m:count m:val="2"/>
                                  <m:mcJc m:val="center"/>
                                </m:mcPr>
                              </m:mc>
                            </m:mcs>
                            <m:ctrlPr>
                              <a:rPr kumimoji="1" lang="en-US" altLang="zh-CN" sz="2800" i="1">
                                <a:solidFill>
                                  <a:srgbClr val="000000"/>
                                </a:solidFill>
                                <a:latin typeface="Cambria Math" panose="02040503050406030204" pitchFamily="18" charset="0"/>
                              </a:rPr>
                            </m:ctrlPr>
                          </m:mPr>
                          <m:mr>
                            <m:e>
                              <m:sSub>
                                <m:sSubPr>
                                  <m:ctrlPr>
                                    <a:rPr kumimoji="1" lang="en-US" altLang="zh-CN" sz="2800" i="1">
                                      <a:solidFill>
                                        <a:srgbClr val="000000"/>
                                      </a:solidFill>
                                      <a:latin typeface="Cambria Math" panose="02040503050406030204" pitchFamily="18" charset="0"/>
                                    </a:rPr>
                                  </m:ctrlPr>
                                </m:sSubPr>
                                <m:e>
                                  <m:r>
                                    <a:rPr kumimoji="1" lang="en-US" altLang="zh-CN" sz="2800" b="0" i="1" smtClean="0">
                                      <a:solidFill>
                                        <a:srgbClr val="000000"/>
                                      </a:solidFill>
                                      <a:latin typeface="Cambria Math" panose="02040503050406030204" pitchFamily="18" charset="0"/>
                                    </a:rPr>
                                    <m:t>𝑏</m:t>
                                  </m:r>
                                </m:e>
                                <m:sub>
                                  <m:r>
                                    <m:rPr>
                                      <m:brk m:alnAt="7"/>
                                    </m:rPr>
                                    <a:rPr kumimoji="1" lang="en-US" altLang="zh-CN" sz="2800" b="0" i="1">
                                      <a:solidFill>
                                        <a:srgbClr val="000000"/>
                                      </a:solidFill>
                                      <a:latin typeface="Cambria Math" panose="02040503050406030204" pitchFamily="18" charset="0"/>
                                    </a:rPr>
                                    <m:t>1</m:t>
                                  </m:r>
                                </m:sub>
                              </m:sSub>
                            </m:e>
                            <m:e>
                              <m:sSub>
                                <m:sSubPr>
                                  <m:ctrlPr>
                                    <a:rPr kumimoji="1" lang="en-US" altLang="zh-CN" sz="2800" i="1">
                                      <a:solidFill>
                                        <a:srgbClr val="000000"/>
                                      </a:solidFill>
                                      <a:latin typeface="Cambria Math" panose="02040503050406030204" pitchFamily="18" charset="0"/>
                                    </a:rPr>
                                  </m:ctrlPr>
                                </m:sSubPr>
                                <m:e>
                                  <m:r>
                                    <a:rPr kumimoji="1" lang="en-US" altLang="zh-CN" sz="2800" b="0" i="1" smtClean="0">
                                      <a:solidFill>
                                        <a:srgbClr val="000000"/>
                                      </a:solidFill>
                                      <a:latin typeface="Cambria Math" panose="02040503050406030204" pitchFamily="18" charset="0"/>
                                    </a:rPr>
                                    <m:t>𝑏</m:t>
                                  </m:r>
                                </m:e>
                                <m:sub>
                                  <m:r>
                                    <a:rPr kumimoji="1" lang="en-US" altLang="zh-CN" sz="2800" b="0" i="1">
                                      <a:solidFill>
                                        <a:srgbClr val="000000"/>
                                      </a:solidFill>
                                      <a:latin typeface="Cambria Math" panose="02040503050406030204" pitchFamily="18" charset="0"/>
                                    </a:rPr>
                                    <m:t>2</m:t>
                                  </m:r>
                                </m:sub>
                              </m:sSub>
                            </m:e>
                          </m:mr>
                          <m:mr>
                            <m:e>
                              <m:r>
                                <a:rPr kumimoji="1" lang="en-US" altLang="zh-CN" sz="2800" b="0" i="1">
                                  <a:solidFill>
                                    <a:srgbClr val="000000"/>
                                  </a:solidFill>
                                  <a:latin typeface="Cambria Math" panose="02040503050406030204" pitchFamily="18" charset="0"/>
                                </a:rPr>
                                <m:t>0.</m:t>
                              </m:r>
                              <m:r>
                                <a:rPr kumimoji="1" lang="en-US" altLang="zh-CN" sz="2800" b="0" i="1" smtClean="0">
                                  <a:solidFill>
                                    <a:srgbClr val="000000"/>
                                  </a:solidFill>
                                  <a:latin typeface="Cambria Math" panose="02040503050406030204" pitchFamily="18" charset="0"/>
                                </a:rPr>
                                <m:t>25</m:t>
                              </m:r>
                            </m:e>
                            <m:e>
                              <m:r>
                                <a:rPr kumimoji="1" lang="en-US" altLang="zh-CN" sz="2800" b="0" i="1">
                                  <a:solidFill>
                                    <a:srgbClr val="000000"/>
                                  </a:solidFill>
                                  <a:latin typeface="Cambria Math" panose="02040503050406030204" pitchFamily="18" charset="0"/>
                                </a:rPr>
                                <m:t>0.</m:t>
                              </m:r>
                              <m:r>
                                <a:rPr kumimoji="1" lang="en-US" altLang="zh-CN" sz="2800" b="0" i="1" smtClean="0">
                                  <a:solidFill>
                                    <a:srgbClr val="000000"/>
                                  </a:solidFill>
                                  <a:latin typeface="Cambria Math" panose="02040503050406030204" pitchFamily="18" charset="0"/>
                                </a:rPr>
                                <m:t>75</m:t>
                              </m:r>
                            </m:e>
                          </m:mr>
                        </m:m>
                      </m:e>
                    </m:d>
                  </m:oMath>
                </a14:m>
                <a:endParaRPr lang="en-US" altLang="zh-CN" sz="2800" dirty="0">
                  <a:solidFill>
                    <a:srgbClr val="000000"/>
                  </a:solidFill>
                  <a:latin typeface="Times New Roman" pitchFamily="18" charset="0"/>
                  <a:cs typeface="Times New Roman" pitchFamily="18" charset="0"/>
                </a:endParaRPr>
              </a:p>
              <a:p>
                <a:pPr eaLnBrk="1" hangingPunct="1">
                  <a:lnSpc>
                    <a:spcPct val="150000"/>
                  </a:lnSpc>
                  <a:defRPr/>
                </a:pPr>
                <a:r>
                  <a:rPr lang="zh-CN" altLang="en-US" sz="2800" dirty="0">
                    <a:solidFill>
                      <a:srgbClr val="000000"/>
                    </a:solidFill>
                    <a:latin typeface="Times New Roman" pitchFamily="18" charset="0"/>
                    <a:cs typeface="Times New Roman" pitchFamily="18" charset="0"/>
                  </a:rPr>
                  <a:t>分别求</a:t>
                </a:r>
                <a14:m>
                  <m:oMath xmlns:m="http://schemas.openxmlformats.org/officeDocument/2006/math">
                    <m:r>
                      <a:rPr lang="en-US" altLang="zh-CN" sz="2800" b="0" smtClean="0">
                        <a:solidFill>
                          <a:srgbClr val="000000"/>
                        </a:solidFill>
                        <a:latin typeface="Cambria Math" panose="02040503050406030204" pitchFamily="18" charset="0"/>
                        <a:cs typeface="Times New Roman" pitchFamily="18" charset="0"/>
                      </a:rPr>
                      <m:t> </m:t>
                    </m:r>
                    <m:sSub>
                      <m:sSubPr>
                        <m:ctrlPr>
                          <a:rPr lang="en-US" altLang="zh-CN" sz="2800" i="1">
                            <a:solidFill>
                              <a:srgbClr val="000000"/>
                            </a:solidFill>
                            <a:latin typeface="Cambria Math" panose="02040503050406030204" pitchFamily="18" charset="0"/>
                            <a:cs typeface="Times New Roman" pitchFamily="18" charset="0"/>
                          </a:rPr>
                        </m:ctrlPr>
                      </m:sSubPr>
                      <m:e>
                        <m:r>
                          <a:rPr lang="en-US" altLang="zh-CN" sz="2800" b="0" i="1">
                            <a:solidFill>
                              <a:srgbClr val="000000"/>
                            </a:solidFill>
                            <a:latin typeface="Cambria Math" panose="02040503050406030204" pitchFamily="18" charset="0"/>
                            <a:cs typeface="Times New Roman" pitchFamily="18" charset="0"/>
                          </a:rPr>
                          <m:t>𝑋</m:t>
                        </m:r>
                      </m:e>
                      <m:sub>
                        <m:r>
                          <a:rPr lang="en-US" altLang="zh-CN" sz="2800" b="0" i="1">
                            <a:solidFill>
                              <a:srgbClr val="000000"/>
                            </a:solidFill>
                            <a:latin typeface="Cambria Math" panose="02040503050406030204" pitchFamily="18" charset="0"/>
                            <a:cs typeface="Times New Roman" pitchFamily="18" charset="0"/>
                          </a:rPr>
                          <m:t>1</m:t>
                        </m:r>
                      </m:sub>
                    </m:sSub>
                    <m:r>
                      <a:rPr lang="zh-CN" altLang="en-US" sz="2800" b="0" i="1">
                        <a:solidFill>
                          <a:srgbClr val="000000"/>
                        </a:solidFill>
                        <a:latin typeface="Cambria Math" panose="02040503050406030204" pitchFamily="18" charset="0"/>
                        <a:cs typeface="Times New Roman" pitchFamily="18" charset="0"/>
                      </a:rPr>
                      <m:t>，</m:t>
                    </m:r>
                    <m:sSub>
                      <m:sSubPr>
                        <m:ctrlPr>
                          <a:rPr lang="en-US" altLang="zh-CN" sz="2800" i="1">
                            <a:solidFill>
                              <a:srgbClr val="000000"/>
                            </a:solidFill>
                            <a:latin typeface="Cambria Math" panose="02040503050406030204" pitchFamily="18" charset="0"/>
                            <a:cs typeface="Times New Roman" pitchFamily="18" charset="0"/>
                          </a:rPr>
                        </m:ctrlPr>
                      </m:sSubPr>
                      <m:e>
                        <m:r>
                          <a:rPr lang="en-US" altLang="zh-CN" sz="2800" b="0" i="1">
                            <a:solidFill>
                              <a:srgbClr val="000000"/>
                            </a:solidFill>
                            <a:latin typeface="Cambria Math" panose="02040503050406030204" pitchFamily="18" charset="0"/>
                            <a:cs typeface="Times New Roman" pitchFamily="18" charset="0"/>
                          </a:rPr>
                          <m:t>𝑋</m:t>
                        </m:r>
                      </m:e>
                      <m:sub>
                        <m:r>
                          <a:rPr lang="en-US" altLang="zh-CN" sz="2800" b="0" i="1">
                            <a:solidFill>
                              <a:srgbClr val="000000"/>
                            </a:solidFill>
                            <a:latin typeface="Cambria Math" panose="02040503050406030204" pitchFamily="18" charset="0"/>
                            <a:cs typeface="Times New Roman" pitchFamily="18" charset="0"/>
                          </a:rPr>
                          <m:t>2</m:t>
                        </m:r>
                      </m:sub>
                    </m:sSub>
                    <m:r>
                      <a:rPr lang="en-US" altLang="zh-CN" sz="2800" b="0" i="1">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Times New Roman" pitchFamily="18" charset="0"/>
                    <a:cs typeface="Times New Roman" pitchFamily="18" charset="0"/>
                  </a:rPr>
                  <a:t>的熵。</a:t>
                </a:r>
                <a:endParaRPr lang="en-US" altLang="zh-CN" sz="2800" dirty="0">
                  <a:solidFill>
                    <a:srgbClr val="000000"/>
                  </a:solidFill>
                  <a:latin typeface="Times New Roman" pitchFamily="18" charset="0"/>
                  <a:cs typeface="Times New Roman" pitchFamily="18" charset="0"/>
                </a:endParaRPr>
              </a:p>
              <a:p>
                <a:pPr eaLnBrk="1" hangingPunct="1">
                  <a:lnSpc>
                    <a:spcPct val="150000"/>
                  </a:lnSpc>
                  <a:defRPr/>
                </a:pPr>
                <a:r>
                  <a:rPr lang="zh-CN" altLang="en-US" sz="2800" dirty="0">
                    <a:solidFill>
                      <a:srgbClr val="000000"/>
                    </a:solidFill>
                    <a:latin typeface="Times New Roman" pitchFamily="18" charset="0"/>
                    <a:cs typeface="Times New Roman" pitchFamily="18" charset="0"/>
                  </a:rPr>
                  <a:t>解</a:t>
                </a:r>
                <a:r>
                  <a:rPr lang="en-US" altLang="zh-CN" sz="2800" dirty="0">
                    <a:solidFill>
                      <a:srgbClr val="000000"/>
                    </a:solidFill>
                    <a:latin typeface="Times New Roman" pitchFamily="18" charset="0"/>
                    <a:cs typeface="Times New Roman" pitchFamily="18" charset="0"/>
                  </a:rPr>
                  <a:t>. </a:t>
                </a:r>
                <a:r>
                  <a:rPr lang="zh-CN" altLang="en-US" sz="2800" dirty="0">
                    <a:solidFill>
                      <a:srgbClr val="000000"/>
                    </a:solidFill>
                    <a:latin typeface="Times New Roman" pitchFamily="18" charset="0"/>
                    <a:cs typeface="Times New Roman" pitchFamily="18" charset="0"/>
                  </a:rPr>
                  <a:t>根据平均自信息的定义可得</a:t>
                </a:r>
                <a:endParaRPr lang="en-US" altLang="zh-CN" sz="2800" dirty="0">
                  <a:solidFill>
                    <a:srgbClr val="000000"/>
                  </a:solidFill>
                  <a:latin typeface="Times New Roman" pitchFamily="18" charset="0"/>
                  <a:cs typeface="Times New Roman" pitchFamily="18" charset="0"/>
                </a:endParaRPr>
              </a:p>
              <a:p>
                <a:pPr eaLnBrk="1" hangingPunct="1">
                  <a:lnSpc>
                    <a:spcPct val="150000"/>
                  </a:lnSpc>
                  <a:defRPr/>
                </a:pPr>
                <a:r>
                  <a:rPr lang="en-US" altLang="zh-CN" sz="2600" dirty="0">
                    <a:solidFill>
                      <a:srgbClr val="000000"/>
                    </a:solidFill>
                    <a:latin typeface="Times New Roman" pitchFamily="18" charset="0"/>
                    <a:cs typeface="Times New Roman" pitchFamily="18" charset="0"/>
                  </a:rPr>
                  <a:t> </a:t>
                </a:r>
                <a14:m>
                  <m:oMath xmlns:m="http://schemas.openxmlformats.org/officeDocument/2006/math">
                    <m:r>
                      <a:rPr lang="en-US" altLang="zh-CN" sz="2600" b="0" i="1" smtClean="0">
                        <a:solidFill>
                          <a:srgbClr val="000000"/>
                        </a:solidFill>
                        <a:latin typeface="Cambria Math" panose="02040503050406030204" pitchFamily="18" charset="0"/>
                        <a:cs typeface="Times New Roman" pitchFamily="18" charset="0"/>
                      </a:rPr>
                      <m:t>𝐻</m:t>
                    </m:r>
                    <m:d>
                      <m:dPr>
                        <m:ctrlPr>
                          <a:rPr lang="en-US" altLang="zh-CN" sz="2600" i="1" smtClean="0">
                            <a:solidFill>
                              <a:srgbClr val="000000"/>
                            </a:solidFill>
                            <a:latin typeface="Cambria Math" panose="02040503050406030204" pitchFamily="18" charset="0"/>
                            <a:cs typeface="Times New Roman" pitchFamily="18" charset="0"/>
                          </a:rPr>
                        </m:ctrlPr>
                      </m:dPr>
                      <m:e>
                        <m:sSub>
                          <m:sSubPr>
                            <m:ctrlPr>
                              <a:rPr lang="en-US" altLang="zh-CN" sz="2600" i="1" smtClean="0">
                                <a:solidFill>
                                  <a:srgbClr val="000000"/>
                                </a:solidFill>
                                <a:latin typeface="Cambria Math" panose="02040503050406030204" pitchFamily="18" charset="0"/>
                                <a:cs typeface="Times New Roman" pitchFamily="18" charset="0"/>
                              </a:rPr>
                            </m:ctrlPr>
                          </m:sSubPr>
                          <m:e>
                            <m:r>
                              <a:rPr lang="en-US" altLang="zh-CN" sz="2600" b="0" i="1" smtClean="0">
                                <a:solidFill>
                                  <a:srgbClr val="000000"/>
                                </a:solidFill>
                                <a:latin typeface="Cambria Math" panose="02040503050406030204" pitchFamily="18" charset="0"/>
                                <a:cs typeface="Times New Roman" pitchFamily="18" charset="0"/>
                              </a:rPr>
                              <m:t>𝑋</m:t>
                            </m:r>
                          </m:e>
                          <m:sub>
                            <m:r>
                              <a:rPr lang="en-US" altLang="zh-CN" sz="2600" b="0" i="1" smtClean="0">
                                <a:solidFill>
                                  <a:srgbClr val="000000"/>
                                </a:solidFill>
                                <a:latin typeface="Cambria Math" panose="02040503050406030204" pitchFamily="18" charset="0"/>
                                <a:cs typeface="Times New Roman" pitchFamily="18" charset="0"/>
                              </a:rPr>
                              <m:t>1</m:t>
                            </m:r>
                          </m:sub>
                        </m:sSub>
                      </m:e>
                    </m:d>
                    <m:r>
                      <a:rPr lang="en-US" altLang="zh-CN" sz="2600" b="0" i="1">
                        <a:solidFill>
                          <a:srgbClr val="000000"/>
                        </a:solidFill>
                        <a:latin typeface="Cambria Math" panose="02040503050406030204" pitchFamily="18" charset="0"/>
                        <a:cs typeface="Times New Roman" pitchFamily="18" charset="0"/>
                      </a:rPr>
                      <m:t>=−</m:t>
                    </m:r>
                    <m:r>
                      <a:rPr lang="en-US" altLang="zh-CN" sz="2600" b="0" i="1" smtClean="0">
                        <a:solidFill>
                          <a:srgbClr val="000000"/>
                        </a:solidFill>
                        <a:latin typeface="Cambria Math" panose="02040503050406030204" pitchFamily="18" charset="0"/>
                        <a:cs typeface="Times New Roman" pitchFamily="18" charset="0"/>
                      </a:rPr>
                      <m:t>0.01×</m:t>
                    </m:r>
                    <m:r>
                      <m:rPr>
                        <m:sty m:val="p"/>
                      </m:rPr>
                      <a:rPr lang="en-US" altLang="zh-CN" sz="2600" b="0" i="1">
                        <a:solidFill>
                          <a:srgbClr val="000000"/>
                        </a:solidFill>
                        <a:latin typeface="Cambria Math" panose="02040503050406030204" pitchFamily="18" charset="0"/>
                        <a:cs typeface="Times New Roman" pitchFamily="18" charset="0"/>
                      </a:rPr>
                      <m:t>log</m:t>
                    </m:r>
                    <m:r>
                      <a:rPr lang="en-US" altLang="zh-CN" sz="2600" b="0">
                        <a:solidFill>
                          <a:srgbClr val="000000"/>
                        </a:solidFill>
                        <a:latin typeface="Cambria Math" panose="02040503050406030204" pitchFamily="18" charset="0"/>
                        <a:cs typeface="Times New Roman" pitchFamily="18" charset="0"/>
                      </a:rPr>
                      <m:t> </m:t>
                    </m:r>
                    <m:r>
                      <a:rPr lang="en-US" altLang="zh-CN" sz="2600" b="0" i="1" smtClean="0">
                        <a:solidFill>
                          <a:srgbClr val="000000"/>
                        </a:solidFill>
                        <a:latin typeface="Cambria Math" panose="02040503050406030204" pitchFamily="18" charset="0"/>
                        <a:cs typeface="Times New Roman" pitchFamily="18" charset="0"/>
                      </a:rPr>
                      <m:t>0.01</m:t>
                    </m:r>
                    <m:r>
                      <a:rPr lang="en-US" altLang="zh-CN" sz="2600" b="0" i="1">
                        <a:solidFill>
                          <a:srgbClr val="000000"/>
                        </a:solidFill>
                        <a:latin typeface="Cambria Math" panose="02040503050406030204" pitchFamily="18" charset="0"/>
                        <a:cs typeface="Times New Roman" pitchFamily="18" charset="0"/>
                      </a:rPr>
                      <m:t>−0.</m:t>
                    </m:r>
                    <m:r>
                      <a:rPr lang="en-US" altLang="zh-CN" sz="2600" b="0" i="1" smtClean="0">
                        <a:solidFill>
                          <a:srgbClr val="000000"/>
                        </a:solidFill>
                        <a:latin typeface="Cambria Math" panose="02040503050406030204" pitchFamily="18" charset="0"/>
                        <a:cs typeface="Times New Roman" pitchFamily="18" charset="0"/>
                      </a:rPr>
                      <m:t>99</m:t>
                    </m:r>
                    <m:r>
                      <a:rPr lang="en-US" altLang="zh-CN" sz="2600" b="0" i="1">
                        <a:solidFill>
                          <a:srgbClr val="000000"/>
                        </a:solidFill>
                        <a:latin typeface="Cambria Math" panose="02040503050406030204" pitchFamily="18" charset="0"/>
                        <a:cs typeface="Times New Roman" pitchFamily="18" charset="0"/>
                      </a:rPr>
                      <m:t>×</m:t>
                    </m:r>
                    <m:r>
                      <m:rPr>
                        <m:sty m:val="p"/>
                      </m:rPr>
                      <a:rPr lang="en-US" altLang="zh-CN" sz="2600" b="0" i="1">
                        <a:solidFill>
                          <a:srgbClr val="000000"/>
                        </a:solidFill>
                        <a:latin typeface="Cambria Math" panose="02040503050406030204" pitchFamily="18" charset="0"/>
                        <a:cs typeface="Times New Roman" pitchFamily="18" charset="0"/>
                      </a:rPr>
                      <m:t>log</m:t>
                    </m:r>
                    <m:r>
                      <a:rPr lang="en-US" altLang="zh-CN" sz="2600" b="0">
                        <a:solidFill>
                          <a:srgbClr val="000000"/>
                        </a:solidFill>
                        <a:latin typeface="Cambria Math" panose="02040503050406030204" pitchFamily="18" charset="0"/>
                        <a:cs typeface="Times New Roman" pitchFamily="18" charset="0"/>
                      </a:rPr>
                      <m:t> </m:t>
                    </m:r>
                    <m:r>
                      <a:rPr lang="en-US" altLang="zh-CN" sz="2600" b="0" i="1">
                        <a:solidFill>
                          <a:srgbClr val="000000"/>
                        </a:solidFill>
                        <a:latin typeface="Cambria Math" panose="02040503050406030204" pitchFamily="18" charset="0"/>
                        <a:cs typeface="Times New Roman" pitchFamily="18" charset="0"/>
                      </a:rPr>
                      <m:t>0.</m:t>
                    </m:r>
                    <m:r>
                      <a:rPr lang="en-US" altLang="zh-CN" sz="2600" b="0" i="1" smtClean="0">
                        <a:solidFill>
                          <a:srgbClr val="000000"/>
                        </a:solidFill>
                        <a:latin typeface="Cambria Math" panose="02040503050406030204" pitchFamily="18" charset="0"/>
                        <a:cs typeface="Times New Roman" pitchFamily="18" charset="0"/>
                      </a:rPr>
                      <m:t>99</m:t>
                    </m:r>
                    <m:r>
                      <a:rPr lang="en-US" altLang="zh-CN" sz="2600" b="0" i="1">
                        <a:solidFill>
                          <a:srgbClr val="000000"/>
                        </a:solidFill>
                        <a:latin typeface="Cambria Math" panose="02040503050406030204" pitchFamily="18" charset="0"/>
                        <a:cs typeface="Times New Roman" pitchFamily="18" charset="0"/>
                      </a:rPr>
                      <m:t>=</m:t>
                    </m:r>
                    <m:r>
                      <a:rPr lang="en-US" altLang="zh-CN" sz="2600" b="0" i="1" smtClean="0">
                        <a:solidFill>
                          <a:srgbClr val="000000"/>
                        </a:solidFill>
                        <a:latin typeface="Cambria Math" panose="02040503050406030204" pitchFamily="18" charset="0"/>
                        <a:cs typeface="Times New Roman" pitchFamily="18" charset="0"/>
                      </a:rPr>
                      <m:t>0.081 </m:t>
                    </m:r>
                    <m:r>
                      <m:rPr>
                        <m:sty m:val="p"/>
                      </m:rPr>
                      <a:rPr lang="en-US" altLang="zh-CN" sz="2600" b="0" i="1" smtClean="0">
                        <a:solidFill>
                          <a:srgbClr val="000000"/>
                        </a:solidFill>
                        <a:latin typeface="Cambria Math" panose="02040503050406030204" pitchFamily="18" charset="0"/>
                        <a:cs typeface="Times New Roman" pitchFamily="18" charset="0"/>
                      </a:rPr>
                      <m:t>bit</m:t>
                    </m:r>
                  </m:oMath>
                </a14:m>
                <a:endParaRPr lang="en-US" altLang="zh-CN" sz="2600" dirty="0">
                  <a:solidFill>
                    <a:srgbClr val="000000"/>
                  </a:solidFill>
                  <a:latin typeface="Cambria Math" panose="02040503050406030204" pitchFamily="18" charset="0"/>
                  <a:cs typeface="Times New Roman" pitchFamily="18" charset="0"/>
                </a:endParaRPr>
              </a:p>
              <a:p>
                <a:pPr eaLnBrk="1" hangingPunct="1">
                  <a:lnSpc>
                    <a:spcPct val="150000"/>
                  </a:lnSpc>
                  <a:defRPr/>
                </a:pPr>
                <a:r>
                  <a:rPr lang="en-US" altLang="zh-CN" sz="2600" dirty="0">
                    <a:solidFill>
                      <a:srgbClr val="000000"/>
                    </a:solidFill>
                    <a:latin typeface="Times New Roman" pitchFamily="18" charset="0"/>
                    <a:cs typeface="Times New Roman" pitchFamily="18" charset="0"/>
                  </a:rPr>
                  <a:t> </a:t>
                </a:r>
                <a14:m>
                  <m:oMath xmlns:m="http://schemas.openxmlformats.org/officeDocument/2006/math">
                    <m:r>
                      <a:rPr lang="en-US" altLang="zh-CN" sz="2600" b="0" i="1">
                        <a:solidFill>
                          <a:srgbClr val="000000"/>
                        </a:solidFill>
                        <a:latin typeface="Cambria Math" panose="02040503050406030204" pitchFamily="18" charset="0"/>
                        <a:cs typeface="Times New Roman" pitchFamily="18" charset="0"/>
                      </a:rPr>
                      <m:t>𝐻</m:t>
                    </m:r>
                    <m:d>
                      <m:dPr>
                        <m:ctrlPr>
                          <a:rPr lang="en-US" altLang="zh-CN" sz="2600" i="1">
                            <a:solidFill>
                              <a:srgbClr val="000000"/>
                            </a:solidFill>
                            <a:latin typeface="Cambria Math" panose="02040503050406030204" pitchFamily="18" charset="0"/>
                            <a:cs typeface="Times New Roman" pitchFamily="18" charset="0"/>
                          </a:rPr>
                        </m:ctrlPr>
                      </m:dPr>
                      <m:e>
                        <m:sSub>
                          <m:sSubPr>
                            <m:ctrlPr>
                              <a:rPr lang="en-US" altLang="zh-CN" sz="2600" i="1">
                                <a:solidFill>
                                  <a:srgbClr val="000000"/>
                                </a:solidFill>
                                <a:latin typeface="Cambria Math" panose="02040503050406030204" pitchFamily="18" charset="0"/>
                                <a:cs typeface="Times New Roman" pitchFamily="18" charset="0"/>
                              </a:rPr>
                            </m:ctrlPr>
                          </m:sSubPr>
                          <m:e>
                            <m:r>
                              <a:rPr lang="en-US" altLang="zh-CN" sz="2600" b="0" i="1">
                                <a:solidFill>
                                  <a:srgbClr val="000000"/>
                                </a:solidFill>
                                <a:latin typeface="Cambria Math" panose="02040503050406030204" pitchFamily="18" charset="0"/>
                                <a:cs typeface="Times New Roman" pitchFamily="18" charset="0"/>
                              </a:rPr>
                              <m:t>𝑋</m:t>
                            </m:r>
                          </m:e>
                          <m:sub>
                            <m:r>
                              <a:rPr lang="en-US" altLang="zh-CN" sz="2600" b="0" i="1" smtClean="0">
                                <a:solidFill>
                                  <a:srgbClr val="000000"/>
                                </a:solidFill>
                                <a:latin typeface="Cambria Math" panose="02040503050406030204" pitchFamily="18" charset="0"/>
                                <a:cs typeface="Times New Roman" pitchFamily="18" charset="0"/>
                              </a:rPr>
                              <m:t>2</m:t>
                            </m:r>
                          </m:sub>
                        </m:sSub>
                      </m:e>
                    </m:d>
                    <m:r>
                      <a:rPr lang="en-US" altLang="zh-CN" sz="2600" b="0" i="1">
                        <a:solidFill>
                          <a:srgbClr val="000000"/>
                        </a:solidFill>
                        <a:latin typeface="Cambria Math" panose="02040503050406030204" pitchFamily="18" charset="0"/>
                        <a:cs typeface="Times New Roman" pitchFamily="18" charset="0"/>
                      </a:rPr>
                      <m:t>=−0.</m:t>
                    </m:r>
                    <m:r>
                      <a:rPr lang="en-US" altLang="zh-CN" sz="2600" b="0" i="1" smtClean="0">
                        <a:solidFill>
                          <a:srgbClr val="000000"/>
                        </a:solidFill>
                        <a:latin typeface="Cambria Math" panose="02040503050406030204" pitchFamily="18" charset="0"/>
                        <a:cs typeface="Times New Roman" pitchFamily="18" charset="0"/>
                      </a:rPr>
                      <m:t>25</m:t>
                    </m:r>
                    <m:r>
                      <a:rPr lang="en-US" altLang="zh-CN" sz="2600" b="0" i="1">
                        <a:solidFill>
                          <a:srgbClr val="000000"/>
                        </a:solidFill>
                        <a:latin typeface="Cambria Math" panose="02040503050406030204" pitchFamily="18" charset="0"/>
                        <a:cs typeface="Times New Roman" pitchFamily="18" charset="0"/>
                      </a:rPr>
                      <m:t>×</m:t>
                    </m:r>
                    <m:r>
                      <m:rPr>
                        <m:sty m:val="p"/>
                      </m:rPr>
                      <a:rPr lang="en-US" altLang="zh-CN" sz="2600" b="0" i="1">
                        <a:solidFill>
                          <a:srgbClr val="000000"/>
                        </a:solidFill>
                        <a:latin typeface="Cambria Math" panose="02040503050406030204" pitchFamily="18" charset="0"/>
                        <a:cs typeface="Times New Roman" pitchFamily="18" charset="0"/>
                      </a:rPr>
                      <m:t>log</m:t>
                    </m:r>
                    <m:r>
                      <a:rPr lang="en-US" altLang="zh-CN" sz="2600" b="0">
                        <a:solidFill>
                          <a:srgbClr val="000000"/>
                        </a:solidFill>
                        <a:latin typeface="Cambria Math" panose="02040503050406030204" pitchFamily="18" charset="0"/>
                        <a:cs typeface="Times New Roman" pitchFamily="18" charset="0"/>
                      </a:rPr>
                      <m:t> </m:t>
                    </m:r>
                    <m:r>
                      <a:rPr lang="en-US" altLang="zh-CN" sz="2600" b="0" i="1">
                        <a:solidFill>
                          <a:srgbClr val="000000"/>
                        </a:solidFill>
                        <a:latin typeface="Cambria Math" panose="02040503050406030204" pitchFamily="18" charset="0"/>
                        <a:cs typeface="Times New Roman" pitchFamily="18" charset="0"/>
                      </a:rPr>
                      <m:t>0.</m:t>
                    </m:r>
                    <m:r>
                      <a:rPr lang="en-US" altLang="zh-CN" sz="2600" b="0" i="1" smtClean="0">
                        <a:solidFill>
                          <a:srgbClr val="000000"/>
                        </a:solidFill>
                        <a:latin typeface="Cambria Math" panose="02040503050406030204" pitchFamily="18" charset="0"/>
                        <a:cs typeface="Times New Roman" pitchFamily="18" charset="0"/>
                      </a:rPr>
                      <m:t>25</m:t>
                    </m:r>
                    <m:r>
                      <a:rPr lang="en-US" altLang="zh-CN" sz="2600" b="0" i="1">
                        <a:solidFill>
                          <a:srgbClr val="000000"/>
                        </a:solidFill>
                        <a:latin typeface="Cambria Math" panose="02040503050406030204" pitchFamily="18" charset="0"/>
                        <a:cs typeface="Times New Roman" pitchFamily="18" charset="0"/>
                      </a:rPr>
                      <m:t>−0.</m:t>
                    </m:r>
                    <m:r>
                      <a:rPr lang="en-US" altLang="zh-CN" sz="2600" b="0" i="1" smtClean="0">
                        <a:solidFill>
                          <a:srgbClr val="000000"/>
                        </a:solidFill>
                        <a:latin typeface="Cambria Math" panose="02040503050406030204" pitchFamily="18" charset="0"/>
                        <a:cs typeface="Times New Roman" pitchFamily="18" charset="0"/>
                      </a:rPr>
                      <m:t>75</m:t>
                    </m:r>
                    <m:r>
                      <a:rPr lang="en-US" altLang="zh-CN" sz="2600" b="0" i="1">
                        <a:solidFill>
                          <a:srgbClr val="000000"/>
                        </a:solidFill>
                        <a:latin typeface="Cambria Math" panose="02040503050406030204" pitchFamily="18" charset="0"/>
                        <a:cs typeface="Times New Roman" pitchFamily="18" charset="0"/>
                      </a:rPr>
                      <m:t>×</m:t>
                    </m:r>
                    <m:r>
                      <m:rPr>
                        <m:sty m:val="p"/>
                      </m:rPr>
                      <a:rPr lang="en-US" altLang="zh-CN" sz="2600" b="0" i="1">
                        <a:solidFill>
                          <a:srgbClr val="000000"/>
                        </a:solidFill>
                        <a:latin typeface="Cambria Math" panose="02040503050406030204" pitchFamily="18" charset="0"/>
                        <a:cs typeface="Times New Roman" pitchFamily="18" charset="0"/>
                      </a:rPr>
                      <m:t>log</m:t>
                    </m:r>
                    <m:r>
                      <a:rPr lang="en-US" altLang="zh-CN" sz="2600" b="0">
                        <a:solidFill>
                          <a:srgbClr val="000000"/>
                        </a:solidFill>
                        <a:latin typeface="Cambria Math" panose="02040503050406030204" pitchFamily="18" charset="0"/>
                        <a:cs typeface="Times New Roman" pitchFamily="18" charset="0"/>
                      </a:rPr>
                      <m:t> </m:t>
                    </m:r>
                    <m:r>
                      <a:rPr lang="en-US" altLang="zh-CN" sz="2600" b="0" i="1">
                        <a:solidFill>
                          <a:srgbClr val="000000"/>
                        </a:solidFill>
                        <a:latin typeface="Cambria Math" panose="02040503050406030204" pitchFamily="18" charset="0"/>
                        <a:cs typeface="Times New Roman" pitchFamily="18" charset="0"/>
                      </a:rPr>
                      <m:t>0.</m:t>
                    </m:r>
                    <m:r>
                      <a:rPr lang="en-US" altLang="zh-CN" sz="2600" b="0" i="1" smtClean="0">
                        <a:solidFill>
                          <a:srgbClr val="000000"/>
                        </a:solidFill>
                        <a:latin typeface="Cambria Math" panose="02040503050406030204" pitchFamily="18" charset="0"/>
                        <a:cs typeface="Times New Roman" pitchFamily="18" charset="0"/>
                      </a:rPr>
                      <m:t>75</m:t>
                    </m:r>
                    <m:r>
                      <a:rPr lang="en-US" altLang="zh-CN" sz="2600" b="0" i="1">
                        <a:solidFill>
                          <a:srgbClr val="000000"/>
                        </a:solidFill>
                        <a:latin typeface="Cambria Math" panose="02040503050406030204" pitchFamily="18" charset="0"/>
                        <a:cs typeface="Times New Roman" pitchFamily="18" charset="0"/>
                      </a:rPr>
                      <m:t>=0.</m:t>
                    </m:r>
                    <m:r>
                      <a:rPr lang="en-US" altLang="zh-CN" sz="2600" b="0" i="1" smtClean="0">
                        <a:solidFill>
                          <a:srgbClr val="000000"/>
                        </a:solidFill>
                        <a:latin typeface="Cambria Math" panose="02040503050406030204" pitchFamily="18" charset="0"/>
                        <a:cs typeface="Times New Roman" pitchFamily="18" charset="0"/>
                      </a:rPr>
                      <m:t>881</m:t>
                    </m:r>
                    <m:r>
                      <a:rPr lang="en-US" altLang="zh-CN" sz="2600" b="0" i="1">
                        <a:solidFill>
                          <a:srgbClr val="000000"/>
                        </a:solidFill>
                        <a:latin typeface="Cambria Math" panose="02040503050406030204" pitchFamily="18" charset="0"/>
                        <a:cs typeface="Times New Roman" pitchFamily="18" charset="0"/>
                      </a:rPr>
                      <m:t> </m:t>
                    </m:r>
                    <m:r>
                      <m:rPr>
                        <m:sty m:val="p"/>
                      </m:rPr>
                      <a:rPr lang="en-US" altLang="zh-CN" sz="2600" b="0" i="1">
                        <a:solidFill>
                          <a:srgbClr val="000000"/>
                        </a:solidFill>
                        <a:latin typeface="Cambria Math" panose="02040503050406030204" pitchFamily="18" charset="0"/>
                        <a:cs typeface="Times New Roman" pitchFamily="18" charset="0"/>
                      </a:rPr>
                      <m:t>bit</m:t>
                    </m:r>
                    <m:r>
                      <a:rPr lang="zh-CN" altLang="en-US" sz="2600" b="0" i="1" smtClean="0">
                        <a:solidFill>
                          <a:srgbClr val="000000"/>
                        </a:solidFill>
                        <a:latin typeface="Cambria Math" panose="02040503050406030204" pitchFamily="18" charset="0"/>
                        <a:cs typeface="Times New Roman" pitchFamily="18" charset="0"/>
                      </a:rPr>
                      <m:t>。</m:t>
                    </m:r>
                  </m:oMath>
                </a14:m>
                <a:endParaRPr lang="en-US" altLang="zh-CN" sz="2600" dirty="0">
                  <a:solidFill>
                    <a:srgbClr val="000000"/>
                  </a:solidFill>
                  <a:latin typeface="Times New Roman" pitchFamily="18" charset="0"/>
                  <a:cs typeface="Times New Roman" pitchFamily="18" charset="0"/>
                </a:endParaRPr>
              </a:p>
              <a:p>
                <a:pPr eaLnBrk="1" hangingPunct="1">
                  <a:lnSpc>
                    <a:spcPct val="150000"/>
                  </a:lnSpc>
                  <a:defRPr/>
                </a:pPr>
                <a:r>
                  <a:rPr lang="zh-CN" altLang="en-US" sz="2800" dirty="0">
                    <a:solidFill>
                      <a:srgbClr val="000000"/>
                    </a:solidFill>
                    <a:latin typeface="Times New Roman" pitchFamily="18" charset="0"/>
                    <a:cs typeface="Times New Roman" pitchFamily="18" charset="0"/>
                  </a:rPr>
                  <a:t>上述结果表明：信源</a:t>
                </a:r>
                <a14:m>
                  <m:oMath xmlns:m="http://schemas.openxmlformats.org/officeDocument/2006/math">
                    <m:r>
                      <a:rPr lang="en-US" altLang="zh-CN" sz="2800" b="0" smtClean="0">
                        <a:solidFill>
                          <a:srgbClr val="000000"/>
                        </a:solidFill>
                        <a:latin typeface="Cambria Math" panose="02040503050406030204" pitchFamily="18" charset="0"/>
                        <a:cs typeface="Times New Roman" pitchFamily="18" charset="0"/>
                      </a:rPr>
                      <m:t> </m:t>
                    </m:r>
                    <m:sSub>
                      <m:sSubPr>
                        <m:ctrlPr>
                          <a:rPr lang="en-US" altLang="zh-CN" sz="2800" i="1">
                            <a:solidFill>
                              <a:srgbClr val="000000"/>
                            </a:solidFill>
                            <a:latin typeface="Cambria Math" panose="02040503050406030204" pitchFamily="18" charset="0"/>
                            <a:cs typeface="Times New Roman" pitchFamily="18" charset="0"/>
                          </a:rPr>
                        </m:ctrlPr>
                      </m:sSubPr>
                      <m:e>
                        <m:r>
                          <a:rPr lang="en-US" altLang="zh-CN" sz="2800" b="0" i="1">
                            <a:solidFill>
                              <a:srgbClr val="000000"/>
                            </a:solidFill>
                            <a:latin typeface="Cambria Math" panose="02040503050406030204" pitchFamily="18" charset="0"/>
                            <a:cs typeface="Times New Roman" pitchFamily="18" charset="0"/>
                          </a:rPr>
                          <m:t>𝑋</m:t>
                        </m:r>
                      </m:e>
                      <m:sub>
                        <m:r>
                          <a:rPr lang="en-US" altLang="zh-CN" sz="2800" b="0" i="1">
                            <a:solidFill>
                              <a:srgbClr val="000000"/>
                            </a:solidFill>
                            <a:latin typeface="Cambria Math" panose="02040503050406030204" pitchFamily="18" charset="0"/>
                            <a:cs typeface="Times New Roman" pitchFamily="18" charset="0"/>
                          </a:rPr>
                          <m:t>1</m:t>
                        </m:r>
                      </m:sub>
                    </m:sSub>
                  </m:oMath>
                </a14:m>
                <a:r>
                  <a:rPr lang="zh-CN" altLang="en-US" sz="2800" dirty="0">
                    <a:solidFill>
                      <a:srgbClr val="000000"/>
                    </a:solidFill>
                    <a:latin typeface="Times New Roman" pitchFamily="18" charset="0"/>
                    <a:cs typeface="Times New Roman" pitchFamily="18" charset="0"/>
                  </a:rPr>
                  <a:t>的不确定性比</a:t>
                </a:r>
                <a14:m>
                  <m:oMath xmlns:m="http://schemas.openxmlformats.org/officeDocument/2006/math">
                    <m:sSub>
                      <m:sSubPr>
                        <m:ctrlPr>
                          <a:rPr lang="en-US" altLang="zh-CN" sz="2800" i="1">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 </m:t>
                        </m:r>
                        <m:r>
                          <a:rPr lang="en-US" altLang="zh-CN" sz="2800" b="0" i="1">
                            <a:solidFill>
                              <a:srgbClr val="000000"/>
                            </a:solidFill>
                            <a:latin typeface="Cambria Math" panose="02040503050406030204" pitchFamily="18" charset="0"/>
                            <a:cs typeface="Times New Roman" pitchFamily="18" charset="0"/>
                          </a:rPr>
                          <m:t>𝑋</m:t>
                        </m:r>
                      </m:e>
                      <m:sub>
                        <m:r>
                          <a:rPr lang="en-US" altLang="zh-CN" sz="2800" b="0" i="1" smtClean="0">
                            <a:solidFill>
                              <a:srgbClr val="000000"/>
                            </a:solidFill>
                            <a:latin typeface="Cambria Math" panose="02040503050406030204" pitchFamily="18" charset="0"/>
                            <a:cs typeface="Times New Roman" pitchFamily="18" charset="0"/>
                          </a:rPr>
                          <m:t>2</m:t>
                        </m:r>
                      </m:sub>
                    </m:sSub>
                  </m:oMath>
                </a14:m>
                <a:r>
                  <a:rPr lang="zh-CN" altLang="en-US" sz="2800" dirty="0">
                    <a:solidFill>
                      <a:srgbClr val="000000"/>
                    </a:solidFill>
                    <a:latin typeface="Times New Roman" pitchFamily="18" charset="0"/>
                    <a:cs typeface="Times New Roman" pitchFamily="18" charset="0"/>
                  </a:rPr>
                  <a:t>要小。</a:t>
                </a:r>
                <a:endParaRPr lang="en-US" altLang="zh-CN" sz="2800" dirty="0">
                  <a:solidFill>
                    <a:srgbClr val="000000"/>
                  </a:solidFill>
                  <a:latin typeface="Times New Roman" pitchFamily="18" charset="0"/>
                  <a:cs typeface="Times New Roman" pitchFamily="18" charset="0"/>
                </a:endParaRPr>
              </a:p>
            </p:txBody>
          </p:sp>
        </mc:Choice>
        <mc:Fallback xmlns="">
          <p:sp>
            <p:nvSpPr>
              <p:cNvPr id="2" name="Rectangle 2">
                <a:hlinkClick r:id="rId4" action="ppaction://hlinksldjump"/>
                <a:extLst>
                  <a:ext uri="{FF2B5EF4-FFF2-40B4-BE49-F238E27FC236}">
                    <a16:creationId xmlns:a16="http://schemas.microsoft.com/office/drawing/2014/main" id="{753A26E6-8E69-BC05-1035-AA76472E5D53}"/>
                  </a:ext>
                </a:extLst>
              </p:cNvPr>
              <p:cNvSpPr>
                <a:spLocks noRot="1" noChangeAspect="1" noMove="1" noResize="1" noEditPoints="1" noAdjustHandles="1" noChangeArrowheads="1" noChangeShapeType="1" noTextEdit="1"/>
              </p:cNvSpPr>
              <p:nvPr/>
            </p:nvSpPr>
            <p:spPr bwMode="auto">
              <a:xfrm>
                <a:off x="184954" y="903917"/>
                <a:ext cx="8806646" cy="5014514"/>
              </a:xfrm>
              <a:prstGeom prst="rect">
                <a:avLst/>
              </a:prstGeom>
              <a:blipFill>
                <a:blip r:embed="rId5"/>
                <a:stretch>
                  <a:fillRect l="-1384" b="-2066"/>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623B53F-BDE0-C6A0-8BB0-1DE9458EB06B}"/>
              </a:ext>
            </a:extLst>
          </p:cNvPr>
          <p:cNvSpPr>
            <a:spLocks noGrp="1" noChangeArrowheads="1"/>
          </p:cNvSpPr>
          <p:nvPr>
            <p:ph type="body" idx="1"/>
          </p:nvPr>
        </p:nvSpPr>
        <p:spPr>
          <a:xfrm>
            <a:off x="304800" y="152400"/>
            <a:ext cx="396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xmlns:a14="http://schemas.microsoft.com/office/drawing/2010/main">
        <mc:Choice Requires="a14">
          <p:sp>
            <p:nvSpPr>
              <p:cNvPr id="2" name="Rectangle 2">
                <a:hlinkClick r:id="rId3" action="ppaction://hlinksldjump"/>
                <a:extLst>
                  <a:ext uri="{FF2B5EF4-FFF2-40B4-BE49-F238E27FC236}">
                    <a16:creationId xmlns:a16="http://schemas.microsoft.com/office/drawing/2014/main" id="{546C6D62-6AB3-C427-E8BA-C8506B606650}"/>
                  </a:ext>
                </a:extLst>
              </p:cNvPr>
              <p:cNvSpPr>
                <a:spLocks noChangeArrowheads="1"/>
              </p:cNvSpPr>
              <p:nvPr/>
            </p:nvSpPr>
            <p:spPr bwMode="auto">
              <a:xfrm>
                <a:off x="196897" y="751114"/>
                <a:ext cx="8750206" cy="5770426"/>
              </a:xfrm>
              <a:prstGeom prst="rect">
                <a:avLst/>
              </a:prstGeom>
              <a:noFill/>
              <a:ln w="9525">
                <a:noFill/>
                <a:miter lim="800000"/>
                <a:headEnd/>
                <a:tailEnd/>
              </a:ln>
              <a:effectLst/>
            </p:spPr>
            <p:txBody>
              <a:bodyPr wrap="square">
                <a:spAutoFit/>
              </a:bodyPr>
              <a:lstStyle/>
              <a:p>
                <a:pPr marL="457200" indent="-457200" eaLnBrk="1">
                  <a:lnSpc>
                    <a:spcPct val="140000"/>
                  </a:lnSpc>
                  <a:buFont typeface="Wingdings" panose="05000000000000000000" pitchFamily="2" charset="2"/>
                  <a:buChar char="Ø"/>
                  <a:defRPr/>
                </a:pPr>
                <a:r>
                  <a:rPr kumimoji="0" lang="zh-CN" altLang="en-US" sz="2800" dirty="0">
                    <a:latin typeface="宋体" pitchFamily="2" charset="-122"/>
                  </a:rPr>
                  <a:t>信息熵</a:t>
                </a:r>
                <a14:m>
                  <m:oMath xmlns:m="http://schemas.openxmlformats.org/officeDocument/2006/math">
                    <m:r>
                      <a:rPr kumimoji="0" lang="en-US" altLang="zh-CN" sz="2800" b="0" i="1" smtClean="0">
                        <a:latin typeface="Cambria Math" panose="02040503050406030204" pitchFamily="18" charset="0"/>
                      </a:rPr>
                      <m:t> </m:t>
                    </m:r>
                    <m:r>
                      <a:rPr kumimoji="0" lang="en-US" altLang="zh-CN" sz="2800" b="0" i="1" smtClean="0">
                        <a:latin typeface="Cambria Math" panose="02040503050406030204" pitchFamily="18" charset="0"/>
                      </a:rPr>
                      <m:t>𝐻</m:t>
                    </m:r>
                    <m:d>
                      <m:dPr>
                        <m:ctrlPr>
                          <a:rPr kumimoji="0" lang="en-US" altLang="zh-CN" sz="2800" i="1" smtClean="0">
                            <a:latin typeface="Cambria Math" panose="02040503050406030204" pitchFamily="18" charset="0"/>
                          </a:rPr>
                        </m:ctrlPr>
                      </m:dPr>
                      <m:e>
                        <m:r>
                          <a:rPr kumimoji="0" lang="en-US" altLang="zh-CN" sz="2800" b="0" i="1" smtClean="0">
                            <a:latin typeface="Cambria Math" panose="02040503050406030204" pitchFamily="18" charset="0"/>
                          </a:rPr>
                          <m:t>𝑋</m:t>
                        </m:r>
                      </m:e>
                    </m:d>
                    <m:r>
                      <a:rPr kumimoji="0" lang="en-US" altLang="zh-CN" sz="2800" b="0" i="1" smtClean="0">
                        <a:latin typeface="Cambria Math" panose="02040503050406030204" pitchFamily="18" charset="0"/>
                      </a:rPr>
                      <m:t> </m:t>
                    </m:r>
                  </m:oMath>
                </a14:m>
                <a:r>
                  <a:rPr kumimoji="0" lang="zh-CN" altLang="en-US" sz="2800" dirty="0">
                    <a:cs typeface="Times New Roman" pitchFamily="18" charset="0"/>
                  </a:rPr>
                  <a:t>是随机变量</a:t>
                </a:r>
                <a14:m>
                  <m:oMath xmlns:m="http://schemas.openxmlformats.org/officeDocument/2006/math">
                    <m:r>
                      <a:rPr kumimoji="0" lang="en-US" altLang="zh-CN" sz="2800" b="0" i="0" smtClean="0">
                        <a:latin typeface="Cambria Math" panose="02040503050406030204" pitchFamily="18" charset="0"/>
                      </a:rPr>
                      <m:t> </m:t>
                    </m:r>
                    <m:r>
                      <a:rPr kumimoji="0" lang="en-US" altLang="zh-CN" sz="2800" b="0" i="1">
                        <a:latin typeface="Cambria Math" panose="02040503050406030204" pitchFamily="18" charset="0"/>
                      </a:rPr>
                      <m:t>𝑋</m:t>
                    </m:r>
                    <m:r>
                      <a:rPr kumimoji="0" lang="en-US" altLang="zh-CN" sz="2800" b="0" i="1" smtClean="0">
                        <a:latin typeface="Cambria Math" panose="02040503050406030204" pitchFamily="18" charset="0"/>
                      </a:rPr>
                      <m:t> </m:t>
                    </m:r>
                  </m:oMath>
                </a14:m>
                <a:r>
                  <a:rPr kumimoji="0" lang="zh-CN" altLang="en-US" sz="2800" dirty="0">
                    <a:cs typeface="Times New Roman" pitchFamily="18" charset="0"/>
                  </a:rPr>
                  <a:t>的概率分布函数，所以又称</a:t>
                </a:r>
                <a:r>
                  <a:rPr kumimoji="0" lang="zh-CN" altLang="en-US" sz="2800" dirty="0">
                    <a:solidFill>
                      <a:srgbClr val="C00000"/>
                    </a:solidFill>
                    <a:cs typeface="Times New Roman" pitchFamily="18" charset="0"/>
                  </a:rPr>
                  <a:t>熵函数</a:t>
                </a:r>
                <a:r>
                  <a:rPr kumimoji="0" lang="zh-CN" altLang="en-US" sz="2800" dirty="0">
                    <a:cs typeface="Times New Roman" pitchFamily="18" charset="0"/>
                  </a:rPr>
                  <a:t>。</a:t>
                </a:r>
                <a:endParaRPr kumimoji="0" lang="en-US" altLang="zh-CN" sz="2800" dirty="0">
                  <a:cs typeface="Times New Roman" pitchFamily="18" charset="0"/>
                </a:endParaRPr>
              </a:p>
              <a:p>
                <a:pPr marL="457200" indent="-457200" eaLnBrk="1">
                  <a:lnSpc>
                    <a:spcPct val="140000"/>
                  </a:lnSpc>
                  <a:buFont typeface="Wingdings" panose="05000000000000000000" pitchFamily="2" charset="2"/>
                  <a:buChar char="Ø"/>
                  <a:defRPr/>
                </a:pPr>
                <a:r>
                  <a:rPr kumimoji="0" lang="zh-CN" altLang="en-US" sz="2800" dirty="0">
                    <a:cs typeface="Times New Roman" pitchFamily="18" charset="0"/>
                  </a:rPr>
                  <a:t>如果把概率分布</a:t>
                </a:r>
                <a14:m>
                  <m:oMath xmlns:m="http://schemas.openxmlformats.org/officeDocument/2006/math">
                    <m:r>
                      <a:rPr kumimoji="0" lang="en-US" altLang="zh-CN" sz="2800" b="0" i="1" smtClean="0">
                        <a:latin typeface="Cambria Math" panose="02040503050406030204" pitchFamily="18" charset="0"/>
                        <a:cs typeface="Times New Roman" pitchFamily="18" charset="0"/>
                      </a:rPr>
                      <m:t> </m:t>
                    </m:r>
                    <m:r>
                      <a:rPr kumimoji="0" lang="en-US" altLang="zh-CN" sz="2800" b="0" i="1" smtClean="0">
                        <a:latin typeface="Cambria Math" panose="02040503050406030204" pitchFamily="18" charset="0"/>
                        <a:cs typeface="Times New Roman" pitchFamily="18" charset="0"/>
                      </a:rPr>
                      <m:t>𝑝</m:t>
                    </m:r>
                    <m:d>
                      <m:dPr>
                        <m:ctrlPr>
                          <a:rPr kumimoji="0" lang="en-US" altLang="zh-CN" sz="2800" i="1" smtClean="0">
                            <a:latin typeface="Cambria Math" panose="02040503050406030204" pitchFamily="18" charset="0"/>
                            <a:cs typeface="Times New Roman" pitchFamily="18" charset="0"/>
                          </a:rPr>
                        </m:ctrlPr>
                      </m:dPr>
                      <m:e>
                        <m:sSub>
                          <m:sSubPr>
                            <m:ctrlPr>
                              <a:rPr kumimoji="0" lang="en-US" altLang="zh-CN" sz="2800" i="1" smtClean="0">
                                <a:latin typeface="Cambria Math" panose="02040503050406030204" pitchFamily="18" charset="0"/>
                                <a:cs typeface="Times New Roman" pitchFamily="18" charset="0"/>
                              </a:rPr>
                            </m:ctrlPr>
                          </m:sSubPr>
                          <m:e>
                            <m:r>
                              <a:rPr kumimoji="0" lang="en-US" altLang="zh-CN" sz="2800" b="0" i="1" smtClean="0">
                                <a:latin typeface="Cambria Math" panose="02040503050406030204" pitchFamily="18" charset="0"/>
                                <a:cs typeface="Times New Roman" pitchFamily="18" charset="0"/>
                              </a:rPr>
                              <m:t>𝑎</m:t>
                            </m:r>
                          </m:e>
                          <m:sub>
                            <m:r>
                              <a:rPr kumimoji="0" lang="en-US" altLang="zh-CN" sz="2800" b="0" i="1" smtClean="0">
                                <a:latin typeface="Cambria Math" panose="02040503050406030204" pitchFamily="18" charset="0"/>
                                <a:cs typeface="Times New Roman" pitchFamily="18" charset="0"/>
                              </a:rPr>
                              <m:t>1</m:t>
                            </m:r>
                          </m:sub>
                        </m:sSub>
                      </m:e>
                    </m:d>
                    <m:r>
                      <a:rPr lang="zh-CN" altLang="en-US" sz="2800" i="1">
                        <a:latin typeface="Cambria Math" panose="02040503050406030204" pitchFamily="18" charset="0"/>
                        <a:cs typeface="Times New Roman" pitchFamily="18" charset="0"/>
                      </a:rPr>
                      <m:t>，</m:t>
                    </m:r>
                    <m:r>
                      <a:rPr kumimoji="0" lang="en-US" altLang="zh-CN" sz="2800" b="0" i="1" smtClean="0">
                        <a:latin typeface="Cambria Math" panose="02040503050406030204" pitchFamily="18" charset="0"/>
                        <a:cs typeface="Times New Roman" pitchFamily="18" charset="0"/>
                      </a:rPr>
                      <m:t>…</m:t>
                    </m:r>
                    <m:r>
                      <a:rPr lang="zh-CN" altLang="en-US" sz="2800" i="1">
                        <a:latin typeface="Cambria Math" panose="02040503050406030204" pitchFamily="18" charset="0"/>
                        <a:cs typeface="Times New Roman" pitchFamily="18" charset="0"/>
                      </a:rPr>
                      <m:t>，</m:t>
                    </m:r>
                    <m:r>
                      <a:rPr kumimoji="0" lang="en-US" altLang="zh-CN" sz="2800" b="0" i="1" smtClean="0">
                        <a:latin typeface="Cambria Math" panose="02040503050406030204" pitchFamily="18" charset="0"/>
                        <a:cs typeface="Times New Roman" pitchFamily="18" charset="0"/>
                      </a:rPr>
                      <m:t>𝑝</m:t>
                    </m:r>
                    <m:d>
                      <m:dPr>
                        <m:ctrlPr>
                          <a:rPr kumimoji="0" lang="en-US" altLang="zh-CN" sz="2800" i="1" smtClean="0">
                            <a:latin typeface="Cambria Math" panose="02040503050406030204" pitchFamily="18" charset="0"/>
                            <a:cs typeface="Times New Roman" pitchFamily="18" charset="0"/>
                          </a:rPr>
                        </m:ctrlPr>
                      </m:dPr>
                      <m:e>
                        <m:sSub>
                          <m:sSubPr>
                            <m:ctrlPr>
                              <a:rPr kumimoji="0" lang="en-US" altLang="zh-CN" sz="2800" i="1" smtClean="0">
                                <a:latin typeface="Cambria Math" panose="02040503050406030204" pitchFamily="18" charset="0"/>
                                <a:cs typeface="Times New Roman" pitchFamily="18" charset="0"/>
                              </a:rPr>
                            </m:ctrlPr>
                          </m:sSubPr>
                          <m:e>
                            <m:r>
                              <a:rPr kumimoji="0" lang="en-US" altLang="zh-CN" sz="2800" b="0" i="1" smtClean="0">
                                <a:latin typeface="Cambria Math" panose="02040503050406030204" pitchFamily="18" charset="0"/>
                                <a:cs typeface="Times New Roman" pitchFamily="18" charset="0"/>
                              </a:rPr>
                              <m:t>𝑎</m:t>
                            </m:r>
                          </m:e>
                          <m:sub>
                            <m:r>
                              <a:rPr kumimoji="0" lang="en-US" altLang="zh-CN" sz="2800" b="0" i="1" smtClean="0">
                                <a:latin typeface="Cambria Math" panose="02040503050406030204" pitchFamily="18" charset="0"/>
                                <a:cs typeface="Times New Roman" pitchFamily="18" charset="0"/>
                              </a:rPr>
                              <m:t>𝑞</m:t>
                            </m:r>
                          </m:sub>
                        </m:sSub>
                      </m:e>
                    </m:d>
                    <m:r>
                      <a:rPr kumimoji="0" lang="en-US" altLang="zh-CN" sz="2800" b="0" i="1" smtClean="0">
                        <a:latin typeface="Cambria Math" panose="02040503050406030204" pitchFamily="18" charset="0"/>
                        <a:cs typeface="Times New Roman" pitchFamily="18" charset="0"/>
                      </a:rPr>
                      <m:t> </m:t>
                    </m:r>
                  </m:oMath>
                </a14:m>
                <a:r>
                  <a:rPr kumimoji="0" lang="zh-CN" altLang="en-US" sz="2800" dirty="0">
                    <a:cs typeface="Times New Roman" pitchFamily="18" charset="0"/>
                  </a:rPr>
                  <a:t>记为</a:t>
                </a:r>
                <a14:m>
                  <m:oMath xmlns:m="http://schemas.openxmlformats.org/officeDocument/2006/math">
                    <m:r>
                      <a:rPr kumimoji="0" lang="en-US" altLang="zh-CN" sz="2800" b="0" i="1" smtClean="0">
                        <a:latin typeface="Cambria Math" panose="02040503050406030204" pitchFamily="18" charset="0"/>
                        <a:cs typeface="Times New Roman" pitchFamily="18" charset="0"/>
                      </a:rPr>
                      <m:t> </m:t>
                    </m:r>
                    <m:sSub>
                      <m:sSubPr>
                        <m:ctrlPr>
                          <a:rPr kumimoji="0" lang="en-US" altLang="zh-CN" sz="2800" i="1" smtClean="0">
                            <a:latin typeface="Cambria Math" panose="02040503050406030204" pitchFamily="18" charset="0"/>
                            <a:cs typeface="Times New Roman" pitchFamily="18" charset="0"/>
                          </a:rPr>
                        </m:ctrlPr>
                      </m:sSubPr>
                      <m:e>
                        <m:r>
                          <a:rPr kumimoji="0" lang="en-US" altLang="zh-CN" sz="2800" b="0" i="1" smtClean="0">
                            <a:latin typeface="Cambria Math" panose="02040503050406030204" pitchFamily="18" charset="0"/>
                            <a:cs typeface="Times New Roman" pitchFamily="18" charset="0"/>
                          </a:rPr>
                          <m:t>𝑝</m:t>
                        </m:r>
                      </m:e>
                      <m:sub>
                        <m:r>
                          <a:rPr kumimoji="0" lang="en-US" altLang="zh-CN" sz="2800" b="0" i="1" smtClean="0">
                            <a:latin typeface="Cambria Math" panose="02040503050406030204" pitchFamily="18" charset="0"/>
                            <a:cs typeface="Times New Roman" pitchFamily="18" charset="0"/>
                          </a:rPr>
                          <m:t>1</m:t>
                        </m:r>
                      </m:sub>
                    </m:sSub>
                    <m:r>
                      <a:rPr lang="zh-CN" altLang="en-US" sz="2800" i="1">
                        <a:latin typeface="Cambria Math" panose="02040503050406030204" pitchFamily="18" charset="0"/>
                        <a:cs typeface="Times New Roman" pitchFamily="18" charset="0"/>
                      </a:rPr>
                      <m:t>，</m:t>
                    </m:r>
                    <m:r>
                      <a:rPr kumimoji="0" lang="en-US" altLang="zh-CN" sz="2800" b="0" i="1" smtClean="0">
                        <a:latin typeface="Cambria Math" panose="02040503050406030204" pitchFamily="18" charset="0"/>
                        <a:cs typeface="Times New Roman" pitchFamily="18" charset="0"/>
                      </a:rPr>
                      <m:t>…</m:t>
                    </m:r>
                    <m:r>
                      <a:rPr lang="zh-CN" altLang="en-US" sz="2800" i="1">
                        <a:latin typeface="Cambria Math" panose="02040503050406030204" pitchFamily="18" charset="0"/>
                        <a:cs typeface="Times New Roman" pitchFamily="18" charset="0"/>
                      </a:rPr>
                      <m:t>，</m:t>
                    </m:r>
                    <m:sSub>
                      <m:sSubPr>
                        <m:ctrlPr>
                          <a:rPr kumimoji="0" lang="en-US" altLang="zh-CN" sz="2800" i="1" smtClean="0">
                            <a:latin typeface="Cambria Math" panose="02040503050406030204" pitchFamily="18" charset="0"/>
                            <a:cs typeface="Times New Roman" pitchFamily="18" charset="0"/>
                          </a:rPr>
                        </m:ctrlPr>
                      </m:sSubPr>
                      <m:e>
                        <m:r>
                          <a:rPr kumimoji="0" lang="en-US" altLang="zh-CN" sz="2800" b="0" i="1" smtClean="0">
                            <a:latin typeface="Cambria Math" panose="02040503050406030204" pitchFamily="18" charset="0"/>
                            <a:cs typeface="Times New Roman" pitchFamily="18" charset="0"/>
                          </a:rPr>
                          <m:t>𝑝</m:t>
                        </m:r>
                      </m:e>
                      <m:sub>
                        <m:r>
                          <a:rPr kumimoji="0" lang="en-US" altLang="zh-CN" sz="2800" b="0" i="1" smtClean="0">
                            <a:latin typeface="Cambria Math" panose="02040503050406030204" pitchFamily="18" charset="0"/>
                            <a:cs typeface="Times New Roman" pitchFamily="18" charset="0"/>
                          </a:rPr>
                          <m:t>𝑞</m:t>
                        </m:r>
                      </m:sub>
                    </m:sSub>
                  </m:oMath>
                </a14:m>
                <a:r>
                  <a:rPr kumimoji="0" lang="zh-CN" altLang="en-US" sz="2800" dirty="0">
                    <a:cs typeface="Times New Roman" pitchFamily="18" charset="0"/>
                  </a:rPr>
                  <a:t>，则熵函数可以写为概率矢量</a:t>
                </a:r>
                <a14:m>
                  <m:oMath xmlns:m="http://schemas.openxmlformats.org/officeDocument/2006/math">
                    <m:r>
                      <a:rPr kumimoji="0" lang="en-US" altLang="zh-CN" sz="2800" b="0" i="0" smtClean="0">
                        <a:latin typeface="Cambria Math" panose="02040503050406030204" pitchFamily="18" charset="0"/>
                        <a:cs typeface="Times New Roman" pitchFamily="18" charset="0"/>
                      </a:rPr>
                      <m:t> </m:t>
                    </m:r>
                    <m:acc>
                      <m:accPr>
                        <m:chr m:val="̅"/>
                        <m:ctrlPr>
                          <a:rPr kumimoji="0" lang="en-US" altLang="zh-CN" sz="2800" i="1" smtClean="0">
                            <a:latin typeface="Cambria Math" panose="02040503050406030204" pitchFamily="18" charset="0"/>
                            <a:cs typeface="Times New Roman" pitchFamily="18" charset="0"/>
                          </a:rPr>
                        </m:ctrlPr>
                      </m:accPr>
                      <m:e>
                        <m:r>
                          <a:rPr kumimoji="0" lang="en-US" altLang="zh-CN" sz="2800" b="0" i="1" smtClean="0">
                            <a:latin typeface="Cambria Math" panose="02040503050406030204" pitchFamily="18" charset="0"/>
                            <a:cs typeface="Times New Roman" pitchFamily="18" charset="0"/>
                          </a:rPr>
                          <m:t>𝑝</m:t>
                        </m:r>
                      </m:e>
                    </m:acc>
                    <m:r>
                      <a:rPr kumimoji="0" lang="en-US" altLang="zh-CN" sz="2800" b="0" i="1" smtClean="0">
                        <a:latin typeface="Cambria Math" panose="02040503050406030204" pitchFamily="18" charset="0"/>
                        <a:cs typeface="Times New Roman" pitchFamily="18" charset="0"/>
                      </a:rPr>
                      <m:t>=</m:t>
                    </m:r>
                    <m:d>
                      <m:dPr>
                        <m:ctrlPr>
                          <a:rPr kumimoji="0" lang="en-US" altLang="zh-CN" sz="2800" i="1" smtClean="0">
                            <a:latin typeface="Cambria Math" panose="02040503050406030204" pitchFamily="18" charset="0"/>
                            <a:cs typeface="Times New Roman" pitchFamily="18" charset="0"/>
                          </a:rPr>
                        </m:ctrlPr>
                      </m:dPr>
                      <m:e>
                        <m:sSub>
                          <m:sSubPr>
                            <m:ctrlPr>
                              <a:rPr kumimoji="0" lang="en-US" altLang="zh-CN" sz="2800" i="1" smtClean="0">
                                <a:latin typeface="Cambria Math" panose="02040503050406030204" pitchFamily="18" charset="0"/>
                                <a:cs typeface="Times New Roman" pitchFamily="18" charset="0"/>
                              </a:rPr>
                            </m:ctrlPr>
                          </m:sSubPr>
                          <m:e>
                            <m:r>
                              <a:rPr kumimoji="0" lang="en-US" altLang="zh-CN" sz="2800" b="0" i="1" smtClean="0">
                                <a:latin typeface="Cambria Math" panose="02040503050406030204" pitchFamily="18" charset="0"/>
                                <a:cs typeface="Times New Roman" pitchFamily="18" charset="0"/>
                              </a:rPr>
                              <m:t>𝑝</m:t>
                            </m:r>
                          </m:e>
                          <m:sub>
                            <m:r>
                              <a:rPr kumimoji="0" lang="en-US" altLang="zh-CN" sz="2800" b="0" i="1" smtClean="0">
                                <a:latin typeface="Cambria Math" panose="02040503050406030204" pitchFamily="18" charset="0"/>
                                <a:cs typeface="Times New Roman" pitchFamily="18" charset="0"/>
                              </a:rPr>
                              <m:t>1</m:t>
                            </m:r>
                          </m:sub>
                        </m:sSub>
                        <m:r>
                          <a:rPr lang="zh-CN" altLang="en-US" sz="2800" i="1">
                            <a:latin typeface="Cambria Math" panose="02040503050406030204" pitchFamily="18" charset="0"/>
                            <a:cs typeface="Times New Roman" pitchFamily="18" charset="0"/>
                          </a:rPr>
                          <m:t>，</m:t>
                        </m:r>
                        <m:r>
                          <a:rPr kumimoji="0" lang="en-US" altLang="zh-CN" sz="2800" b="0" i="1" smtClean="0">
                            <a:latin typeface="Cambria Math" panose="02040503050406030204" pitchFamily="18" charset="0"/>
                            <a:cs typeface="Times New Roman" pitchFamily="18" charset="0"/>
                          </a:rPr>
                          <m:t>…</m:t>
                        </m:r>
                        <m:r>
                          <a:rPr lang="zh-CN" altLang="en-US" sz="2800" i="1">
                            <a:latin typeface="Cambria Math" panose="02040503050406030204" pitchFamily="18" charset="0"/>
                            <a:cs typeface="Times New Roman" pitchFamily="18" charset="0"/>
                          </a:rPr>
                          <m:t>，</m:t>
                        </m:r>
                        <m:sSub>
                          <m:sSubPr>
                            <m:ctrlPr>
                              <a:rPr kumimoji="0" lang="en-US" altLang="zh-CN" sz="2800" i="1" smtClean="0">
                                <a:latin typeface="Cambria Math" panose="02040503050406030204" pitchFamily="18" charset="0"/>
                                <a:cs typeface="Times New Roman" pitchFamily="18" charset="0"/>
                              </a:rPr>
                            </m:ctrlPr>
                          </m:sSubPr>
                          <m:e>
                            <m:r>
                              <a:rPr kumimoji="0" lang="en-US" altLang="zh-CN" sz="2800" b="0" i="1" smtClean="0">
                                <a:latin typeface="Cambria Math" panose="02040503050406030204" pitchFamily="18" charset="0"/>
                                <a:cs typeface="Times New Roman" pitchFamily="18" charset="0"/>
                              </a:rPr>
                              <m:t>𝑝</m:t>
                            </m:r>
                          </m:e>
                          <m:sub>
                            <m:r>
                              <a:rPr kumimoji="0" lang="en-US" altLang="zh-CN" sz="2800" b="0" i="1" smtClean="0">
                                <a:latin typeface="Cambria Math" panose="02040503050406030204" pitchFamily="18" charset="0"/>
                                <a:cs typeface="Times New Roman" pitchFamily="18" charset="0"/>
                              </a:rPr>
                              <m:t>𝑞</m:t>
                            </m:r>
                          </m:sub>
                        </m:sSub>
                      </m:e>
                    </m:d>
                    <m:r>
                      <a:rPr kumimoji="0" lang="en-US" altLang="zh-CN" sz="2800" b="0" i="1" smtClean="0">
                        <a:latin typeface="Cambria Math" panose="02040503050406030204" pitchFamily="18" charset="0"/>
                        <a:cs typeface="Times New Roman" pitchFamily="18" charset="0"/>
                      </a:rPr>
                      <m:t> </m:t>
                    </m:r>
                  </m:oMath>
                </a14:m>
                <a:r>
                  <a:rPr kumimoji="0" lang="zh-CN" altLang="en-US" sz="2800" dirty="0">
                    <a:cs typeface="Times New Roman" pitchFamily="18" charset="0"/>
                  </a:rPr>
                  <a:t>的函数，记为</a:t>
                </a:r>
                <a14:m>
                  <m:oMath xmlns:m="http://schemas.openxmlformats.org/officeDocument/2006/math">
                    <m:r>
                      <a:rPr kumimoji="0" lang="en-US" altLang="zh-CN" sz="2800" b="0" i="1" smtClean="0">
                        <a:latin typeface="Cambria Math" panose="02040503050406030204" pitchFamily="18" charset="0"/>
                        <a:cs typeface="Times New Roman" pitchFamily="18" charset="0"/>
                      </a:rPr>
                      <m:t> </m:t>
                    </m:r>
                    <m:r>
                      <a:rPr kumimoji="0" lang="en-US" altLang="zh-CN" sz="2800" b="0" i="1" smtClean="0">
                        <a:solidFill>
                          <a:srgbClr val="C00000"/>
                        </a:solidFill>
                        <a:latin typeface="Cambria Math" panose="02040503050406030204" pitchFamily="18" charset="0"/>
                        <a:cs typeface="Times New Roman" pitchFamily="18" charset="0"/>
                      </a:rPr>
                      <m:t>𝐻</m:t>
                    </m:r>
                    <m:d>
                      <m:dPr>
                        <m:ctrlPr>
                          <a:rPr kumimoji="0" lang="en-US" altLang="zh-CN" sz="2800" i="1" smtClean="0">
                            <a:solidFill>
                              <a:srgbClr val="C00000"/>
                            </a:solidFill>
                            <a:latin typeface="Cambria Math" panose="02040503050406030204" pitchFamily="18" charset="0"/>
                            <a:cs typeface="Times New Roman" pitchFamily="18" charset="0"/>
                          </a:rPr>
                        </m:ctrlPr>
                      </m:dPr>
                      <m:e>
                        <m:acc>
                          <m:accPr>
                            <m:chr m:val="̅"/>
                            <m:ctrlPr>
                              <a:rPr kumimoji="0" lang="en-US" altLang="zh-CN" sz="2800" i="1" smtClean="0">
                                <a:solidFill>
                                  <a:srgbClr val="C00000"/>
                                </a:solidFill>
                                <a:latin typeface="Cambria Math" panose="02040503050406030204" pitchFamily="18" charset="0"/>
                                <a:cs typeface="Times New Roman" pitchFamily="18" charset="0"/>
                              </a:rPr>
                            </m:ctrlPr>
                          </m:accPr>
                          <m:e>
                            <m:r>
                              <a:rPr kumimoji="0" lang="en-US" altLang="zh-CN" sz="2800" b="0" i="1">
                                <a:solidFill>
                                  <a:srgbClr val="C00000"/>
                                </a:solidFill>
                                <a:latin typeface="Cambria Math" panose="02040503050406030204" pitchFamily="18" charset="0"/>
                                <a:cs typeface="Times New Roman" pitchFamily="18" charset="0"/>
                              </a:rPr>
                              <m:t>𝑝</m:t>
                            </m:r>
                          </m:e>
                        </m:acc>
                      </m:e>
                    </m:d>
                  </m:oMath>
                </a14:m>
                <a:r>
                  <a:rPr kumimoji="0" lang="zh-CN" altLang="en-US" sz="2800" dirty="0">
                    <a:cs typeface="Times New Roman" pitchFamily="18" charset="0"/>
                  </a:rPr>
                  <a:t>。</a:t>
                </a:r>
                <a:endParaRPr kumimoji="0" lang="en-US" altLang="zh-CN" sz="2800" dirty="0">
                  <a:cs typeface="Times New Roman" pitchFamily="18" charset="0"/>
                </a:endParaRPr>
              </a:p>
              <a:p>
                <a:pPr marL="457200" indent="-457200" eaLnBrk="1">
                  <a:lnSpc>
                    <a:spcPct val="140000"/>
                  </a:lnSpc>
                  <a:buFont typeface="Wingdings" panose="05000000000000000000" pitchFamily="2" charset="2"/>
                  <a:buChar char="Ø"/>
                  <a:defRPr/>
                </a:pPr>
                <a:r>
                  <a:rPr kumimoji="0" lang="zh-CN" altLang="en-US" sz="2800" dirty="0">
                    <a:cs typeface="Times New Roman" pitchFamily="18" charset="0"/>
                  </a:rPr>
                  <a:t>注意到 </a:t>
                </a:r>
                <a14:m>
                  <m:oMath xmlns:m="http://schemas.openxmlformats.org/officeDocument/2006/math">
                    <m:nary>
                      <m:naryPr>
                        <m:chr m:val="∑"/>
                        <m:limLoc m:val="subSup"/>
                        <m:ctrlPr>
                          <a:rPr kumimoji="0" lang="zh-CN" altLang="en-US" sz="2800" i="1" smtClean="0">
                            <a:latin typeface="Cambria Math" panose="02040503050406030204" pitchFamily="18" charset="0"/>
                            <a:cs typeface="Times New Roman" pitchFamily="18" charset="0"/>
                          </a:rPr>
                        </m:ctrlPr>
                      </m:naryPr>
                      <m:sub>
                        <m:r>
                          <m:rPr>
                            <m:brk m:alnAt="25"/>
                          </m:rPr>
                          <a:rPr kumimoji="0" lang="en-US" altLang="zh-CN" sz="2800" b="0" i="1" smtClean="0">
                            <a:latin typeface="Cambria Math" panose="02040503050406030204" pitchFamily="18" charset="0"/>
                            <a:cs typeface="Times New Roman" pitchFamily="18" charset="0"/>
                          </a:rPr>
                          <m:t>𝑖</m:t>
                        </m:r>
                        <m:r>
                          <a:rPr kumimoji="0" lang="en-US" altLang="zh-CN" sz="2800" b="0" i="1" smtClean="0">
                            <a:latin typeface="Cambria Math" panose="02040503050406030204" pitchFamily="18" charset="0"/>
                            <a:cs typeface="Times New Roman" pitchFamily="18" charset="0"/>
                          </a:rPr>
                          <m:t>=1</m:t>
                        </m:r>
                      </m:sub>
                      <m:sup>
                        <m:r>
                          <a:rPr kumimoji="0" lang="en-US" altLang="zh-CN" sz="2800" b="0" i="1" smtClean="0">
                            <a:latin typeface="Cambria Math" panose="02040503050406030204" pitchFamily="18" charset="0"/>
                            <a:cs typeface="Times New Roman" pitchFamily="18" charset="0"/>
                          </a:rPr>
                          <m:t>𝑞</m:t>
                        </m:r>
                      </m:sup>
                      <m:e>
                        <m:sSub>
                          <m:sSubPr>
                            <m:ctrlPr>
                              <a:rPr kumimoji="0" lang="en-US" altLang="zh-CN" sz="2800" i="1" smtClean="0">
                                <a:latin typeface="Cambria Math" panose="02040503050406030204" pitchFamily="18" charset="0"/>
                                <a:cs typeface="Times New Roman" pitchFamily="18" charset="0"/>
                              </a:rPr>
                            </m:ctrlPr>
                          </m:sSubPr>
                          <m:e>
                            <m:r>
                              <a:rPr kumimoji="0" lang="en-US" altLang="zh-CN" sz="2800" b="0" i="1" smtClean="0">
                                <a:latin typeface="Cambria Math" panose="02040503050406030204" pitchFamily="18" charset="0"/>
                                <a:cs typeface="Times New Roman" pitchFamily="18" charset="0"/>
                              </a:rPr>
                              <m:t>𝑝</m:t>
                            </m:r>
                          </m:e>
                          <m:sub>
                            <m:r>
                              <a:rPr kumimoji="0" lang="en-US" altLang="zh-CN" sz="2800" b="0" i="1" smtClean="0">
                                <a:latin typeface="Cambria Math" panose="02040503050406030204" pitchFamily="18" charset="0"/>
                                <a:cs typeface="Times New Roman" pitchFamily="18" charset="0"/>
                              </a:rPr>
                              <m:t>𝑖</m:t>
                            </m:r>
                          </m:sub>
                        </m:sSub>
                      </m:e>
                    </m:nary>
                    <m:r>
                      <a:rPr kumimoji="0" lang="en-US" altLang="zh-CN" sz="2800" b="0" i="1" smtClean="0">
                        <a:latin typeface="Cambria Math" panose="02040503050406030204" pitchFamily="18" charset="0"/>
                        <a:cs typeface="Times New Roman" pitchFamily="18" charset="0"/>
                      </a:rPr>
                      <m:t>=1</m:t>
                    </m:r>
                  </m:oMath>
                </a14:m>
                <a:r>
                  <a:rPr kumimoji="0" lang="zh-CN" altLang="en-US" sz="2800" dirty="0">
                    <a:cs typeface="Times New Roman" pitchFamily="18" charset="0"/>
                  </a:rPr>
                  <a:t>，因此</a:t>
                </a:r>
                <a14:m>
                  <m:oMath xmlns:m="http://schemas.openxmlformats.org/officeDocument/2006/math">
                    <m:r>
                      <a:rPr lang="en-US" altLang="zh-CN" sz="2800" b="0" i="0" smtClean="0">
                        <a:latin typeface="Cambria Math" panose="02040503050406030204" pitchFamily="18" charset="0"/>
                      </a:rPr>
                      <m:t> </m:t>
                    </m:r>
                  </m:oMath>
                </a14:m>
                <a:endParaRPr lang="en-US" altLang="zh-CN" sz="2800" i="0" dirty="0">
                  <a:latin typeface="Cambria Math" panose="02040503050406030204" pitchFamily="18" charset="0"/>
                </a:endParaRPr>
              </a:p>
              <a:p>
                <a:pPr eaLnBrk="1">
                  <a:lnSpc>
                    <a:spcPct val="140000"/>
                  </a:lnSpc>
                  <a:defRPr/>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𝐻</m:t>
                      </m:r>
                      <m:d>
                        <m:dPr>
                          <m:ctrlPr>
                            <a:rPr lang="en-US" altLang="zh-CN" sz="2800" i="1" smtClean="0">
                              <a:latin typeface="Cambria Math" panose="02040503050406030204" pitchFamily="18" charset="0"/>
                            </a:rPr>
                          </m:ctrlPr>
                        </m:dPr>
                        <m:e>
                          <m:r>
                            <a:rPr lang="en-US" altLang="zh-CN" sz="2800" b="0" i="1" smtClean="0">
                              <a:latin typeface="Cambria Math" panose="02040503050406030204" pitchFamily="18" charset="0"/>
                            </a:rPr>
                            <m:t>𝑋</m:t>
                          </m:r>
                        </m:e>
                      </m:d>
                      <m:r>
                        <a:rPr lang="en-US" altLang="zh-CN" sz="2800" b="0" i="1" smtClean="0">
                          <a:latin typeface="Cambria Math" panose="02040503050406030204" pitchFamily="18" charset="0"/>
                        </a:rPr>
                        <m:t>=</m:t>
                      </m:r>
                      <m:r>
                        <a:rPr lang="en-US" altLang="zh-CN" sz="2800" b="0" i="1">
                          <a:latin typeface="Cambria Math" panose="02040503050406030204" pitchFamily="18" charset="0"/>
                        </a:rPr>
                        <m:t>−</m:t>
                      </m:r>
                      <m:nary>
                        <m:naryPr>
                          <m:chr m:val="∑"/>
                          <m:limLoc m:val="subSup"/>
                          <m:ctrlPr>
                            <a:rPr lang="en-US" altLang="zh-CN" sz="2800" i="1" smtClean="0">
                              <a:latin typeface="Cambria Math" panose="02040503050406030204" pitchFamily="18" charset="0"/>
                            </a:rPr>
                          </m:ctrlPr>
                        </m:naryPr>
                        <m:sub>
                          <m:r>
                            <m:rPr>
                              <m:brk m:alnAt="25"/>
                            </m:rP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=1</m:t>
                          </m:r>
                        </m:sub>
                        <m:sup>
                          <m:r>
                            <a:rPr lang="en-US" altLang="zh-CN" sz="2800" b="0" i="1" smtClean="0">
                              <a:latin typeface="Cambria Math" panose="02040503050406030204" pitchFamily="18" charset="0"/>
                            </a:rPr>
                            <m:t>𝑞</m:t>
                          </m:r>
                        </m:sup>
                        <m:e>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𝑝</m:t>
                              </m:r>
                            </m:e>
                            <m:sub>
                              <m:r>
                                <a:rPr lang="en-US" altLang="zh-CN" sz="2800" b="0" i="1" smtClean="0">
                                  <a:latin typeface="Cambria Math" panose="02040503050406030204" pitchFamily="18" charset="0"/>
                                </a:rPr>
                                <m:t>𝑖</m:t>
                              </m:r>
                            </m:sub>
                          </m:sSub>
                        </m:e>
                      </m:nary>
                      <m:r>
                        <m:rPr>
                          <m:sty m:val="p"/>
                        </m:rPr>
                        <a:rPr kumimoji="0" lang="en-US" altLang="zh-CN" sz="2800" b="0" i="1">
                          <a:latin typeface="Cambria Math" panose="02040503050406030204" pitchFamily="18" charset="0"/>
                          <a:cs typeface="Times New Roman" pitchFamily="18" charset="0"/>
                        </a:rPr>
                        <m:t>log</m:t>
                      </m:r>
                      <m:r>
                        <a:rPr kumimoji="0" lang="en-US" altLang="zh-CN" sz="2800" b="0">
                          <a:latin typeface="Cambria Math" panose="02040503050406030204" pitchFamily="18" charset="0"/>
                          <a:cs typeface="Times New Roman" pitchFamily="18" charset="0"/>
                        </a:rPr>
                        <m:t> </m:t>
                      </m:r>
                      <m:d>
                        <m:dPr>
                          <m:ctrlPr>
                            <a:rPr kumimoji="0" lang="en-US" altLang="zh-CN" sz="2800" i="1" smtClean="0">
                              <a:latin typeface="Cambria Math" panose="02040503050406030204" pitchFamily="18" charset="0"/>
                              <a:cs typeface="Times New Roman" pitchFamily="18" charset="0"/>
                            </a:rPr>
                          </m:ctrlPr>
                        </m:dPr>
                        <m:e>
                          <m:sSub>
                            <m:sSubPr>
                              <m:ctrlPr>
                                <a:rPr kumimoji="0" lang="en-US" altLang="zh-CN" sz="2800" i="1" smtClean="0">
                                  <a:latin typeface="Cambria Math" panose="02040503050406030204" pitchFamily="18" charset="0"/>
                                  <a:cs typeface="Times New Roman" pitchFamily="18" charset="0"/>
                                </a:rPr>
                              </m:ctrlPr>
                            </m:sSubPr>
                            <m:e>
                              <m:r>
                                <a:rPr kumimoji="0" lang="en-US" altLang="zh-CN" sz="2800" b="0" i="1">
                                  <a:latin typeface="Cambria Math" panose="02040503050406030204" pitchFamily="18" charset="0"/>
                                  <a:cs typeface="Times New Roman" pitchFamily="18" charset="0"/>
                                </a:rPr>
                                <m:t>𝑝</m:t>
                              </m:r>
                            </m:e>
                            <m:sub>
                              <m:r>
                                <a:rPr kumimoji="0" lang="en-US" altLang="zh-CN" sz="2800" b="0" i="1" smtClean="0">
                                  <a:latin typeface="Cambria Math" panose="02040503050406030204" pitchFamily="18" charset="0"/>
                                  <a:cs typeface="Times New Roman" pitchFamily="18" charset="0"/>
                                </a:rPr>
                                <m:t>𝑖</m:t>
                              </m:r>
                            </m:sub>
                          </m:sSub>
                        </m:e>
                      </m:d>
                      <m:r>
                        <a:rPr kumimoji="0" lang="en-US" altLang="zh-CN" sz="2800" b="0" i="1" smtClean="0">
                          <a:latin typeface="Cambria Math" panose="02040503050406030204" pitchFamily="18" charset="0"/>
                          <a:cs typeface="Times New Roman" pitchFamily="18" charset="0"/>
                        </a:rPr>
                        <m:t>=</m:t>
                      </m:r>
                      <m:r>
                        <a:rPr kumimoji="0" lang="en-US" altLang="zh-CN" sz="2800" b="0" i="1" smtClean="0">
                          <a:latin typeface="Cambria Math" panose="02040503050406030204" pitchFamily="18" charset="0"/>
                          <a:cs typeface="Times New Roman" pitchFamily="18" charset="0"/>
                        </a:rPr>
                        <m:t>𝐻</m:t>
                      </m:r>
                      <m:d>
                        <m:dPr>
                          <m:ctrlPr>
                            <a:rPr kumimoji="0" lang="en-US" altLang="zh-CN" sz="2800" i="1" smtClean="0">
                              <a:latin typeface="Cambria Math" panose="02040503050406030204" pitchFamily="18" charset="0"/>
                              <a:cs typeface="Times New Roman" pitchFamily="18" charset="0"/>
                            </a:rPr>
                          </m:ctrlPr>
                        </m:dPr>
                        <m:e>
                          <m:acc>
                            <m:accPr>
                              <m:chr m:val="̅"/>
                              <m:ctrlPr>
                                <a:rPr kumimoji="0" lang="en-US" altLang="zh-CN" sz="2800" i="1">
                                  <a:latin typeface="Cambria Math" panose="02040503050406030204" pitchFamily="18" charset="0"/>
                                  <a:cs typeface="Times New Roman" pitchFamily="18" charset="0"/>
                                </a:rPr>
                              </m:ctrlPr>
                            </m:accPr>
                            <m:e>
                              <m:r>
                                <a:rPr kumimoji="0" lang="en-US" altLang="zh-CN" sz="2800" b="0" i="1">
                                  <a:latin typeface="Cambria Math" panose="02040503050406030204" pitchFamily="18" charset="0"/>
                                  <a:cs typeface="Times New Roman" pitchFamily="18" charset="0"/>
                                </a:rPr>
                                <m:t>𝑝</m:t>
                              </m:r>
                            </m:e>
                          </m:acc>
                        </m:e>
                      </m:d>
                    </m:oMath>
                  </m:oMathPara>
                </a14:m>
                <a:endParaRPr kumimoji="0" lang="en-US" altLang="zh-CN" sz="2800" dirty="0">
                  <a:cs typeface="Times New Roman" pitchFamily="18" charset="0"/>
                </a:endParaRPr>
              </a:p>
              <a:p>
                <a:pPr eaLnBrk="1">
                  <a:lnSpc>
                    <a:spcPct val="140000"/>
                  </a:lnSpc>
                  <a:defRPr/>
                </a:pPr>
                <a:r>
                  <a:rPr kumimoji="0" lang="zh-CN" altLang="en-US" sz="2800" dirty="0">
                    <a:cs typeface="Times New Roman" pitchFamily="18" charset="0"/>
                  </a:rPr>
                  <a:t>    是一个</a:t>
                </a:r>
                <a14:m>
                  <m:oMath xmlns:m="http://schemas.openxmlformats.org/officeDocument/2006/math">
                    <m:r>
                      <a:rPr kumimoji="0" lang="en-US" altLang="zh-CN" sz="2800" b="0" i="1" smtClean="0">
                        <a:latin typeface="Cambria Math" panose="02040503050406030204" pitchFamily="18" charset="0"/>
                        <a:cs typeface="Times New Roman" pitchFamily="18" charset="0"/>
                      </a:rPr>
                      <m:t> </m:t>
                    </m:r>
                    <m:r>
                      <a:rPr kumimoji="0" lang="en-US" altLang="zh-CN" sz="2800" b="0" i="1" smtClean="0">
                        <a:latin typeface="Cambria Math" panose="02040503050406030204" pitchFamily="18" charset="0"/>
                        <a:cs typeface="Times New Roman" pitchFamily="18" charset="0"/>
                      </a:rPr>
                      <m:t>𝑞</m:t>
                    </m:r>
                    <m:r>
                      <a:rPr kumimoji="0" lang="en-US" altLang="zh-CN" sz="2800" b="0" i="1" smtClean="0">
                        <a:latin typeface="Cambria Math" panose="02040503050406030204" pitchFamily="18" charset="0"/>
                        <a:cs typeface="Times New Roman" pitchFamily="18" charset="0"/>
                      </a:rPr>
                      <m:t>−1 </m:t>
                    </m:r>
                  </m:oMath>
                </a14:m>
                <a:r>
                  <a:rPr kumimoji="0" lang="zh-CN" altLang="en-US" sz="2800" dirty="0">
                    <a:cs typeface="Times New Roman" pitchFamily="18" charset="0"/>
                  </a:rPr>
                  <a:t>元函数。</a:t>
                </a:r>
                <a:endParaRPr kumimoji="0" lang="en-US" altLang="zh-CN" sz="2800" dirty="0">
                  <a:cs typeface="Times New Roman" pitchFamily="18" charset="0"/>
                </a:endParaRPr>
              </a:p>
            </p:txBody>
          </p:sp>
        </mc:Choice>
        <mc:Fallback xmlns="">
          <p:sp>
            <p:nvSpPr>
              <p:cNvPr id="2" name="Rectangle 2">
                <a:hlinkClick r:id="rId4" action="ppaction://hlinksldjump"/>
                <a:extLst>
                  <a:ext uri="{FF2B5EF4-FFF2-40B4-BE49-F238E27FC236}">
                    <a16:creationId xmlns:a16="http://schemas.microsoft.com/office/drawing/2014/main" id="{546C6D62-6AB3-C427-E8BA-C8506B606650}"/>
                  </a:ext>
                </a:extLst>
              </p:cNvPr>
              <p:cNvSpPr>
                <a:spLocks noRot="1" noChangeAspect="1" noMove="1" noResize="1" noEditPoints="1" noAdjustHandles="1" noChangeArrowheads="1" noChangeShapeType="1" noTextEdit="1"/>
              </p:cNvSpPr>
              <p:nvPr/>
            </p:nvSpPr>
            <p:spPr bwMode="auto">
              <a:xfrm>
                <a:off x="196897" y="751114"/>
                <a:ext cx="8750206" cy="5770426"/>
              </a:xfrm>
              <a:prstGeom prst="rect">
                <a:avLst/>
              </a:prstGeom>
              <a:blipFill>
                <a:blip r:embed="rId5"/>
                <a:stretch>
                  <a:fillRect l="-1184" r="-975" b="-106"/>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7B0A264-94AE-6E28-7172-8DBE7804EBC7}"/>
              </a:ext>
            </a:extLst>
          </p:cNvPr>
          <p:cNvSpPr>
            <a:spLocks noGrp="1" noChangeArrowheads="1"/>
          </p:cNvSpPr>
          <p:nvPr>
            <p:ph type="body" idx="1"/>
          </p:nvPr>
        </p:nvSpPr>
        <p:spPr>
          <a:xfrm>
            <a:off x="304800" y="152400"/>
            <a:ext cx="3962400" cy="609600"/>
          </a:xfrm>
        </p:spPr>
        <p:txBody>
          <a:bodyPr/>
          <a:lstStyle/>
          <a:p>
            <a:pPr eaLnBrk="1" hangingPunct="1">
              <a:buFontTx/>
              <a:buNone/>
            </a:pPr>
            <a:r>
              <a:rPr lang="en-US" altLang="zh-CN"/>
              <a:t>2 </a:t>
            </a:r>
            <a:r>
              <a:rPr lang="zh-CN" altLang="en-US"/>
              <a:t>信息的度量（续）</a:t>
            </a:r>
            <a:endParaRPr lang="en-US" altLang="zh-CN"/>
          </a:p>
        </p:txBody>
      </p:sp>
      <p:pic>
        <p:nvPicPr>
          <p:cNvPr id="36868" name="图片 2">
            <a:extLst>
              <a:ext uri="{FF2B5EF4-FFF2-40B4-BE49-F238E27FC236}">
                <a16:creationId xmlns:a16="http://schemas.microsoft.com/office/drawing/2014/main" id="{6BFEB532-2817-871B-2AA3-52C71FC5E0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3581400"/>
            <a:ext cx="6719887"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Rectangle 2">
                <a:hlinkClick r:id="rId4" action="ppaction://hlinksldjump"/>
                <a:extLst>
                  <a:ext uri="{FF2B5EF4-FFF2-40B4-BE49-F238E27FC236}">
                    <a16:creationId xmlns:a16="http://schemas.microsoft.com/office/drawing/2014/main" id="{1B0078FB-BDC9-8B3F-2008-8D7599E41A51}"/>
                  </a:ext>
                </a:extLst>
              </p:cNvPr>
              <p:cNvSpPr>
                <a:spLocks noChangeArrowheads="1"/>
              </p:cNvSpPr>
              <p:nvPr/>
            </p:nvSpPr>
            <p:spPr bwMode="auto">
              <a:xfrm>
                <a:off x="304800" y="848862"/>
                <a:ext cx="8208962" cy="2677656"/>
              </a:xfrm>
              <a:prstGeom prst="rect">
                <a:avLst/>
              </a:prstGeom>
              <a:noFill/>
              <a:ln w="9525">
                <a:noFill/>
                <a:miter lim="800000"/>
                <a:headEnd/>
                <a:tailEnd/>
              </a:ln>
              <a:effectLst/>
            </p:spPr>
            <p:txBody>
              <a:bodyPr>
                <a:spAutoFit/>
              </a:bodyPr>
              <a:lstStyle/>
              <a:p>
                <a:pPr eaLnBrk="1" hangingPunct="1">
                  <a:lnSpc>
                    <a:spcPct val="150000"/>
                  </a:lnSpc>
                  <a:defRPr/>
                </a:pPr>
                <a:r>
                  <a:rPr lang="zh-CN" altLang="en-US" sz="2800" b="1" dirty="0">
                    <a:latin typeface="宋体" pitchFamily="2" charset="-122"/>
                    <a:cs typeface="Tahoma"/>
                  </a:rPr>
                  <a:t>定义</a:t>
                </a:r>
                <a:r>
                  <a:rPr lang="en-US" altLang="zh-CN" sz="2800" b="1" dirty="0">
                    <a:latin typeface="Times New Roman" pitchFamily="18" charset="0"/>
                    <a:cs typeface="Times New Roman" pitchFamily="18" charset="0"/>
                  </a:rPr>
                  <a:t>3 </a:t>
                </a:r>
                <a:r>
                  <a:rPr lang="zh-CN" altLang="en-US" sz="2800" dirty="0">
                    <a:solidFill>
                      <a:srgbClr val="000000"/>
                    </a:solidFill>
                    <a:latin typeface="Times New Roman" pitchFamily="18" charset="0"/>
                    <a:cs typeface="Times New Roman" pitchFamily="18" charset="0"/>
                  </a:rPr>
                  <a:t>设</a:t>
                </a:r>
                <a14:m>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 </m:t>
                    </m:r>
                    <m:r>
                      <a:rPr lang="en-US" altLang="zh-CN" sz="2800" b="0" i="1" smtClean="0">
                        <a:solidFill>
                          <a:srgbClr val="000000"/>
                        </a:solidFill>
                        <a:latin typeface="Cambria Math" panose="02040503050406030204" pitchFamily="18" charset="0"/>
                        <a:cs typeface="Times New Roman" pitchFamily="18" charset="0"/>
                      </a:rPr>
                      <m:t>𝐷</m:t>
                    </m:r>
                    <m:r>
                      <a:rPr lang="en-US" altLang="zh-CN" sz="2800" b="0" i="1" smtClean="0">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Times New Roman" pitchFamily="18" charset="0"/>
                    <a:cs typeface="Times New Roman" pitchFamily="18" charset="0"/>
                  </a:rPr>
                  <a:t>是一个平面区域，如果满足</a:t>
                </a:r>
                <a14:m>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m:t>
                    </m:r>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𝑥</m:t>
                        </m:r>
                      </m:e>
                      <m:sub>
                        <m:r>
                          <a:rPr lang="en-US" altLang="zh-CN" sz="2800" b="0" i="1" smtClean="0">
                            <a:solidFill>
                              <a:srgbClr val="000000"/>
                            </a:solidFill>
                            <a:latin typeface="Cambria Math" panose="02040503050406030204" pitchFamily="18" charset="0"/>
                            <a:cs typeface="Times New Roman" pitchFamily="18" charset="0"/>
                          </a:rPr>
                          <m:t>1</m:t>
                        </m:r>
                      </m:sub>
                    </m:sSub>
                    <m:r>
                      <a:rPr lang="en-US" altLang="zh-CN" sz="2800" b="0" i="1" smtClean="0">
                        <a:solidFill>
                          <a:srgbClr val="000000"/>
                        </a:solidFill>
                        <a:latin typeface="Cambria Math" panose="02040503050406030204" pitchFamily="18" charset="0"/>
                        <a:cs typeface="Times New Roman" pitchFamily="18" charset="0"/>
                      </a:rPr>
                      <m:t>∈</m:t>
                    </m:r>
                    <m:r>
                      <a:rPr lang="en-US" altLang="zh-CN" sz="2800" b="0" i="1" smtClean="0">
                        <a:solidFill>
                          <a:srgbClr val="000000"/>
                        </a:solidFill>
                        <a:latin typeface="Cambria Math" panose="02040503050406030204" pitchFamily="18" charset="0"/>
                        <a:cs typeface="Times New Roman" pitchFamily="18" charset="0"/>
                      </a:rPr>
                      <m:t>𝐷</m:t>
                    </m:r>
                    <m:r>
                      <a:rPr lang="zh-CN" altLang="en-US" sz="2800" i="1">
                        <a:solidFill>
                          <a:srgbClr val="000000"/>
                        </a:solidFill>
                        <a:latin typeface="Cambria Math" panose="02040503050406030204" pitchFamily="18" charset="0"/>
                        <a:cs typeface="Times New Roman" pitchFamily="18" charset="0"/>
                      </a:rPr>
                      <m:t>，</m:t>
                    </m:r>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𝑥</m:t>
                        </m:r>
                      </m:e>
                      <m:sub>
                        <m:r>
                          <a:rPr lang="en-US" altLang="zh-CN" sz="2800" b="0" i="1" smtClean="0">
                            <a:solidFill>
                              <a:srgbClr val="000000"/>
                            </a:solidFill>
                            <a:latin typeface="Cambria Math" panose="02040503050406030204" pitchFamily="18" charset="0"/>
                            <a:cs typeface="Times New Roman" pitchFamily="18" charset="0"/>
                          </a:rPr>
                          <m:t>2</m:t>
                        </m:r>
                      </m:sub>
                    </m:sSub>
                    <m:r>
                      <a:rPr lang="en-US" altLang="zh-CN" sz="2800" b="0" i="1" smtClean="0">
                        <a:solidFill>
                          <a:srgbClr val="000000"/>
                        </a:solidFill>
                        <a:latin typeface="Cambria Math" panose="02040503050406030204" pitchFamily="18" charset="0"/>
                        <a:cs typeface="Times New Roman" pitchFamily="18" charset="0"/>
                      </a:rPr>
                      <m:t>∈</m:t>
                    </m:r>
                    <m:r>
                      <a:rPr lang="en-US" altLang="zh-CN" sz="2800" b="0" i="1" smtClean="0">
                        <a:solidFill>
                          <a:srgbClr val="000000"/>
                        </a:solidFill>
                        <a:latin typeface="Cambria Math" panose="02040503050406030204" pitchFamily="18" charset="0"/>
                        <a:cs typeface="Times New Roman" pitchFamily="18" charset="0"/>
                      </a:rPr>
                      <m:t>𝐷</m:t>
                    </m:r>
                  </m:oMath>
                </a14:m>
                <a:r>
                  <a:rPr lang="zh-CN" altLang="en-US" sz="2800" dirty="0">
                    <a:solidFill>
                      <a:srgbClr val="000000"/>
                    </a:solidFill>
                    <a:latin typeface="Times New Roman" pitchFamily="18" charset="0"/>
                    <a:cs typeface="Times New Roman" pitchFamily="18" charset="0"/>
                  </a:rPr>
                  <a:t>，以及</a:t>
                </a:r>
                <a14:m>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 ∀ 0≤</m:t>
                    </m:r>
                    <m:r>
                      <a:rPr lang="en-US" altLang="zh-CN" sz="2800" b="0" i="1" smtClean="0">
                        <a:solidFill>
                          <a:srgbClr val="000000"/>
                        </a:solidFill>
                        <a:latin typeface="Cambria Math" panose="02040503050406030204" pitchFamily="18" charset="0"/>
                        <a:cs typeface="Times New Roman" pitchFamily="18" charset="0"/>
                      </a:rPr>
                      <m:t>𝜆</m:t>
                    </m:r>
                    <m:r>
                      <a:rPr lang="en-US" altLang="zh-CN" sz="2800" b="0" i="1" smtClean="0">
                        <a:solidFill>
                          <a:srgbClr val="000000"/>
                        </a:solidFill>
                        <a:latin typeface="Cambria Math" panose="02040503050406030204" pitchFamily="18" charset="0"/>
                        <a:cs typeface="Times New Roman" pitchFamily="18" charset="0"/>
                      </a:rPr>
                      <m:t>≤1</m:t>
                    </m:r>
                  </m:oMath>
                </a14:m>
                <a:r>
                  <a:rPr lang="zh-CN" altLang="en-US" sz="2800" dirty="0">
                    <a:solidFill>
                      <a:srgbClr val="000000"/>
                    </a:solidFill>
                    <a:latin typeface="Times New Roman" pitchFamily="18" charset="0"/>
                    <a:cs typeface="Times New Roman" pitchFamily="18" charset="0"/>
                  </a:rPr>
                  <a:t>，均有</a:t>
                </a:r>
                <a:endParaRPr lang="en-US" altLang="zh-CN" sz="2800" dirty="0">
                  <a:solidFill>
                    <a:srgbClr val="000000"/>
                  </a:solidFill>
                  <a:latin typeface="Times New Roman" pitchFamily="18" charset="0"/>
                  <a:cs typeface="Times New Roman" pitchFamily="18" charset="0"/>
                </a:endParaRPr>
              </a:p>
              <a:p>
                <a:pPr eaLnBrk="1" hangingPunct="1">
                  <a:lnSpc>
                    <a:spcPct val="150000"/>
                  </a:lnSpc>
                  <a:defRPr/>
                </a:pPr>
                <a14:m>
                  <m:oMathPara xmlns:m="http://schemas.openxmlformats.org/officeDocument/2006/math">
                    <m:oMathParaPr>
                      <m:jc m:val="centerGroup"/>
                    </m:oMathParaPr>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𝜆</m:t>
                      </m:r>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𝑥</m:t>
                          </m:r>
                        </m:e>
                        <m:sub>
                          <m:r>
                            <a:rPr lang="en-US" altLang="zh-CN" sz="2800" b="0" i="1" smtClean="0">
                              <a:solidFill>
                                <a:srgbClr val="000000"/>
                              </a:solidFill>
                              <a:latin typeface="Cambria Math" panose="02040503050406030204" pitchFamily="18" charset="0"/>
                              <a:cs typeface="Times New Roman" pitchFamily="18" charset="0"/>
                            </a:rPr>
                            <m:t>1</m:t>
                          </m:r>
                        </m:sub>
                      </m:sSub>
                      <m:r>
                        <a:rPr lang="en-US" altLang="zh-CN" sz="2800" b="0" i="1" smtClean="0">
                          <a:solidFill>
                            <a:srgbClr val="000000"/>
                          </a:solidFill>
                          <a:latin typeface="Cambria Math" panose="02040503050406030204" pitchFamily="18" charset="0"/>
                          <a:cs typeface="Times New Roman" pitchFamily="18" charset="0"/>
                        </a:rPr>
                        <m:t>+</m:t>
                      </m:r>
                      <m:d>
                        <m:dPr>
                          <m:ctrlPr>
                            <a:rPr lang="en-US" altLang="zh-CN" sz="2800" i="1" smtClean="0">
                              <a:solidFill>
                                <a:srgbClr val="000000"/>
                              </a:solidFill>
                              <a:latin typeface="Cambria Math" panose="02040503050406030204" pitchFamily="18" charset="0"/>
                              <a:cs typeface="Times New Roman" pitchFamily="18" charset="0"/>
                            </a:rPr>
                          </m:ctrlPr>
                        </m:dPr>
                        <m:e>
                          <m:r>
                            <a:rPr lang="en-US" altLang="zh-CN" sz="2800" b="0" i="1" smtClean="0">
                              <a:solidFill>
                                <a:srgbClr val="000000"/>
                              </a:solidFill>
                              <a:latin typeface="Cambria Math" panose="02040503050406030204" pitchFamily="18" charset="0"/>
                              <a:cs typeface="Times New Roman" pitchFamily="18" charset="0"/>
                            </a:rPr>
                            <m:t>1−</m:t>
                          </m:r>
                          <m:r>
                            <a:rPr lang="en-US" altLang="zh-CN" sz="2800" b="0" i="1" smtClean="0">
                              <a:solidFill>
                                <a:srgbClr val="000000"/>
                              </a:solidFill>
                              <a:latin typeface="Cambria Math" panose="02040503050406030204" pitchFamily="18" charset="0"/>
                              <a:cs typeface="Times New Roman" pitchFamily="18" charset="0"/>
                            </a:rPr>
                            <m:t>𝜆</m:t>
                          </m:r>
                        </m:e>
                      </m:d>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𝑥</m:t>
                          </m:r>
                        </m:e>
                        <m:sub>
                          <m:r>
                            <a:rPr lang="en-US" altLang="zh-CN" sz="2800" b="0" i="1" smtClean="0">
                              <a:solidFill>
                                <a:srgbClr val="000000"/>
                              </a:solidFill>
                              <a:latin typeface="Cambria Math" panose="02040503050406030204" pitchFamily="18" charset="0"/>
                              <a:cs typeface="Times New Roman" pitchFamily="18" charset="0"/>
                            </a:rPr>
                            <m:t>2</m:t>
                          </m:r>
                        </m:sub>
                      </m:sSub>
                      <m:r>
                        <a:rPr lang="en-US" altLang="zh-CN" sz="2800" b="0" i="1" smtClean="0">
                          <a:solidFill>
                            <a:srgbClr val="000000"/>
                          </a:solidFill>
                          <a:latin typeface="Cambria Math" panose="02040503050406030204" pitchFamily="18" charset="0"/>
                          <a:cs typeface="Times New Roman" pitchFamily="18" charset="0"/>
                        </a:rPr>
                        <m:t>∈</m:t>
                      </m:r>
                      <m:r>
                        <a:rPr lang="en-US" altLang="zh-CN" sz="2800" b="0" i="1" smtClean="0">
                          <a:solidFill>
                            <a:srgbClr val="000000"/>
                          </a:solidFill>
                          <a:latin typeface="Cambria Math" panose="02040503050406030204" pitchFamily="18" charset="0"/>
                          <a:cs typeface="Times New Roman" pitchFamily="18" charset="0"/>
                        </a:rPr>
                        <m:t>𝐷</m:t>
                      </m:r>
                    </m:oMath>
                  </m:oMathPara>
                </a14:m>
                <a:endParaRPr lang="en-US" altLang="zh-CN" sz="2800" dirty="0">
                  <a:solidFill>
                    <a:srgbClr val="000000"/>
                  </a:solidFill>
                  <a:latin typeface="Times New Roman" pitchFamily="18" charset="0"/>
                  <a:cs typeface="Times New Roman" pitchFamily="18" charset="0"/>
                </a:endParaRPr>
              </a:p>
              <a:p>
                <a:pPr eaLnBrk="1" hangingPunct="1">
                  <a:lnSpc>
                    <a:spcPct val="150000"/>
                  </a:lnSpc>
                  <a:defRPr/>
                </a:pPr>
                <a:r>
                  <a:rPr lang="zh-CN" altLang="en-US" sz="2800" dirty="0">
                    <a:solidFill>
                      <a:srgbClr val="000000"/>
                    </a:solidFill>
                    <a:latin typeface="Times New Roman" pitchFamily="18" charset="0"/>
                    <a:cs typeface="Times New Roman" pitchFamily="18" charset="0"/>
                  </a:rPr>
                  <a:t>则称区域</a:t>
                </a:r>
                <a14:m>
                  <m:oMath xmlns:m="http://schemas.openxmlformats.org/officeDocument/2006/math">
                    <m:r>
                      <a:rPr lang="en-US" altLang="zh-CN" sz="2800" b="0" smtClean="0">
                        <a:solidFill>
                          <a:srgbClr val="000000"/>
                        </a:solidFill>
                        <a:latin typeface="Cambria Math" panose="02040503050406030204" pitchFamily="18" charset="0"/>
                        <a:cs typeface="Times New Roman" pitchFamily="18" charset="0"/>
                      </a:rPr>
                      <m:t> </m:t>
                    </m:r>
                    <m:r>
                      <a:rPr lang="en-US" altLang="zh-CN" sz="2800" b="0" i="1">
                        <a:solidFill>
                          <a:srgbClr val="000000"/>
                        </a:solidFill>
                        <a:latin typeface="Cambria Math" panose="02040503050406030204" pitchFamily="18" charset="0"/>
                        <a:cs typeface="Times New Roman" pitchFamily="18" charset="0"/>
                      </a:rPr>
                      <m:t>𝐷</m:t>
                    </m:r>
                    <m:r>
                      <a:rPr lang="en-US" altLang="zh-CN" sz="2800" b="0" i="1" smtClean="0">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Times New Roman" pitchFamily="18" charset="0"/>
                    <a:cs typeface="Times New Roman" pitchFamily="18" charset="0"/>
                  </a:rPr>
                  <a:t>是</a:t>
                </a:r>
                <a:r>
                  <a:rPr lang="zh-CN" altLang="en-US" sz="2800" dirty="0">
                    <a:solidFill>
                      <a:srgbClr val="C00000"/>
                    </a:solidFill>
                    <a:latin typeface="Times New Roman" pitchFamily="18" charset="0"/>
                    <a:cs typeface="Times New Roman" pitchFamily="18" charset="0"/>
                  </a:rPr>
                  <a:t>凸域</a:t>
                </a:r>
                <a:r>
                  <a:rPr lang="zh-CN" altLang="en-US" sz="2800" dirty="0">
                    <a:solidFill>
                      <a:srgbClr val="000000"/>
                    </a:solidFill>
                    <a:latin typeface="Times New Roman" pitchFamily="18" charset="0"/>
                    <a:cs typeface="Times New Roman" pitchFamily="18" charset="0"/>
                  </a:rPr>
                  <a:t>。</a:t>
                </a:r>
                <a:endParaRPr lang="en-US" altLang="zh-CN" sz="2800" dirty="0">
                  <a:solidFill>
                    <a:srgbClr val="000000"/>
                  </a:solidFill>
                  <a:latin typeface="Times New Roman" pitchFamily="18" charset="0"/>
                  <a:cs typeface="Times New Roman" pitchFamily="18" charset="0"/>
                </a:endParaRPr>
              </a:p>
            </p:txBody>
          </p:sp>
        </mc:Choice>
        <mc:Fallback xmlns="">
          <p:sp>
            <p:nvSpPr>
              <p:cNvPr id="3" name="Rectangle 2">
                <a:hlinkClick r:id="rId5" action="ppaction://hlinksldjump"/>
                <a:extLst>
                  <a:ext uri="{FF2B5EF4-FFF2-40B4-BE49-F238E27FC236}">
                    <a16:creationId xmlns:a16="http://schemas.microsoft.com/office/drawing/2014/main" id="{1B0078FB-BDC9-8B3F-2008-8D7599E41A51}"/>
                  </a:ext>
                </a:extLst>
              </p:cNvPr>
              <p:cNvSpPr>
                <a:spLocks noRot="1" noChangeAspect="1" noMove="1" noResize="1" noEditPoints="1" noAdjustHandles="1" noChangeArrowheads="1" noChangeShapeType="1" noTextEdit="1"/>
              </p:cNvSpPr>
              <p:nvPr/>
            </p:nvSpPr>
            <p:spPr bwMode="auto">
              <a:xfrm>
                <a:off x="304800" y="848862"/>
                <a:ext cx="8208962" cy="2677656"/>
              </a:xfrm>
              <a:prstGeom prst="rect">
                <a:avLst/>
              </a:prstGeom>
              <a:blipFill>
                <a:blip r:embed="rId6"/>
                <a:stretch>
                  <a:fillRect l="-1485" b="-1822"/>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51A9073-301A-8218-17B5-BA9BDFAE326E}"/>
              </a:ext>
            </a:extLst>
          </p:cNvPr>
          <p:cNvSpPr>
            <a:spLocks noGrp="1" noChangeArrowheads="1"/>
          </p:cNvSpPr>
          <p:nvPr>
            <p:ph type="body" idx="1"/>
          </p:nvPr>
        </p:nvSpPr>
        <p:spPr>
          <a:xfrm>
            <a:off x="304800" y="152400"/>
            <a:ext cx="3962400" cy="609600"/>
          </a:xfrm>
        </p:spPr>
        <p:txBody>
          <a:bodyPr/>
          <a:lstStyle/>
          <a:p>
            <a:pPr eaLnBrk="1" hangingPunct="1">
              <a:buFontTx/>
              <a:buNone/>
            </a:pPr>
            <a:r>
              <a:rPr lang="en-US" altLang="zh-CN" dirty="0"/>
              <a:t>2 </a:t>
            </a:r>
            <a:r>
              <a:rPr lang="zh-CN" altLang="en-US" dirty="0"/>
              <a:t>信息的度量（续）</a:t>
            </a:r>
            <a:endParaRPr lang="en-US" altLang="zh-CN" dirty="0"/>
          </a:p>
        </p:txBody>
      </p:sp>
      <p:sp>
        <p:nvSpPr>
          <p:cNvPr id="3" name="文本框 2">
            <a:extLst>
              <a:ext uri="{FF2B5EF4-FFF2-40B4-BE49-F238E27FC236}">
                <a16:creationId xmlns:a16="http://schemas.microsoft.com/office/drawing/2014/main" id="{3647056C-8064-FDF1-C7E5-A88A50D73D00}"/>
              </a:ext>
            </a:extLst>
          </p:cNvPr>
          <p:cNvSpPr txBox="1"/>
          <p:nvPr/>
        </p:nvSpPr>
        <p:spPr>
          <a:xfrm>
            <a:off x="376237" y="914400"/>
            <a:ext cx="8391525" cy="2469907"/>
          </a:xfrm>
          <a:prstGeom prst="rect">
            <a:avLst/>
          </a:prstGeom>
          <a:noFill/>
        </p:spPr>
        <p:txBody>
          <a:bodyPr>
            <a:spAutoFit/>
          </a:bodyPr>
          <a:lstStyle/>
          <a:p>
            <a:pPr eaLnBrk="1" hangingPunct="1">
              <a:lnSpc>
                <a:spcPct val="125000"/>
              </a:lnSpc>
              <a:defRPr/>
            </a:pPr>
            <a:r>
              <a:rPr kumimoji="1" lang="zh-CN" altLang="en-US" sz="3200" dirty="0">
                <a:latin typeface="+mn-ea"/>
                <a:ea typeface="+mn-ea"/>
                <a:cs typeface="Tahoma"/>
              </a:rPr>
              <a:t>注意：</a:t>
            </a:r>
            <a:endParaRPr kumimoji="1" lang="en-US" altLang="zh-CN" sz="3200" dirty="0">
              <a:latin typeface="+mn-ea"/>
              <a:ea typeface="+mn-ea"/>
              <a:cs typeface="Tahoma"/>
            </a:endParaRPr>
          </a:p>
          <a:p>
            <a:pPr marL="457200" indent="-457200" eaLnBrk="1" hangingPunct="1">
              <a:lnSpc>
                <a:spcPct val="125000"/>
              </a:lnSpc>
              <a:buFont typeface="Wingdings" panose="05000000000000000000" pitchFamily="2" charset="2"/>
              <a:buChar char="Ø"/>
              <a:defRPr/>
            </a:pPr>
            <a:r>
              <a:rPr kumimoji="1" lang="zh-CN" altLang="en-US" sz="3200" dirty="0">
                <a:latin typeface="+mn-ea"/>
                <a:ea typeface="+mn-ea"/>
                <a:cs typeface="Tahoma"/>
              </a:rPr>
              <a:t>凸域中任意两点间的线段也都在凸域内。</a:t>
            </a:r>
            <a:endParaRPr kumimoji="1" lang="en-US" altLang="zh-CN" sz="3200" dirty="0">
              <a:latin typeface="+mn-ea"/>
              <a:ea typeface="+mn-ea"/>
              <a:cs typeface="Tahoma"/>
            </a:endParaRPr>
          </a:p>
          <a:p>
            <a:pPr marL="457200" indent="-457200" eaLnBrk="1" hangingPunct="1">
              <a:lnSpc>
                <a:spcPct val="125000"/>
              </a:lnSpc>
              <a:buFont typeface="Wingdings" panose="05000000000000000000" pitchFamily="2" charset="2"/>
              <a:buChar char="Ø"/>
              <a:defRPr/>
            </a:pPr>
            <a:r>
              <a:rPr kumimoji="1" lang="zh-CN" altLang="en-US" sz="3200" dirty="0">
                <a:latin typeface="+mn-ea"/>
                <a:ea typeface="+mn-ea"/>
                <a:cs typeface="Tahoma"/>
              </a:rPr>
              <a:t>实数集合和复数集合是常见的凸域。</a:t>
            </a:r>
            <a:endParaRPr kumimoji="1" lang="en-US" altLang="zh-CN" sz="3200" dirty="0">
              <a:latin typeface="+mn-ea"/>
              <a:ea typeface="+mn-ea"/>
              <a:cs typeface="Tahoma"/>
            </a:endParaRPr>
          </a:p>
          <a:p>
            <a:pPr marL="457200" indent="-457200" eaLnBrk="1" hangingPunct="1">
              <a:lnSpc>
                <a:spcPct val="125000"/>
              </a:lnSpc>
              <a:buFont typeface="Wingdings" panose="05000000000000000000" pitchFamily="2" charset="2"/>
              <a:buChar char="Ø"/>
              <a:defRPr/>
            </a:pPr>
            <a:r>
              <a:rPr kumimoji="1" lang="zh-CN" altLang="en-US" sz="3200" dirty="0">
                <a:latin typeface="+mn-ea"/>
                <a:ea typeface="+mn-ea"/>
                <a:cs typeface="Tahoma"/>
              </a:rPr>
              <a:t>有理数集合和整数集合不是凸域。</a:t>
            </a:r>
            <a:endParaRPr kumimoji="1" lang="en-US" altLang="zh-CN" sz="3200" dirty="0">
              <a:latin typeface="+mn-ea"/>
              <a:ea typeface="+mn-ea"/>
              <a:cs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551A791-B2E5-6619-339B-1D00D1905021}"/>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xmlns:a14="http://schemas.microsoft.com/office/drawing/2010/main">
        <mc:Choice Requires="a14">
          <p:sp>
            <p:nvSpPr>
              <p:cNvPr id="2" name="Rectangle 2">
                <a:hlinkClick r:id="rId3" action="ppaction://hlinksldjump"/>
                <a:extLst>
                  <a:ext uri="{FF2B5EF4-FFF2-40B4-BE49-F238E27FC236}">
                    <a16:creationId xmlns:a16="http://schemas.microsoft.com/office/drawing/2014/main" id="{8A0BA49D-DD82-75D7-80A0-303A2ED794EC}"/>
                  </a:ext>
                </a:extLst>
              </p:cNvPr>
              <p:cNvSpPr>
                <a:spLocks noChangeArrowheads="1"/>
              </p:cNvSpPr>
              <p:nvPr/>
            </p:nvSpPr>
            <p:spPr bwMode="auto">
              <a:xfrm>
                <a:off x="426308" y="883205"/>
                <a:ext cx="8391305" cy="3970318"/>
              </a:xfrm>
              <a:prstGeom prst="rect">
                <a:avLst/>
              </a:prstGeom>
              <a:noFill/>
              <a:ln w="9525">
                <a:noFill/>
                <a:miter lim="800000"/>
                <a:headEnd/>
                <a:tailEnd/>
              </a:ln>
              <a:effectLst/>
            </p:spPr>
            <p:txBody>
              <a:bodyPr wrap="square">
                <a:spAutoFit/>
              </a:bodyPr>
              <a:lstStyle/>
              <a:p>
                <a:pPr eaLnBrk="1" hangingPunct="1">
                  <a:lnSpc>
                    <a:spcPct val="150000"/>
                  </a:lnSpc>
                  <a:defRPr/>
                </a:pPr>
                <a:r>
                  <a:rPr lang="zh-CN" altLang="en-US" sz="2800" b="1" dirty="0">
                    <a:latin typeface="宋体" pitchFamily="2" charset="-122"/>
                    <a:cs typeface="Tahoma"/>
                  </a:rPr>
                  <a:t>定义</a:t>
                </a:r>
                <a:r>
                  <a:rPr lang="en-US" altLang="zh-CN" sz="2800" b="1" dirty="0">
                    <a:latin typeface="Times New Roman" pitchFamily="18" charset="0"/>
                    <a:cs typeface="Times New Roman" pitchFamily="18" charset="0"/>
                  </a:rPr>
                  <a:t>4 </a:t>
                </a:r>
                <a:r>
                  <a:rPr lang="zh-CN" altLang="en-US" sz="2800" dirty="0">
                    <a:solidFill>
                      <a:srgbClr val="000000"/>
                    </a:solidFill>
                    <a:latin typeface="Times New Roman" pitchFamily="18" charset="0"/>
                    <a:cs typeface="Times New Roman" pitchFamily="18" charset="0"/>
                  </a:rPr>
                  <a:t>如果凸域</a:t>
                </a:r>
                <a14:m>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 </m:t>
                    </m:r>
                    <m:r>
                      <a:rPr lang="en-US" altLang="zh-CN" sz="2800" b="0" i="1" smtClean="0">
                        <a:solidFill>
                          <a:srgbClr val="000000"/>
                        </a:solidFill>
                        <a:latin typeface="Cambria Math" panose="02040503050406030204" pitchFamily="18" charset="0"/>
                        <a:cs typeface="Times New Roman" pitchFamily="18" charset="0"/>
                      </a:rPr>
                      <m:t>𝐷</m:t>
                    </m:r>
                    <m:r>
                      <a:rPr lang="en-US" altLang="zh-CN" sz="2800" b="0" i="1" smtClean="0">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Times New Roman" pitchFamily="18" charset="0"/>
                    <a:cs typeface="Times New Roman" pitchFamily="18" charset="0"/>
                  </a:rPr>
                  <a:t>上的函数</a:t>
                </a:r>
                <a14:m>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 </m:t>
                    </m:r>
                    <m:r>
                      <a:rPr lang="en-US" altLang="zh-CN" sz="2800" b="0" i="1" smtClean="0">
                        <a:solidFill>
                          <a:srgbClr val="000000"/>
                        </a:solidFill>
                        <a:latin typeface="Cambria Math" panose="02040503050406030204" pitchFamily="18" charset="0"/>
                        <a:cs typeface="Times New Roman" pitchFamily="18" charset="0"/>
                      </a:rPr>
                      <m:t>𝑓</m:t>
                    </m:r>
                    <m:d>
                      <m:dPr>
                        <m:ctrlPr>
                          <a:rPr lang="en-US" altLang="zh-CN" sz="2800" i="1" smtClean="0">
                            <a:solidFill>
                              <a:srgbClr val="000000"/>
                            </a:solidFill>
                            <a:latin typeface="Cambria Math" panose="02040503050406030204" pitchFamily="18" charset="0"/>
                            <a:cs typeface="Times New Roman" pitchFamily="18" charset="0"/>
                          </a:rPr>
                        </m:ctrlPr>
                      </m:dPr>
                      <m:e>
                        <m:r>
                          <a:rPr lang="en-US" altLang="zh-CN" sz="2800" b="0" i="1" smtClean="0">
                            <a:solidFill>
                              <a:srgbClr val="000000"/>
                            </a:solidFill>
                            <a:latin typeface="Cambria Math" panose="02040503050406030204" pitchFamily="18" charset="0"/>
                            <a:cs typeface="Times New Roman" pitchFamily="18" charset="0"/>
                          </a:rPr>
                          <m:t>𝑥</m:t>
                        </m:r>
                      </m:e>
                    </m:d>
                    <m:r>
                      <a:rPr lang="en-US" altLang="zh-CN" sz="2800" b="0" i="1" smtClean="0">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Times New Roman" pitchFamily="18" charset="0"/>
                    <a:cs typeface="Times New Roman" pitchFamily="18" charset="0"/>
                  </a:rPr>
                  <a:t>对任意的</a:t>
                </a:r>
                <a14:m>
                  <m:oMath xmlns:m="http://schemas.openxmlformats.org/officeDocument/2006/math">
                    <m:r>
                      <a:rPr lang="en-US" altLang="zh-CN" sz="2800" b="0" smtClean="0">
                        <a:solidFill>
                          <a:srgbClr val="000000"/>
                        </a:solidFill>
                        <a:latin typeface="Cambria Math" panose="02040503050406030204" pitchFamily="18" charset="0"/>
                        <a:cs typeface="Times New Roman" pitchFamily="18" charset="0"/>
                      </a:rPr>
                      <m:t> </m:t>
                    </m:r>
                    <m:sSub>
                      <m:sSubPr>
                        <m:ctrlPr>
                          <a:rPr lang="en-US" altLang="zh-CN" sz="2800" i="1">
                            <a:solidFill>
                              <a:srgbClr val="000000"/>
                            </a:solidFill>
                            <a:latin typeface="Cambria Math" panose="02040503050406030204" pitchFamily="18" charset="0"/>
                            <a:cs typeface="Times New Roman" pitchFamily="18" charset="0"/>
                          </a:rPr>
                        </m:ctrlPr>
                      </m:sSubPr>
                      <m:e>
                        <m:r>
                          <a:rPr lang="en-US" altLang="zh-CN" sz="2800" b="0" i="1">
                            <a:solidFill>
                              <a:srgbClr val="000000"/>
                            </a:solidFill>
                            <a:latin typeface="Cambria Math" panose="02040503050406030204" pitchFamily="18" charset="0"/>
                            <a:cs typeface="Times New Roman" pitchFamily="18" charset="0"/>
                          </a:rPr>
                          <m:t>𝑥</m:t>
                        </m:r>
                      </m:e>
                      <m:sub>
                        <m:r>
                          <a:rPr lang="en-US" altLang="zh-CN" sz="2800" b="0" i="1">
                            <a:solidFill>
                              <a:srgbClr val="000000"/>
                            </a:solidFill>
                            <a:latin typeface="Cambria Math" panose="02040503050406030204" pitchFamily="18" charset="0"/>
                            <a:cs typeface="Times New Roman" pitchFamily="18" charset="0"/>
                          </a:rPr>
                          <m:t>1</m:t>
                        </m:r>
                      </m:sub>
                    </m:sSub>
                    <m:r>
                      <a:rPr lang="zh-CN" altLang="en-US" sz="2800" i="1">
                        <a:solidFill>
                          <a:srgbClr val="000000"/>
                        </a:solidFill>
                        <a:latin typeface="Cambria Math" panose="02040503050406030204" pitchFamily="18" charset="0"/>
                        <a:cs typeface="Times New Roman" pitchFamily="18" charset="0"/>
                      </a:rPr>
                      <m:t>，</m:t>
                    </m:r>
                    <m:sSub>
                      <m:sSubPr>
                        <m:ctrlPr>
                          <a:rPr lang="en-US" altLang="zh-CN" sz="2800" i="1">
                            <a:solidFill>
                              <a:srgbClr val="000000"/>
                            </a:solidFill>
                            <a:latin typeface="Cambria Math" panose="02040503050406030204" pitchFamily="18" charset="0"/>
                            <a:cs typeface="Times New Roman" pitchFamily="18" charset="0"/>
                          </a:rPr>
                        </m:ctrlPr>
                      </m:sSubPr>
                      <m:e>
                        <m:r>
                          <a:rPr lang="en-US" altLang="zh-CN" sz="2800" b="0" i="1">
                            <a:solidFill>
                              <a:srgbClr val="000000"/>
                            </a:solidFill>
                            <a:latin typeface="Cambria Math" panose="02040503050406030204" pitchFamily="18" charset="0"/>
                            <a:cs typeface="Times New Roman" pitchFamily="18" charset="0"/>
                          </a:rPr>
                          <m:t>𝑥</m:t>
                        </m:r>
                      </m:e>
                      <m:sub>
                        <m:r>
                          <a:rPr lang="en-US" altLang="zh-CN" sz="2800" b="0" i="1">
                            <a:solidFill>
                              <a:srgbClr val="000000"/>
                            </a:solidFill>
                            <a:latin typeface="Cambria Math" panose="02040503050406030204" pitchFamily="18" charset="0"/>
                            <a:cs typeface="Times New Roman" pitchFamily="18" charset="0"/>
                          </a:rPr>
                          <m:t>2</m:t>
                        </m:r>
                      </m:sub>
                    </m:sSub>
                    <m:r>
                      <a:rPr lang="en-US" altLang="zh-CN" sz="2800" b="0" i="1">
                        <a:solidFill>
                          <a:srgbClr val="000000"/>
                        </a:solidFill>
                        <a:latin typeface="Cambria Math" panose="02040503050406030204" pitchFamily="18" charset="0"/>
                        <a:cs typeface="Times New Roman" pitchFamily="18" charset="0"/>
                      </a:rPr>
                      <m:t>∈</m:t>
                    </m:r>
                    <m:r>
                      <a:rPr lang="en-US" altLang="zh-CN" sz="2800" b="0" i="1">
                        <a:solidFill>
                          <a:srgbClr val="000000"/>
                        </a:solidFill>
                        <a:latin typeface="Cambria Math" panose="02040503050406030204" pitchFamily="18" charset="0"/>
                        <a:cs typeface="Times New Roman" pitchFamily="18" charset="0"/>
                      </a:rPr>
                      <m:t>𝐷</m:t>
                    </m:r>
                    <m:r>
                      <a:rPr lang="zh-CN" altLang="en-US" sz="2800" i="1">
                        <a:solidFill>
                          <a:srgbClr val="000000"/>
                        </a:solidFill>
                        <a:latin typeface="Cambria Math" panose="02040503050406030204" pitchFamily="18" charset="0"/>
                        <a:cs typeface="Times New Roman" pitchFamily="18" charset="0"/>
                      </a:rPr>
                      <m:t>，</m:t>
                    </m:r>
                    <m:r>
                      <a:rPr lang="en-US" altLang="zh-CN" sz="2800" b="0" i="1">
                        <a:solidFill>
                          <a:srgbClr val="000000"/>
                        </a:solidFill>
                        <a:latin typeface="Cambria Math" panose="02040503050406030204" pitchFamily="18" charset="0"/>
                        <a:cs typeface="Times New Roman" pitchFamily="18" charset="0"/>
                      </a:rPr>
                      <m:t>0≤</m:t>
                    </m:r>
                    <m:r>
                      <a:rPr lang="en-US" altLang="zh-CN" sz="2800" b="0" i="1">
                        <a:solidFill>
                          <a:srgbClr val="000000"/>
                        </a:solidFill>
                        <a:latin typeface="Cambria Math" panose="02040503050406030204" pitchFamily="18" charset="0"/>
                        <a:cs typeface="Times New Roman" pitchFamily="18" charset="0"/>
                      </a:rPr>
                      <m:t>𝜆</m:t>
                    </m:r>
                    <m:r>
                      <a:rPr lang="en-US" altLang="zh-CN" sz="2800" b="0" i="1">
                        <a:solidFill>
                          <a:srgbClr val="000000"/>
                        </a:solidFill>
                        <a:latin typeface="Cambria Math" panose="02040503050406030204" pitchFamily="18" charset="0"/>
                        <a:cs typeface="Times New Roman" pitchFamily="18" charset="0"/>
                      </a:rPr>
                      <m:t>≤1 </m:t>
                    </m:r>
                  </m:oMath>
                </a14:m>
                <a:r>
                  <a:rPr lang="zh-CN" altLang="en-US" sz="2800" dirty="0">
                    <a:solidFill>
                      <a:srgbClr val="000000"/>
                    </a:solidFill>
                    <a:latin typeface="Times New Roman" pitchFamily="18" charset="0"/>
                    <a:cs typeface="Times New Roman" pitchFamily="18" charset="0"/>
                  </a:rPr>
                  <a:t>均满足如下性质</a:t>
                </a:r>
                <a:endParaRPr lang="en-US" altLang="zh-CN" sz="2800" dirty="0">
                  <a:solidFill>
                    <a:srgbClr val="000000"/>
                  </a:solidFill>
                  <a:latin typeface="Times New Roman" pitchFamily="18" charset="0"/>
                  <a:cs typeface="Times New Roman" pitchFamily="18" charset="0"/>
                </a:endParaRPr>
              </a:p>
              <a:p>
                <a:pPr eaLnBrk="1" hangingPunct="1">
                  <a:lnSpc>
                    <a:spcPct val="150000"/>
                  </a:lnSpc>
                  <a:defRPr/>
                </a:pPr>
                <a14:m>
                  <m:oMathPara xmlns:m="http://schemas.openxmlformats.org/officeDocument/2006/math">
                    <m:oMathParaPr>
                      <m:jc m:val="centerGroup"/>
                    </m:oMathParaPr>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 </m:t>
                      </m:r>
                      <m:r>
                        <a:rPr lang="en-US" altLang="zh-CN" sz="2800" b="0" i="1" smtClean="0">
                          <a:solidFill>
                            <a:srgbClr val="000000"/>
                          </a:solidFill>
                          <a:latin typeface="Cambria Math" panose="02040503050406030204" pitchFamily="18" charset="0"/>
                          <a:cs typeface="Times New Roman" pitchFamily="18" charset="0"/>
                        </a:rPr>
                        <m:t>𝜆</m:t>
                      </m:r>
                      <m:r>
                        <a:rPr lang="en-US" altLang="zh-CN" sz="2800" b="0" i="1" smtClean="0">
                          <a:solidFill>
                            <a:srgbClr val="000000"/>
                          </a:solidFill>
                          <a:latin typeface="Cambria Math" panose="02040503050406030204" pitchFamily="18" charset="0"/>
                          <a:cs typeface="Times New Roman" pitchFamily="18" charset="0"/>
                        </a:rPr>
                        <m:t>𝑓</m:t>
                      </m:r>
                      <m:d>
                        <m:dPr>
                          <m:ctrlPr>
                            <a:rPr lang="en-US" altLang="zh-CN" sz="2800" i="1" smtClean="0">
                              <a:solidFill>
                                <a:srgbClr val="000000"/>
                              </a:solidFill>
                              <a:latin typeface="Cambria Math" panose="02040503050406030204" pitchFamily="18" charset="0"/>
                              <a:cs typeface="Times New Roman" pitchFamily="18" charset="0"/>
                            </a:rPr>
                          </m:ctrlPr>
                        </m:dPr>
                        <m:e>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𝑥</m:t>
                              </m:r>
                            </m:e>
                            <m:sub>
                              <m:r>
                                <a:rPr lang="en-US" altLang="zh-CN" sz="2800" b="0" i="1" smtClean="0">
                                  <a:solidFill>
                                    <a:srgbClr val="000000"/>
                                  </a:solidFill>
                                  <a:latin typeface="Cambria Math" panose="02040503050406030204" pitchFamily="18" charset="0"/>
                                  <a:cs typeface="Times New Roman" pitchFamily="18" charset="0"/>
                                </a:rPr>
                                <m:t>1</m:t>
                              </m:r>
                            </m:sub>
                          </m:sSub>
                        </m:e>
                      </m:d>
                      <m:r>
                        <a:rPr lang="en-US" altLang="zh-CN" sz="2800" b="0" i="1" smtClean="0">
                          <a:solidFill>
                            <a:srgbClr val="000000"/>
                          </a:solidFill>
                          <a:latin typeface="Cambria Math" panose="02040503050406030204" pitchFamily="18" charset="0"/>
                          <a:cs typeface="Times New Roman" pitchFamily="18" charset="0"/>
                        </a:rPr>
                        <m:t>+</m:t>
                      </m:r>
                      <m:d>
                        <m:dPr>
                          <m:ctrlPr>
                            <a:rPr lang="en-US" altLang="zh-CN" sz="2800" i="1" smtClean="0">
                              <a:solidFill>
                                <a:srgbClr val="000000"/>
                              </a:solidFill>
                              <a:latin typeface="Cambria Math" panose="02040503050406030204" pitchFamily="18" charset="0"/>
                              <a:cs typeface="Times New Roman" pitchFamily="18" charset="0"/>
                            </a:rPr>
                          </m:ctrlPr>
                        </m:dPr>
                        <m:e>
                          <m:r>
                            <a:rPr lang="en-US" altLang="zh-CN" sz="2800" b="0" i="1" smtClean="0">
                              <a:solidFill>
                                <a:srgbClr val="000000"/>
                              </a:solidFill>
                              <a:latin typeface="Cambria Math" panose="02040503050406030204" pitchFamily="18" charset="0"/>
                              <a:cs typeface="Times New Roman" pitchFamily="18" charset="0"/>
                            </a:rPr>
                            <m:t>1−</m:t>
                          </m:r>
                          <m:r>
                            <a:rPr lang="en-US" altLang="zh-CN" sz="2800" b="0" i="1" smtClean="0">
                              <a:solidFill>
                                <a:srgbClr val="000000"/>
                              </a:solidFill>
                              <a:latin typeface="Cambria Math" panose="02040503050406030204" pitchFamily="18" charset="0"/>
                              <a:cs typeface="Times New Roman" pitchFamily="18" charset="0"/>
                            </a:rPr>
                            <m:t>𝜆</m:t>
                          </m:r>
                        </m:e>
                      </m:d>
                      <m:r>
                        <a:rPr lang="en-US" altLang="zh-CN" sz="2800" b="0" i="1" smtClean="0">
                          <a:solidFill>
                            <a:srgbClr val="000000"/>
                          </a:solidFill>
                          <a:latin typeface="Cambria Math" panose="02040503050406030204" pitchFamily="18" charset="0"/>
                          <a:cs typeface="Times New Roman" pitchFamily="18" charset="0"/>
                        </a:rPr>
                        <m:t>𝑓</m:t>
                      </m:r>
                      <m:d>
                        <m:dPr>
                          <m:ctrlPr>
                            <a:rPr lang="en-US" altLang="zh-CN" sz="2800" i="1" smtClean="0">
                              <a:solidFill>
                                <a:srgbClr val="000000"/>
                              </a:solidFill>
                              <a:latin typeface="Cambria Math" panose="02040503050406030204" pitchFamily="18" charset="0"/>
                              <a:cs typeface="Times New Roman" pitchFamily="18" charset="0"/>
                            </a:rPr>
                          </m:ctrlPr>
                        </m:dPr>
                        <m:e>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𝑥</m:t>
                              </m:r>
                            </m:e>
                            <m:sub>
                              <m:r>
                                <a:rPr lang="en-US" altLang="zh-CN" sz="2800" b="0" i="1" smtClean="0">
                                  <a:solidFill>
                                    <a:srgbClr val="000000"/>
                                  </a:solidFill>
                                  <a:latin typeface="Cambria Math" panose="02040503050406030204" pitchFamily="18" charset="0"/>
                                  <a:cs typeface="Times New Roman" pitchFamily="18" charset="0"/>
                                </a:rPr>
                                <m:t>2</m:t>
                              </m:r>
                            </m:sub>
                          </m:sSub>
                        </m:e>
                      </m:d>
                      <m:r>
                        <a:rPr lang="en-US" altLang="zh-CN" sz="2800" b="0" i="1" smtClean="0">
                          <a:solidFill>
                            <a:srgbClr val="000000"/>
                          </a:solidFill>
                          <a:latin typeface="Cambria Math" panose="02040503050406030204" pitchFamily="18" charset="0"/>
                          <a:cs typeface="Times New Roman" pitchFamily="18" charset="0"/>
                        </a:rPr>
                        <m:t>≤</m:t>
                      </m:r>
                      <m:r>
                        <a:rPr lang="en-US" altLang="zh-CN" sz="2800" b="0" i="1" smtClean="0">
                          <a:solidFill>
                            <a:srgbClr val="000000"/>
                          </a:solidFill>
                          <a:latin typeface="Cambria Math" panose="02040503050406030204" pitchFamily="18" charset="0"/>
                          <a:cs typeface="Times New Roman" pitchFamily="18" charset="0"/>
                        </a:rPr>
                        <m:t>𝑓</m:t>
                      </m:r>
                      <m:d>
                        <m:dPr>
                          <m:ctrlPr>
                            <a:rPr lang="en-US" altLang="zh-CN" sz="2800" i="1" smtClean="0">
                              <a:solidFill>
                                <a:srgbClr val="000000"/>
                              </a:solidFill>
                              <a:latin typeface="Cambria Math" panose="02040503050406030204" pitchFamily="18" charset="0"/>
                              <a:cs typeface="Times New Roman" pitchFamily="18" charset="0"/>
                            </a:rPr>
                          </m:ctrlPr>
                        </m:dPr>
                        <m:e>
                          <m:r>
                            <a:rPr lang="en-US" altLang="zh-CN" sz="2800" b="0" i="1" smtClean="0">
                              <a:solidFill>
                                <a:srgbClr val="000000"/>
                              </a:solidFill>
                              <a:latin typeface="Cambria Math" panose="02040503050406030204" pitchFamily="18" charset="0"/>
                              <a:cs typeface="Times New Roman" pitchFamily="18" charset="0"/>
                            </a:rPr>
                            <m:t>𝜆</m:t>
                          </m:r>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𝑥</m:t>
                              </m:r>
                            </m:e>
                            <m:sub>
                              <m:r>
                                <a:rPr lang="en-US" altLang="zh-CN" sz="2800" b="0" i="1" smtClean="0">
                                  <a:solidFill>
                                    <a:srgbClr val="000000"/>
                                  </a:solidFill>
                                  <a:latin typeface="Cambria Math" panose="02040503050406030204" pitchFamily="18" charset="0"/>
                                  <a:cs typeface="Times New Roman" pitchFamily="18" charset="0"/>
                                </a:rPr>
                                <m:t>1</m:t>
                              </m:r>
                            </m:sub>
                          </m:sSub>
                          <m:r>
                            <a:rPr lang="en-US" altLang="zh-CN" sz="2800" b="0" i="1" smtClean="0">
                              <a:solidFill>
                                <a:srgbClr val="000000"/>
                              </a:solidFill>
                              <a:latin typeface="Cambria Math" panose="02040503050406030204" pitchFamily="18" charset="0"/>
                              <a:cs typeface="Times New Roman" pitchFamily="18" charset="0"/>
                            </a:rPr>
                            <m:t>+</m:t>
                          </m:r>
                          <m:d>
                            <m:dPr>
                              <m:ctrlPr>
                                <a:rPr lang="en-US" altLang="zh-CN" sz="2800" i="1" smtClean="0">
                                  <a:solidFill>
                                    <a:srgbClr val="000000"/>
                                  </a:solidFill>
                                  <a:latin typeface="Cambria Math" panose="02040503050406030204" pitchFamily="18" charset="0"/>
                                  <a:cs typeface="Times New Roman" pitchFamily="18" charset="0"/>
                                </a:rPr>
                              </m:ctrlPr>
                            </m:dPr>
                            <m:e>
                              <m:r>
                                <a:rPr lang="en-US" altLang="zh-CN" sz="2800" b="0" i="1" smtClean="0">
                                  <a:solidFill>
                                    <a:srgbClr val="000000"/>
                                  </a:solidFill>
                                  <a:latin typeface="Cambria Math" panose="02040503050406030204" pitchFamily="18" charset="0"/>
                                  <a:cs typeface="Times New Roman" pitchFamily="18" charset="0"/>
                                </a:rPr>
                                <m:t>1−</m:t>
                              </m:r>
                              <m:r>
                                <a:rPr lang="en-US" altLang="zh-CN" sz="2800" b="0" i="1" smtClean="0">
                                  <a:solidFill>
                                    <a:srgbClr val="000000"/>
                                  </a:solidFill>
                                  <a:latin typeface="Cambria Math" panose="02040503050406030204" pitchFamily="18" charset="0"/>
                                  <a:cs typeface="Times New Roman" pitchFamily="18" charset="0"/>
                                </a:rPr>
                                <m:t>𝜆</m:t>
                              </m:r>
                            </m:e>
                          </m:d>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𝑥</m:t>
                              </m:r>
                            </m:e>
                            <m:sub>
                              <m:r>
                                <a:rPr lang="en-US" altLang="zh-CN" sz="2800" b="0" i="1" smtClean="0">
                                  <a:solidFill>
                                    <a:srgbClr val="000000"/>
                                  </a:solidFill>
                                  <a:latin typeface="Cambria Math" panose="02040503050406030204" pitchFamily="18" charset="0"/>
                                  <a:cs typeface="Times New Roman" pitchFamily="18" charset="0"/>
                                </a:rPr>
                                <m:t>2</m:t>
                              </m:r>
                            </m:sub>
                          </m:sSub>
                        </m:e>
                      </m:d>
                      <m:r>
                        <a:rPr lang="en-US" altLang="zh-CN" sz="2800" b="0" i="1" smtClean="0">
                          <a:solidFill>
                            <a:srgbClr val="000000"/>
                          </a:solidFill>
                          <a:latin typeface="Cambria Math" panose="02040503050406030204" pitchFamily="18" charset="0"/>
                          <a:cs typeface="Times New Roman" pitchFamily="18" charset="0"/>
                        </a:rPr>
                        <m:t>      (1) </m:t>
                      </m:r>
                    </m:oMath>
                  </m:oMathPara>
                </a14:m>
                <a:endParaRPr lang="en-US" altLang="zh-CN" sz="2800" i="1" dirty="0">
                  <a:solidFill>
                    <a:srgbClr val="000000"/>
                  </a:solidFill>
                  <a:latin typeface="Cambria Math" panose="02040503050406030204" pitchFamily="18" charset="0"/>
                  <a:cs typeface="Times New Roman" pitchFamily="18" charset="0"/>
                </a:endParaRPr>
              </a:p>
              <a:p>
                <a:pPr eaLnBrk="1" hangingPunct="1">
                  <a:lnSpc>
                    <a:spcPct val="150000"/>
                  </a:lnSpc>
                  <a:defRPr/>
                </a:pPr>
                <a:r>
                  <a:rPr lang="zh-CN" altLang="en-US" sz="2800" dirty="0">
                    <a:solidFill>
                      <a:srgbClr val="000000"/>
                    </a:solidFill>
                    <a:latin typeface="Cambria Math" panose="02040503050406030204" pitchFamily="18" charset="0"/>
                    <a:cs typeface="Times New Roman" pitchFamily="18" charset="0"/>
                  </a:rPr>
                  <a:t>则称</a:t>
                </a:r>
                <a14:m>
                  <m:oMath xmlns:m="http://schemas.openxmlformats.org/officeDocument/2006/math">
                    <m:r>
                      <a:rPr lang="en-US" altLang="zh-CN" sz="2800" b="0" i="1">
                        <a:solidFill>
                          <a:srgbClr val="000000"/>
                        </a:solidFill>
                        <a:latin typeface="Cambria Math" panose="02040503050406030204" pitchFamily="18" charset="0"/>
                        <a:cs typeface="Times New Roman" pitchFamily="18" charset="0"/>
                      </a:rPr>
                      <m:t> </m:t>
                    </m:r>
                    <m:r>
                      <a:rPr lang="en-US" altLang="zh-CN" sz="2800" b="0" i="1">
                        <a:solidFill>
                          <a:srgbClr val="000000"/>
                        </a:solidFill>
                        <a:latin typeface="Cambria Math" panose="02040503050406030204" pitchFamily="18" charset="0"/>
                        <a:cs typeface="Times New Roman" pitchFamily="18" charset="0"/>
                      </a:rPr>
                      <m:t>𝑓</m:t>
                    </m:r>
                    <m:d>
                      <m:dPr>
                        <m:ctrlPr>
                          <a:rPr lang="en-US" altLang="zh-CN" sz="2800" i="1">
                            <a:solidFill>
                              <a:srgbClr val="000000"/>
                            </a:solidFill>
                            <a:latin typeface="Cambria Math" panose="02040503050406030204" pitchFamily="18" charset="0"/>
                            <a:cs typeface="Times New Roman" pitchFamily="18" charset="0"/>
                          </a:rPr>
                        </m:ctrlPr>
                      </m:dPr>
                      <m:e>
                        <m:r>
                          <a:rPr lang="en-US" altLang="zh-CN" sz="2800" b="0" i="1">
                            <a:solidFill>
                              <a:srgbClr val="000000"/>
                            </a:solidFill>
                            <a:latin typeface="Cambria Math" panose="02040503050406030204" pitchFamily="18" charset="0"/>
                            <a:cs typeface="Times New Roman" pitchFamily="18" charset="0"/>
                          </a:rPr>
                          <m:t>𝑥</m:t>
                        </m:r>
                      </m:e>
                    </m:d>
                    <m:r>
                      <a:rPr lang="en-US" altLang="zh-CN" sz="2800" b="0" i="1" smtClean="0">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Cambria Math" panose="02040503050406030204" pitchFamily="18" charset="0"/>
                    <a:cs typeface="Times New Roman" pitchFamily="18" charset="0"/>
                  </a:rPr>
                  <a:t>是</a:t>
                </a:r>
                <a14:m>
                  <m:oMath xmlns:m="http://schemas.openxmlformats.org/officeDocument/2006/math">
                    <m:r>
                      <a:rPr lang="en-US" altLang="zh-CN" sz="2800" b="0" smtClean="0">
                        <a:solidFill>
                          <a:srgbClr val="000000"/>
                        </a:solidFill>
                        <a:latin typeface="Cambria Math" panose="02040503050406030204" pitchFamily="18" charset="0"/>
                        <a:cs typeface="Times New Roman" pitchFamily="18" charset="0"/>
                      </a:rPr>
                      <m:t> </m:t>
                    </m:r>
                    <m:r>
                      <a:rPr lang="en-US" altLang="zh-CN" sz="2800" b="0" i="1">
                        <a:solidFill>
                          <a:srgbClr val="000000"/>
                        </a:solidFill>
                        <a:latin typeface="Cambria Math" panose="02040503050406030204" pitchFamily="18" charset="0"/>
                        <a:cs typeface="Times New Roman" pitchFamily="18" charset="0"/>
                      </a:rPr>
                      <m:t>𝐷</m:t>
                    </m:r>
                    <m:r>
                      <a:rPr lang="en-US" altLang="zh-CN" sz="2800" b="0" i="1">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Times New Roman" pitchFamily="18" charset="0"/>
                    <a:cs typeface="Times New Roman" pitchFamily="18" charset="0"/>
                  </a:rPr>
                  <a:t>上的</a:t>
                </a:r>
                <a:r>
                  <a:rPr lang="zh-CN" altLang="en-US" sz="2800" dirty="0">
                    <a:solidFill>
                      <a:srgbClr val="C00000"/>
                    </a:solidFill>
                    <a:latin typeface="Times New Roman" pitchFamily="18" charset="0"/>
                    <a:cs typeface="Times New Roman" pitchFamily="18" charset="0"/>
                  </a:rPr>
                  <a:t>上凸函数</a:t>
                </a:r>
                <a:r>
                  <a:rPr lang="zh-CN" altLang="en-US" sz="2800" dirty="0">
                    <a:solidFill>
                      <a:srgbClr val="000000"/>
                    </a:solidFill>
                    <a:latin typeface="Times New Roman" pitchFamily="18" charset="0"/>
                    <a:cs typeface="Times New Roman" pitchFamily="18" charset="0"/>
                  </a:rPr>
                  <a:t>。如果上式当且仅当</a:t>
                </a:r>
                <a14:m>
                  <m:oMath xmlns:m="http://schemas.openxmlformats.org/officeDocument/2006/math">
                    <m:sSub>
                      <m:sSubPr>
                        <m:ctrlPr>
                          <a:rPr lang="en-US" altLang="zh-CN" sz="2800" i="1">
                            <a:solidFill>
                              <a:srgbClr val="000000"/>
                            </a:solidFill>
                            <a:latin typeface="Cambria Math" panose="02040503050406030204" pitchFamily="18" charset="0"/>
                            <a:cs typeface="Times New Roman" pitchFamily="18" charset="0"/>
                          </a:rPr>
                        </m:ctrlPr>
                      </m:sSubPr>
                      <m:e>
                        <m:r>
                          <a:rPr lang="en-US" altLang="zh-CN" sz="2800" b="0" i="1">
                            <a:solidFill>
                              <a:srgbClr val="000000"/>
                            </a:solidFill>
                            <a:latin typeface="Cambria Math" panose="02040503050406030204" pitchFamily="18" charset="0"/>
                            <a:cs typeface="Times New Roman" pitchFamily="18" charset="0"/>
                          </a:rPr>
                          <m:t>𝑥</m:t>
                        </m:r>
                      </m:e>
                      <m:sub>
                        <m:r>
                          <a:rPr lang="en-US" altLang="zh-CN" sz="2800" b="0" i="1">
                            <a:solidFill>
                              <a:srgbClr val="000000"/>
                            </a:solidFill>
                            <a:latin typeface="Cambria Math" panose="02040503050406030204" pitchFamily="18" charset="0"/>
                            <a:cs typeface="Times New Roman" pitchFamily="18" charset="0"/>
                          </a:rPr>
                          <m:t>1</m:t>
                        </m:r>
                      </m:sub>
                    </m:sSub>
                    <m:r>
                      <a:rPr lang="en-US" altLang="zh-CN" sz="2800" b="0" i="1" smtClean="0">
                        <a:solidFill>
                          <a:srgbClr val="000000"/>
                        </a:solidFill>
                        <a:latin typeface="Cambria Math" panose="02040503050406030204" pitchFamily="18" charset="0"/>
                        <a:cs typeface="Times New Roman" pitchFamily="18" charset="0"/>
                      </a:rPr>
                      <m:t>=</m:t>
                    </m:r>
                    <m:sSub>
                      <m:sSubPr>
                        <m:ctrlPr>
                          <a:rPr lang="en-US" altLang="zh-CN" sz="2800" i="1">
                            <a:solidFill>
                              <a:srgbClr val="000000"/>
                            </a:solidFill>
                            <a:latin typeface="Cambria Math" panose="02040503050406030204" pitchFamily="18" charset="0"/>
                            <a:cs typeface="Times New Roman" pitchFamily="18" charset="0"/>
                          </a:rPr>
                        </m:ctrlPr>
                      </m:sSubPr>
                      <m:e>
                        <m:r>
                          <a:rPr lang="en-US" altLang="zh-CN" sz="2800" b="0" i="1">
                            <a:solidFill>
                              <a:srgbClr val="000000"/>
                            </a:solidFill>
                            <a:latin typeface="Cambria Math" panose="02040503050406030204" pitchFamily="18" charset="0"/>
                            <a:cs typeface="Times New Roman" pitchFamily="18" charset="0"/>
                          </a:rPr>
                          <m:t>𝑥</m:t>
                        </m:r>
                      </m:e>
                      <m:sub>
                        <m:r>
                          <a:rPr lang="en-US" altLang="zh-CN" sz="2800" b="0" i="1">
                            <a:solidFill>
                              <a:srgbClr val="000000"/>
                            </a:solidFill>
                            <a:latin typeface="Cambria Math" panose="02040503050406030204" pitchFamily="18" charset="0"/>
                            <a:cs typeface="Times New Roman" pitchFamily="18" charset="0"/>
                          </a:rPr>
                          <m:t>2</m:t>
                        </m:r>
                      </m:sub>
                    </m:sSub>
                    <m:r>
                      <a:rPr lang="en-US" altLang="zh-CN" sz="2800" b="0" i="1" smtClean="0">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Cambria Math" panose="02040503050406030204" pitchFamily="18" charset="0"/>
                    <a:cs typeface="Times New Roman" pitchFamily="18" charset="0"/>
                  </a:rPr>
                  <a:t>时等号成立，则称</a:t>
                </a:r>
                <a14:m>
                  <m:oMath xmlns:m="http://schemas.openxmlformats.org/officeDocument/2006/math">
                    <m:r>
                      <a:rPr lang="en-US" altLang="zh-CN" sz="2800" b="0" smtClean="0">
                        <a:solidFill>
                          <a:srgbClr val="000000"/>
                        </a:solidFill>
                        <a:latin typeface="Cambria Math" panose="02040503050406030204" pitchFamily="18" charset="0"/>
                        <a:cs typeface="Times New Roman" pitchFamily="18" charset="0"/>
                      </a:rPr>
                      <m:t> </m:t>
                    </m:r>
                    <m:r>
                      <a:rPr lang="en-US" altLang="zh-CN" sz="2800" b="0" i="1">
                        <a:solidFill>
                          <a:srgbClr val="000000"/>
                        </a:solidFill>
                        <a:latin typeface="Cambria Math" panose="02040503050406030204" pitchFamily="18" charset="0"/>
                        <a:cs typeface="Times New Roman" pitchFamily="18" charset="0"/>
                      </a:rPr>
                      <m:t>𝑓</m:t>
                    </m:r>
                    <m:d>
                      <m:dPr>
                        <m:ctrlPr>
                          <a:rPr lang="en-US" altLang="zh-CN" sz="2800" i="1">
                            <a:solidFill>
                              <a:srgbClr val="000000"/>
                            </a:solidFill>
                            <a:latin typeface="Cambria Math" panose="02040503050406030204" pitchFamily="18" charset="0"/>
                            <a:cs typeface="Times New Roman" pitchFamily="18" charset="0"/>
                          </a:rPr>
                        </m:ctrlPr>
                      </m:dPr>
                      <m:e>
                        <m:r>
                          <a:rPr lang="en-US" altLang="zh-CN" sz="2800" b="0" i="1">
                            <a:solidFill>
                              <a:srgbClr val="000000"/>
                            </a:solidFill>
                            <a:latin typeface="Cambria Math" panose="02040503050406030204" pitchFamily="18" charset="0"/>
                            <a:cs typeface="Times New Roman" pitchFamily="18" charset="0"/>
                          </a:rPr>
                          <m:t>𝑥</m:t>
                        </m:r>
                      </m:e>
                    </m:d>
                    <m:r>
                      <a:rPr lang="en-US" altLang="zh-CN" sz="2800" b="0" i="1">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Cambria Math" panose="02040503050406030204" pitchFamily="18" charset="0"/>
                    <a:cs typeface="Times New Roman" pitchFamily="18" charset="0"/>
                  </a:rPr>
                  <a:t>是</a:t>
                </a:r>
                <a14:m>
                  <m:oMath xmlns:m="http://schemas.openxmlformats.org/officeDocument/2006/math">
                    <m:r>
                      <a:rPr lang="en-US" altLang="zh-CN" sz="2800" b="0" smtClean="0">
                        <a:solidFill>
                          <a:srgbClr val="000000"/>
                        </a:solidFill>
                        <a:latin typeface="Cambria Math" panose="02040503050406030204" pitchFamily="18" charset="0"/>
                        <a:cs typeface="Times New Roman" pitchFamily="18" charset="0"/>
                      </a:rPr>
                      <m:t> </m:t>
                    </m:r>
                    <m:r>
                      <a:rPr lang="en-US" altLang="zh-CN" sz="2800" b="0" i="1">
                        <a:solidFill>
                          <a:srgbClr val="000000"/>
                        </a:solidFill>
                        <a:latin typeface="Cambria Math" panose="02040503050406030204" pitchFamily="18" charset="0"/>
                        <a:cs typeface="Times New Roman" pitchFamily="18" charset="0"/>
                      </a:rPr>
                      <m:t>𝐷</m:t>
                    </m:r>
                    <m:r>
                      <a:rPr lang="en-US" altLang="zh-CN" sz="2800" b="0" i="1">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Times New Roman" pitchFamily="18" charset="0"/>
                    <a:cs typeface="Times New Roman" pitchFamily="18" charset="0"/>
                  </a:rPr>
                  <a:t>上的</a:t>
                </a:r>
                <a:r>
                  <a:rPr lang="zh-CN" altLang="en-US" sz="2800" dirty="0">
                    <a:solidFill>
                      <a:srgbClr val="C00000"/>
                    </a:solidFill>
                    <a:latin typeface="Times New Roman" pitchFamily="18" charset="0"/>
                    <a:cs typeface="Times New Roman" pitchFamily="18" charset="0"/>
                  </a:rPr>
                  <a:t>严格上凸函数。</a:t>
                </a:r>
                <a:endParaRPr lang="en-US" altLang="zh-CN" sz="2800" dirty="0">
                  <a:solidFill>
                    <a:srgbClr val="000000"/>
                  </a:solidFill>
                  <a:latin typeface="Cambria Math" panose="02040503050406030204" pitchFamily="18" charset="0"/>
                  <a:cs typeface="Times New Roman" pitchFamily="18" charset="0"/>
                </a:endParaRPr>
              </a:p>
            </p:txBody>
          </p:sp>
        </mc:Choice>
        <mc:Fallback xmlns="">
          <p:sp>
            <p:nvSpPr>
              <p:cNvPr id="2" name="Rectangle 2">
                <a:hlinkClick r:id="rId4" action="ppaction://hlinksldjump"/>
                <a:extLst>
                  <a:ext uri="{FF2B5EF4-FFF2-40B4-BE49-F238E27FC236}">
                    <a16:creationId xmlns:a16="http://schemas.microsoft.com/office/drawing/2014/main" id="{8A0BA49D-DD82-75D7-80A0-303A2ED794EC}"/>
                  </a:ext>
                </a:extLst>
              </p:cNvPr>
              <p:cNvSpPr>
                <a:spLocks noRot="1" noChangeAspect="1" noMove="1" noResize="1" noEditPoints="1" noAdjustHandles="1" noChangeArrowheads="1" noChangeShapeType="1" noTextEdit="1"/>
              </p:cNvSpPr>
              <p:nvPr/>
            </p:nvSpPr>
            <p:spPr bwMode="auto">
              <a:xfrm>
                <a:off x="426308" y="883205"/>
                <a:ext cx="8391305" cy="3970318"/>
              </a:xfrm>
              <a:prstGeom prst="rect">
                <a:avLst/>
              </a:prstGeom>
              <a:blipFill>
                <a:blip r:embed="rId5"/>
                <a:stretch>
                  <a:fillRect l="-1526" r="-872" b="-922"/>
                </a:stretch>
              </a:blipFill>
              <a:ln w="9525">
                <a:no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5D09D2B-B3F5-0952-6472-9D217DA5E9F0}"/>
                  </a:ext>
                </a:extLst>
              </p:cNvPr>
              <p:cNvSpPr txBox="1"/>
              <p:nvPr/>
            </p:nvSpPr>
            <p:spPr>
              <a:xfrm>
                <a:off x="373488" y="4980171"/>
                <a:ext cx="8444125" cy="1384995"/>
              </a:xfrm>
              <a:prstGeom prst="rect">
                <a:avLst/>
              </a:prstGeom>
              <a:noFill/>
            </p:spPr>
            <p:txBody>
              <a:bodyPr wrap="square" rtlCol="0">
                <a:spAutoFit/>
              </a:bodyPr>
              <a:lstStyle/>
              <a:p>
                <a:pPr eaLnBrk="1" hangingPunct="1"/>
                <a:r>
                  <a:rPr lang="zh-CN" altLang="en-US" sz="2800" b="1" dirty="0">
                    <a:latin typeface="宋体" pitchFamily="2" charset="-122"/>
                    <a:cs typeface="Tahoma"/>
                  </a:rPr>
                  <a:t>定义</a:t>
                </a:r>
                <a:r>
                  <a:rPr lang="en-US" altLang="zh-CN" sz="2800" b="1" dirty="0">
                    <a:latin typeface="Times New Roman" pitchFamily="18" charset="0"/>
                    <a:cs typeface="Times New Roman" pitchFamily="18" charset="0"/>
                  </a:rPr>
                  <a:t>5  </a:t>
                </a:r>
                <a:r>
                  <a:rPr lang="zh-CN" altLang="en-US" sz="2800" dirty="0">
                    <a:solidFill>
                      <a:srgbClr val="000000"/>
                    </a:solidFill>
                    <a:latin typeface="Times New Roman" pitchFamily="18" charset="0"/>
                    <a:cs typeface="Times New Roman" pitchFamily="18" charset="0"/>
                  </a:rPr>
                  <a:t>若定义</a:t>
                </a:r>
                <a:r>
                  <a:rPr lang="en-US" altLang="zh-CN" sz="2800" dirty="0">
                    <a:solidFill>
                      <a:srgbClr val="000000"/>
                    </a:solidFill>
                    <a:latin typeface="Times New Roman" pitchFamily="18" charset="0"/>
                    <a:cs typeface="Times New Roman" pitchFamily="18" charset="0"/>
                  </a:rPr>
                  <a:t>4</a:t>
                </a:r>
                <a:r>
                  <a:rPr lang="zh-CN" altLang="en-US" sz="2800" dirty="0">
                    <a:solidFill>
                      <a:srgbClr val="000000"/>
                    </a:solidFill>
                    <a:latin typeface="Times New Roman" pitchFamily="18" charset="0"/>
                    <a:cs typeface="Times New Roman" pitchFamily="18" charset="0"/>
                  </a:rPr>
                  <a:t>中不等式 </a:t>
                </a:r>
                <a:r>
                  <a:rPr lang="en-US" altLang="zh-CN" sz="2800" dirty="0">
                    <a:solidFill>
                      <a:srgbClr val="000000"/>
                    </a:solidFill>
                    <a:latin typeface="Times New Roman" pitchFamily="18" charset="0"/>
                    <a:cs typeface="Times New Roman" pitchFamily="18" charset="0"/>
                  </a:rPr>
                  <a:t>(1) </a:t>
                </a:r>
                <a:r>
                  <a:rPr lang="zh-CN" altLang="en-US" sz="2800" dirty="0">
                    <a:solidFill>
                      <a:srgbClr val="000000"/>
                    </a:solidFill>
                    <a:latin typeface="Times New Roman" pitchFamily="18" charset="0"/>
                    <a:cs typeface="Times New Roman" pitchFamily="18" charset="0"/>
                  </a:rPr>
                  <a:t>取反方向，则</a:t>
                </a:r>
                <a:r>
                  <a:rPr lang="zh-CN" altLang="en-US" sz="2800" dirty="0">
                    <a:solidFill>
                      <a:srgbClr val="000000"/>
                    </a:solidFill>
                    <a:latin typeface="Cambria Math" panose="02040503050406030204" pitchFamily="18" charset="0"/>
                    <a:cs typeface="Times New Roman" pitchFamily="18" charset="0"/>
                  </a:rPr>
                  <a:t>称</a:t>
                </a:r>
                <a14:m>
                  <m:oMath xmlns:m="http://schemas.openxmlformats.org/officeDocument/2006/math">
                    <m:r>
                      <a:rPr lang="en-US" altLang="zh-CN" sz="2800" b="0" i="1">
                        <a:solidFill>
                          <a:srgbClr val="000000"/>
                        </a:solidFill>
                        <a:latin typeface="Cambria Math" panose="02040503050406030204" pitchFamily="18" charset="0"/>
                        <a:cs typeface="Times New Roman" pitchFamily="18" charset="0"/>
                      </a:rPr>
                      <m:t> </m:t>
                    </m:r>
                    <m:r>
                      <a:rPr lang="en-US" altLang="zh-CN" sz="2800" b="0" i="1">
                        <a:solidFill>
                          <a:srgbClr val="000000"/>
                        </a:solidFill>
                        <a:latin typeface="Cambria Math" panose="02040503050406030204" pitchFamily="18" charset="0"/>
                        <a:cs typeface="Times New Roman" pitchFamily="18" charset="0"/>
                      </a:rPr>
                      <m:t>𝑓</m:t>
                    </m:r>
                    <m:d>
                      <m:dPr>
                        <m:ctrlPr>
                          <a:rPr lang="en-US" altLang="zh-CN" sz="2800" i="1">
                            <a:solidFill>
                              <a:srgbClr val="000000"/>
                            </a:solidFill>
                            <a:latin typeface="Cambria Math" panose="02040503050406030204" pitchFamily="18" charset="0"/>
                            <a:cs typeface="Times New Roman" pitchFamily="18" charset="0"/>
                          </a:rPr>
                        </m:ctrlPr>
                      </m:dPr>
                      <m:e>
                        <m:r>
                          <a:rPr lang="en-US" altLang="zh-CN" sz="2800" b="0" i="1">
                            <a:solidFill>
                              <a:srgbClr val="000000"/>
                            </a:solidFill>
                            <a:latin typeface="Cambria Math" panose="02040503050406030204" pitchFamily="18" charset="0"/>
                            <a:cs typeface="Times New Roman" pitchFamily="18" charset="0"/>
                          </a:rPr>
                          <m:t>𝑥</m:t>
                        </m:r>
                      </m:e>
                    </m:d>
                    <m:r>
                      <a:rPr lang="en-US" altLang="zh-CN" sz="2800" b="0" i="1">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Cambria Math" panose="02040503050406030204" pitchFamily="18" charset="0"/>
                    <a:cs typeface="Times New Roman" pitchFamily="18" charset="0"/>
                  </a:rPr>
                  <a:t>是</a:t>
                </a:r>
                <a14:m>
                  <m:oMath xmlns:m="http://schemas.openxmlformats.org/officeDocument/2006/math">
                    <m:r>
                      <a:rPr lang="en-US" altLang="zh-CN" sz="2800" b="0">
                        <a:solidFill>
                          <a:srgbClr val="000000"/>
                        </a:solidFill>
                        <a:latin typeface="Cambria Math" panose="02040503050406030204" pitchFamily="18" charset="0"/>
                        <a:cs typeface="Times New Roman" pitchFamily="18" charset="0"/>
                      </a:rPr>
                      <m:t> </m:t>
                    </m:r>
                    <m:r>
                      <a:rPr lang="en-US" altLang="zh-CN" sz="2800" b="0" i="1">
                        <a:solidFill>
                          <a:srgbClr val="000000"/>
                        </a:solidFill>
                        <a:latin typeface="Cambria Math" panose="02040503050406030204" pitchFamily="18" charset="0"/>
                        <a:cs typeface="Times New Roman" pitchFamily="18" charset="0"/>
                      </a:rPr>
                      <m:t>𝐷</m:t>
                    </m:r>
                    <m:r>
                      <a:rPr lang="en-US" altLang="zh-CN" sz="2800" b="0" i="1">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Times New Roman" pitchFamily="18" charset="0"/>
                    <a:cs typeface="Times New Roman" pitchFamily="18" charset="0"/>
                  </a:rPr>
                  <a:t>上的</a:t>
                </a:r>
                <a:r>
                  <a:rPr lang="zh-CN" altLang="en-US" sz="2800" dirty="0">
                    <a:solidFill>
                      <a:srgbClr val="C00000"/>
                    </a:solidFill>
                    <a:latin typeface="Times New Roman" pitchFamily="18" charset="0"/>
                    <a:cs typeface="Times New Roman" pitchFamily="18" charset="0"/>
                  </a:rPr>
                  <a:t>下凹函数</a:t>
                </a:r>
                <a:r>
                  <a:rPr lang="zh-CN" altLang="en-US" sz="2800" dirty="0">
                    <a:solidFill>
                      <a:srgbClr val="000000"/>
                    </a:solidFill>
                    <a:latin typeface="Times New Roman" pitchFamily="18" charset="0"/>
                    <a:cs typeface="Times New Roman" pitchFamily="18" charset="0"/>
                  </a:rPr>
                  <a:t>及</a:t>
                </a:r>
                <a:r>
                  <a:rPr lang="zh-CN" altLang="en-US" sz="2800" dirty="0">
                    <a:solidFill>
                      <a:srgbClr val="C00000"/>
                    </a:solidFill>
                    <a:latin typeface="Times New Roman" pitchFamily="18" charset="0"/>
                    <a:cs typeface="Times New Roman" pitchFamily="18" charset="0"/>
                  </a:rPr>
                  <a:t>严格下凹函数。</a:t>
                </a:r>
                <a:r>
                  <a:rPr lang="en-US" altLang="zh-CN" sz="2800" dirty="0">
                    <a:solidFill>
                      <a:srgbClr val="C00000"/>
                    </a:solidFill>
                    <a:latin typeface="Times New Roman" pitchFamily="18" charset="0"/>
                    <a:cs typeface="Times New Roman" pitchFamily="18" charset="0"/>
                  </a:rPr>
                  <a:t> </a:t>
                </a:r>
                <a:endParaRPr kumimoji="1" lang="en-US" altLang="zh-CN" sz="2800" dirty="0">
                  <a:solidFill>
                    <a:srgbClr val="FF0000"/>
                  </a:solidFill>
                  <a:latin typeface="Times New Roman" pitchFamily="18" charset="0"/>
                  <a:cs typeface="Tahoma"/>
                </a:endParaRPr>
              </a:p>
              <a:p>
                <a:pPr marL="457200" indent="-457200" eaLnBrk="1" hangingPunct="1">
                  <a:buFont typeface="Wingdings" panose="05000000000000000000" pitchFamily="2" charset="2"/>
                  <a:buChar char="Ø"/>
                </a:pPr>
                <a:endParaRPr kumimoji="1" lang="en-US" altLang="zh-CN" sz="2800" b="1" dirty="0">
                  <a:solidFill>
                    <a:srgbClr val="FF0000"/>
                  </a:solidFill>
                  <a:latin typeface="Times New Roman" pitchFamily="18" charset="0"/>
                  <a:cs typeface="Tahoma"/>
                </a:endParaRPr>
              </a:p>
            </p:txBody>
          </p:sp>
        </mc:Choice>
        <mc:Fallback xmlns="">
          <p:sp>
            <p:nvSpPr>
              <p:cNvPr id="3" name="文本框 2">
                <a:extLst>
                  <a:ext uri="{FF2B5EF4-FFF2-40B4-BE49-F238E27FC236}">
                    <a16:creationId xmlns:a16="http://schemas.microsoft.com/office/drawing/2014/main" id="{05D09D2B-B3F5-0952-6472-9D217DA5E9F0}"/>
                  </a:ext>
                </a:extLst>
              </p:cNvPr>
              <p:cNvSpPr txBox="1">
                <a:spLocks noRot="1" noChangeAspect="1" noMove="1" noResize="1" noEditPoints="1" noAdjustHandles="1" noChangeArrowheads="1" noChangeShapeType="1" noTextEdit="1"/>
              </p:cNvSpPr>
              <p:nvPr/>
            </p:nvSpPr>
            <p:spPr>
              <a:xfrm>
                <a:off x="373488" y="4980171"/>
                <a:ext cx="8444125" cy="1384995"/>
              </a:xfrm>
              <a:prstGeom prst="rect">
                <a:avLst/>
              </a:prstGeom>
              <a:blipFill>
                <a:blip r:embed="rId6"/>
                <a:stretch>
                  <a:fillRect l="-1444" t="-6167"/>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2D0F85CA-B9B8-7174-46EC-E65667A4E8EF}"/>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2 </a:t>
            </a:r>
            <a:r>
              <a:rPr lang="zh-CN" altLang="en-US"/>
              <a:t>信息的度量（续）</a:t>
            </a:r>
            <a:endParaRPr lang="en-US" altLang="zh-CN"/>
          </a:p>
        </p:txBody>
      </p:sp>
      <p:pic>
        <p:nvPicPr>
          <p:cNvPr id="43011" name="图片 1">
            <a:extLst>
              <a:ext uri="{FF2B5EF4-FFF2-40B4-BE49-F238E27FC236}">
                <a16:creationId xmlns:a16="http://schemas.microsoft.com/office/drawing/2014/main" id="{117E07EB-9D4D-EF70-CDB0-9519897596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20" y="2133600"/>
            <a:ext cx="8772559" cy="384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文本框 2">
            <a:extLst>
              <a:ext uri="{FF2B5EF4-FFF2-40B4-BE49-F238E27FC236}">
                <a16:creationId xmlns:a16="http://schemas.microsoft.com/office/drawing/2014/main" id="{05066C3C-E05E-CDE2-341C-47C5B4F4DCB2}"/>
              </a:ext>
            </a:extLst>
          </p:cNvPr>
          <p:cNvSpPr txBox="1">
            <a:spLocks noChangeArrowheads="1"/>
          </p:cNvSpPr>
          <p:nvPr/>
        </p:nvSpPr>
        <p:spPr bwMode="auto">
          <a:xfrm>
            <a:off x="5943600" y="1245733"/>
            <a:ext cx="2376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C00000"/>
                </a:solidFill>
                <a:latin typeface="Times New Roman" panose="02020603050405020304" pitchFamily="18" charset="0"/>
                <a:cs typeface="Tahoma" panose="020B0604030504040204" pitchFamily="34" charset="0"/>
              </a:rPr>
              <a:t>上凸函数</a:t>
            </a:r>
          </a:p>
        </p:txBody>
      </p:sp>
      <p:sp>
        <p:nvSpPr>
          <p:cNvPr id="43013" name="文本框 3">
            <a:extLst>
              <a:ext uri="{FF2B5EF4-FFF2-40B4-BE49-F238E27FC236}">
                <a16:creationId xmlns:a16="http://schemas.microsoft.com/office/drawing/2014/main" id="{DCF73EBF-9274-66C0-89AC-294B44B04671}"/>
              </a:ext>
            </a:extLst>
          </p:cNvPr>
          <p:cNvSpPr txBox="1">
            <a:spLocks noChangeArrowheads="1"/>
          </p:cNvSpPr>
          <p:nvPr/>
        </p:nvSpPr>
        <p:spPr bwMode="auto">
          <a:xfrm>
            <a:off x="685800" y="1245733"/>
            <a:ext cx="2376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C00000"/>
                </a:solidFill>
                <a:latin typeface="Times New Roman" panose="02020603050405020304" pitchFamily="18" charset="0"/>
                <a:cs typeface="Tahoma" panose="020B0604030504040204" pitchFamily="34" charset="0"/>
              </a:rPr>
              <a:t>下凹函数</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B0C837F-77A4-6164-DFFD-0AC1021934B5}"/>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xmlns:a14="http://schemas.microsoft.com/office/drawing/2010/main">
        <mc:Choice Requires="a14">
          <p:sp>
            <p:nvSpPr>
              <p:cNvPr id="3" name="Rectangle 2">
                <a:hlinkClick r:id="rId3" action="ppaction://hlinksldjump"/>
                <a:extLst>
                  <a:ext uri="{FF2B5EF4-FFF2-40B4-BE49-F238E27FC236}">
                    <a16:creationId xmlns:a16="http://schemas.microsoft.com/office/drawing/2014/main" id="{0D5ED13D-7C84-593A-14D5-66EBC6BF7584}"/>
                  </a:ext>
                </a:extLst>
              </p:cNvPr>
              <p:cNvSpPr>
                <a:spLocks noChangeArrowheads="1"/>
              </p:cNvSpPr>
              <p:nvPr/>
            </p:nvSpPr>
            <p:spPr bwMode="auto">
              <a:xfrm>
                <a:off x="376347" y="762000"/>
                <a:ext cx="8391305" cy="4433650"/>
              </a:xfrm>
              <a:prstGeom prst="rect">
                <a:avLst/>
              </a:prstGeom>
              <a:noFill/>
              <a:ln w="9525">
                <a:noFill/>
                <a:miter lim="800000"/>
                <a:headEnd/>
                <a:tailEnd/>
              </a:ln>
              <a:effectLst/>
            </p:spPr>
            <p:txBody>
              <a:bodyPr wrap="square">
                <a:spAutoFit/>
              </a:bodyPr>
              <a:lstStyle/>
              <a:p>
                <a:pPr eaLnBrk="1" hangingPunct="1">
                  <a:lnSpc>
                    <a:spcPct val="150000"/>
                  </a:lnSpc>
                  <a:defRPr/>
                </a:pPr>
                <a:r>
                  <a:rPr lang="zh-CN" altLang="en-US" sz="3200" b="1" dirty="0">
                    <a:latin typeface="宋体" pitchFamily="2" charset="-122"/>
                    <a:cs typeface="Tahoma"/>
                  </a:rPr>
                  <a:t>定理</a:t>
                </a:r>
                <a:r>
                  <a:rPr lang="en-US" altLang="zh-CN" sz="3200" b="1" dirty="0">
                    <a:latin typeface="宋体" pitchFamily="2" charset="-122"/>
                    <a:cs typeface="Tahoma"/>
                  </a:rPr>
                  <a:t>1</a:t>
                </a:r>
                <a:r>
                  <a:rPr lang="zh-CN" altLang="en-US" sz="3200" dirty="0">
                    <a:latin typeface="宋体" pitchFamily="2" charset="-122"/>
                    <a:cs typeface="Tahoma"/>
                  </a:rPr>
                  <a:t>（</a:t>
                </a:r>
                <a:r>
                  <a:rPr lang="en-US" altLang="zh-CN" sz="3200" dirty="0">
                    <a:latin typeface="宋体" pitchFamily="2" charset="-122"/>
                    <a:cs typeface="Tahoma"/>
                  </a:rPr>
                  <a:t>Jensen</a:t>
                </a:r>
                <a:r>
                  <a:rPr lang="zh-CN" altLang="en-US" sz="3200" dirty="0">
                    <a:latin typeface="宋体" pitchFamily="2" charset="-122"/>
                    <a:cs typeface="Tahoma"/>
                  </a:rPr>
                  <a:t>不等式）</a:t>
                </a:r>
                <a:r>
                  <a:rPr lang="en-US" altLang="zh-CN" sz="3200" dirty="0">
                    <a:latin typeface="Times New Roman" pitchFamily="18" charset="0"/>
                    <a:cs typeface="Times New Roman" pitchFamily="18" charset="0"/>
                  </a:rPr>
                  <a:t> </a:t>
                </a:r>
                <a:r>
                  <a:rPr lang="zh-CN" altLang="en-US" sz="3200" dirty="0">
                    <a:solidFill>
                      <a:srgbClr val="000000"/>
                    </a:solidFill>
                    <a:latin typeface="Times New Roman" pitchFamily="18" charset="0"/>
                    <a:cs typeface="Times New Roman" pitchFamily="18" charset="0"/>
                  </a:rPr>
                  <a:t>设</a:t>
                </a:r>
                <a14:m>
                  <m:oMath xmlns:m="http://schemas.openxmlformats.org/officeDocument/2006/math">
                    <m:r>
                      <a:rPr lang="en-US" altLang="zh-CN" sz="3200" b="0" i="1" smtClean="0">
                        <a:solidFill>
                          <a:srgbClr val="000000"/>
                        </a:solidFill>
                        <a:latin typeface="Cambria Math" panose="02040503050406030204" pitchFamily="18" charset="0"/>
                        <a:cs typeface="Times New Roman" pitchFamily="18" charset="0"/>
                      </a:rPr>
                      <m:t> </m:t>
                    </m:r>
                    <m:r>
                      <a:rPr lang="en-US" altLang="zh-CN" sz="3200" b="0" i="1" smtClean="0">
                        <a:solidFill>
                          <a:srgbClr val="000000"/>
                        </a:solidFill>
                        <a:latin typeface="Cambria Math" panose="02040503050406030204" pitchFamily="18" charset="0"/>
                        <a:cs typeface="Times New Roman" pitchFamily="18" charset="0"/>
                      </a:rPr>
                      <m:t>𝑓</m:t>
                    </m:r>
                    <m:r>
                      <a:rPr lang="en-US" altLang="zh-CN" sz="3200" b="0" i="1" smtClean="0">
                        <a:solidFill>
                          <a:srgbClr val="000000"/>
                        </a:solidFill>
                        <a:latin typeface="Cambria Math" panose="02040503050406030204" pitchFamily="18" charset="0"/>
                        <a:cs typeface="Times New Roman" pitchFamily="18" charset="0"/>
                      </a:rPr>
                      <m:t> </m:t>
                    </m:r>
                  </m:oMath>
                </a14:m>
                <a:r>
                  <a:rPr lang="zh-CN" altLang="en-US" sz="3200" dirty="0">
                    <a:solidFill>
                      <a:srgbClr val="000000"/>
                    </a:solidFill>
                    <a:latin typeface="Cambria Math" panose="02040503050406030204" pitchFamily="18" charset="0"/>
                    <a:cs typeface="Times New Roman" pitchFamily="18" charset="0"/>
                  </a:rPr>
                  <a:t>是区间</a:t>
                </a:r>
                <a14:m>
                  <m:oMath xmlns:m="http://schemas.openxmlformats.org/officeDocument/2006/math">
                    <m:r>
                      <a:rPr lang="en-US" altLang="zh-CN" sz="3200" b="0" i="1" smtClean="0">
                        <a:solidFill>
                          <a:srgbClr val="000000"/>
                        </a:solidFill>
                        <a:latin typeface="Cambria Math" panose="02040503050406030204" pitchFamily="18" charset="0"/>
                        <a:cs typeface="Times New Roman" pitchFamily="18" charset="0"/>
                      </a:rPr>
                      <m:t> </m:t>
                    </m:r>
                    <m:r>
                      <a:rPr lang="en-US" altLang="zh-CN" sz="3200" b="0" i="1" smtClean="0">
                        <a:solidFill>
                          <a:srgbClr val="000000"/>
                        </a:solidFill>
                        <a:latin typeface="Cambria Math" panose="02040503050406030204" pitchFamily="18" charset="0"/>
                        <a:cs typeface="Times New Roman" pitchFamily="18" charset="0"/>
                      </a:rPr>
                      <m:t>𝐼</m:t>
                    </m:r>
                    <m:r>
                      <a:rPr lang="en-US" altLang="zh-CN" sz="3200" b="0" i="1" smtClean="0">
                        <a:solidFill>
                          <a:srgbClr val="000000"/>
                        </a:solidFill>
                        <a:latin typeface="Cambria Math" panose="02040503050406030204" pitchFamily="18" charset="0"/>
                        <a:cs typeface="Times New Roman" pitchFamily="18" charset="0"/>
                      </a:rPr>
                      <m:t> </m:t>
                    </m:r>
                  </m:oMath>
                </a14:m>
                <a:r>
                  <a:rPr lang="zh-CN" altLang="en-US" sz="3200" dirty="0">
                    <a:solidFill>
                      <a:srgbClr val="000000"/>
                    </a:solidFill>
                    <a:latin typeface="Cambria Math" panose="02040503050406030204" pitchFamily="18" charset="0"/>
                    <a:cs typeface="Times New Roman" pitchFamily="18" charset="0"/>
                  </a:rPr>
                  <a:t>上的一个严格上凸函数，</a:t>
                </a:r>
                <a14:m>
                  <m:oMath xmlns:m="http://schemas.openxmlformats.org/officeDocument/2006/math">
                    <m:r>
                      <a:rPr lang="en-US" altLang="zh-CN" sz="3200" b="0" i="1" smtClean="0">
                        <a:solidFill>
                          <a:srgbClr val="000000"/>
                        </a:solidFill>
                        <a:latin typeface="Cambria Math" panose="02040503050406030204" pitchFamily="18" charset="0"/>
                        <a:cs typeface="Times New Roman" pitchFamily="18" charset="0"/>
                      </a:rPr>
                      <m:t> </m:t>
                    </m:r>
                    <m:nary>
                      <m:naryPr>
                        <m:chr m:val="∑"/>
                        <m:limLoc m:val="subSup"/>
                        <m:ctrlPr>
                          <a:rPr lang="en-US" altLang="zh-CN" sz="3200" i="1" smtClean="0">
                            <a:solidFill>
                              <a:srgbClr val="000000"/>
                            </a:solidFill>
                            <a:latin typeface="Cambria Math" panose="02040503050406030204" pitchFamily="18" charset="0"/>
                            <a:cs typeface="Times New Roman" pitchFamily="18" charset="0"/>
                          </a:rPr>
                        </m:ctrlPr>
                      </m:naryPr>
                      <m:sub>
                        <m:r>
                          <m:rPr>
                            <m:brk m:alnAt="25"/>
                          </m:rPr>
                          <a:rPr lang="en-US" altLang="zh-CN" sz="3200" b="0" i="1" smtClean="0">
                            <a:solidFill>
                              <a:srgbClr val="000000"/>
                            </a:solidFill>
                            <a:latin typeface="Cambria Math" panose="02040503050406030204" pitchFamily="18" charset="0"/>
                            <a:cs typeface="Times New Roman" pitchFamily="18" charset="0"/>
                          </a:rPr>
                          <m:t>𝑖</m:t>
                        </m:r>
                        <m:r>
                          <a:rPr lang="en-US" altLang="zh-CN" sz="3200" b="0" i="1" smtClean="0">
                            <a:solidFill>
                              <a:srgbClr val="000000"/>
                            </a:solidFill>
                            <a:latin typeface="Cambria Math" panose="02040503050406030204" pitchFamily="18" charset="0"/>
                            <a:cs typeface="Times New Roman" pitchFamily="18" charset="0"/>
                          </a:rPr>
                          <m:t>=1</m:t>
                        </m:r>
                      </m:sub>
                      <m:sup>
                        <m:r>
                          <a:rPr lang="en-US" altLang="zh-CN" sz="3200" b="0" i="1" smtClean="0">
                            <a:solidFill>
                              <a:srgbClr val="000000"/>
                            </a:solidFill>
                            <a:latin typeface="Cambria Math" panose="02040503050406030204" pitchFamily="18" charset="0"/>
                            <a:cs typeface="Times New Roman" pitchFamily="18" charset="0"/>
                          </a:rPr>
                          <m:t>𝑛</m:t>
                        </m:r>
                      </m:sup>
                      <m:e>
                        <m:sSub>
                          <m:sSubPr>
                            <m:ctrlPr>
                              <a:rPr lang="en-US" altLang="zh-CN" sz="3200" i="1" smtClean="0">
                                <a:solidFill>
                                  <a:srgbClr val="000000"/>
                                </a:solidFill>
                                <a:latin typeface="Cambria Math" panose="02040503050406030204" pitchFamily="18" charset="0"/>
                                <a:cs typeface="Times New Roman" pitchFamily="18" charset="0"/>
                              </a:rPr>
                            </m:ctrlPr>
                          </m:sSubPr>
                          <m:e>
                            <m:r>
                              <a:rPr lang="en-US" altLang="zh-CN" sz="3200" b="0" i="1" smtClean="0">
                                <a:solidFill>
                                  <a:srgbClr val="000000"/>
                                </a:solidFill>
                                <a:latin typeface="Cambria Math" panose="02040503050406030204" pitchFamily="18" charset="0"/>
                                <a:cs typeface="Times New Roman" pitchFamily="18" charset="0"/>
                              </a:rPr>
                              <m:t>𝑎</m:t>
                            </m:r>
                          </m:e>
                          <m:sub>
                            <m:r>
                              <a:rPr lang="en-US" altLang="zh-CN" sz="3200" b="0" i="1" smtClean="0">
                                <a:solidFill>
                                  <a:srgbClr val="000000"/>
                                </a:solidFill>
                                <a:latin typeface="Cambria Math" panose="02040503050406030204" pitchFamily="18" charset="0"/>
                                <a:cs typeface="Times New Roman" pitchFamily="18" charset="0"/>
                              </a:rPr>
                              <m:t>𝑖</m:t>
                            </m:r>
                          </m:sub>
                        </m:sSub>
                      </m:e>
                    </m:nary>
                    <m:r>
                      <a:rPr lang="en-US" altLang="zh-CN" sz="3200" b="0" i="1" smtClean="0">
                        <a:solidFill>
                          <a:srgbClr val="000000"/>
                        </a:solidFill>
                        <a:latin typeface="Cambria Math" panose="02040503050406030204" pitchFamily="18" charset="0"/>
                        <a:cs typeface="Times New Roman" pitchFamily="18" charset="0"/>
                      </a:rPr>
                      <m:t>=1</m:t>
                    </m:r>
                  </m:oMath>
                </a14:m>
                <a:r>
                  <a:rPr lang="zh-CN" altLang="en-US" sz="3200" dirty="0">
                    <a:solidFill>
                      <a:srgbClr val="000000"/>
                    </a:solidFill>
                    <a:latin typeface="Cambria Math" panose="02040503050406030204" pitchFamily="18" charset="0"/>
                    <a:cs typeface="Times New Roman" pitchFamily="18" charset="0"/>
                  </a:rPr>
                  <a:t>，</a:t>
                </a:r>
                <a14:m>
                  <m:oMath xmlns:m="http://schemas.openxmlformats.org/officeDocument/2006/math">
                    <m:sSub>
                      <m:sSubPr>
                        <m:ctrlPr>
                          <a:rPr lang="en-US" altLang="zh-CN" sz="3200" i="1">
                            <a:solidFill>
                              <a:srgbClr val="000000"/>
                            </a:solidFill>
                            <a:latin typeface="Cambria Math" panose="02040503050406030204" pitchFamily="18" charset="0"/>
                            <a:cs typeface="Times New Roman" pitchFamily="18" charset="0"/>
                          </a:rPr>
                        </m:ctrlPr>
                      </m:sSubPr>
                      <m:e>
                        <m:r>
                          <a:rPr lang="en-US" altLang="zh-CN" sz="3200" b="0" i="1">
                            <a:solidFill>
                              <a:srgbClr val="000000"/>
                            </a:solidFill>
                            <a:latin typeface="Cambria Math" panose="02040503050406030204" pitchFamily="18" charset="0"/>
                            <a:cs typeface="Times New Roman" pitchFamily="18" charset="0"/>
                          </a:rPr>
                          <m:t>𝑎</m:t>
                        </m:r>
                      </m:e>
                      <m:sub>
                        <m:r>
                          <a:rPr lang="en-US" altLang="zh-CN" sz="3200" b="0" i="1">
                            <a:solidFill>
                              <a:srgbClr val="000000"/>
                            </a:solidFill>
                            <a:latin typeface="Cambria Math" panose="02040503050406030204" pitchFamily="18" charset="0"/>
                            <a:cs typeface="Times New Roman" pitchFamily="18" charset="0"/>
                          </a:rPr>
                          <m:t>𝑖</m:t>
                        </m:r>
                      </m:sub>
                    </m:sSub>
                    <m:r>
                      <a:rPr lang="en-US" altLang="zh-CN" sz="3200" b="0" i="1" smtClean="0">
                        <a:solidFill>
                          <a:srgbClr val="000000"/>
                        </a:solidFill>
                        <a:latin typeface="Cambria Math" panose="02040503050406030204" pitchFamily="18" charset="0"/>
                        <a:cs typeface="Times New Roman" pitchFamily="18" charset="0"/>
                      </a:rPr>
                      <m:t>&gt;0</m:t>
                    </m:r>
                  </m:oMath>
                </a14:m>
                <a:r>
                  <a:rPr lang="zh-CN" altLang="en-US" sz="3200" dirty="0">
                    <a:solidFill>
                      <a:srgbClr val="000000"/>
                    </a:solidFill>
                    <a:latin typeface="Cambria Math" panose="02040503050406030204" pitchFamily="18" charset="0"/>
                    <a:cs typeface="Times New Roman" pitchFamily="18" charset="0"/>
                  </a:rPr>
                  <a:t>，</a:t>
                </a:r>
                <a14:m>
                  <m:oMath xmlns:m="http://schemas.openxmlformats.org/officeDocument/2006/math">
                    <m:r>
                      <a:rPr lang="en-US" altLang="zh-CN" sz="3200" b="0" i="1">
                        <a:solidFill>
                          <a:srgbClr val="000000"/>
                        </a:solidFill>
                        <a:latin typeface="Cambria Math" panose="02040503050406030204" pitchFamily="18" charset="0"/>
                        <a:cs typeface="Times New Roman" pitchFamily="18" charset="0"/>
                      </a:rPr>
                      <m:t>1≤</m:t>
                    </m:r>
                    <m:r>
                      <a:rPr lang="en-US" altLang="zh-CN" sz="3200" b="0" i="1">
                        <a:solidFill>
                          <a:srgbClr val="000000"/>
                        </a:solidFill>
                        <a:latin typeface="Cambria Math" panose="02040503050406030204" pitchFamily="18" charset="0"/>
                        <a:cs typeface="Times New Roman" pitchFamily="18" charset="0"/>
                      </a:rPr>
                      <m:t>𝑖</m:t>
                    </m:r>
                    <m:r>
                      <a:rPr lang="en-US" altLang="zh-CN" sz="3200" b="0" i="1">
                        <a:solidFill>
                          <a:srgbClr val="000000"/>
                        </a:solidFill>
                        <a:latin typeface="Cambria Math" panose="02040503050406030204" pitchFamily="18" charset="0"/>
                        <a:cs typeface="Times New Roman" pitchFamily="18" charset="0"/>
                      </a:rPr>
                      <m:t>≤</m:t>
                    </m:r>
                    <m:r>
                      <a:rPr lang="en-US" altLang="zh-CN" sz="3200" b="0" i="1">
                        <a:solidFill>
                          <a:srgbClr val="000000"/>
                        </a:solidFill>
                        <a:latin typeface="Cambria Math" panose="02040503050406030204" pitchFamily="18" charset="0"/>
                        <a:cs typeface="Times New Roman" pitchFamily="18" charset="0"/>
                      </a:rPr>
                      <m:t>𝑛</m:t>
                    </m:r>
                  </m:oMath>
                </a14:m>
                <a:r>
                  <a:rPr lang="zh-CN" altLang="en-US" sz="3200" dirty="0">
                    <a:solidFill>
                      <a:srgbClr val="000000"/>
                    </a:solidFill>
                    <a:latin typeface="Cambria Math" panose="02040503050406030204" pitchFamily="18" charset="0"/>
                    <a:cs typeface="Times New Roman" pitchFamily="18" charset="0"/>
                  </a:rPr>
                  <a:t>，则</a:t>
                </a:r>
                <a:endParaRPr lang="en-US" altLang="zh-CN" sz="3200" dirty="0">
                  <a:solidFill>
                    <a:srgbClr val="000000"/>
                  </a:solidFill>
                  <a:latin typeface="Cambria Math" panose="02040503050406030204" pitchFamily="18" charset="0"/>
                  <a:cs typeface="Times New Roman" pitchFamily="18" charset="0"/>
                </a:endParaRPr>
              </a:p>
              <a:p>
                <a:pPr algn="r" eaLnBrk="1" hangingPunct="1">
                  <a:lnSpc>
                    <a:spcPct val="150000"/>
                  </a:lnSpc>
                  <a:defRPr/>
                </a:pPr>
                <a14:m>
                  <m:oMath xmlns:m="http://schemas.openxmlformats.org/officeDocument/2006/math">
                    <m:nary>
                      <m:naryPr>
                        <m:chr m:val="∑"/>
                        <m:limLoc m:val="subSup"/>
                        <m:ctrlPr>
                          <a:rPr lang="en-US" altLang="zh-CN" sz="3200" i="1" smtClean="0">
                            <a:solidFill>
                              <a:srgbClr val="000000"/>
                            </a:solidFill>
                            <a:latin typeface="Cambria Math" panose="02040503050406030204" pitchFamily="18" charset="0"/>
                            <a:cs typeface="Times New Roman" pitchFamily="18" charset="0"/>
                          </a:rPr>
                        </m:ctrlPr>
                      </m:naryPr>
                      <m:sub>
                        <m:r>
                          <m:rPr>
                            <m:brk m:alnAt="25"/>
                          </m:rPr>
                          <a:rPr lang="en-US" altLang="zh-CN" sz="3200" b="0" i="1" smtClean="0">
                            <a:solidFill>
                              <a:srgbClr val="000000"/>
                            </a:solidFill>
                            <a:latin typeface="Cambria Math" panose="02040503050406030204" pitchFamily="18" charset="0"/>
                            <a:cs typeface="Times New Roman" pitchFamily="18" charset="0"/>
                          </a:rPr>
                          <m:t>𝑖</m:t>
                        </m:r>
                        <m:r>
                          <a:rPr lang="en-US" altLang="zh-CN" sz="3200" b="0" i="1" smtClean="0">
                            <a:solidFill>
                              <a:srgbClr val="000000"/>
                            </a:solidFill>
                            <a:latin typeface="Cambria Math" panose="02040503050406030204" pitchFamily="18" charset="0"/>
                            <a:cs typeface="Times New Roman" pitchFamily="18" charset="0"/>
                          </a:rPr>
                          <m:t>=1</m:t>
                        </m:r>
                      </m:sub>
                      <m:sup>
                        <m:r>
                          <a:rPr lang="en-US" altLang="zh-CN" sz="3200" b="0" i="1" smtClean="0">
                            <a:solidFill>
                              <a:srgbClr val="000000"/>
                            </a:solidFill>
                            <a:latin typeface="Cambria Math" panose="02040503050406030204" pitchFamily="18" charset="0"/>
                            <a:cs typeface="Times New Roman" pitchFamily="18" charset="0"/>
                          </a:rPr>
                          <m:t>𝑛</m:t>
                        </m:r>
                      </m:sup>
                      <m:e>
                        <m:sSub>
                          <m:sSubPr>
                            <m:ctrlPr>
                              <a:rPr lang="en-US" altLang="zh-CN" sz="3200" i="1" smtClean="0">
                                <a:solidFill>
                                  <a:srgbClr val="000000"/>
                                </a:solidFill>
                                <a:latin typeface="Cambria Math" panose="02040503050406030204" pitchFamily="18" charset="0"/>
                                <a:cs typeface="Times New Roman" pitchFamily="18" charset="0"/>
                              </a:rPr>
                            </m:ctrlPr>
                          </m:sSubPr>
                          <m:e>
                            <m:r>
                              <a:rPr lang="en-US" altLang="zh-CN" sz="3200" b="0" i="1" smtClean="0">
                                <a:solidFill>
                                  <a:srgbClr val="000000"/>
                                </a:solidFill>
                                <a:latin typeface="Cambria Math" panose="02040503050406030204" pitchFamily="18" charset="0"/>
                                <a:cs typeface="Times New Roman" pitchFamily="18" charset="0"/>
                              </a:rPr>
                              <m:t>𝑎</m:t>
                            </m:r>
                          </m:e>
                          <m:sub>
                            <m:r>
                              <a:rPr lang="en-US" altLang="zh-CN" sz="3200" b="0" i="1" smtClean="0">
                                <a:solidFill>
                                  <a:srgbClr val="000000"/>
                                </a:solidFill>
                                <a:latin typeface="Cambria Math" panose="02040503050406030204" pitchFamily="18" charset="0"/>
                                <a:cs typeface="Times New Roman" pitchFamily="18" charset="0"/>
                              </a:rPr>
                              <m:t>𝑖</m:t>
                            </m:r>
                          </m:sub>
                        </m:sSub>
                        <m:r>
                          <a:rPr lang="en-US" altLang="zh-CN" sz="3200" b="0" i="1" smtClean="0">
                            <a:solidFill>
                              <a:srgbClr val="000000"/>
                            </a:solidFill>
                            <a:latin typeface="Cambria Math" panose="02040503050406030204" pitchFamily="18" charset="0"/>
                            <a:cs typeface="Times New Roman" pitchFamily="18" charset="0"/>
                          </a:rPr>
                          <m:t>𝑓</m:t>
                        </m:r>
                        <m:d>
                          <m:dPr>
                            <m:ctrlPr>
                              <a:rPr lang="en-US" altLang="zh-CN" sz="3200" i="1" smtClean="0">
                                <a:solidFill>
                                  <a:srgbClr val="000000"/>
                                </a:solidFill>
                                <a:latin typeface="Cambria Math" panose="02040503050406030204" pitchFamily="18" charset="0"/>
                                <a:cs typeface="Times New Roman" pitchFamily="18" charset="0"/>
                              </a:rPr>
                            </m:ctrlPr>
                          </m:dPr>
                          <m:e>
                            <m:sSub>
                              <m:sSubPr>
                                <m:ctrlPr>
                                  <a:rPr lang="en-US" altLang="zh-CN" sz="3200" i="1" smtClean="0">
                                    <a:solidFill>
                                      <a:srgbClr val="000000"/>
                                    </a:solidFill>
                                    <a:latin typeface="Cambria Math" panose="02040503050406030204" pitchFamily="18" charset="0"/>
                                    <a:cs typeface="Times New Roman" pitchFamily="18" charset="0"/>
                                  </a:rPr>
                                </m:ctrlPr>
                              </m:sSubPr>
                              <m:e>
                                <m:r>
                                  <a:rPr lang="en-US" altLang="zh-CN" sz="3200" b="0" i="1" smtClean="0">
                                    <a:solidFill>
                                      <a:srgbClr val="000000"/>
                                    </a:solidFill>
                                    <a:latin typeface="Cambria Math" panose="02040503050406030204" pitchFamily="18" charset="0"/>
                                    <a:cs typeface="Times New Roman" pitchFamily="18" charset="0"/>
                                  </a:rPr>
                                  <m:t>𝑥</m:t>
                                </m:r>
                              </m:e>
                              <m:sub>
                                <m:r>
                                  <a:rPr lang="en-US" altLang="zh-CN" sz="3200" b="0" i="1" smtClean="0">
                                    <a:solidFill>
                                      <a:srgbClr val="000000"/>
                                    </a:solidFill>
                                    <a:latin typeface="Cambria Math" panose="02040503050406030204" pitchFamily="18" charset="0"/>
                                    <a:cs typeface="Times New Roman" pitchFamily="18" charset="0"/>
                                  </a:rPr>
                                  <m:t>𝑖</m:t>
                                </m:r>
                              </m:sub>
                            </m:sSub>
                          </m:e>
                        </m:d>
                      </m:e>
                    </m:nary>
                    <m:r>
                      <a:rPr lang="en-US" altLang="zh-CN" sz="3200" b="0" i="1" smtClean="0">
                        <a:solidFill>
                          <a:srgbClr val="000000"/>
                        </a:solidFill>
                        <a:latin typeface="Cambria Math" panose="02040503050406030204" pitchFamily="18" charset="0"/>
                        <a:cs typeface="Times New Roman" pitchFamily="18" charset="0"/>
                      </a:rPr>
                      <m:t>≤</m:t>
                    </m:r>
                    <m:r>
                      <a:rPr lang="en-US" altLang="zh-CN" sz="3200" b="0" i="1" smtClean="0">
                        <a:solidFill>
                          <a:srgbClr val="000000"/>
                        </a:solidFill>
                        <a:latin typeface="Cambria Math" panose="02040503050406030204" pitchFamily="18" charset="0"/>
                        <a:cs typeface="Times New Roman" pitchFamily="18" charset="0"/>
                      </a:rPr>
                      <m:t>𝑓</m:t>
                    </m:r>
                    <m:d>
                      <m:dPr>
                        <m:ctrlPr>
                          <a:rPr lang="en-US" altLang="zh-CN" sz="3200" i="1" smtClean="0">
                            <a:solidFill>
                              <a:srgbClr val="000000"/>
                            </a:solidFill>
                            <a:latin typeface="Cambria Math" panose="02040503050406030204" pitchFamily="18" charset="0"/>
                            <a:cs typeface="Times New Roman" pitchFamily="18" charset="0"/>
                          </a:rPr>
                        </m:ctrlPr>
                      </m:dPr>
                      <m:e>
                        <m:nary>
                          <m:naryPr>
                            <m:chr m:val="∑"/>
                            <m:limLoc m:val="subSup"/>
                            <m:ctrlPr>
                              <a:rPr lang="en-US" altLang="zh-CN" sz="3200" i="1" smtClean="0">
                                <a:solidFill>
                                  <a:srgbClr val="000000"/>
                                </a:solidFill>
                                <a:latin typeface="Cambria Math" panose="02040503050406030204" pitchFamily="18" charset="0"/>
                                <a:cs typeface="Times New Roman" pitchFamily="18" charset="0"/>
                              </a:rPr>
                            </m:ctrlPr>
                          </m:naryPr>
                          <m:sub>
                            <m:r>
                              <m:rPr>
                                <m:brk m:alnAt="25"/>
                              </m:rPr>
                              <a:rPr lang="en-US" altLang="zh-CN" sz="3200" b="0" i="1" smtClean="0">
                                <a:solidFill>
                                  <a:srgbClr val="000000"/>
                                </a:solidFill>
                                <a:latin typeface="Cambria Math" panose="02040503050406030204" pitchFamily="18" charset="0"/>
                                <a:cs typeface="Times New Roman" pitchFamily="18" charset="0"/>
                              </a:rPr>
                              <m:t>𝑖</m:t>
                            </m:r>
                            <m:r>
                              <a:rPr lang="en-US" altLang="zh-CN" sz="3200" b="0" i="1" smtClean="0">
                                <a:solidFill>
                                  <a:srgbClr val="000000"/>
                                </a:solidFill>
                                <a:latin typeface="Cambria Math" panose="02040503050406030204" pitchFamily="18" charset="0"/>
                                <a:cs typeface="Times New Roman" pitchFamily="18" charset="0"/>
                              </a:rPr>
                              <m:t>=1</m:t>
                            </m:r>
                          </m:sub>
                          <m:sup>
                            <m:r>
                              <a:rPr lang="en-US" altLang="zh-CN" sz="3200" b="0" i="1" smtClean="0">
                                <a:solidFill>
                                  <a:srgbClr val="000000"/>
                                </a:solidFill>
                                <a:latin typeface="Cambria Math" panose="02040503050406030204" pitchFamily="18" charset="0"/>
                                <a:cs typeface="Times New Roman" pitchFamily="18" charset="0"/>
                              </a:rPr>
                              <m:t>𝑛</m:t>
                            </m:r>
                          </m:sup>
                          <m:e>
                            <m:sSub>
                              <m:sSubPr>
                                <m:ctrlPr>
                                  <a:rPr lang="en-US" altLang="zh-CN" sz="3200" i="1" smtClean="0">
                                    <a:solidFill>
                                      <a:srgbClr val="000000"/>
                                    </a:solidFill>
                                    <a:latin typeface="Cambria Math" panose="02040503050406030204" pitchFamily="18" charset="0"/>
                                    <a:cs typeface="Times New Roman" pitchFamily="18" charset="0"/>
                                  </a:rPr>
                                </m:ctrlPr>
                              </m:sSubPr>
                              <m:e>
                                <m:r>
                                  <a:rPr lang="en-US" altLang="zh-CN" sz="3200" b="0" i="1" smtClean="0">
                                    <a:solidFill>
                                      <a:srgbClr val="000000"/>
                                    </a:solidFill>
                                    <a:latin typeface="Cambria Math" panose="02040503050406030204" pitchFamily="18" charset="0"/>
                                    <a:cs typeface="Times New Roman" pitchFamily="18" charset="0"/>
                                  </a:rPr>
                                  <m:t>𝑎</m:t>
                                </m:r>
                              </m:e>
                              <m:sub>
                                <m:r>
                                  <a:rPr lang="en-US" altLang="zh-CN" sz="3200" b="0" i="1" smtClean="0">
                                    <a:solidFill>
                                      <a:srgbClr val="000000"/>
                                    </a:solidFill>
                                    <a:latin typeface="Cambria Math" panose="02040503050406030204" pitchFamily="18" charset="0"/>
                                    <a:cs typeface="Times New Roman" pitchFamily="18" charset="0"/>
                                  </a:rPr>
                                  <m:t>𝑖</m:t>
                                </m:r>
                              </m:sub>
                            </m:sSub>
                            <m:sSub>
                              <m:sSubPr>
                                <m:ctrlPr>
                                  <a:rPr lang="en-US" altLang="zh-CN" sz="3200" i="1" smtClean="0">
                                    <a:solidFill>
                                      <a:srgbClr val="000000"/>
                                    </a:solidFill>
                                    <a:latin typeface="Cambria Math" panose="02040503050406030204" pitchFamily="18" charset="0"/>
                                    <a:cs typeface="Times New Roman" pitchFamily="18" charset="0"/>
                                  </a:rPr>
                                </m:ctrlPr>
                              </m:sSubPr>
                              <m:e>
                                <m:r>
                                  <a:rPr lang="en-US" altLang="zh-CN" sz="3200" b="0" i="1" smtClean="0">
                                    <a:solidFill>
                                      <a:srgbClr val="000000"/>
                                    </a:solidFill>
                                    <a:latin typeface="Cambria Math" panose="02040503050406030204" pitchFamily="18" charset="0"/>
                                    <a:cs typeface="Times New Roman" pitchFamily="18" charset="0"/>
                                  </a:rPr>
                                  <m:t>𝑥</m:t>
                                </m:r>
                              </m:e>
                              <m:sub>
                                <m:r>
                                  <a:rPr lang="en-US" altLang="zh-CN" sz="3200" b="0" i="1" smtClean="0">
                                    <a:solidFill>
                                      <a:srgbClr val="000000"/>
                                    </a:solidFill>
                                    <a:latin typeface="Cambria Math" panose="02040503050406030204" pitchFamily="18" charset="0"/>
                                    <a:cs typeface="Times New Roman" pitchFamily="18" charset="0"/>
                                  </a:rPr>
                                  <m:t>𝑖</m:t>
                                </m:r>
                              </m:sub>
                            </m:sSub>
                          </m:e>
                        </m:nary>
                      </m:e>
                    </m:d>
                  </m:oMath>
                </a14:m>
                <a:r>
                  <a:rPr lang="en-US" altLang="zh-CN" sz="3200" dirty="0">
                    <a:solidFill>
                      <a:srgbClr val="000000"/>
                    </a:solidFill>
                    <a:latin typeface="Cambria Math" panose="02040503050406030204" pitchFamily="18" charset="0"/>
                    <a:cs typeface="Times New Roman" pitchFamily="18" charset="0"/>
                  </a:rPr>
                  <a:t>                     (2) </a:t>
                </a:r>
              </a:p>
              <a:p>
                <a:pPr eaLnBrk="1" hangingPunct="1">
                  <a:lnSpc>
                    <a:spcPct val="150000"/>
                  </a:lnSpc>
                  <a:defRPr/>
                </a:pPr>
                <a:r>
                  <a:rPr lang="zh-CN" altLang="en-US" sz="3200" dirty="0">
                    <a:solidFill>
                      <a:srgbClr val="000000"/>
                    </a:solidFill>
                    <a:latin typeface="Cambria Math" panose="02040503050406030204" pitchFamily="18" charset="0"/>
                    <a:cs typeface="Times New Roman" pitchFamily="18" charset="0"/>
                  </a:rPr>
                  <a:t>其中</a:t>
                </a:r>
                <a14:m>
                  <m:oMath xmlns:m="http://schemas.openxmlformats.org/officeDocument/2006/math">
                    <m:sSub>
                      <m:sSubPr>
                        <m:ctrlPr>
                          <a:rPr lang="en-US" altLang="zh-CN" sz="3200" i="1" smtClean="0">
                            <a:solidFill>
                              <a:srgbClr val="000000"/>
                            </a:solidFill>
                            <a:latin typeface="Cambria Math" panose="02040503050406030204" pitchFamily="18" charset="0"/>
                            <a:cs typeface="Times New Roman" pitchFamily="18" charset="0"/>
                          </a:rPr>
                        </m:ctrlPr>
                      </m:sSubPr>
                      <m:e>
                        <m:r>
                          <a:rPr lang="en-US" altLang="zh-CN" sz="3200" b="0" i="1" smtClean="0">
                            <a:solidFill>
                              <a:srgbClr val="000000"/>
                            </a:solidFill>
                            <a:latin typeface="Cambria Math" panose="02040503050406030204" pitchFamily="18" charset="0"/>
                            <a:cs typeface="Times New Roman" pitchFamily="18" charset="0"/>
                          </a:rPr>
                          <m:t>𝑥</m:t>
                        </m:r>
                      </m:e>
                      <m:sub>
                        <m:r>
                          <a:rPr lang="en-US" altLang="zh-CN" sz="3200" b="0" i="1" smtClean="0">
                            <a:solidFill>
                              <a:srgbClr val="000000"/>
                            </a:solidFill>
                            <a:latin typeface="Cambria Math" panose="02040503050406030204" pitchFamily="18" charset="0"/>
                            <a:cs typeface="Times New Roman" pitchFamily="18" charset="0"/>
                          </a:rPr>
                          <m:t>𝑖</m:t>
                        </m:r>
                      </m:sub>
                    </m:sSub>
                    <m:r>
                      <a:rPr lang="en-US" altLang="zh-CN" sz="3200" b="0" i="1" smtClean="0">
                        <a:solidFill>
                          <a:srgbClr val="000000"/>
                        </a:solidFill>
                        <a:latin typeface="Cambria Math" panose="02040503050406030204" pitchFamily="18" charset="0"/>
                        <a:cs typeface="Times New Roman" pitchFamily="18" charset="0"/>
                      </a:rPr>
                      <m:t>∈</m:t>
                    </m:r>
                    <m:r>
                      <a:rPr lang="en-US" altLang="zh-CN" sz="3200" b="0" i="1" smtClean="0">
                        <a:solidFill>
                          <a:srgbClr val="000000"/>
                        </a:solidFill>
                        <a:latin typeface="Cambria Math" panose="02040503050406030204" pitchFamily="18" charset="0"/>
                        <a:cs typeface="Times New Roman" pitchFamily="18" charset="0"/>
                      </a:rPr>
                      <m:t>𝐼</m:t>
                    </m:r>
                  </m:oMath>
                </a14:m>
                <a:r>
                  <a:rPr lang="zh-CN" altLang="en-US" sz="3200" dirty="0">
                    <a:solidFill>
                      <a:srgbClr val="000000"/>
                    </a:solidFill>
                    <a:latin typeface="Cambria Math" panose="02040503050406030204" pitchFamily="18" charset="0"/>
                    <a:cs typeface="Times New Roman" pitchFamily="18" charset="0"/>
                  </a:rPr>
                  <a:t>，</a:t>
                </a:r>
                <a14:m>
                  <m:oMath xmlns:m="http://schemas.openxmlformats.org/officeDocument/2006/math">
                    <m:r>
                      <a:rPr lang="en-US" altLang="zh-CN" sz="3200" b="0" i="1">
                        <a:solidFill>
                          <a:srgbClr val="000000"/>
                        </a:solidFill>
                        <a:latin typeface="Cambria Math" panose="02040503050406030204" pitchFamily="18" charset="0"/>
                        <a:cs typeface="Times New Roman" pitchFamily="18" charset="0"/>
                      </a:rPr>
                      <m:t>1≤</m:t>
                    </m:r>
                    <m:r>
                      <a:rPr lang="en-US" altLang="zh-CN" sz="3200" b="0" i="1">
                        <a:solidFill>
                          <a:srgbClr val="000000"/>
                        </a:solidFill>
                        <a:latin typeface="Cambria Math" panose="02040503050406030204" pitchFamily="18" charset="0"/>
                        <a:cs typeface="Times New Roman" pitchFamily="18" charset="0"/>
                      </a:rPr>
                      <m:t>𝑖</m:t>
                    </m:r>
                    <m:r>
                      <a:rPr lang="en-US" altLang="zh-CN" sz="3200" b="0" i="1">
                        <a:solidFill>
                          <a:srgbClr val="000000"/>
                        </a:solidFill>
                        <a:latin typeface="Cambria Math" panose="02040503050406030204" pitchFamily="18" charset="0"/>
                        <a:cs typeface="Times New Roman" pitchFamily="18" charset="0"/>
                      </a:rPr>
                      <m:t>≤</m:t>
                    </m:r>
                    <m:r>
                      <a:rPr lang="en-US" altLang="zh-CN" sz="3200" b="0" i="1">
                        <a:solidFill>
                          <a:srgbClr val="000000"/>
                        </a:solidFill>
                        <a:latin typeface="Cambria Math" panose="02040503050406030204" pitchFamily="18" charset="0"/>
                        <a:cs typeface="Times New Roman" pitchFamily="18" charset="0"/>
                      </a:rPr>
                      <m:t>𝑛</m:t>
                    </m:r>
                  </m:oMath>
                </a14:m>
                <a:r>
                  <a:rPr lang="zh-CN" altLang="en-US" sz="3200" dirty="0">
                    <a:solidFill>
                      <a:srgbClr val="000000"/>
                    </a:solidFill>
                    <a:latin typeface="Cambria Math" panose="02040503050406030204" pitchFamily="18" charset="0"/>
                    <a:cs typeface="Times New Roman" pitchFamily="18" charset="0"/>
                  </a:rPr>
                  <a:t>。</a:t>
                </a:r>
                <a:r>
                  <a:rPr lang="en-US" altLang="zh-CN" sz="3200" dirty="0">
                    <a:solidFill>
                      <a:srgbClr val="000000"/>
                    </a:solidFill>
                    <a:latin typeface="Cambria Math" panose="02040503050406030204" pitchFamily="18" charset="0"/>
                    <a:cs typeface="Times New Roman" pitchFamily="18" charset="0"/>
                  </a:rPr>
                  <a:t>(2) </a:t>
                </a:r>
                <a:r>
                  <a:rPr lang="zh-CN" altLang="en-US" sz="3200" dirty="0">
                    <a:solidFill>
                      <a:srgbClr val="000000"/>
                    </a:solidFill>
                    <a:latin typeface="Cambria Math" panose="02040503050406030204" pitchFamily="18" charset="0"/>
                    <a:cs typeface="Times New Roman" pitchFamily="18" charset="0"/>
                  </a:rPr>
                  <a:t>式等号成立当且仅当</a:t>
                </a:r>
                <a14:m>
                  <m:oMath xmlns:m="http://schemas.openxmlformats.org/officeDocument/2006/math">
                    <m:r>
                      <a:rPr lang="en-US" altLang="zh-CN" sz="3200" b="0" i="1" smtClean="0">
                        <a:solidFill>
                          <a:srgbClr val="000000"/>
                        </a:solidFill>
                        <a:latin typeface="Cambria Math" panose="02040503050406030204" pitchFamily="18" charset="0"/>
                        <a:cs typeface="Times New Roman" pitchFamily="18" charset="0"/>
                      </a:rPr>
                      <m:t> </m:t>
                    </m:r>
                    <m:sSub>
                      <m:sSubPr>
                        <m:ctrlPr>
                          <a:rPr lang="en-US" altLang="zh-CN" sz="3200" i="1" smtClean="0">
                            <a:solidFill>
                              <a:srgbClr val="000000"/>
                            </a:solidFill>
                            <a:latin typeface="Cambria Math" panose="02040503050406030204" pitchFamily="18" charset="0"/>
                            <a:cs typeface="Times New Roman" pitchFamily="18" charset="0"/>
                          </a:rPr>
                        </m:ctrlPr>
                      </m:sSubPr>
                      <m:e>
                        <m:r>
                          <a:rPr lang="en-US" altLang="zh-CN" sz="3200" b="0" i="1" smtClean="0">
                            <a:solidFill>
                              <a:srgbClr val="000000"/>
                            </a:solidFill>
                            <a:latin typeface="Cambria Math" panose="02040503050406030204" pitchFamily="18" charset="0"/>
                            <a:cs typeface="Times New Roman" pitchFamily="18" charset="0"/>
                          </a:rPr>
                          <m:t>𝑥</m:t>
                        </m:r>
                      </m:e>
                      <m:sub>
                        <m:r>
                          <a:rPr lang="en-US" altLang="zh-CN" sz="3200" b="0" i="1" smtClean="0">
                            <a:solidFill>
                              <a:srgbClr val="000000"/>
                            </a:solidFill>
                            <a:latin typeface="Cambria Math" panose="02040503050406030204" pitchFamily="18" charset="0"/>
                            <a:cs typeface="Times New Roman" pitchFamily="18" charset="0"/>
                          </a:rPr>
                          <m:t>1</m:t>
                        </m:r>
                      </m:sub>
                    </m:sSub>
                    <m:r>
                      <a:rPr lang="en-US" altLang="zh-CN" sz="3200" b="0" i="1" smtClean="0">
                        <a:solidFill>
                          <a:srgbClr val="000000"/>
                        </a:solidFill>
                        <a:latin typeface="Cambria Math" panose="02040503050406030204" pitchFamily="18" charset="0"/>
                        <a:cs typeface="Times New Roman" pitchFamily="18" charset="0"/>
                      </a:rPr>
                      <m:t>=</m:t>
                    </m:r>
                    <m:sSub>
                      <m:sSubPr>
                        <m:ctrlPr>
                          <a:rPr lang="en-US" altLang="zh-CN" sz="3200" i="1" smtClean="0">
                            <a:solidFill>
                              <a:srgbClr val="000000"/>
                            </a:solidFill>
                            <a:latin typeface="Cambria Math" panose="02040503050406030204" pitchFamily="18" charset="0"/>
                            <a:cs typeface="Times New Roman" pitchFamily="18" charset="0"/>
                          </a:rPr>
                        </m:ctrlPr>
                      </m:sSubPr>
                      <m:e>
                        <m:r>
                          <a:rPr lang="en-US" altLang="zh-CN" sz="3200" b="0" i="1" smtClean="0">
                            <a:solidFill>
                              <a:srgbClr val="000000"/>
                            </a:solidFill>
                            <a:latin typeface="Cambria Math" panose="02040503050406030204" pitchFamily="18" charset="0"/>
                            <a:cs typeface="Times New Roman" pitchFamily="18" charset="0"/>
                          </a:rPr>
                          <m:t>𝑥</m:t>
                        </m:r>
                      </m:e>
                      <m:sub>
                        <m:r>
                          <a:rPr lang="en-US" altLang="zh-CN" sz="3200" b="0" i="1" smtClean="0">
                            <a:solidFill>
                              <a:srgbClr val="000000"/>
                            </a:solidFill>
                            <a:latin typeface="Cambria Math" panose="02040503050406030204" pitchFamily="18" charset="0"/>
                            <a:cs typeface="Times New Roman" pitchFamily="18" charset="0"/>
                          </a:rPr>
                          <m:t>2</m:t>
                        </m:r>
                      </m:sub>
                    </m:sSub>
                    <m:r>
                      <a:rPr lang="en-US" altLang="zh-CN" sz="3200" b="0" i="1" smtClean="0">
                        <a:solidFill>
                          <a:srgbClr val="000000"/>
                        </a:solidFill>
                        <a:latin typeface="Cambria Math" panose="02040503050406030204" pitchFamily="18" charset="0"/>
                        <a:cs typeface="Times New Roman" pitchFamily="18" charset="0"/>
                      </a:rPr>
                      <m:t>=⋯=</m:t>
                    </m:r>
                    <m:sSub>
                      <m:sSubPr>
                        <m:ctrlPr>
                          <a:rPr lang="en-US" altLang="zh-CN" sz="3200" i="1" smtClean="0">
                            <a:solidFill>
                              <a:srgbClr val="000000"/>
                            </a:solidFill>
                            <a:latin typeface="Cambria Math" panose="02040503050406030204" pitchFamily="18" charset="0"/>
                            <a:cs typeface="Times New Roman" pitchFamily="18" charset="0"/>
                          </a:rPr>
                        </m:ctrlPr>
                      </m:sSubPr>
                      <m:e>
                        <m:r>
                          <a:rPr lang="en-US" altLang="zh-CN" sz="3200" b="0" i="1" smtClean="0">
                            <a:solidFill>
                              <a:srgbClr val="000000"/>
                            </a:solidFill>
                            <a:latin typeface="Cambria Math" panose="02040503050406030204" pitchFamily="18" charset="0"/>
                            <a:cs typeface="Times New Roman" pitchFamily="18" charset="0"/>
                          </a:rPr>
                          <m:t>𝑥</m:t>
                        </m:r>
                      </m:e>
                      <m:sub>
                        <m:r>
                          <a:rPr lang="en-US" altLang="zh-CN" sz="3200" b="0" i="1" smtClean="0">
                            <a:solidFill>
                              <a:srgbClr val="000000"/>
                            </a:solidFill>
                            <a:latin typeface="Cambria Math" panose="02040503050406030204" pitchFamily="18" charset="0"/>
                            <a:cs typeface="Times New Roman" pitchFamily="18" charset="0"/>
                          </a:rPr>
                          <m:t>𝑛</m:t>
                        </m:r>
                      </m:sub>
                    </m:sSub>
                  </m:oMath>
                </a14:m>
                <a:r>
                  <a:rPr lang="zh-CN" altLang="en-US" sz="3200" dirty="0">
                    <a:solidFill>
                      <a:srgbClr val="000000"/>
                    </a:solidFill>
                    <a:latin typeface="Cambria Math" panose="02040503050406030204" pitchFamily="18" charset="0"/>
                    <a:cs typeface="Times New Roman" pitchFamily="18" charset="0"/>
                  </a:rPr>
                  <a:t>。</a:t>
                </a:r>
                <a:endParaRPr lang="en-US" altLang="zh-CN" sz="3200" dirty="0">
                  <a:solidFill>
                    <a:srgbClr val="000000"/>
                  </a:solidFill>
                  <a:latin typeface="Cambria Math" panose="02040503050406030204" pitchFamily="18" charset="0"/>
                  <a:cs typeface="Times New Roman" pitchFamily="18" charset="0"/>
                </a:endParaRPr>
              </a:p>
            </p:txBody>
          </p:sp>
        </mc:Choice>
        <mc:Fallback xmlns="">
          <p:sp>
            <p:nvSpPr>
              <p:cNvPr id="3" name="Rectangle 2">
                <a:hlinkClick r:id="rId4" action="ppaction://hlinksldjump"/>
                <a:extLst>
                  <a:ext uri="{FF2B5EF4-FFF2-40B4-BE49-F238E27FC236}">
                    <a16:creationId xmlns:a16="http://schemas.microsoft.com/office/drawing/2014/main" id="{0D5ED13D-7C84-593A-14D5-66EBC6BF7584}"/>
                  </a:ext>
                </a:extLst>
              </p:cNvPr>
              <p:cNvSpPr>
                <a:spLocks noRot="1" noChangeAspect="1" noMove="1" noResize="1" noEditPoints="1" noAdjustHandles="1" noChangeArrowheads="1" noChangeShapeType="1" noTextEdit="1"/>
              </p:cNvSpPr>
              <p:nvPr/>
            </p:nvSpPr>
            <p:spPr bwMode="auto">
              <a:xfrm>
                <a:off x="376347" y="762000"/>
                <a:ext cx="8391305" cy="4433650"/>
              </a:xfrm>
              <a:prstGeom prst="rect">
                <a:avLst/>
              </a:prstGeom>
              <a:blipFill>
                <a:blip r:embed="rId5"/>
                <a:stretch>
                  <a:fillRect l="-1890" r="-2834" b="-3164"/>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0C26EA2-79DA-EC89-88C9-F2C1FF91BCC7}"/>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E976CF2-992A-562E-B359-96A0DF5940F2}"/>
                  </a:ext>
                </a:extLst>
              </p:cNvPr>
              <p:cNvSpPr txBox="1"/>
              <p:nvPr/>
            </p:nvSpPr>
            <p:spPr>
              <a:xfrm>
                <a:off x="228600" y="762000"/>
                <a:ext cx="8496944" cy="4887877"/>
              </a:xfrm>
              <a:prstGeom prst="rect">
                <a:avLst/>
              </a:prstGeom>
              <a:noFill/>
            </p:spPr>
            <p:txBody>
              <a:bodyPr wrap="square" rtlCol="0">
                <a:spAutoFit/>
              </a:bodyPr>
              <a:lstStyle/>
              <a:p>
                <a:pPr eaLnBrk="1" hangingPunct="1">
                  <a:lnSpc>
                    <a:spcPct val="130000"/>
                  </a:lnSpc>
                </a:pPr>
                <a:r>
                  <a:rPr lang="zh-CN" altLang="en-US" sz="3200" b="1" dirty="0">
                    <a:latin typeface="宋体" pitchFamily="2" charset="-122"/>
                    <a:cs typeface="Tahoma"/>
                  </a:rPr>
                  <a:t>推论</a:t>
                </a:r>
                <a:r>
                  <a:rPr lang="en-US" altLang="zh-CN" sz="3200" b="1" dirty="0">
                    <a:latin typeface="宋体" pitchFamily="2" charset="-122"/>
                    <a:cs typeface="Tahoma"/>
                  </a:rPr>
                  <a:t>1</a:t>
                </a:r>
                <a:r>
                  <a:rPr lang="zh-CN" altLang="en-US" sz="3200" b="1" dirty="0">
                    <a:latin typeface="宋体" pitchFamily="2" charset="-122"/>
                    <a:cs typeface="Tahoma"/>
                  </a:rPr>
                  <a:t> </a:t>
                </a:r>
                <a:r>
                  <a:rPr lang="zh-CN" altLang="en-US" sz="3200" dirty="0">
                    <a:solidFill>
                      <a:schemeClr val="tx1"/>
                    </a:solidFill>
                    <a:latin typeface="Cambria Math" panose="02040503050406030204" pitchFamily="18" charset="0"/>
                    <a:cs typeface="Times New Roman" pitchFamily="18" charset="0"/>
                  </a:rPr>
                  <a:t>已知对数函数</a:t>
                </a:r>
                <a14:m>
                  <m:oMath xmlns:m="http://schemas.openxmlformats.org/officeDocument/2006/math">
                    <m:r>
                      <a:rPr lang="en-US" altLang="zh-CN" sz="3200" b="0" i="1" smtClean="0">
                        <a:solidFill>
                          <a:schemeClr val="tx1"/>
                        </a:solidFill>
                        <a:latin typeface="Cambria Math" panose="02040503050406030204" pitchFamily="18" charset="0"/>
                        <a:cs typeface="Times New Roman" pitchFamily="18" charset="0"/>
                      </a:rPr>
                      <m:t> </m:t>
                    </m:r>
                    <m:r>
                      <a:rPr lang="en-US" altLang="zh-CN" sz="3200" b="0" i="1" smtClean="0">
                        <a:solidFill>
                          <a:schemeClr val="tx1"/>
                        </a:solidFill>
                        <a:latin typeface="Cambria Math" panose="02040503050406030204" pitchFamily="18" charset="0"/>
                        <a:cs typeface="Times New Roman" pitchFamily="18" charset="0"/>
                      </a:rPr>
                      <m:t>𝑓</m:t>
                    </m:r>
                    <m:d>
                      <m:dPr>
                        <m:ctrlPr>
                          <a:rPr lang="en-US" altLang="zh-CN" sz="3200" i="1" smtClean="0">
                            <a:solidFill>
                              <a:schemeClr val="tx1"/>
                            </a:solidFill>
                            <a:latin typeface="Cambria Math" panose="02040503050406030204" pitchFamily="18" charset="0"/>
                            <a:cs typeface="Times New Roman" pitchFamily="18" charset="0"/>
                          </a:rPr>
                        </m:ctrlPr>
                      </m:dPr>
                      <m:e>
                        <m:r>
                          <a:rPr lang="en-US" altLang="zh-CN" sz="3200" b="0" i="1" smtClean="0">
                            <a:solidFill>
                              <a:schemeClr val="tx1"/>
                            </a:solidFill>
                            <a:latin typeface="Cambria Math" panose="02040503050406030204" pitchFamily="18" charset="0"/>
                            <a:cs typeface="Times New Roman" pitchFamily="18" charset="0"/>
                          </a:rPr>
                          <m:t>𝑥</m:t>
                        </m:r>
                      </m:e>
                    </m:d>
                    <m:r>
                      <a:rPr lang="en-US" altLang="zh-CN" sz="3200" b="0" i="1" smtClean="0">
                        <a:solidFill>
                          <a:schemeClr val="tx1"/>
                        </a:solidFill>
                        <a:latin typeface="Cambria Math" panose="02040503050406030204" pitchFamily="18" charset="0"/>
                        <a:cs typeface="Times New Roman" pitchFamily="18" charset="0"/>
                      </a:rPr>
                      <m:t>=</m:t>
                    </m:r>
                    <m:r>
                      <m:rPr>
                        <m:sty m:val="p"/>
                      </m:rPr>
                      <a:rPr lang="en-US" altLang="zh-CN" sz="3200" b="0" i="1" smtClean="0">
                        <a:solidFill>
                          <a:schemeClr val="tx1"/>
                        </a:solidFill>
                        <a:latin typeface="Cambria Math" panose="02040503050406030204" pitchFamily="18" charset="0"/>
                        <a:cs typeface="Times New Roman" pitchFamily="18" charset="0"/>
                      </a:rPr>
                      <m:t>lo</m:t>
                    </m:r>
                    <m:sSub>
                      <m:sSubPr>
                        <m:ctrlPr>
                          <a:rPr lang="en-US" altLang="zh-CN" sz="3200" i="1" smtClean="0">
                            <a:solidFill>
                              <a:schemeClr val="tx1"/>
                            </a:solidFill>
                            <a:latin typeface="Cambria Math" panose="02040503050406030204" pitchFamily="18" charset="0"/>
                            <a:cs typeface="Times New Roman" pitchFamily="18" charset="0"/>
                          </a:rPr>
                        </m:ctrlPr>
                      </m:sSubPr>
                      <m:e>
                        <m:r>
                          <m:rPr>
                            <m:sty m:val="p"/>
                          </m:rPr>
                          <a:rPr lang="en-US" altLang="zh-CN" sz="3200" b="0" i="1" smtClean="0">
                            <a:solidFill>
                              <a:schemeClr val="tx1"/>
                            </a:solidFill>
                            <a:latin typeface="Cambria Math" panose="02040503050406030204" pitchFamily="18" charset="0"/>
                            <a:cs typeface="Times New Roman" pitchFamily="18" charset="0"/>
                          </a:rPr>
                          <m:t>g</m:t>
                        </m:r>
                      </m:e>
                      <m:sub>
                        <m:r>
                          <a:rPr lang="en-US" altLang="zh-CN" sz="3200" b="0" i="1" smtClean="0">
                            <a:solidFill>
                              <a:schemeClr val="tx1"/>
                            </a:solidFill>
                            <a:latin typeface="Cambria Math" panose="02040503050406030204" pitchFamily="18" charset="0"/>
                            <a:cs typeface="Times New Roman" pitchFamily="18" charset="0"/>
                          </a:rPr>
                          <m:t>2</m:t>
                        </m:r>
                      </m:sub>
                    </m:sSub>
                    <m:r>
                      <a:rPr lang="en-US" altLang="zh-CN" sz="3200" b="0" smtClean="0">
                        <a:solidFill>
                          <a:schemeClr val="tx1"/>
                        </a:solidFill>
                        <a:latin typeface="Cambria Math" panose="02040503050406030204" pitchFamily="18" charset="0"/>
                        <a:cs typeface="Times New Roman" pitchFamily="18" charset="0"/>
                      </a:rPr>
                      <m:t> </m:t>
                    </m:r>
                    <m:r>
                      <a:rPr lang="en-US" altLang="zh-CN" sz="3200" b="0" i="1" smtClean="0">
                        <a:solidFill>
                          <a:schemeClr val="tx1"/>
                        </a:solidFill>
                        <a:latin typeface="Cambria Math" panose="02040503050406030204" pitchFamily="18" charset="0"/>
                        <a:cs typeface="Times New Roman" pitchFamily="18" charset="0"/>
                      </a:rPr>
                      <m:t>𝑥</m:t>
                    </m:r>
                    <m:r>
                      <a:rPr lang="en-US" altLang="zh-CN" sz="3200" b="0" i="1" smtClean="0">
                        <a:solidFill>
                          <a:schemeClr val="tx1"/>
                        </a:solidFill>
                        <a:latin typeface="Cambria Math" panose="02040503050406030204" pitchFamily="18" charset="0"/>
                        <a:cs typeface="Times New Roman" pitchFamily="18" charset="0"/>
                      </a:rPr>
                      <m:t> </m:t>
                    </m:r>
                  </m:oMath>
                </a14:m>
                <a:r>
                  <a:rPr lang="zh-CN" altLang="en-US" sz="3200" dirty="0">
                    <a:solidFill>
                      <a:schemeClr val="tx1"/>
                    </a:solidFill>
                    <a:latin typeface="Cambria Math" panose="02040503050406030204" pitchFamily="18" charset="0"/>
                    <a:cs typeface="Times New Roman" pitchFamily="18" charset="0"/>
                  </a:rPr>
                  <a:t>在</a:t>
                </a:r>
                <a14:m>
                  <m:oMath xmlns:m="http://schemas.openxmlformats.org/officeDocument/2006/math">
                    <m:r>
                      <a:rPr lang="en-US" altLang="zh-CN" sz="3200" b="0" i="1" dirty="0" smtClean="0">
                        <a:solidFill>
                          <a:schemeClr val="tx1"/>
                        </a:solidFill>
                        <a:latin typeface="Cambria Math" panose="02040503050406030204" pitchFamily="18" charset="0"/>
                        <a:cs typeface="Times New Roman" pitchFamily="18" charset="0"/>
                      </a:rPr>
                      <m:t> </m:t>
                    </m:r>
                    <m:r>
                      <a:rPr lang="en-US" altLang="zh-CN" sz="3200" b="0" i="1" dirty="0" smtClean="0">
                        <a:solidFill>
                          <a:schemeClr val="tx1"/>
                        </a:solidFill>
                        <a:latin typeface="Cambria Math" panose="02040503050406030204" pitchFamily="18" charset="0"/>
                        <a:cs typeface="Times New Roman" pitchFamily="18" charset="0"/>
                      </a:rPr>
                      <m:t>𝐼</m:t>
                    </m:r>
                    <m:r>
                      <a:rPr lang="en-US" altLang="zh-CN" sz="3200" b="0" i="1" dirty="0" smtClean="0">
                        <a:solidFill>
                          <a:schemeClr val="tx1"/>
                        </a:solidFill>
                        <a:latin typeface="Cambria Math" panose="02040503050406030204" pitchFamily="18" charset="0"/>
                        <a:cs typeface="Times New Roman" pitchFamily="18" charset="0"/>
                      </a:rPr>
                      <m:t>=</m:t>
                    </m:r>
                    <m:d>
                      <m:dPr>
                        <m:ctrlPr>
                          <a:rPr lang="en-US" altLang="zh-CN" sz="3200" i="1" dirty="0" smtClean="0">
                            <a:solidFill>
                              <a:schemeClr val="tx1"/>
                            </a:solidFill>
                            <a:latin typeface="Cambria Math" panose="02040503050406030204" pitchFamily="18" charset="0"/>
                            <a:cs typeface="Times New Roman" pitchFamily="18" charset="0"/>
                          </a:rPr>
                        </m:ctrlPr>
                      </m:dPr>
                      <m:e>
                        <m:r>
                          <a:rPr lang="en-US" altLang="zh-CN" sz="3200" b="0" i="1" dirty="0" smtClean="0">
                            <a:solidFill>
                              <a:schemeClr val="tx1"/>
                            </a:solidFill>
                            <a:latin typeface="Cambria Math" panose="02040503050406030204" pitchFamily="18" charset="0"/>
                            <a:cs typeface="Times New Roman" pitchFamily="18" charset="0"/>
                          </a:rPr>
                          <m:t>0,+∞</m:t>
                        </m:r>
                      </m:e>
                    </m:d>
                    <m:r>
                      <a:rPr lang="en-US" altLang="zh-CN" sz="3200" b="0" i="1" dirty="0" smtClean="0">
                        <a:solidFill>
                          <a:schemeClr val="tx1"/>
                        </a:solidFill>
                        <a:latin typeface="Cambria Math" panose="02040503050406030204" pitchFamily="18" charset="0"/>
                        <a:cs typeface="Times New Roman" pitchFamily="18" charset="0"/>
                      </a:rPr>
                      <m:t> </m:t>
                    </m:r>
                  </m:oMath>
                </a14:m>
                <a:r>
                  <a:rPr lang="zh-CN" altLang="en-US" sz="3200" dirty="0">
                    <a:solidFill>
                      <a:schemeClr val="tx1"/>
                    </a:solidFill>
                    <a:latin typeface="Cambria Math" panose="02040503050406030204" pitchFamily="18" charset="0"/>
                    <a:cs typeface="Times New Roman" pitchFamily="18" charset="0"/>
                  </a:rPr>
                  <a:t>上是严格上凸的，则熵函数</a:t>
                </a:r>
                <a:endParaRPr lang="en-US" altLang="zh-CN" sz="3200" dirty="0">
                  <a:solidFill>
                    <a:schemeClr val="tx1"/>
                  </a:solidFill>
                  <a:latin typeface="Cambria Math" panose="02040503050406030204" pitchFamily="18" charset="0"/>
                  <a:cs typeface="Times New Roman" pitchFamily="18" charset="0"/>
                </a:endParaRPr>
              </a:p>
              <a:p>
                <a:pPr eaLnBrk="1" hangingPunct="1">
                  <a:lnSpc>
                    <a:spcPct val="130000"/>
                  </a:lnSpc>
                </a:pPr>
                <a:r>
                  <a:rPr lang="en-US" altLang="zh-CN" sz="3200" dirty="0">
                    <a:solidFill>
                      <a:schemeClr val="tx1"/>
                    </a:solidFill>
                    <a:latin typeface="Times New Roman" pitchFamily="18" charset="0"/>
                    <a:cs typeface="Times New Roman" pitchFamily="18" charset="0"/>
                  </a:rPr>
                  <a:t> </a:t>
                </a:r>
                <a14:m>
                  <m:oMath xmlns:m="http://schemas.openxmlformats.org/officeDocument/2006/math">
                    <m:r>
                      <a:rPr lang="en-US" altLang="zh-CN" sz="3200" b="0" i="1" smtClean="0">
                        <a:solidFill>
                          <a:schemeClr val="tx1"/>
                        </a:solidFill>
                        <a:latin typeface="Cambria Math" panose="02040503050406030204" pitchFamily="18" charset="0"/>
                        <a:cs typeface="Times New Roman" pitchFamily="18" charset="0"/>
                      </a:rPr>
                      <m:t>𝐻</m:t>
                    </m:r>
                    <m:d>
                      <m:dPr>
                        <m:ctrlPr>
                          <a:rPr lang="en-US" altLang="zh-CN" sz="3200" i="1" smtClean="0">
                            <a:solidFill>
                              <a:schemeClr val="tx1"/>
                            </a:solidFill>
                            <a:latin typeface="Cambria Math" panose="02040503050406030204" pitchFamily="18" charset="0"/>
                            <a:cs typeface="Times New Roman" pitchFamily="18" charset="0"/>
                          </a:rPr>
                        </m:ctrlPr>
                      </m:dPr>
                      <m:e>
                        <m:sSub>
                          <m:sSubPr>
                            <m:ctrlPr>
                              <a:rPr lang="en-US" altLang="zh-CN" sz="3200" i="1" smtClean="0">
                                <a:solidFill>
                                  <a:schemeClr val="tx1"/>
                                </a:solidFill>
                                <a:latin typeface="Cambria Math" panose="02040503050406030204" pitchFamily="18" charset="0"/>
                                <a:cs typeface="Times New Roman" pitchFamily="18" charset="0"/>
                              </a:rPr>
                            </m:ctrlPr>
                          </m:sSubPr>
                          <m:e>
                            <m:r>
                              <a:rPr lang="en-US" altLang="zh-CN" sz="3200" b="0" i="1" smtClean="0">
                                <a:solidFill>
                                  <a:schemeClr val="tx1"/>
                                </a:solidFill>
                                <a:latin typeface="Cambria Math" panose="02040503050406030204" pitchFamily="18" charset="0"/>
                                <a:cs typeface="Times New Roman" pitchFamily="18" charset="0"/>
                              </a:rPr>
                              <m:t>𝑝</m:t>
                            </m:r>
                          </m:e>
                          <m:sub>
                            <m:r>
                              <a:rPr lang="en-US" altLang="zh-CN" sz="3200" b="0" i="1" smtClean="0">
                                <a:solidFill>
                                  <a:schemeClr val="tx1"/>
                                </a:solidFill>
                                <a:latin typeface="Cambria Math" panose="02040503050406030204" pitchFamily="18" charset="0"/>
                                <a:cs typeface="Times New Roman" pitchFamily="18" charset="0"/>
                              </a:rPr>
                              <m:t>1</m:t>
                            </m:r>
                          </m:sub>
                        </m:sSub>
                        <m:r>
                          <a:rPr lang="en-US" altLang="zh-CN" sz="3200" b="0" i="1" smtClean="0">
                            <a:solidFill>
                              <a:schemeClr val="tx1"/>
                            </a:solidFill>
                            <a:latin typeface="Cambria Math" panose="02040503050406030204" pitchFamily="18" charset="0"/>
                            <a:cs typeface="Times New Roman" pitchFamily="18" charset="0"/>
                          </a:rPr>
                          <m:t>,…, </m:t>
                        </m:r>
                        <m:sSub>
                          <m:sSubPr>
                            <m:ctrlPr>
                              <a:rPr lang="en-US" altLang="zh-CN" sz="3200" i="1" smtClean="0">
                                <a:solidFill>
                                  <a:schemeClr val="tx1"/>
                                </a:solidFill>
                                <a:latin typeface="Cambria Math" panose="02040503050406030204" pitchFamily="18" charset="0"/>
                                <a:cs typeface="Times New Roman" pitchFamily="18" charset="0"/>
                              </a:rPr>
                            </m:ctrlPr>
                          </m:sSubPr>
                          <m:e>
                            <m:r>
                              <a:rPr lang="en-US" altLang="zh-CN" sz="3200" b="0" i="1" smtClean="0">
                                <a:solidFill>
                                  <a:schemeClr val="tx1"/>
                                </a:solidFill>
                                <a:latin typeface="Cambria Math" panose="02040503050406030204" pitchFamily="18" charset="0"/>
                                <a:cs typeface="Times New Roman" pitchFamily="18" charset="0"/>
                              </a:rPr>
                              <m:t>𝑝</m:t>
                            </m:r>
                          </m:e>
                          <m:sub>
                            <m:r>
                              <a:rPr lang="en-US" altLang="zh-CN" sz="3200" b="0" i="1" smtClean="0">
                                <a:solidFill>
                                  <a:schemeClr val="tx1"/>
                                </a:solidFill>
                                <a:latin typeface="Cambria Math" panose="02040503050406030204" pitchFamily="18" charset="0"/>
                                <a:cs typeface="Times New Roman" pitchFamily="18" charset="0"/>
                              </a:rPr>
                              <m:t>𝑛</m:t>
                            </m:r>
                          </m:sub>
                        </m:sSub>
                      </m:e>
                    </m:d>
                    <m:r>
                      <a:rPr lang="en-US" altLang="zh-CN" sz="3200" b="0" i="1" smtClean="0">
                        <a:solidFill>
                          <a:schemeClr val="tx1"/>
                        </a:solidFill>
                        <a:latin typeface="Cambria Math" panose="02040503050406030204" pitchFamily="18" charset="0"/>
                        <a:cs typeface="Times New Roman" pitchFamily="18" charset="0"/>
                      </a:rPr>
                      <m:t>=</m:t>
                    </m:r>
                    <m:nary>
                      <m:naryPr>
                        <m:chr m:val="∑"/>
                        <m:limLoc m:val="subSup"/>
                        <m:ctrlPr>
                          <a:rPr lang="en-US" altLang="zh-CN" sz="3200" i="1" dirty="0">
                            <a:solidFill>
                              <a:schemeClr val="tx1"/>
                            </a:solidFill>
                            <a:latin typeface="Cambria Math" panose="02040503050406030204" pitchFamily="18" charset="0"/>
                          </a:rPr>
                        </m:ctrlPr>
                      </m:naryPr>
                      <m:sub>
                        <m:r>
                          <m:rPr>
                            <m:brk m:alnAt="25"/>
                          </m:rPr>
                          <a:rPr lang="en-US" altLang="zh-CN" sz="3200" b="0" i="1" dirty="0">
                            <a:solidFill>
                              <a:schemeClr val="tx1"/>
                            </a:solidFill>
                            <a:latin typeface="Cambria Math" panose="02040503050406030204" pitchFamily="18" charset="0"/>
                          </a:rPr>
                          <m:t>𝑖</m:t>
                        </m:r>
                        <m:r>
                          <a:rPr lang="en-US" altLang="zh-CN" sz="3200" b="0" i="1" dirty="0">
                            <a:solidFill>
                              <a:schemeClr val="tx1"/>
                            </a:solidFill>
                            <a:latin typeface="Cambria Math" panose="02040503050406030204" pitchFamily="18" charset="0"/>
                          </a:rPr>
                          <m:t>=1</m:t>
                        </m:r>
                      </m:sub>
                      <m:sup>
                        <m:r>
                          <a:rPr lang="en-US" altLang="zh-CN" sz="3200" b="0" i="1" dirty="0">
                            <a:solidFill>
                              <a:schemeClr val="tx1"/>
                            </a:solidFill>
                            <a:latin typeface="Cambria Math" panose="02040503050406030204" pitchFamily="18" charset="0"/>
                          </a:rPr>
                          <m:t>𝑛</m:t>
                        </m:r>
                      </m:sup>
                      <m:e>
                        <m:sSub>
                          <m:sSubPr>
                            <m:ctrlPr>
                              <a:rPr lang="en-US" altLang="zh-CN" sz="3200" i="1" dirty="0">
                                <a:solidFill>
                                  <a:schemeClr val="tx1"/>
                                </a:solidFill>
                                <a:latin typeface="Cambria Math" panose="02040503050406030204" pitchFamily="18" charset="0"/>
                              </a:rPr>
                            </m:ctrlPr>
                          </m:sSubPr>
                          <m:e>
                            <m:r>
                              <a:rPr lang="en-US" altLang="zh-CN" sz="3200" b="0" i="1" dirty="0">
                                <a:solidFill>
                                  <a:schemeClr val="tx1"/>
                                </a:solidFill>
                                <a:latin typeface="Cambria Math" panose="02040503050406030204" pitchFamily="18" charset="0"/>
                              </a:rPr>
                              <m:t>𝑝</m:t>
                            </m:r>
                          </m:e>
                          <m:sub>
                            <m:r>
                              <a:rPr lang="en-US" altLang="zh-CN" sz="3200" b="0" i="1" dirty="0">
                                <a:solidFill>
                                  <a:schemeClr val="tx1"/>
                                </a:solidFill>
                                <a:latin typeface="Cambria Math" panose="02040503050406030204" pitchFamily="18" charset="0"/>
                              </a:rPr>
                              <m:t>𝑖</m:t>
                            </m:r>
                          </m:sub>
                        </m:sSub>
                        <m:r>
                          <m:rPr>
                            <m:sty m:val="p"/>
                          </m:rPr>
                          <a:rPr lang="en-US" altLang="zh-CN" sz="3200" b="0" i="1" dirty="0">
                            <a:solidFill>
                              <a:schemeClr val="tx1"/>
                            </a:solidFill>
                            <a:latin typeface="Cambria Math" panose="02040503050406030204" pitchFamily="18" charset="0"/>
                          </a:rPr>
                          <m:t>log</m:t>
                        </m:r>
                        <m:f>
                          <m:fPr>
                            <m:ctrlPr>
                              <a:rPr lang="en-US" altLang="zh-CN" sz="3200" i="1" dirty="0" smtClean="0">
                                <a:solidFill>
                                  <a:schemeClr val="tx1"/>
                                </a:solidFill>
                                <a:latin typeface="Cambria Math" panose="02040503050406030204" pitchFamily="18" charset="0"/>
                              </a:rPr>
                            </m:ctrlPr>
                          </m:fPr>
                          <m:num>
                            <m:r>
                              <a:rPr lang="en-US" altLang="zh-CN" sz="3200" b="0" i="1" dirty="0" smtClean="0">
                                <a:solidFill>
                                  <a:schemeClr val="tx1"/>
                                </a:solidFill>
                                <a:latin typeface="Cambria Math" panose="02040503050406030204" pitchFamily="18" charset="0"/>
                              </a:rPr>
                              <m:t>1</m:t>
                            </m:r>
                          </m:num>
                          <m:den>
                            <m:sSub>
                              <m:sSubPr>
                                <m:ctrlPr>
                                  <a:rPr lang="en-US" altLang="zh-CN" sz="3200" i="1" dirty="0">
                                    <a:solidFill>
                                      <a:schemeClr val="tx1"/>
                                    </a:solidFill>
                                    <a:latin typeface="Cambria Math" panose="02040503050406030204" pitchFamily="18" charset="0"/>
                                  </a:rPr>
                                </m:ctrlPr>
                              </m:sSubPr>
                              <m:e>
                                <m:r>
                                  <a:rPr lang="en-US" altLang="zh-CN" sz="3200" b="0" i="1" dirty="0">
                                    <a:solidFill>
                                      <a:schemeClr val="tx1"/>
                                    </a:solidFill>
                                    <a:latin typeface="Cambria Math" panose="02040503050406030204" pitchFamily="18" charset="0"/>
                                  </a:rPr>
                                  <m:t>𝑝</m:t>
                                </m:r>
                              </m:e>
                              <m:sub>
                                <m:r>
                                  <a:rPr lang="en-US" altLang="zh-CN" sz="3200" b="0" i="1" dirty="0">
                                    <a:solidFill>
                                      <a:schemeClr val="tx1"/>
                                    </a:solidFill>
                                    <a:latin typeface="Cambria Math" panose="02040503050406030204" pitchFamily="18" charset="0"/>
                                  </a:rPr>
                                  <m:t>𝑖</m:t>
                                </m:r>
                              </m:sub>
                            </m:sSub>
                          </m:den>
                        </m:f>
                      </m:e>
                    </m:nary>
                    <m:r>
                      <a:rPr lang="en-US" altLang="zh-CN" sz="3200" b="0" i="1" dirty="0" smtClean="0">
                        <a:solidFill>
                          <a:schemeClr val="tx1"/>
                        </a:solidFill>
                        <a:latin typeface="Cambria Math" panose="02040503050406030204" pitchFamily="18" charset="0"/>
                      </a:rPr>
                      <m:t>≤</m:t>
                    </m:r>
                    <m:r>
                      <m:rPr>
                        <m:sty m:val="p"/>
                      </m:rPr>
                      <a:rPr lang="en-US" altLang="zh-CN" sz="3200" b="0" i="1" dirty="0" smtClean="0">
                        <a:solidFill>
                          <a:schemeClr val="tx1"/>
                        </a:solidFill>
                        <a:latin typeface="Cambria Math" panose="02040503050406030204" pitchFamily="18" charset="0"/>
                      </a:rPr>
                      <m:t>log</m:t>
                    </m:r>
                    <m:d>
                      <m:dPr>
                        <m:ctrlPr>
                          <a:rPr lang="en-US" altLang="zh-CN" sz="3200" i="1" dirty="0" smtClean="0">
                            <a:solidFill>
                              <a:schemeClr val="tx1"/>
                            </a:solidFill>
                            <a:latin typeface="Cambria Math" panose="02040503050406030204" pitchFamily="18" charset="0"/>
                          </a:rPr>
                        </m:ctrlPr>
                      </m:dPr>
                      <m:e>
                        <m:nary>
                          <m:naryPr>
                            <m:chr m:val="∑"/>
                            <m:limLoc m:val="subSup"/>
                            <m:ctrlPr>
                              <a:rPr lang="en-US" altLang="zh-CN" sz="3200" i="1" dirty="0" smtClean="0">
                                <a:solidFill>
                                  <a:schemeClr val="tx1"/>
                                </a:solidFill>
                                <a:latin typeface="Cambria Math" panose="02040503050406030204" pitchFamily="18" charset="0"/>
                              </a:rPr>
                            </m:ctrlPr>
                          </m:naryPr>
                          <m:sub>
                            <m:r>
                              <m:rPr>
                                <m:brk m:alnAt="25"/>
                              </m:rPr>
                              <a:rPr lang="en-US" altLang="zh-CN" sz="3200" b="0" i="1" dirty="0" smtClean="0">
                                <a:solidFill>
                                  <a:schemeClr val="tx1"/>
                                </a:solidFill>
                                <a:latin typeface="Cambria Math" panose="02040503050406030204" pitchFamily="18" charset="0"/>
                              </a:rPr>
                              <m:t>𝑖</m:t>
                            </m:r>
                            <m:r>
                              <a:rPr lang="en-US" altLang="zh-CN" sz="3200" b="0" i="1" dirty="0" smtClean="0">
                                <a:solidFill>
                                  <a:schemeClr val="tx1"/>
                                </a:solidFill>
                                <a:latin typeface="Cambria Math" panose="02040503050406030204" pitchFamily="18" charset="0"/>
                              </a:rPr>
                              <m:t>=1</m:t>
                            </m:r>
                          </m:sub>
                          <m:sup>
                            <m:r>
                              <a:rPr lang="en-US" altLang="zh-CN" sz="3200" b="0" i="1" dirty="0" smtClean="0">
                                <a:solidFill>
                                  <a:schemeClr val="tx1"/>
                                </a:solidFill>
                                <a:latin typeface="Cambria Math" panose="02040503050406030204" pitchFamily="18" charset="0"/>
                              </a:rPr>
                              <m:t>𝑛</m:t>
                            </m:r>
                          </m:sup>
                          <m:e>
                            <m:sSub>
                              <m:sSubPr>
                                <m:ctrlPr>
                                  <a:rPr lang="en-US" altLang="zh-CN" sz="3200" i="1" dirty="0" smtClean="0">
                                    <a:solidFill>
                                      <a:schemeClr val="tx1"/>
                                    </a:solidFill>
                                    <a:latin typeface="Cambria Math" panose="02040503050406030204" pitchFamily="18" charset="0"/>
                                  </a:rPr>
                                </m:ctrlPr>
                              </m:sSubPr>
                              <m:e>
                                <m:r>
                                  <a:rPr lang="en-US" altLang="zh-CN" sz="3200" b="0" i="1" dirty="0" smtClean="0">
                                    <a:solidFill>
                                      <a:schemeClr val="tx1"/>
                                    </a:solidFill>
                                    <a:latin typeface="Cambria Math" panose="02040503050406030204" pitchFamily="18" charset="0"/>
                                  </a:rPr>
                                  <m:t>𝑝</m:t>
                                </m:r>
                              </m:e>
                              <m:sub>
                                <m:r>
                                  <a:rPr lang="en-US" altLang="zh-CN" sz="3200" b="0" i="1" dirty="0" smtClean="0">
                                    <a:solidFill>
                                      <a:schemeClr val="tx1"/>
                                    </a:solidFill>
                                    <a:latin typeface="Cambria Math" panose="02040503050406030204" pitchFamily="18" charset="0"/>
                                  </a:rPr>
                                  <m:t>𝑖</m:t>
                                </m:r>
                              </m:sub>
                            </m:sSub>
                            <m:r>
                              <a:rPr lang="en-US" altLang="zh-CN" sz="3200" b="0" i="1" dirty="0" smtClean="0">
                                <a:solidFill>
                                  <a:schemeClr val="tx1"/>
                                </a:solidFill>
                                <a:latin typeface="Cambria Math" panose="02040503050406030204" pitchFamily="18" charset="0"/>
                              </a:rPr>
                              <m:t>⋅</m:t>
                            </m:r>
                            <m:f>
                              <m:fPr>
                                <m:ctrlPr>
                                  <a:rPr lang="en-US" altLang="zh-CN" sz="3200" i="1" dirty="0" smtClean="0">
                                    <a:solidFill>
                                      <a:schemeClr val="tx1"/>
                                    </a:solidFill>
                                    <a:latin typeface="Cambria Math" panose="02040503050406030204" pitchFamily="18" charset="0"/>
                                  </a:rPr>
                                </m:ctrlPr>
                              </m:fPr>
                              <m:num>
                                <m:r>
                                  <a:rPr lang="en-US" altLang="zh-CN" sz="3200" b="0" i="1" dirty="0" smtClean="0">
                                    <a:solidFill>
                                      <a:schemeClr val="tx1"/>
                                    </a:solidFill>
                                    <a:latin typeface="Cambria Math" panose="02040503050406030204" pitchFamily="18" charset="0"/>
                                  </a:rPr>
                                  <m:t>1</m:t>
                                </m:r>
                              </m:num>
                              <m:den>
                                <m:sSub>
                                  <m:sSubPr>
                                    <m:ctrlPr>
                                      <a:rPr lang="en-US" altLang="zh-CN" sz="3200" i="1" dirty="0" smtClean="0">
                                        <a:solidFill>
                                          <a:schemeClr val="tx1"/>
                                        </a:solidFill>
                                        <a:latin typeface="Cambria Math" panose="02040503050406030204" pitchFamily="18" charset="0"/>
                                      </a:rPr>
                                    </m:ctrlPr>
                                  </m:sSubPr>
                                  <m:e>
                                    <m:r>
                                      <a:rPr lang="en-US" altLang="zh-CN" sz="3200" b="0" i="1" dirty="0" smtClean="0">
                                        <a:solidFill>
                                          <a:schemeClr val="tx1"/>
                                        </a:solidFill>
                                        <a:latin typeface="Cambria Math" panose="02040503050406030204" pitchFamily="18" charset="0"/>
                                      </a:rPr>
                                      <m:t>𝑝</m:t>
                                    </m:r>
                                  </m:e>
                                  <m:sub>
                                    <m:r>
                                      <a:rPr lang="en-US" altLang="zh-CN" sz="3200" b="0" i="1" dirty="0" smtClean="0">
                                        <a:solidFill>
                                          <a:schemeClr val="tx1"/>
                                        </a:solidFill>
                                        <a:latin typeface="Cambria Math" panose="02040503050406030204" pitchFamily="18" charset="0"/>
                                      </a:rPr>
                                      <m:t>𝑖</m:t>
                                    </m:r>
                                  </m:sub>
                                </m:sSub>
                              </m:den>
                            </m:f>
                          </m:e>
                        </m:nary>
                        <m:r>
                          <a:rPr lang="en-US" altLang="zh-CN" sz="3200" b="0" i="1" dirty="0" smtClean="0">
                            <a:solidFill>
                              <a:schemeClr val="tx1"/>
                            </a:solidFill>
                            <a:latin typeface="Cambria Math" panose="02040503050406030204" pitchFamily="18" charset="0"/>
                          </a:rPr>
                          <m:t> </m:t>
                        </m:r>
                      </m:e>
                    </m:d>
                  </m:oMath>
                </a14:m>
                <a:endParaRPr lang="en-US" altLang="zh-CN" sz="3200" dirty="0">
                  <a:solidFill>
                    <a:schemeClr val="tx1"/>
                  </a:solidFill>
                  <a:latin typeface="Cambria Math" panose="02040503050406030204" pitchFamily="18" charset="0"/>
                  <a:cs typeface="Times New Roman" pitchFamily="18" charset="0"/>
                </a:endParaRPr>
              </a:p>
              <a:p>
                <a:pPr eaLnBrk="1" hangingPunct="1">
                  <a:lnSpc>
                    <a:spcPct val="130000"/>
                  </a:lnSpc>
                </a:pPr>
                <a:r>
                  <a:rPr lang="en-US" altLang="zh-CN" sz="3200" dirty="0">
                    <a:solidFill>
                      <a:schemeClr val="tx1"/>
                    </a:solidFill>
                    <a:latin typeface="Cambria Math" panose="02040503050406030204" pitchFamily="18" charset="0"/>
                    <a:cs typeface="Times New Roman" pitchFamily="18" charset="0"/>
                  </a:rPr>
                  <a:t>                                                             </a:t>
                </a:r>
                <a14:m>
                  <m:oMath xmlns:m="http://schemas.openxmlformats.org/officeDocument/2006/math">
                    <m:r>
                      <a:rPr lang="en-US" altLang="zh-CN" sz="3200" b="0" i="1" smtClean="0">
                        <a:solidFill>
                          <a:schemeClr val="tx1"/>
                        </a:solidFill>
                        <a:latin typeface="Cambria Math" panose="02040503050406030204" pitchFamily="18" charset="0"/>
                        <a:cs typeface="Times New Roman" pitchFamily="18" charset="0"/>
                      </a:rPr>
                      <m:t>=</m:t>
                    </m:r>
                    <m:r>
                      <m:rPr>
                        <m:sty m:val="p"/>
                      </m:rPr>
                      <a:rPr lang="en-US" altLang="zh-CN" sz="3200" b="0" i="1" smtClean="0">
                        <a:solidFill>
                          <a:schemeClr val="tx1"/>
                        </a:solidFill>
                        <a:latin typeface="Cambria Math" panose="02040503050406030204" pitchFamily="18" charset="0"/>
                        <a:cs typeface="Times New Roman" pitchFamily="18" charset="0"/>
                      </a:rPr>
                      <m:t>log</m:t>
                    </m:r>
                    <m:r>
                      <a:rPr lang="en-US" altLang="zh-CN" sz="3200" b="0" smtClean="0">
                        <a:solidFill>
                          <a:schemeClr val="tx1"/>
                        </a:solidFill>
                        <a:latin typeface="Cambria Math" panose="02040503050406030204" pitchFamily="18" charset="0"/>
                        <a:cs typeface="Times New Roman" pitchFamily="18" charset="0"/>
                      </a:rPr>
                      <m:t> </m:t>
                    </m:r>
                    <m:r>
                      <a:rPr lang="en-US" altLang="zh-CN" sz="3200" b="0" i="1" smtClean="0">
                        <a:solidFill>
                          <a:schemeClr val="tx1"/>
                        </a:solidFill>
                        <a:latin typeface="Cambria Math" panose="02040503050406030204" pitchFamily="18" charset="0"/>
                        <a:cs typeface="Times New Roman" pitchFamily="18" charset="0"/>
                      </a:rPr>
                      <m:t>𝑛</m:t>
                    </m:r>
                  </m:oMath>
                </a14:m>
                <a:endParaRPr lang="en-US" altLang="zh-CN" sz="3200" dirty="0">
                  <a:solidFill>
                    <a:schemeClr val="tx1"/>
                  </a:solidFill>
                  <a:latin typeface="Cambria Math" panose="02040503050406030204" pitchFamily="18" charset="0"/>
                  <a:cs typeface="Times New Roman" pitchFamily="18" charset="0"/>
                </a:endParaRPr>
              </a:p>
              <a:p>
                <a:pPr eaLnBrk="1" hangingPunct="1">
                  <a:lnSpc>
                    <a:spcPct val="130000"/>
                  </a:lnSpc>
                </a:pPr>
                <a:r>
                  <a:rPr lang="zh-CN" altLang="en-US" sz="3200" dirty="0">
                    <a:solidFill>
                      <a:schemeClr val="tx1"/>
                    </a:solidFill>
                    <a:latin typeface="Cambria Math" panose="02040503050406030204" pitchFamily="18" charset="0"/>
                    <a:cs typeface="Times New Roman" pitchFamily="18" charset="0"/>
                  </a:rPr>
                  <a:t>即</a:t>
                </a:r>
                <a:endParaRPr lang="en-US" altLang="zh-CN" sz="3200" dirty="0">
                  <a:solidFill>
                    <a:schemeClr val="tx1"/>
                  </a:solidFill>
                  <a:latin typeface="Cambria Math" panose="02040503050406030204" pitchFamily="18" charset="0"/>
                  <a:cs typeface="Times New Roman" pitchFamily="18" charset="0"/>
                </a:endParaRPr>
              </a:p>
              <a:p>
                <a:pPr eaLnBrk="1" hangingPunct="1">
                  <a:lnSpc>
                    <a:spcPct val="130000"/>
                  </a:lnSpc>
                </a:pPr>
                <a14:m>
                  <m:oMathPara xmlns:m="http://schemas.openxmlformats.org/officeDocument/2006/math">
                    <m:oMathParaPr>
                      <m:jc m:val="centerGroup"/>
                    </m:oMathParaPr>
                    <m:oMath xmlns:m="http://schemas.openxmlformats.org/officeDocument/2006/math">
                      <m:r>
                        <a:rPr lang="en-US" altLang="zh-CN" sz="3200" b="0" i="1" smtClean="0">
                          <a:solidFill>
                            <a:schemeClr val="tx1"/>
                          </a:solidFill>
                          <a:latin typeface="Cambria Math" panose="02040503050406030204" pitchFamily="18" charset="0"/>
                          <a:cs typeface="Times New Roman" pitchFamily="18" charset="0"/>
                        </a:rPr>
                        <m:t>0≤</m:t>
                      </m:r>
                      <m:r>
                        <a:rPr lang="en-US" altLang="zh-CN" sz="3200" b="0" i="1" smtClean="0">
                          <a:solidFill>
                            <a:schemeClr val="tx1"/>
                          </a:solidFill>
                          <a:latin typeface="Cambria Math" panose="02040503050406030204" pitchFamily="18" charset="0"/>
                          <a:cs typeface="Times New Roman" pitchFamily="18" charset="0"/>
                        </a:rPr>
                        <m:t>𝐻</m:t>
                      </m:r>
                      <m:d>
                        <m:dPr>
                          <m:ctrlPr>
                            <a:rPr lang="en-US" altLang="zh-CN" sz="3200" i="1" smtClean="0">
                              <a:solidFill>
                                <a:schemeClr val="tx1"/>
                              </a:solidFill>
                              <a:latin typeface="Cambria Math" panose="02040503050406030204" pitchFamily="18" charset="0"/>
                              <a:cs typeface="Times New Roman" pitchFamily="18" charset="0"/>
                            </a:rPr>
                          </m:ctrlPr>
                        </m:dPr>
                        <m:e>
                          <m:acc>
                            <m:accPr>
                              <m:chr m:val="̅"/>
                              <m:ctrlPr>
                                <a:rPr lang="en-US" altLang="zh-CN" sz="3200" i="1" smtClean="0">
                                  <a:solidFill>
                                    <a:schemeClr val="tx1"/>
                                  </a:solidFill>
                                  <a:latin typeface="Cambria Math" panose="02040503050406030204" pitchFamily="18" charset="0"/>
                                  <a:cs typeface="Times New Roman" pitchFamily="18" charset="0"/>
                                </a:rPr>
                              </m:ctrlPr>
                            </m:accPr>
                            <m:e>
                              <m:r>
                                <a:rPr lang="en-US" altLang="zh-CN" sz="3200" b="0" i="1" smtClean="0">
                                  <a:solidFill>
                                    <a:schemeClr val="tx1"/>
                                  </a:solidFill>
                                  <a:latin typeface="Cambria Math" panose="02040503050406030204" pitchFamily="18" charset="0"/>
                                  <a:cs typeface="Times New Roman" pitchFamily="18" charset="0"/>
                                </a:rPr>
                                <m:t>𝑝</m:t>
                              </m:r>
                            </m:e>
                          </m:acc>
                        </m:e>
                      </m:d>
                      <m:r>
                        <a:rPr lang="en-US" altLang="zh-CN" sz="3200" b="0" i="1" smtClean="0">
                          <a:solidFill>
                            <a:schemeClr val="tx1"/>
                          </a:solidFill>
                          <a:latin typeface="Cambria Math" panose="02040503050406030204" pitchFamily="18" charset="0"/>
                          <a:cs typeface="Times New Roman" pitchFamily="18" charset="0"/>
                        </a:rPr>
                        <m:t>≤</m:t>
                      </m:r>
                      <m:r>
                        <m:rPr>
                          <m:sty m:val="p"/>
                        </m:rPr>
                        <a:rPr lang="en-US" altLang="zh-CN" sz="3200" b="0" i="1" smtClean="0">
                          <a:solidFill>
                            <a:schemeClr val="tx1"/>
                          </a:solidFill>
                          <a:latin typeface="Cambria Math" panose="02040503050406030204" pitchFamily="18" charset="0"/>
                          <a:cs typeface="Times New Roman" pitchFamily="18" charset="0"/>
                        </a:rPr>
                        <m:t>log</m:t>
                      </m:r>
                      <m:r>
                        <a:rPr lang="en-US" altLang="zh-CN" sz="3200" b="0" smtClean="0">
                          <a:solidFill>
                            <a:schemeClr val="tx1"/>
                          </a:solidFill>
                          <a:latin typeface="Cambria Math" panose="02040503050406030204" pitchFamily="18" charset="0"/>
                          <a:cs typeface="Times New Roman" pitchFamily="18" charset="0"/>
                        </a:rPr>
                        <m:t> </m:t>
                      </m:r>
                      <m:r>
                        <a:rPr lang="en-US" altLang="zh-CN" sz="3200" b="0" i="1" smtClean="0">
                          <a:solidFill>
                            <a:schemeClr val="tx1"/>
                          </a:solidFill>
                          <a:latin typeface="Cambria Math" panose="02040503050406030204" pitchFamily="18" charset="0"/>
                          <a:cs typeface="Times New Roman" pitchFamily="18" charset="0"/>
                        </a:rPr>
                        <m:t>𝑛</m:t>
                      </m:r>
                    </m:oMath>
                  </m:oMathPara>
                </a14:m>
                <a:endParaRPr lang="en-US" altLang="zh-CN" sz="3200" i="1" dirty="0">
                  <a:solidFill>
                    <a:schemeClr val="tx1"/>
                  </a:solidFill>
                  <a:latin typeface="Cambria Math" panose="02040503050406030204" pitchFamily="18" charset="0"/>
                  <a:cs typeface="Times New Roman" pitchFamily="18" charset="0"/>
                </a:endParaRPr>
              </a:p>
              <a:p>
                <a:pPr eaLnBrk="1" hangingPunct="1">
                  <a:lnSpc>
                    <a:spcPct val="130000"/>
                  </a:lnSpc>
                </a:pPr>
                <a:r>
                  <a:rPr lang="zh-CN" altLang="en-US" sz="3200" dirty="0">
                    <a:solidFill>
                      <a:schemeClr val="tx1"/>
                    </a:solidFill>
                    <a:latin typeface="Cambria Math" panose="02040503050406030204" pitchFamily="18" charset="0"/>
                    <a:cs typeface="Times New Roman" pitchFamily="18" charset="0"/>
                  </a:rPr>
                  <a:t>上式等号成立当且仅当</a:t>
                </a:r>
                <a14:m>
                  <m:oMath xmlns:m="http://schemas.openxmlformats.org/officeDocument/2006/math">
                    <m:r>
                      <a:rPr lang="en-US" altLang="zh-CN" sz="3200" b="0" i="1" smtClean="0">
                        <a:solidFill>
                          <a:schemeClr val="tx1"/>
                        </a:solidFill>
                        <a:latin typeface="Cambria Math" panose="02040503050406030204" pitchFamily="18" charset="0"/>
                        <a:cs typeface="Times New Roman" pitchFamily="18" charset="0"/>
                      </a:rPr>
                      <m:t> </m:t>
                    </m:r>
                    <m:sSub>
                      <m:sSubPr>
                        <m:ctrlPr>
                          <a:rPr lang="en-US" altLang="zh-CN" sz="3200" i="1" smtClean="0">
                            <a:solidFill>
                              <a:schemeClr val="tx1"/>
                            </a:solidFill>
                            <a:latin typeface="Cambria Math" panose="02040503050406030204" pitchFamily="18" charset="0"/>
                            <a:cs typeface="Times New Roman" pitchFamily="18" charset="0"/>
                          </a:rPr>
                        </m:ctrlPr>
                      </m:sSubPr>
                      <m:e>
                        <m:r>
                          <a:rPr lang="en-US" altLang="zh-CN" sz="3200" b="0" i="1" smtClean="0">
                            <a:solidFill>
                              <a:schemeClr val="tx1"/>
                            </a:solidFill>
                            <a:latin typeface="Cambria Math" panose="02040503050406030204" pitchFamily="18" charset="0"/>
                            <a:cs typeface="Times New Roman" pitchFamily="18" charset="0"/>
                          </a:rPr>
                          <m:t>𝑝</m:t>
                        </m:r>
                      </m:e>
                      <m:sub>
                        <m:r>
                          <a:rPr lang="en-US" altLang="zh-CN" sz="3200" b="0" i="1" smtClean="0">
                            <a:solidFill>
                              <a:schemeClr val="tx1"/>
                            </a:solidFill>
                            <a:latin typeface="Cambria Math" panose="02040503050406030204" pitchFamily="18" charset="0"/>
                            <a:cs typeface="Times New Roman" pitchFamily="18" charset="0"/>
                          </a:rPr>
                          <m:t>1</m:t>
                        </m:r>
                      </m:sub>
                    </m:sSub>
                    <m:r>
                      <a:rPr lang="en-US" altLang="zh-CN" sz="3200" b="0" i="1" smtClean="0">
                        <a:solidFill>
                          <a:schemeClr val="tx1"/>
                        </a:solidFill>
                        <a:latin typeface="Cambria Math" panose="02040503050406030204" pitchFamily="18" charset="0"/>
                        <a:cs typeface="Times New Roman" pitchFamily="18" charset="0"/>
                      </a:rPr>
                      <m:t>=⋯=</m:t>
                    </m:r>
                    <m:sSub>
                      <m:sSubPr>
                        <m:ctrlPr>
                          <a:rPr lang="en-US" altLang="zh-CN" sz="3200" i="1" smtClean="0">
                            <a:solidFill>
                              <a:schemeClr val="tx1"/>
                            </a:solidFill>
                            <a:latin typeface="Cambria Math" panose="02040503050406030204" pitchFamily="18" charset="0"/>
                            <a:cs typeface="Times New Roman" pitchFamily="18" charset="0"/>
                          </a:rPr>
                        </m:ctrlPr>
                      </m:sSubPr>
                      <m:e>
                        <m:r>
                          <a:rPr lang="en-US" altLang="zh-CN" sz="3200" b="0" i="1" smtClean="0">
                            <a:solidFill>
                              <a:schemeClr val="tx1"/>
                            </a:solidFill>
                            <a:latin typeface="Cambria Math" panose="02040503050406030204" pitchFamily="18" charset="0"/>
                            <a:cs typeface="Times New Roman" pitchFamily="18" charset="0"/>
                          </a:rPr>
                          <m:t>𝑝</m:t>
                        </m:r>
                      </m:e>
                      <m:sub>
                        <m:r>
                          <a:rPr lang="en-US" altLang="zh-CN" sz="3200" b="0" i="1" smtClean="0">
                            <a:solidFill>
                              <a:schemeClr val="tx1"/>
                            </a:solidFill>
                            <a:latin typeface="Cambria Math" panose="02040503050406030204" pitchFamily="18" charset="0"/>
                            <a:cs typeface="Times New Roman" pitchFamily="18" charset="0"/>
                          </a:rPr>
                          <m:t>𝑛</m:t>
                        </m:r>
                      </m:sub>
                    </m:sSub>
                    <m:r>
                      <a:rPr lang="zh-CN" altLang="en-US" sz="3200" b="0" i="1">
                        <a:solidFill>
                          <a:schemeClr val="tx1"/>
                        </a:solidFill>
                        <a:latin typeface="Cambria Math" panose="02040503050406030204" pitchFamily="18" charset="0"/>
                        <a:cs typeface="Times New Roman" pitchFamily="18" charset="0"/>
                      </a:rPr>
                      <m:t>。</m:t>
                    </m:r>
                  </m:oMath>
                </a14:m>
                <a:endParaRPr lang="en-US" altLang="zh-CN" sz="3200" dirty="0">
                  <a:solidFill>
                    <a:srgbClr val="000000"/>
                  </a:solidFill>
                  <a:latin typeface="Cambria Math" panose="02040503050406030204" pitchFamily="18" charset="0"/>
                  <a:cs typeface="Times New Roman" pitchFamily="18" charset="0"/>
                </a:endParaRPr>
              </a:p>
            </p:txBody>
          </p:sp>
        </mc:Choice>
        <mc:Fallback xmlns="">
          <p:sp>
            <p:nvSpPr>
              <p:cNvPr id="3" name="文本框 2">
                <a:extLst>
                  <a:ext uri="{FF2B5EF4-FFF2-40B4-BE49-F238E27FC236}">
                    <a16:creationId xmlns:a16="http://schemas.microsoft.com/office/drawing/2014/main" id="{CE976CF2-992A-562E-B359-96A0DF5940F2}"/>
                  </a:ext>
                </a:extLst>
              </p:cNvPr>
              <p:cNvSpPr txBox="1">
                <a:spLocks noRot="1" noChangeAspect="1" noMove="1" noResize="1" noEditPoints="1" noAdjustHandles="1" noChangeArrowheads="1" noChangeShapeType="1" noTextEdit="1"/>
              </p:cNvSpPr>
              <p:nvPr/>
            </p:nvSpPr>
            <p:spPr>
              <a:xfrm>
                <a:off x="228600" y="762000"/>
                <a:ext cx="8496944" cy="4887877"/>
              </a:xfrm>
              <a:prstGeom prst="rect">
                <a:avLst/>
              </a:prstGeom>
              <a:blipFill>
                <a:blip r:embed="rId3"/>
                <a:stretch>
                  <a:fillRect l="-1866" t="-499" b="-2743"/>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6B782B2E-D312-5BBB-3F0A-57EA9FE53A4D}"/>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675284F-116C-049A-B99D-1D187F73E8E7}"/>
                  </a:ext>
                </a:extLst>
              </p:cNvPr>
              <p:cNvSpPr txBox="1"/>
              <p:nvPr/>
            </p:nvSpPr>
            <p:spPr>
              <a:xfrm>
                <a:off x="114300" y="762000"/>
                <a:ext cx="8915400" cy="5039265"/>
              </a:xfrm>
              <a:prstGeom prst="rect">
                <a:avLst/>
              </a:prstGeom>
              <a:noFill/>
            </p:spPr>
            <p:txBody>
              <a:bodyPr wrap="square" rtlCol="0">
                <a:spAutoFit/>
              </a:bodyPr>
              <a:lstStyle/>
              <a:p>
                <a:pPr>
                  <a:lnSpc>
                    <a:spcPct val="130000"/>
                  </a:lnSpc>
                </a:pPr>
                <a:r>
                  <a:rPr kumimoji="0" lang="zh-CN" altLang="en-US" sz="3200" b="1" dirty="0">
                    <a:latin typeface="宋体" pitchFamily="2" charset="-122"/>
                  </a:rPr>
                  <a:t>例子</a:t>
                </a:r>
                <a:r>
                  <a:rPr kumimoji="0" lang="en-US" altLang="zh-CN" sz="3200" b="1" dirty="0">
                    <a:latin typeface="宋体" pitchFamily="2" charset="-122"/>
                  </a:rPr>
                  <a:t>3</a:t>
                </a:r>
                <a:r>
                  <a:rPr kumimoji="0" lang="zh-CN" altLang="en-US" sz="3200" b="1" dirty="0">
                    <a:latin typeface="宋体" pitchFamily="2" charset="-122"/>
                  </a:rPr>
                  <a:t> </a:t>
                </a:r>
                <a:r>
                  <a:rPr kumimoji="0" lang="zh-CN" altLang="en-US" sz="3200" dirty="0">
                    <a:latin typeface="Cambria Math" panose="02040503050406030204" pitchFamily="18" charset="0"/>
                    <a:cs typeface="Times New Roman" pitchFamily="18" charset="0"/>
                  </a:rPr>
                  <a:t>考虑如下分布的随机变量</a:t>
                </a:r>
                <a:endParaRPr kumimoji="0" lang="en-US" altLang="zh-CN" sz="3200" dirty="0">
                  <a:latin typeface="Cambria Math" panose="02040503050406030204" pitchFamily="18" charset="0"/>
                  <a:cs typeface="Times New Roman" pitchFamily="18" charset="0"/>
                </a:endParaRPr>
              </a:p>
              <a:p>
                <a:pPr>
                  <a:lnSpc>
                    <a:spcPct val="130000"/>
                  </a:lnSpc>
                </a:pPr>
                <a14:m>
                  <m:oMathPara xmlns:m="http://schemas.openxmlformats.org/officeDocument/2006/math">
                    <m:oMathParaPr>
                      <m:jc m:val="centerGroup"/>
                    </m:oMathParaPr>
                    <m:oMath xmlns:m="http://schemas.openxmlformats.org/officeDocument/2006/math">
                      <m:d>
                        <m:dPr>
                          <m:begChr m:val="["/>
                          <m:endChr m:val="]"/>
                          <m:ctrlPr>
                            <a:rPr lang="en-US" altLang="zh-CN" sz="3200" i="1">
                              <a:latin typeface="Cambria Math" panose="02040503050406030204" pitchFamily="18" charset="0"/>
                            </a:rPr>
                          </m:ctrlPr>
                        </m:dPr>
                        <m:e>
                          <m:eqArr>
                            <m:eqArrPr>
                              <m:ctrlPr>
                                <a:rPr lang="en-US" altLang="zh-CN" sz="3200" i="1">
                                  <a:latin typeface="Cambria Math" panose="02040503050406030204" pitchFamily="18" charset="0"/>
                                </a:rPr>
                              </m:ctrlPr>
                            </m:eqArrPr>
                            <m:e>
                              <m:r>
                                <a:rPr lang="en-US" altLang="zh-CN" sz="3200" b="0" i="1" smtClean="0">
                                  <a:latin typeface="Cambria Math" panose="02040503050406030204" pitchFamily="18" charset="0"/>
                                </a:rPr>
                                <m:t>𝑋</m:t>
                              </m:r>
                            </m:e>
                            <m:e>
                              <m:r>
                                <a:rPr lang="en-US" altLang="zh-CN" sz="3200" b="0" i="1" smtClean="0">
                                  <a:latin typeface="Cambria Math" panose="02040503050406030204" pitchFamily="18" charset="0"/>
                                </a:rPr>
                                <m:t>𝑝</m:t>
                              </m:r>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𝑥</m:t>
                              </m:r>
                              <m:r>
                                <a:rPr lang="en-US" altLang="zh-CN" sz="3200" b="0" i="1" smtClean="0">
                                  <a:latin typeface="Cambria Math" panose="02040503050406030204" pitchFamily="18" charset="0"/>
                                </a:rPr>
                                <m:t>)</m:t>
                              </m:r>
                            </m:e>
                          </m:eqArr>
                        </m:e>
                      </m:d>
                      <m:r>
                        <a:rPr lang="en-US" altLang="zh-CN" sz="3200" b="0" i="1" smtClean="0">
                          <a:latin typeface="Cambria Math" panose="02040503050406030204" pitchFamily="18" charset="0"/>
                        </a:rPr>
                        <m:t>=</m:t>
                      </m:r>
                      <m:d>
                        <m:dPr>
                          <m:begChr m:val="["/>
                          <m:endChr m:val="]"/>
                          <m:ctrlPr>
                            <a:rPr lang="en-US" altLang="zh-CN" sz="3200" i="1">
                              <a:latin typeface="Cambria Math" panose="02040503050406030204" pitchFamily="18" charset="0"/>
                            </a:rPr>
                          </m:ctrlPr>
                        </m:dPr>
                        <m:e>
                          <m:m>
                            <m:mPr>
                              <m:mcs>
                                <m:mc>
                                  <m:mcPr>
                                    <m:count m:val="2"/>
                                    <m:mcJc m:val="center"/>
                                  </m:mcPr>
                                </m:mc>
                              </m:mcs>
                              <m:ctrlPr>
                                <a:rPr lang="en-US" altLang="zh-CN" sz="3200" i="1">
                                  <a:latin typeface="Cambria Math" panose="02040503050406030204" pitchFamily="18" charset="0"/>
                                </a:rPr>
                              </m:ctrlPr>
                            </m:mPr>
                            <m:mr>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1</m:t>
                                </m:r>
                              </m:e>
                            </m:mr>
                            <m:mr>
                              <m:e>
                                <m:r>
                                  <a:rPr lang="en-US" altLang="zh-CN" sz="3200" b="0" i="1" smtClean="0">
                                    <a:latin typeface="Cambria Math" panose="02040503050406030204" pitchFamily="18" charset="0"/>
                                  </a:rPr>
                                  <m:t>𝑝</m:t>
                                </m:r>
                              </m:e>
                              <m:e>
                                <m:r>
                                  <a:rPr lang="en-US" altLang="zh-CN" sz="3200" b="0" i="1" smtClean="0">
                                    <a:latin typeface="Cambria Math" panose="02040503050406030204" pitchFamily="18" charset="0"/>
                                  </a:rPr>
                                  <m:t>1−</m:t>
                                </m:r>
                                <m:r>
                                  <a:rPr lang="en-US" altLang="zh-CN" sz="3200" b="0" i="1" smtClean="0">
                                    <a:latin typeface="Cambria Math" panose="02040503050406030204" pitchFamily="18" charset="0"/>
                                  </a:rPr>
                                  <m:t>𝑝</m:t>
                                </m:r>
                              </m:e>
                            </m:mr>
                          </m:m>
                        </m:e>
                      </m:d>
                    </m:oMath>
                  </m:oMathPara>
                </a14:m>
                <a:endParaRPr kumimoji="0" lang="en-US" altLang="zh-CN" sz="3200" dirty="0">
                  <a:latin typeface="Cambria Math" panose="02040503050406030204" pitchFamily="18" charset="0"/>
                  <a:cs typeface="Times New Roman" pitchFamily="18" charset="0"/>
                </a:endParaRPr>
              </a:p>
              <a:p>
                <a:pPr>
                  <a:lnSpc>
                    <a:spcPct val="130000"/>
                  </a:lnSpc>
                </a:pPr>
                <a:r>
                  <a:rPr kumimoji="0" lang="zh-CN" altLang="en-US" sz="3200" dirty="0">
                    <a:latin typeface="Cambria Math" panose="02040503050406030204" pitchFamily="18" charset="0"/>
                    <a:cs typeface="Times New Roman" pitchFamily="18" charset="0"/>
                  </a:rPr>
                  <a:t>它的熵简记为</a:t>
                </a:r>
                <a14:m>
                  <m:oMath xmlns:m="http://schemas.openxmlformats.org/officeDocument/2006/math">
                    <m:r>
                      <a:rPr kumimoji="0" lang="en-US" altLang="zh-CN" sz="3200" b="0" i="0" smtClean="0">
                        <a:latin typeface="Cambria Math" panose="02040503050406030204" pitchFamily="18" charset="0"/>
                        <a:cs typeface="Times New Roman" pitchFamily="18" charset="0"/>
                      </a:rPr>
                      <m:t> </m:t>
                    </m:r>
                    <m:r>
                      <a:rPr kumimoji="0" lang="en-US" altLang="zh-CN" sz="3200" b="0" i="1" smtClean="0">
                        <a:latin typeface="Cambria Math" panose="02040503050406030204" pitchFamily="18" charset="0"/>
                        <a:cs typeface="Times New Roman" pitchFamily="18" charset="0"/>
                      </a:rPr>
                      <m:t>𝐻</m:t>
                    </m:r>
                    <m:d>
                      <m:dPr>
                        <m:ctrlPr>
                          <a:rPr kumimoji="0" lang="en-US" altLang="zh-CN" sz="3200" i="1">
                            <a:latin typeface="Cambria Math" panose="02040503050406030204" pitchFamily="18" charset="0"/>
                            <a:cs typeface="Times New Roman" pitchFamily="18" charset="0"/>
                          </a:rPr>
                        </m:ctrlPr>
                      </m:dPr>
                      <m:e>
                        <m:r>
                          <a:rPr kumimoji="0" lang="en-US" altLang="zh-CN" sz="3200" b="0" i="1" smtClean="0">
                            <a:latin typeface="Cambria Math" panose="02040503050406030204" pitchFamily="18" charset="0"/>
                            <a:cs typeface="Times New Roman" pitchFamily="18" charset="0"/>
                          </a:rPr>
                          <m:t>𝑝</m:t>
                        </m:r>
                      </m:e>
                    </m:d>
                    <m:r>
                      <a:rPr kumimoji="0" lang="en-US" altLang="zh-CN" sz="3200" b="0" i="1" smtClean="0">
                        <a:latin typeface="Cambria Math" panose="02040503050406030204" pitchFamily="18" charset="0"/>
                        <a:cs typeface="Times New Roman" pitchFamily="18" charset="0"/>
                      </a:rPr>
                      <m:t> </m:t>
                    </m:r>
                  </m:oMath>
                </a14:m>
                <a:r>
                  <a:rPr kumimoji="0" lang="zh-CN" altLang="en-US" sz="3200" dirty="0">
                    <a:latin typeface="Cambria Math" panose="02040503050406030204" pitchFamily="18" charset="0"/>
                    <a:cs typeface="Times New Roman" pitchFamily="18" charset="0"/>
                  </a:rPr>
                  <a:t>，则</a:t>
                </a:r>
                <a:endParaRPr kumimoji="0" lang="en-US" altLang="zh-CN" sz="3200" dirty="0">
                  <a:latin typeface="Cambria Math" panose="02040503050406030204" pitchFamily="18" charset="0"/>
                  <a:cs typeface="Times New Roman" pitchFamily="18" charset="0"/>
                </a:endParaRPr>
              </a:p>
              <a:p>
                <a:pPr algn="ctr">
                  <a:lnSpc>
                    <a:spcPct val="130000"/>
                  </a:lnSpc>
                </a:pPr>
                <a:r>
                  <a:rPr kumimoji="0" lang="en-US" altLang="zh-CN" sz="3200" dirty="0">
                    <a:cs typeface="Times New Roman" pitchFamily="18" charset="0"/>
                  </a:rPr>
                  <a:t> </a:t>
                </a:r>
                <a14:m>
                  <m:oMath xmlns:m="http://schemas.openxmlformats.org/officeDocument/2006/math">
                    <m:r>
                      <a:rPr kumimoji="0" lang="en-US" altLang="zh-CN" sz="3200" b="0" i="1" smtClean="0">
                        <a:latin typeface="Cambria Math" panose="02040503050406030204" pitchFamily="18" charset="0"/>
                        <a:cs typeface="Times New Roman" pitchFamily="18" charset="0"/>
                      </a:rPr>
                      <m:t>𝐻</m:t>
                    </m:r>
                    <m:d>
                      <m:dPr>
                        <m:ctrlPr>
                          <a:rPr kumimoji="0" lang="en-US" altLang="zh-CN" sz="3200" i="1">
                            <a:latin typeface="Cambria Math" panose="02040503050406030204" pitchFamily="18" charset="0"/>
                            <a:cs typeface="Times New Roman" pitchFamily="18" charset="0"/>
                          </a:rPr>
                        </m:ctrlPr>
                      </m:dPr>
                      <m:e>
                        <m:r>
                          <a:rPr kumimoji="0" lang="en-US" altLang="zh-CN" sz="3200" b="0" i="1" smtClean="0">
                            <a:latin typeface="Cambria Math" panose="02040503050406030204" pitchFamily="18" charset="0"/>
                            <a:cs typeface="Times New Roman" pitchFamily="18" charset="0"/>
                          </a:rPr>
                          <m:t>𝑝</m:t>
                        </m:r>
                      </m:e>
                    </m:d>
                    <m:r>
                      <a:rPr kumimoji="0" lang="en-US" altLang="zh-CN" sz="3200" b="0" i="1" smtClean="0">
                        <a:latin typeface="Cambria Math" panose="02040503050406030204" pitchFamily="18" charset="0"/>
                        <a:cs typeface="Times New Roman" pitchFamily="18" charset="0"/>
                      </a:rPr>
                      <m:t>=−</m:t>
                    </m:r>
                    <m:r>
                      <a:rPr kumimoji="0" lang="en-US" altLang="zh-CN" sz="3200" b="0" i="1" smtClean="0">
                        <a:latin typeface="Cambria Math" panose="02040503050406030204" pitchFamily="18" charset="0"/>
                        <a:cs typeface="Times New Roman" pitchFamily="18" charset="0"/>
                      </a:rPr>
                      <m:t>𝑝</m:t>
                    </m:r>
                    <m:r>
                      <a:rPr kumimoji="0" lang="en-US" altLang="zh-CN" sz="3200" b="0" i="1" smtClean="0">
                        <a:latin typeface="Cambria Math" panose="02040503050406030204" pitchFamily="18" charset="0"/>
                        <a:cs typeface="Times New Roman" pitchFamily="18" charset="0"/>
                      </a:rPr>
                      <m:t> </m:t>
                    </m:r>
                    <m:r>
                      <m:rPr>
                        <m:sty m:val="p"/>
                      </m:rPr>
                      <a:rPr kumimoji="0" lang="en-US" altLang="zh-CN" sz="3200" b="0" i="0" smtClean="0">
                        <a:latin typeface="Cambria Math" panose="02040503050406030204" pitchFamily="18" charset="0"/>
                        <a:cs typeface="Times New Roman" pitchFamily="18" charset="0"/>
                      </a:rPr>
                      <m:t>log</m:t>
                    </m:r>
                    <m:r>
                      <a:rPr kumimoji="0" lang="en-US" altLang="zh-CN" sz="3200" b="0" i="0" smtClean="0">
                        <a:latin typeface="Cambria Math" panose="02040503050406030204" pitchFamily="18" charset="0"/>
                        <a:cs typeface="Times New Roman" pitchFamily="18" charset="0"/>
                      </a:rPr>
                      <m:t> </m:t>
                    </m:r>
                    <m:r>
                      <a:rPr kumimoji="0" lang="en-US" altLang="zh-CN" sz="3200" b="0" i="1" smtClean="0">
                        <a:latin typeface="Cambria Math" panose="02040503050406030204" pitchFamily="18" charset="0"/>
                        <a:cs typeface="Times New Roman" pitchFamily="18" charset="0"/>
                      </a:rPr>
                      <m:t>𝑝</m:t>
                    </m:r>
                    <m:r>
                      <a:rPr kumimoji="0" lang="en-US" altLang="zh-CN" sz="3200" b="0" i="1" smtClean="0">
                        <a:latin typeface="Cambria Math" panose="02040503050406030204" pitchFamily="18" charset="0"/>
                        <a:cs typeface="Times New Roman" pitchFamily="18" charset="0"/>
                      </a:rPr>
                      <m:t>−</m:t>
                    </m:r>
                    <m:d>
                      <m:dPr>
                        <m:ctrlPr>
                          <a:rPr kumimoji="0" lang="en-US" altLang="zh-CN" sz="3200" i="1" smtClean="0">
                            <a:latin typeface="Cambria Math" panose="02040503050406030204" pitchFamily="18" charset="0"/>
                            <a:cs typeface="Times New Roman" pitchFamily="18" charset="0"/>
                          </a:rPr>
                        </m:ctrlPr>
                      </m:dPr>
                      <m:e>
                        <m:r>
                          <a:rPr kumimoji="0" lang="en-US" altLang="zh-CN" sz="3200" b="0" i="1" smtClean="0">
                            <a:latin typeface="Cambria Math" panose="02040503050406030204" pitchFamily="18" charset="0"/>
                            <a:cs typeface="Times New Roman" pitchFamily="18" charset="0"/>
                          </a:rPr>
                          <m:t>1−</m:t>
                        </m:r>
                        <m:r>
                          <a:rPr kumimoji="0" lang="en-US" altLang="zh-CN" sz="3200" b="0" i="1" smtClean="0">
                            <a:latin typeface="Cambria Math" panose="02040503050406030204" pitchFamily="18" charset="0"/>
                            <a:cs typeface="Times New Roman" pitchFamily="18" charset="0"/>
                          </a:rPr>
                          <m:t>𝑝</m:t>
                        </m:r>
                      </m:e>
                    </m:d>
                    <m:r>
                      <m:rPr>
                        <m:sty m:val="p"/>
                      </m:rPr>
                      <a:rPr kumimoji="0" lang="en-US" altLang="zh-CN" sz="3200" b="0" i="0" smtClean="0">
                        <a:latin typeface="Cambria Math" panose="02040503050406030204" pitchFamily="18" charset="0"/>
                        <a:cs typeface="Times New Roman" pitchFamily="18" charset="0"/>
                      </a:rPr>
                      <m:t>log</m:t>
                    </m:r>
                    <m:d>
                      <m:dPr>
                        <m:ctrlPr>
                          <a:rPr kumimoji="0" lang="en-US" altLang="zh-CN" sz="3200" i="1" smtClean="0">
                            <a:latin typeface="Cambria Math" panose="02040503050406030204" pitchFamily="18" charset="0"/>
                            <a:cs typeface="Times New Roman" pitchFamily="18" charset="0"/>
                          </a:rPr>
                        </m:ctrlPr>
                      </m:dPr>
                      <m:e>
                        <m:r>
                          <a:rPr kumimoji="0" lang="en-US" altLang="zh-CN" sz="3200" b="0" i="1" smtClean="0">
                            <a:latin typeface="Cambria Math" panose="02040503050406030204" pitchFamily="18" charset="0"/>
                            <a:cs typeface="Times New Roman" pitchFamily="18" charset="0"/>
                          </a:rPr>
                          <m:t>1−</m:t>
                        </m:r>
                        <m:r>
                          <a:rPr kumimoji="0" lang="en-US" altLang="zh-CN" sz="3200" b="0" i="1" smtClean="0">
                            <a:latin typeface="Cambria Math" panose="02040503050406030204" pitchFamily="18" charset="0"/>
                            <a:cs typeface="Times New Roman" pitchFamily="18" charset="0"/>
                          </a:rPr>
                          <m:t>𝑝</m:t>
                        </m:r>
                      </m:e>
                    </m:d>
                    <m:r>
                      <a:rPr kumimoji="0" lang="en-US" altLang="zh-CN" sz="3200" b="0" i="1" smtClean="0">
                        <a:latin typeface="Cambria Math" panose="02040503050406030204" pitchFamily="18" charset="0"/>
                        <a:cs typeface="Times New Roman" pitchFamily="18" charset="0"/>
                      </a:rPr>
                      <m:t> </m:t>
                    </m:r>
                  </m:oMath>
                </a14:m>
                <a:endParaRPr kumimoji="0" lang="en-US" altLang="zh-CN" sz="3200" dirty="0">
                  <a:latin typeface="Cambria Math" panose="02040503050406030204" pitchFamily="18" charset="0"/>
                  <a:cs typeface="Times New Roman" pitchFamily="18" charset="0"/>
                </a:endParaRPr>
              </a:p>
              <a:p>
                <a:pPr>
                  <a:lnSpc>
                    <a:spcPct val="130000"/>
                  </a:lnSpc>
                </a:pPr>
                <a:r>
                  <a:rPr kumimoji="0" lang="zh-CN" altLang="en-US" sz="3200" dirty="0">
                    <a:latin typeface="Cambria Math" panose="02040503050406030204" pitchFamily="18" charset="0"/>
                    <a:cs typeface="Times New Roman" pitchFamily="18" charset="0"/>
                  </a:rPr>
                  <a:t>当等概分布时（</a:t>
                </a:r>
                <a14:m>
                  <m:oMath xmlns:m="http://schemas.openxmlformats.org/officeDocument/2006/math">
                    <m:r>
                      <a:rPr kumimoji="0" lang="en-US" altLang="zh-CN" sz="3200" b="0" i="1" smtClean="0">
                        <a:latin typeface="Cambria Math" panose="02040503050406030204" pitchFamily="18" charset="0"/>
                        <a:cs typeface="Times New Roman" pitchFamily="18" charset="0"/>
                      </a:rPr>
                      <m:t>𝑝</m:t>
                    </m:r>
                    <m:r>
                      <a:rPr kumimoji="0" lang="en-US" altLang="zh-CN" sz="3200" b="0" i="1" smtClean="0">
                        <a:latin typeface="Cambria Math" panose="02040503050406030204" pitchFamily="18" charset="0"/>
                        <a:cs typeface="Times New Roman" pitchFamily="18" charset="0"/>
                      </a:rPr>
                      <m:t>=0.5</m:t>
                    </m:r>
                  </m:oMath>
                </a14:m>
                <a:r>
                  <a:rPr kumimoji="0" lang="zh-CN" altLang="en-US" sz="3200" dirty="0">
                    <a:latin typeface="Cambria Math" panose="02040503050406030204" pitchFamily="18" charset="0"/>
                    <a:cs typeface="Times New Roman" pitchFamily="18" charset="0"/>
                  </a:rPr>
                  <a:t>），熵达到最大值 </a:t>
                </a:r>
                <a:r>
                  <a:rPr kumimoji="0" lang="en-US" altLang="zh-CN" sz="3200" dirty="0">
                    <a:latin typeface="Cambria Math" panose="02040503050406030204" pitchFamily="18" charset="0"/>
                    <a:cs typeface="Times New Roman" pitchFamily="18" charset="0"/>
                  </a:rPr>
                  <a:t>1 bit</a:t>
                </a:r>
                <a:r>
                  <a:rPr kumimoji="0" lang="zh-CN" altLang="en-US" sz="3200" dirty="0">
                    <a:latin typeface="Cambria Math" panose="02040503050406030204" pitchFamily="18" charset="0"/>
                    <a:cs typeface="Times New Roman" pitchFamily="18" charset="0"/>
                  </a:rPr>
                  <a:t>，这时随机变量具有最大的不确定性。当</a:t>
                </a:r>
                <a14:m>
                  <m:oMath xmlns:m="http://schemas.openxmlformats.org/officeDocument/2006/math">
                    <m:r>
                      <a:rPr kumimoji="0" lang="en-US" altLang="zh-CN" sz="3200" b="0" i="0" smtClean="0">
                        <a:latin typeface="Cambria Math" panose="02040503050406030204" pitchFamily="18" charset="0"/>
                        <a:cs typeface="Times New Roman" pitchFamily="18" charset="0"/>
                      </a:rPr>
                      <m:t> </m:t>
                    </m:r>
                    <m:r>
                      <a:rPr kumimoji="0" lang="en-US" altLang="zh-CN" sz="3200" b="0" i="1" smtClean="0">
                        <a:latin typeface="Cambria Math" panose="02040503050406030204" pitchFamily="18" charset="0"/>
                        <a:cs typeface="Times New Roman" pitchFamily="18" charset="0"/>
                      </a:rPr>
                      <m:t>𝑝</m:t>
                    </m:r>
                    <m:r>
                      <a:rPr kumimoji="0" lang="en-US" altLang="zh-CN" sz="3200" b="0" i="1" smtClean="0">
                        <a:latin typeface="Cambria Math" panose="02040503050406030204" pitchFamily="18" charset="0"/>
                        <a:cs typeface="Times New Roman" pitchFamily="18" charset="0"/>
                      </a:rPr>
                      <m:t>=0 </m:t>
                    </m:r>
                    <m:r>
                      <a:rPr kumimoji="0" lang="zh-CN" altLang="en-US" sz="3200" b="0" i="1" smtClean="0">
                        <a:latin typeface="Cambria Math" panose="02040503050406030204" pitchFamily="18" charset="0"/>
                        <a:cs typeface="Times New Roman" pitchFamily="18" charset="0"/>
                      </a:rPr>
                      <m:t>或</m:t>
                    </m:r>
                  </m:oMath>
                </a14:m>
                <a:r>
                  <a:rPr kumimoji="0" lang="en-US" altLang="zh-CN" sz="3200" dirty="0">
                    <a:latin typeface="Cambria Math" panose="02040503050406030204" pitchFamily="18" charset="0"/>
                    <a:cs typeface="Times New Roman" pitchFamily="18" charset="0"/>
                  </a:rPr>
                  <a:t> 1 </a:t>
                </a:r>
                <a:r>
                  <a:rPr kumimoji="0" lang="zh-CN" altLang="en-US" sz="3200" dirty="0">
                    <a:latin typeface="Cambria Math" panose="02040503050406030204" pitchFamily="18" charset="0"/>
                    <a:cs typeface="Times New Roman" pitchFamily="18" charset="0"/>
                  </a:rPr>
                  <a:t>时，熵等于 </a:t>
                </a:r>
                <a:r>
                  <a:rPr kumimoji="0" lang="en-US" altLang="zh-CN" sz="3200" dirty="0">
                    <a:latin typeface="Cambria Math" panose="02040503050406030204" pitchFamily="18" charset="0"/>
                    <a:cs typeface="Times New Roman" pitchFamily="18" charset="0"/>
                  </a:rPr>
                  <a:t>0</a:t>
                </a:r>
                <a:r>
                  <a:rPr kumimoji="0" lang="zh-CN" altLang="en-US" sz="3200" dirty="0">
                    <a:latin typeface="Cambria Math" panose="02040503050406030204" pitchFamily="18" charset="0"/>
                    <a:cs typeface="Times New Roman" pitchFamily="18" charset="0"/>
                  </a:rPr>
                  <a:t>，即没有不确定性。</a:t>
                </a:r>
                <a:endParaRPr kumimoji="0" lang="en-US" altLang="zh-CN" sz="3200" dirty="0">
                  <a:latin typeface="Cambria Math" panose="02040503050406030204" pitchFamily="18" charset="0"/>
                  <a:cs typeface="Times New Roman" pitchFamily="18" charset="0"/>
                </a:endParaRPr>
              </a:p>
            </p:txBody>
          </p:sp>
        </mc:Choice>
        <mc:Fallback xmlns="">
          <p:sp>
            <p:nvSpPr>
              <p:cNvPr id="2" name="文本框 1">
                <a:extLst>
                  <a:ext uri="{FF2B5EF4-FFF2-40B4-BE49-F238E27FC236}">
                    <a16:creationId xmlns:a16="http://schemas.microsoft.com/office/drawing/2014/main" id="{2675284F-116C-049A-B99D-1D187F73E8E7}"/>
                  </a:ext>
                </a:extLst>
              </p:cNvPr>
              <p:cNvSpPr txBox="1">
                <a:spLocks noRot="1" noChangeAspect="1" noMove="1" noResize="1" noEditPoints="1" noAdjustHandles="1" noChangeArrowheads="1" noChangeShapeType="1" noTextEdit="1"/>
              </p:cNvSpPr>
              <p:nvPr/>
            </p:nvSpPr>
            <p:spPr>
              <a:xfrm>
                <a:off x="114300" y="762000"/>
                <a:ext cx="8915400" cy="5039265"/>
              </a:xfrm>
              <a:prstGeom prst="rect">
                <a:avLst/>
              </a:prstGeom>
              <a:blipFill>
                <a:blip r:embed="rId3"/>
                <a:stretch>
                  <a:fillRect l="-1778" t="-484" r="-1231" b="-3023"/>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11581464-DA4D-08C2-85D0-0FA0E3335253}"/>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2 </a:t>
            </a:r>
            <a:r>
              <a:rPr lang="zh-CN" altLang="en-US"/>
              <a:t>信息的度量（续）</a:t>
            </a:r>
            <a:endParaRPr lang="en-US" altLang="zh-CN"/>
          </a:p>
        </p:txBody>
      </p:sp>
      <p:grpSp>
        <p:nvGrpSpPr>
          <p:cNvPr id="51203" name="组合 1">
            <a:extLst>
              <a:ext uri="{FF2B5EF4-FFF2-40B4-BE49-F238E27FC236}">
                <a16:creationId xmlns:a16="http://schemas.microsoft.com/office/drawing/2014/main" id="{AC5DE8DE-CD88-1ABE-6E33-F4E416B51492}"/>
              </a:ext>
            </a:extLst>
          </p:cNvPr>
          <p:cNvGrpSpPr>
            <a:grpSpLocks/>
          </p:cNvGrpSpPr>
          <p:nvPr/>
        </p:nvGrpSpPr>
        <p:grpSpPr bwMode="auto">
          <a:xfrm>
            <a:off x="990600" y="1066800"/>
            <a:ext cx="6731000" cy="5119688"/>
            <a:chOff x="740205" y="1309296"/>
            <a:chExt cx="6640107" cy="5581766"/>
          </a:xfrm>
        </p:grpSpPr>
        <p:grpSp>
          <p:nvGrpSpPr>
            <p:cNvPr id="51204" name="组合 2">
              <a:extLst>
                <a:ext uri="{FF2B5EF4-FFF2-40B4-BE49-F238E27FC236}">
                  <a16:creationId xmlns:a16="http://schemas.microsoft.com/office/drawing/2014/main" id="{CE65DCDA-548F-BE7C-2C5B-CAF9B1FAF9C8}"/>
                </a:ext>
              </a:extLst>
            </p:cNvPr>
            <p:cNvGrpSpPr>
              <a:grpSpLocks/>
            </p:cNvGrpSpPr>
            <p:nvPr/>
          </p:nvGrpSpPr>
          <p:grpSpPr bwMode="auto">
            <a:xfrm>
              <a:off x="1259632" y="1540130"/>
              <a:ext cx="6120680" cy="4889266"/>
              <a:chOff x="1259632" y="1540129"/>
              <a:chExt cx="6264696" cy="5131719"/>
            </a:xfrm>
          </p:grpSpPr>
          <p:pic>
            <p:nvPicPr>
              <p:cNvPr id="51208" name="图片 6">
                <a:extLst>
                  <a:ext uri="{FF2B5EF4-FFF2-40B4-BE49-F238E27FC236}">
                    <a16:creationId xmlns:a16="http://schemas.microsoft.com/office/drawing/2014/main" id="{29DB49AE-DCA8-3475-174D-E1467182B8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1540129"/>
                <a:ext cx="6264696" cy="5131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1209" name="直接连接符 7">
                <a:extLst>
                  <a:ext uri="{FF2B5EF4-FFF2-40B4-BE49-F238E27FC236}">
                    <a16:creationId xmlns:a16="http://schemas.microsoft.com/office/drawing/2014/main" id="{59235625-907C-3D3B-4729-F2BC15C9211F}"/>
                  </a:ext>
                </a:extLst>
              </p:cNvPr>
              <p:cNvCxnSpPr>
                <a:cxnSpLocks noChangeShapeType="1"/>
              </p:cNvCxnSpPr>
              <p:nvPr/>
            </p:nvCxnSpPr>
            <p:spPr bwMode="auto">
              <a:xfrm>
                <a:off x="4487168" y="1901371"/>
                <a:ext cx="12824" cy="4528025"/>
              </a:xfrm>
              <a:prstGeom prst="line">
                <a:avLst/>
              </a:prstGeom>
              <a:noFill/>
              <a:ln w="12700" algn="ctr">
                <a:solidFill>
                  <a:srgbClr val="000000"/>
                </a:solidFill>
                <a:prstDash val="dash"/>
                <a:round/>
                <a:headEnd/>
                <a:tailEnd type="none" w="med" len="sm"/>
              </a:ln>
              <a:extLst>
                <a:ext uri="{909E8E84-426E-40DD-AFC4-6F175D3DCCD1}">
                  <a14:hiddenFill xmlns:a14="http://schemas.microsoft.com/office/drawing/2010/main">
                    <a:noFill/>
                  </a14:hiddenFill>
                </a:ext>
              </a:extLst>
            </p:spPr>
          </p:cxnSp>
        </p:grpSp>
        <p:sp>
          <p:nvSpPr>
            <p:cNvPr id="4" name="文本框 3">
              <a:extLst>
                <a:ext uri="{FF2B5EF4-FFF2-40B4-BE49-F238E27FC236}">
                  <a16:creationId xmlns:a16="http://schemas.microsoft.com/office/drawing/2014/main" id="{F310C6F6-AA0B-AFBB-5C8E-D27EA40DF213}"/>
                </a:ext>
              </a:extLst>
            </p:cNvPr>
            <p:cNvSpPr txBox="1"/>
            <p:nvPr/>
          </p:nvSpPr>
          <p:spPr>
            <a:xfrm>
              <a:off x="740205" y="3753157"/>
              <a:ext cx="504272" cy="462119"/>
            </a:xfrm>
            <a:prstGeom prst="rect">
              <a:avLst/>
            </a:prstGeom>
            <a:noFill/>
          </p:spPr>
          <p:txBody>
            <a:bodyPr>
              <a:spAutoFit/>
            </a:bodyPr>
            <a:lstStyle/>
            <a:p>
              <a:pPr eaLnBrk="1" fontAlgn="auto" hangingPunct="1">
                <a:spcBef>
                  <a:spcPts val="0"/>
                </a:spcBef>
                <a:spcAft>
                  <a:spcPts val="0"/>
                </a:spcAft>
                <a:defRPr/>
              </a:pPr>
              <a:r>
                <a:rPr kumimoji="1" lang="zh-CN" altLang="en-US" sz="2400" kern="0" dirty="0">
                  <a:solidFill>
                    <a:srgbClr val="000000"/>
                  </a:solidFill>
                  <a:latin typeface="Times New Roman" pitchFamily="18" charset="0"/>
                  <a:cs typeface="Tahoma"/>
                </a:rPr>
                <a:t>熵</a:t>
              </a:r>
              <a:endParaRPr kumimoji="1" lang="zh-CN" altLang="en-US" sz="2800" kern="0" dirty="0">
                <a:solidFill>
                  <a:srgbClr val="000000"/>
                </a:solidFill>
                <a:latin typeface="Times New Roman" pitchFamily="18" charset="0"/>
                <a:cs typeface="Tahoma"/>
              </a:endParaRPr>
            </a:p>
          </p:txBody>
        </p:sp>
        <p:sp>
          <p:nvSpPr>
            <p:cNvPr id="5" name="文本框 4">
              <a:extLst>
                <a:ext uri="{FF2B5EF4-FFF2-40B4-BE49-F238E27FC236}">
                  <a16:creationId xmlns:a16="http://schemas.microsoft.com/office/drawing/2014/main" id="{FAF888B9-5E69-D49F-EB52-EFD957BD383A}"/>
                </a:ext>
              </a:extLst>
            </p:cNvPr>
            <p:cNvSpPr txBox="1">
              <a:spLocks noRot="1" noChangeAspect="1" noMove="1" noResize="1" noEditPoints="1" noAdjustHandles="1" noChangeArrowheads="1" noChangeShapeType="1" noTextEdit="1"/>
            </p:cNvSpPr>
            <p:nvPr/>
          </p:nvSpPr>
          <p:spPr>
            <a:xfrm>
              <a:off x="3958400" y="6429397"/>
              <a:ext cx="1368152" cy="461665"/>
            </a:xfrm>
            <a:prstGeom prst="rect">
              <a:avLst/>
            </a:prstGeom>
            <a:blipFill>
              <a:blip r:embed="rId4"/>
              <a:stretch>
                <a:fillRect l="-7048" t="-15714" b="-35714"/>
              </a:stretch>
            </a:blipFill>
          </p:spPr>
          <p:txBody>
            <a:bodyPr/>
            <a:lstStyle/>
            <a:p>
              <a:pPr>
                <a:defRPr/>
              </a:pPr>
              <a:r>
                <a:rPr lang="zh-CN" altLang="en-US">
                  <a:noFill/>
                </a:rPr>
                <a:t> </a:t>
              </a:r>
            </a:p>
          </p:txBody>
        </p:sp>
        <p:sp>
          <p:nvSpPr>
            <p:cNvPr id="6" name="文本框 5">
              <a:extLst>
                <a:ext uri="{FF2B5EF4-FFF2-40B4-BE49-F238E27FC236}">
                  <a16:creationId xmlns:a16="http://schemas.microsoft.com/office/drawing/2014/main" id="{85538677-9DDF-4798-B1C6-CB6A055CC099}"/>
                </a:ext>
              </a:extLst>
            </p:cNvPr>
            <p:cNvSpPr txBox="1"/>
            <p:nvPr/>
          </p:nvSpPr>
          <p:spPr>
            <a:xfrm>
              <a:off x="3131584" y="1309296"/>
              <a:ext cx="2807950" cy="462119"/>
            </a:xfrm>
            <a:prstGeom prst="rect">
              <a:avLst/>
            </a:prstGeom>
            <a:solidFill>
              <a:srgbClr val="FFFFFF"/>
            </a:solidFill>
          </p:spPr>
          <p:txBody>
            <a:bodyPr>
              <a:spAutoFit/>
            </a:bodyPr>
            <a:lstStyle/>
            <a:p>
              <a:pPr eaLnBrk="1" fontAlgn="auto" hangingPunct="1">
                <a:spcBef>
                  <a:spcPts val="0"/>
                </a:spcBef>
                <a:spcAft>
                  <a:spcPts val="0"/>
                </a:spcAft>
                <a:defRPr/>
              </a:pPr>
              <a:r>
                <a:rPr kumimoji="1" lang="zh-CN" altLang="en-US" sz="2400" kern="0" dirty="0">
                  <a:solidFill>
                    <a:srgbClr val="000000"/>
                  </a:solidFill>
                  <a:latin typeface="Times New Roman" pitchFamily="18" charset="0"/>
                  <a:cs typeface="Tahoma"/>
                </a:rPr>
                <a:t>二元熵函数曲线</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AC6FC8D7-1666-EEEA-38FD-0589A81B7219}"/>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mc:Choice xmlns:a14="http://schemas.microsoft.com/office/drawing/2010/main" Requires="a14">
          <p:sp>
            <p:nvSpPr>
              <p:cNvPr id="3" name="Rectangle 2">
                <a:hlinkClick r:id="rId3" action="ppaction://hlinksldjump"/>
                <a:extLst>
                  <a:ext uri="{FF2B5EF4-FFF2-40B4-BE49-F238E27FC236}">
                    <a16:creationId xmlns:a16="http://schemas.microsoft.com/office/drawing/2014/main" id="{341DB8C2-F579-3818-9E50-A25D182E5402}"/>
                  </a:ext>
                </a:extLst>
              </p:cNvPr>
              <p:cNvSpPr>
                <a:spLocks noChangeArrowheads="1"/>
              </p:cNvSpPr>
              <p:nvPr/>
            </p:nvSpPr>
            <p:spPr bwMode="auto">
              <a:xfrm>
                <a:off x="212271" y="609959"/>
                <a:ext cx="8746671" cy="5638082"/>
              </a:xfrm>
              <a:prstGeom prst="rect">
                <a:avLst/>
              </a:prstGeom>
              <a:noFill/>
              <a:ln w="9525">
                <a:noFill/>
                <a:miter lim="800000"/>
                <a:headEnd/>
                <a:tailEnd/>
              </a:ln>
              <a:effectLst/>
            </p:spPr>
            <p:txBody>
              <a:bodyPr wrap="square">
                <a:spAutoFit/>
              </a:bodyPr>
              <a:lstStyle/>
              <a:p>
                <a:pPr marL="457200" indent="-457200" eaLnBrk="1" hangingPunct="1">
                  <a:lnSpc>
                    <a:spcPct val="150000"/>
                  </a:lnSpc>
                  <a:buFont typeface="Wingdings" panose="05000000000000000000" pitchFamily="2" charset="2"/>
                  <a:buChar char="Ø"/>
                  <a:defRPr/>
                </a:pPr>
                <a:r>
                  <a:rPr lang="zh-CN" altLang="en-US" sz="2900" dirty="0">
                    <a:solidFill>
                      <a:srgbClr val="C00000"/>
                    </a:solidFill>
                    <a:latin typeface="宋体" pitchFamily="2" charset="-122"/>
                    <a:cs typeface="Tahoma"/>
                  </a:rPr>
                  <a:t>熵函数</a:t>
                </a:r>
                <a14:m>
                  <m:oMath xmlns:m="http://schemas.openxmlformats.org/officeDocument/2006/math">
                    <m:r>
                      <a:rPr lang="en-US" altLang="zh-CN" sz="2900" b="0" i="1" smtClean="0">
                        <a:solidFill>
                          <a:srgbClr val="C00000"/>
                        </a:solidFill>
                        <a:latin typeface="Cambria Math" panose="02040503050406030204" pitchFamily="18" charset="0"/>
                      </a:rPr>
                      <m:t> </m:t>
                    </m:r>
                    <m:r>
                      <a:rPr lang="en-US" altLang="zh-CN" sz="2900" b="0" i="1" smtClean="0">
                        <a:solidFill>
                          <a:srgbClr val="C00000"/>
                        </a:solidFill>
                        <a:latin typeface="Cambria Math" panose="02040503050406030204" pitchFamily="18" charset="0"/>
                      </a:rPr>
                      <m:t>𝐻</m:t>
                    </m:r>
                    <m:d>
                      <m:dPr>
                        <m:ctrlPr>
                          <a:rPr lang="en-US" altLang="zh-CN" sz="2900" i="1" smtClean="0">
                            <a:solidFill>
                              <a:srgbClr val="C00000"/>
                            </a:solidFill>
                            <a:latin typeface="Cambria Math" panose="02040503050406030204" pitchFamily="18" charset="0"/>
                          </a:rPr>
                        </m:ctrlPr>
                      </m:dPr>
                      <m:e>
                        <m:acc>
                          <m:accPr>
                            <m:chr m:val="̅"/>
                            <m:ctrlPr>
                              <a:rPr lang="en-US" altLang="zh-CN" sz="2900" i="1" smtClean="0">
                                <a:solidFill>
                                  <a:srgbClr val="C00000"/>
                                </a:solidFill>
                                <a:latin typeface="Cambria Math" panose="02040503050406030204" pitchFamily="18" charset="0"/>
                                <a:cs typeface="Times New Roman" pitchFamily="18" charset="0"/>
                              </a:rPr>
                            </m:ctrlPr>
                          </m:accPr>
                          <m:e>
                            <m:r>
                              <a:rPr lang="en-US" altLang="zh-CN" sz="2900" b="0" i="1">
                                <a:solidFill>
                                  <a:srgbClr val="C00000"/>
                                </a:solidFill>
                                <a:latin typeface="Cambria Math" panose="02040503050406030204" pitchFamily="18" charset="0"/>
                                <a:cs typeface="Times New Roman" pitchFamily="18" charset="0"/>
                              </a:rPr>
                              <m:t>𝑝</m:t>
                            </m:r>
                          </m:e>
                        </m:acc>
                      </m:e>
                    </m:d>
                    <m:r>
                      <a:rPr lang="en-US" altLang="zh-CN" sz="2900" b="0" i="1" smtClean="0">
                        <a:solidFill>
                          <a:srgbClr val="C00000"/>
                        </a:solidFill>
                        <a:latin typeface="Cambria Math" panose="02040503050406030204" pitchFamily="18" charset="0"/>
                      </a:rPr>
                      <m:t> </m:t>
                    </m:r>
                  </m:oMath>
                </a14:m>
                <a:r>
                  <a:rPr lang="zh-CN" altLang="en-US" sz="2900" dirty="0">
                    <a:solidFill>
                      <a:srgbClr val="C00000"/>
                    </a:solidFill>
                    <a:latin typeface="宋体" pitchFamily="2" charset="-122"/>
                    <a:cs typeface="Tahoma"/>
                  </a:rPr>
                  <a:t>的性质</a:t>
                </a:r>
                <a:r>
                  <a:rPr lang="en-US" altLang="zh-CN" sz="2900" dirty="0">
                    <a:solidFill>
                      <a:srgbClr val="C00000"/>
                    </a:solidFill>
                    <a:latin typeface="宋体" pitchFamily="2" charset="-122"/>
                    <a:cs typeface="Tahoma"/>
                  </a:rPr>
                  <a:t>:</a:t>
                </a:r>
              </a:p>
              <a:p>
                <a:pPr marL="514350" indent="-514350" eaLnBrk="1" hangingPunct="1">
                  <a:lnSpc>
                    <a:spcPct val="150000"/>
                  </a:lnSpc>
                  <a:buFont typeface="+mj-lt"/>
                  <a:buAutoNum type="arabicPeriod"/>
                  <a:defRPr/>
                </a:pPr>
                <a:r>
                  <a:rPr lang="zh-CN" altLang="en-US" sz="2900" dirty="0">
                    <a:solidFill>
                      <a:srgbClr val="C00000"/>
                    </a:solidFill>
                    <a:latin typeface="宋体" pitchFamily="2" charset="-122"/>
                    <a:cs typeface="Tahoma"/>
                  </a:rPr>
                  <a:t>非负性：</a:t>
                </a:r>
                <a14:m>
                  <m:oMath xmlns:m="http://schemas.openxmlformats.org/officeDocument/2006/math">
                    <m:r>
                      <a:rPr lang="en-US" altLang="zh-CN" sz="2900" b="0" i="1" smtClean="0">
                        <a:solidFill>
                          <a:srgbClr val="000000"/>
                        </a:solidFill>
                        <a:latin typeface="Cambria Math" panose="02040503050406030204" pitchFamily="18" charset="0"/>
                      </a:rPr>
                      <m:t>𝐻</m:t>
                    </m:r>
                    <m:d>
                      <m:dPr>
                        <m:ctrlPr>
                          <a:rPr lang="en-US" altLang="zh-CN" sz="2900" i="1">
                            <a:solidFill>
                              <a:srgbClr val="000000"/>
                            </a:solidFill>
                            <a:latin typeface="Cambria Math" panose="02040503050406030204" pitchFamily="18" charset="0"/>
                          </a:rPr>
                        </m:ctrlPr>
                      </m:dPr>
                      <m:e>
                        <m:acc>
                          <m:accPr>
                            <m:chr m:val="̅"/>
                            <m:ctrlPr>
                              <a:rPr lang="en-US" altLang="zh-CN" sz="2900" i="1">
                                <a:solidFill>
                                  <a:srgbClr val="000000"/>
                                </a:solidFill>
                                <a:latin typeface="Cambria Math" panose="02040503050406030204" pitchFamily="18" charset="0"/>
                                <a:cs typeface="Times New Roman" pitchFamily="18" charset="0"/>
                              </a:rPr>
                            </m:ctrlPr>
                          </m:accPr>
                          <m:e>
                            <m:r>
                              <a:rPr lang="en-US" altLang="zh-CN" sz="2900" b="0" i="1">
                                <a:solidFill>
                                  <a:srgbClr val="000000"/>
                                </a:solidFill>
                                <a:latin typeface="Cambria Math" panose="02040503050406030204" pitchFamily="18" charset="0"/>
                                <a:cs typeface="Times New Roman" pitchFamily="18" charset="0"/>
                              </a:rPr>
                              <m:t>𝑝</m:t>
                            </m:r>
                          </m:e>
                        </m:acc>
                      </m:e>
                    </m:d>
                    <m:r>
                      <a:rPr lang="en-US" altLang="zh-CN" sz="2900" b="0" i="1" smtClean="0">
                        <a:solidFill>
                          <a:srgbClr val="000000"/>
                        </a:solidFill>
                        <a:latin typeface="Cambria Math" panose="02040503050406030204" pitchFamily="18" charset="0"/>
                      </a:rPr>
                      <m:t>≥0</m:t>
                    </m:r>
                  </m:oMath>
                </a14:m>
                <a:r>
                  <a:rPr lang="zh-CN" altLang="en-US" sz="2900" dirty="0">
                    <a:latin typeface="宋体" pitchFamily="2" charset="-122"/>
                    <a:cs typeface="Tahoma"/>
                  </a:rPr>
                  <a:t>。</a:t>
                </a:r>
                <a:endParaRPr lang="en-US" altLang="zh-CN" sz="2900" dirty="0">
                  <a:latin typeface="宋体" pitchFamily="2" charset="-122"/>
                  <a:cs typeface="Tahoma"/>
                </a:endParaRPr>
              </a:p>
              <a:p>
                <a:pPr eaLnBrk="1" hangingPunct="1">
                  <a:lnSpc>
                    <a:spcPct val="150000"/>
                  </a:lnSpc>
                  <a:defRPr/>
                </a:pPr>
                <a:r>
                  <a:rPr lang="zh-CN" altLang="en-US" sz="2900" b="1" dirty="0">
                    <a:solidFill>
                      <a:srgbClr val="000000"/>
                    </a:solidFill>
                    <a:latin typeface="宋体" pitchFamily="2" charset="-122"/>
                    <a:cs typeface="Tahoma"/>
                  </a:rPr>
                  <a:t>非负性证明</a:t>
                </a:r>
                <a14:m>
                  <m:oMath xmlns:m="http://schemas.openxmlformats.org/officeDocument/2006/math">
                    <m:r>
                      <a:rPr lang="en-US" altLang="zh-CN" sz="2900" b="1" i="1" dirty="0" smtClean="0">
                        <a:solidFill>
                          <a:srgbClr val="000000"/>
                        </a:solidFill>
                        <a:latin typeface="Cambria Math" panose="02040503050406030204" pitchFamily="18" charset="0"/>
                      </a:rPr>
                      <m:t>.  </m:t>
                    </m:r>
                    <m:r>
                      <a:rPr kumimoji="1" lang="en-US" altLang="zh-CN" sz="2900" b="0" i="1">
                        <a:solidFill>
                          <a:srgbClr val="000000"/>
                        </a:solidFill>
                        <a:latin typeface="Cambria Math" panose="02040503050406030204" pitchFamily="18" charset="0"/>
                      </a:rPr>
                      <m:t>𝐻</m:t>
                    </m:r>
                    <m:d>
                      <m:dPr>
                        <m:ctrlPr>
                          <a:rPr kumimoji="1" lang="en-US" altLang="zh-CN" sz="2900" i="1">
                            <a:solidFill>
                              <a:srgbClr val="000000"/>
                            </a:solidFill>
                            <a:latin typeface="Cambria Math" panose="02040503050406030204" pitchFamily="18" charset="0"/>
                          </a:rPr>
                        </m:ctrlPr>
                      </m:dPr>
                      <m:e>
                        <m:acc>
                          <m:accPr>
                            <m:chr m:val="̅"/>
                            <m:ctrlPr>
                              <a:rPr lang="en-US" altLang="zh-CN" sz="2900" i="1">
                                <a:solidFill>
                                  <a:srgbClr val="000000"/>
                                </a:solidFill>
                                <a:latin typeface="Cambria Math" panose="02040503050406030204" pitchFamily="18" charset="0"/>
                                <a:cs typeface="Times New Roman" pitchFamily="18" charset="0"/>
                              </a:rPr>
                            </m:ctrlPr>
                          </m:accPr>
                          <m:e>
                            <m:r>
                              <a:rPr lang="en-US" altLang="zh-CN" sz="2900" b="0" i="1">
                                <a:solidFill>
                                  <a:srgbClr val="000000"/>
                                </a:solidFill>
                                <a:latin typeface="Cambria Math" panose="02040503050406030204" pitchFamily="18" charset="0"/>
                                <a:cs typeface="Times New Roman" pitchFamily="18" charset="0"/>
                              </a:rPr>
                              <m:t>𝑝</m:t>
                            </m:r>
                          </m:e>
                        </m:acc>
                      </m:e>
                    </m:d>
                    <m:r>
                      <a:rPr kumimoji="1" lang="en-US" altLang="zh-CN" sz="2900" b="0" i="1">
                        <a:solidFill>
                          <a:srgbClr val="000000"/>
                        </a:solidFill>
                        <a:latin typeface="Cambria Math" panose="02040503050406030204" pitchFamily="18" charset="0"/>
                      </a:rPr>
                      <m:t>=−</m:t>
                    </m:r>
                    <m:nary>
                      <m:naryPr>
                        <m:chr m:val="∑"/>
                        <m:limLoc m:val="subSup"/>
                        <m:ctrlPr>
                          <a:rPr kumimoji="1" lang="en-US" altLang="zh-CN" sz="2900" i="1">
                            <a:solidFill>
                              <a:srgbClr val="000000"/>
                            </a:solidFill>
                            <a:latin typeface="Cambria Math" panose="02040503050406030204" pitchFamily="18" charset="0"/>
                          </a:rPr>
                        </m:ctrlPr>
                      </m:naryPr>
                      <m:sub>
                        <m:r>
                          <m:rPr>
                            <m:brk m:alnAt="25"/>
                          </m:rPr>
                          <a:rPr kumimoji="1" lang="en-US" altLang="zh-CN" sz="2900" b="0" i="1">
                            <a:solidFill>
                              <a:srgbClr val="000000"/>
                            </a:solidFill>
                            <a:latin typeface="Cambria Math" panose="02040503050406030204" pitchFamily="18" charset="0"/>
                          </a:rPr>
                          <m:t>𝑖</m:t>
                        </m:r>
                        <m:r>
                          <a:rPr kumimoji="1" lang="en-US" altLang="zh-CN" sz="2900" b="0" i="1">
                            <a:solidFill>
                              <a:srgbClr val="000000"/>
                            </a:solidFill>
                            <a:latin typeface="Cambria Math" panose="02040503050406030204" pitchFamily="18" charset="0"/>
                          </a:rPr>
                          <m:t>=1</m:t>
                        </m:r>
                      </m:sub>
                      <m:sup>
                        <m:r>
                          <a:rPr kumimoji="1" lang="en-US" altLang="zh-CN" sz="2900" b="0" i="1">
                            <a:solidFill>
                              <a:srgbClr val="000000"/>
                            </a:solidFill>
                            <a:latin typeface="Cambria Math" panose="02040503050406030204" pitchFamily="18" charset="0"/>
                          </a:rPr>
                          <m:t>𝑞</m:t>
                        </m:r>
                      </m:sup>
                      <m:e>
                        <m:sSub>
                          <m:sSubPr>
                            <m:ctrlPr>
                              <a:rPr kumimoji="1" lang="en-US" altLang="zh-CN" sz="2900" i="1">
                                <a:solidFill>
                                  <a:srgbClr val="000000"/>
                                </a:solidFill>
                                <a:latin typeface="Cambria Math" panose="02040503050406030204" pitchFamily="18" charset="0"/>
                              </a:rPr>
                            </m:ctrlPr>
                          </m:sSubPr>
                          <m:e>
                            <m:r>
                              <a:rPr kumimoji="1" lang="en-US" altLang="zh-CN" sz="2900" b="0" i="1">
                                <a:solidFill>
                                  <a:srgbClr val="000000"/>
                                </a:solidFill>
                                <a:latin typeface="Cambria Math" panose="02040503050406030204" pitchFamily="18" charset="0"/>
                              </a:rPr>
                              <m:t>𝑝</m:t>
                            </m:r>
                          </m:e>
                          <m:sub>
                            <m:r>
                              <a:rPr kumimoji="1" lang="en-US" altLang="zh-CN" sz="2900" b="0" i="1">
                                <a:solidFill>
                                  <a:srgbClr val="000000"/>
                                </a:solidFill>
                                <a:latin typeface="Cambria Math" panose="02040503050406030204" pitchFamily="18" charset="0"/>
                              </a:rPr>
                              <m:t>𝑖</m:t>
                            </m:r>
                          </m:sub>
                        </m:sSub>
                      </m:e>
                    </m:nary>
                    <m:r>
                      <m:rPr>
                        <m:sty m:val="p"/>
                      </m:rPr>
                      <a:rPr lang="en-US" altLang="zh-CN" sz="2900" b="0" i="1">
                        <a:solidFill>
                          <a:srgbClr val="000000"/>
                        </a:solidFill>
                        <a:latin typeface="Cambria Math" panose="02040503050406030204" pitchFamily="18" charset="0"/>
                        <a:cs typeface="Times New Roman" pitchFamily="18" charset="0"/>
                      </a:rPr>
                      <m:t>log</m:t>
                    </m:r>
                    <m:r>
                      <a:rPr lang="en-US" altLang="zh-CN" sz="2900" b="0">
                        <a:solidFill>
                          <a:srgbClr val="000000"/>
                        </a:solidFill>
                        <a:latin typeface="Cambria Math" panose="02040503050406030204" pitchFamily="18" charset="0"/>
                        <a:cs typeface="Times New Roman" pitchFamily="18" charset="0"/>
                      </a:rPr>
                      <m:t> </m:t>
                    </m:r>
                    <m:d>
                      <m:dPr>
                        <m:ctrlPr>
                          <a:rPr lang="en-US" altLang="zh-CN" sz="2900" i="1">
                            <a:solidFill>
                              <a:srgbClr val="000000"/>
                            </a:solidFill>
                            <a:latin typeface="Cambria Math" panose="02040503050406030204" pitchFamily="18" charset="0"/>
                            <a:cs typeface="Times New Roman" pitchFamily="18" charset="0"/>
                          </a:rPr>
                        </m:ctrlPr>
                      </m:dPr>
                      <m:e>
                        <m:sSub>
                          <m:sSubPr>
                            <m:ctrlPr>
                              <a:rPr lang="en-US" altLang="zh-CN" sz="2900" i="1">
                                <a:solidFill>
                                  <a:srgbClr val="000000"/>
                                </a:solidFill>
                                <a:latin typeface="Cambria Math" panose="02040503050406030204" pitchFamily="18" charset="0"/>
                                <a:cs typeface="Times New Roman" pitchFamily="18" charset="0"/>
                              </a:rPr>
                            </m:ctrlPr>
                          </m:sSubPr>
                          <m:e>
                            <m:r>
                              <a:rPr lang="en-US" altLang="zh-CN" sz="2900" b="0" i="1">
                                <a:solidFill>
                                  <a:srgbClr val="000000"/>
                                </a:solidFill>
                                <a:latin typeface="Cambria Math" panose="02040503050406030204" pitchFamily="18" charset="0"/>
                                <a:cs typeface="Times New Roman" pitchFamily="18" charset="0"/>
                              </a:rPr>
                              <m:t>𝑝</m:t>
                            </m:r>
                          </m:e>
                          <m:sub>
                            <m:r>
                              <a:rPr lang="en-US" altLang="zh-CN" sz="2900" b="0" i="1">
                                <a:solidFill>
                                  <a:srgbClr val="000000"/>
                                </a:solidFill>
                                <a:latin typeface="Cambria Math" panose="02040503050406030204" pitchFamily="18" charset="0"/>
                                <a:cs typeface="Times New Roman" pitchFamily="18" charset="0"/>
                              </a:rPr>
                              <m:t>𝑖</m:t>
                            </m:r>
                          </m:sub>
                        </m:sSub>
                      </m:e>
                    </m:d>
                  </m:oMath>
                </a14:m>
                <a:r>
                  <a:rPr lang="zh-CN" altLang="en-US" sz="2900" dirty="0">
                    <a:solidFill>
                      <a:srgbClr val="000000"/>
                    </a:solidFill>
                    <a:latin typeface="宋体" pitchFamily="2" charset="-122"/>
                    <a:cs typeface="Tahoma"/>
                  </a:rPr>
                  <a:t>，由于</a:t>
                </a:r>
                <a14:m>
                  <m:oMath xmlns:m="http://schemas.openxmlformats.org/officeDocument/2006/math">
                    <m:r>
                      <a:rPr lang="en-US" altLang="zh-CN" sz="2900" b="0" smtClean="0">
                        <a:solidFill>
                          <a:srgbClr val="000000"/>
                        </a:solidFill>
                        <a:latin typeface="Cambria Math" panose="02040503050406030204" pitchFamily="18" charset="0"/>
                        <a:cs typeface="Times New Roman" pitchFamily="18" charset="0"/>
                      </a:rPr>
                      <m:t> </m:t>
                    </m:r>
                    <m:r>
                      <a:rPr lang="en-US" altLang="zh-CN" sz="2900" b="0" i="1" smtClean="0">
                        <a:solidFill>
                          <a:srgbClr val="000000"/>
                        </a:solidFill>
                        <a:latin typeface="Cambria Math" panose="02040503050406030204" pitchFamily="18" charset="0"/>
                        <a:cs typeface="Times New Roman" pitchFamily="18" charset="0"/>
                      </a:rPr>
                      <m:t>0≤</m:t>
                    </m:r>
                    <m:sSub>
                      <m:sSubPr>
                        <m:ctrlPr>
                          <a:rPr lang="en-US" altLang="zh-CN" sz="2900" i="1">
                            <a:solidFill>
                              <a:srgbClr val="000000"/>
                            </a:solidFill>
                            <a:latin typeface="Cambria Math" panose="02040503050406030204" pitchFamily="18" charset="0"/>
                            <a:cs typeface="Times New Roman" pitchFamily="18" charset="0"/>
                          </a:rPr>
                        </m:ctrlPr>
                      </m:sSubPr>
                      <m:e>
                        <m:r>
                          <a:rPr lang="en-US" altLang="zh-CN" sz="2900" b="0" i="1">
                            <a:solidFill>
                              <a:srgbClr val="000000"/>
                            </a:solidFill>
                            <a:latin typeface="Cambria Math" panose="02040503050406030204" pitchFamily="18" charset="0"/>
                            <a:cs typeface="Times New Roman" pitchFamily="18" charset="0"/>
                          </a:rPr>
                          <m:t>𝑝</m:t>
                        </m:r>
                      </m:e>
                      <m:sub>
                        <m:r>
                          <a:rPr lang="en-US" altLang="zh-CN" sz="2900" b="0" i="1">
                            <a:solidFill>
                              <a:srgbClr val="000000"/>
                            </a:solidFill>
                            <a:latin typeface="Cambria Math" panose="02040503050406030204" pitchFamily="18" charset="0"/>
                            <a:cs typeface="Times New Roman" pitchFamily="18" charset="0"/>
                          </a:rPr>
                          <m:t>𝑖</m:t>
                        </m:r>
                      </m:sub>
                    </m:sSub>
                    <m:r>
                      <a:rPr lang="en-US" altLang="zh-CN" sz="2900" b="0" i="1" smtClean="0">
                        <a:solidFill>
                          <a:srgbClr val="000000"/>
                        </a:solidFill>
                        <a:latin typeface="Cambria Math" panose="02040503050406030204" pitchFamily="18" charset="0"/>
                        <a:cs typeface="Times New Roman" pitchFamily="18" charset="0"/>
                      </a:rPr>
                      <m:t>≤1</m:t>
                    </m:r>
                  </m:oMath>
                </a14:m>
                <a:r>
                  <a:rPr lang="zh-CN" altLang="en-US" sz="2900" dirty="0">
                    <a:solidFill>
                      <a:srgbClr val="000000"/>
                    </a:solidFill>
                    <a:latin typeface="宋体" pitchFamily="2" charset="-122"/>
                    <a:cs typeface="Tahoma"/>
                  </a:rPr>
                  <a:t>，因此</a:t>
                </a:r>
                <a14:m>
                  <m:oMath xmlns:m="http://schemas.openxmlformats.org/officeDocument/2006/math">
                    <m:r>
                      <a:rPr lang="en-US" altLang="zh-CN" sz="2900" b="0" smtClean="0">
                        <a:solidFill>
                          <a:srgbClr val="000000"/>
                        </a:solidFill>
                        <a:latin typeface="Cambria Math" panose="02040503050406030204" pitchFamily="18" charset="0"/>
                        <a:cs typeface="Times New Roman" pitchFamily="18" charset="0"/>
                      </a:rPr>
                      <m:t> </m:t>
                    </m:r>
                    <m:r>
                      <m:rPr>
                        <m:sty m:val="p"/>
                      </m:rPr>
                      <a:rPr lang="en-US" altLang="zh-CN" sz="2900" b="0" i="1">
                        <a:solidFill>
                          <a:srgbClr val="000000"/>
                        </a:solidFill>
                        <a:latin typeface="Cambria Math" panose="02040503050406030204" pitchFamily="18" charset="0"/>
                        <a:cs typeface="Times New Roman" pitchFamily="18" charset="0"/>
                      </a:rPr>
                      <m:t>log</m:t>
                    </m:r>
                    <m:r>
                      <a:rPr lang="en-US" altLang="zh-CN" sz="2900" b="0">
                        <a:solidFill>
                          <a:srgbClr val="000000"/>
                        </a:solidFill>
                        <a:latin typeface="Cambria Math" panose="02040503050406030204" pitchFamily="18" charset="0"/>
                        <a:cs typeface="Times New Roman" pitchFamily="18" charset="0"/>
                      </a:rPr>
                      <m:t> </m:t>
                    </m:r>
                    <m:d>
                      <m:dPr>
                        <m:ctrlPr>
                          <a:rPr lang="en-US" altLang="zh-CN" sz="2900" i="1">
                            <a:solidFill>
                              <a:srgbClr val="000000"/>
                            </a:solidFill>
                            <a:latin typeface="Cambria Math" panose="02040503050406030204" pitchFamily="18" charset="0"/>
                            <a:cs typeface="Times New Roman" pitchFamily="18" charset="0"/>
                          </a:rPr>
                        </m:ctrlPr>
                      </m:dPr>
                      <m:e>
                        <m:sSub>
                          <m:sSubPr>
                            <m:ctrlPr>
                              <a:rPr lang="en-US" altLang="zh-CN" sz="2900" i="1">
                                <a:solidFill>
                                  <a:srgbClr val="000000"/>
                                </a:solidFill>
                                <a:latin typeface="Cambria Math" panose="02040503050406030204" pitchFamily="18" charset="0"/>
                                <a:cs typeface="Times New Roman" pitchFamily="18" charset="0"/>
                              </a:rPr>
                            </m:ctrlPr>
                          </m:sSubPr>
                          <m:e>
                            <m:r>
                              <a:rPr lang="en-US" altLang="zh-CN" sz="2900" b="0" i="1">
                                <a:solidFill>
                                  <a:srgbClr val="000000"/>
                                </a:solidFill>
                                <a:latin typeface="Cambria Math" panose="02040503050406030204" pitchFamily="18" charset="0"/>
                                <a:cs typeface="Times New Roman" pitchFamily="18" charset="0"/>
                              </a:rPr>
                              <m:t>𝑝</m:t>
                            </m:r>
                          </m:e>
                          <m:sub>
                            <m:r>
                              <a:rPr lang="en-US" altLang="zh-CN" sz="2900" b="0" i="1">
                                <a:solidFill>
                                  <a:srgbClr val="000000"/>
                                </a:solidFill>
                                <a:latin typeface="Cambria Math" panose="02040503050406030204" pitchFamily="18" charset="0"/>
                                <a:cs typeface="Times New Roman" pitchFamily="18" charset="0"/>
                              </a:rPr>
                              <m:t>𝑖</m:t>
                            </m:r>
                          </m:sub>
                        </m:sSub>
                      </m:e>
                    </m:d>
                    <m:r>
                      <a:rPr lang="en-US" altLang="zh-CN" sz="2900" b="0" i="1" smtClean="0">
                        <a:solidFill>
                          <a:srgbClr val="000000"/>
                        </a:solidFill>
                        <a:latin typeface="Cambria Math" panose="02040503050406030204" pitchFamily="18" charset="0"/>
                        <a:cs typeface="Times New Roman" pitchFamily="18" charset="0"/>
                      </a:rPr>
                      <m:t>≤0</m:t>
                    </m:r>
                  </m:oMath>
                </a14:m>
                <a:r>
                  <a:rPr lang="zh-CN" altLang="en-US" sz="2900" dirty="0">
                    <a:solidFill>
                      <a:srgbClr val="000000"/>
                    </a:solidFill>
                    <a:latin typeface="宋体" pitchFamily="2" charset="-122"/>
                    <a:cs typeface="Tahoma"/>
                  </a:rPr>
                  <a:t>，即</a:t>
                </a:r>
                <a14:m>
                  <m:oMath xmlns:m="http://schemas.openxmlformats.org/officeDocument/2006/math">
                    <m:r>
                      <a:rPr kumimoji="1" lang="en-US" altLang="zh-CN" sz="2900" b="0" smtClean="0">
                        <a:solidFill>
                          <a:srgbClr val="000000"/>
                        </a:solidFill>
                        <a:latin typeface="Cambria Math" panose="02040503050406030204" pitchFamily="18" charset="0"/>
                      </a:rPr>
                      <m:t> </m:t>
                    </m:r>
                    <m:r>
                      <a:rPr kumimoji="1" lang="en-US" altLang="zh-CN" sz="2900" b="0" i="1">
                        <a:solidFill>
                          <a:srgbClr val="000000"/>
                        </a:solidFill>
                        <a:latin typeface="Cambria Math" panose="02040503050406030204" pitchFamily="18" charset="0"/>
                      </a:rPr>
                      <m:t>𝐻</m:t>
                    </m:r>
                    <m:d>
                      <m:dPr>
                        <m:ctrlPr>
                          <a:rPr kumimoji="1" lang="en-US" altLang="zh-CN" sz="2900" i="1">
                            <a:solidFill>
                              <a:srgbClr val="000000"/>
                            </a:solidFill>
                            <a:latin typeface="Cambria Math" panose="02040503050406030204" pitchFamily="18" charset="0"/>
                          </a:rPr>
                        </m:ctrlPr>
                      </m:dPr>
                      <m:e>
                        <m:acc>
                          <m:accPr>
                            <m:chr m:val="̅"/>
                            <m:ctrlPr>
                              <a:rPr lang="en-US" altLang="zh-CN" sz="2900" i="1">
                                <a:solidFill>
                                  <a:srgbClr val="000000"/>
                                </a:solidFill>
                                <a:latin typeface="Cambria Math" panose="02040503050406030204" pitchFamily="18" charset="0"/>
                                <a:cs typeface="Times New Roman" pitchFamily="18" charset="0"/>
                              </a:rPr>
                            </m:ctrlPr>
                          </m:accPr>
                          <m:e>
                            <m:r>
                              <a:rPr lang="en-US" altLang="zh-CN" sz="2900" b="0" i="1">
                                <a:solidFill>
                                  <a:srgbClr val="000000"/>
                                </a:solidFill>
                                <a:latin typeface="Cambria Math" panose="02040503050406030204" pitchFamily="18" charset="0"/>
                                <a:cs typeface="Times New Roman" pitchFamily="18" charset="0"/>
                              </a:rPr>
                              <m:t>𝑝</m:t>
                            </m:r>
                          </m:e>
                        </m:acc>
                      </m:e>
                    </m:d>
                    <m:r>
                      <a:rPr kumimoji="1" lang="en-US" altLang="zh-CN" sz="2900" b="0" i="1" smtClean="0">
                        <a:solidFill>
                          <a:srgbClr val="000000"/>
                        </a:solidFill>
                        <a:latin typeface="Cambria Math" panose="02040503050406030204" pitchFamily="18" charset="0"/>
                      </a:rPr>
                      <m:t>≥0</m:t>
                    </m:r>
                  </m:oMath>
                </a14:m>
                <a:r>
                  <a:rPr lang="zh-CN" altLang="en-US" sz="2900" dirty="0">
                    <a:solidFill>
                      <a:srgbClr val="000000"/>
                    </a:solidFill>
                    <a:latin typeface="宋体" pitchFamily="2" charset="-122"/>
                    <a:cs typeface="Tahoma"/>
                  </a:rPr>
                  <a:t>。</a:t>
                </a:r>
                <a:endParaRPr lang="en-US" altLang="zh-CN" sz="2900" dirty="0">
                  <a:solidFill>
                    <a:srgbClr val="000000"/>
                  </a:solidFill>
                  <a:latin typeface="宋体" pitchFamily="2" charset="-122"/>
                  <a:cs typeface="Tahoma"/>
                </a:endParaRPr>
              </a:p>
              <a:p>
                <a:pPr marL="514350" indent="-514350" eaLnBrk="1" hangingPunct="1">
                  <a:lnSpc>
                    <a:spcPct val="150000"/>
                  </a:lnSpc>
                  <a:buFont typeface="+mj-lt"/>
                  <a:buAutoNum type="arabicPeriod" startAt="2"/>
                  <a:defRPr/>
                </a:pPr>
                <a:r>
                  <a:rPr lang="zh-CN" altLang="en-US" sz="2900" dirty="0">
                    <a:solidFill>
                      <a:srgbClr val="C00000"/>
                    </a:solidFill>
                    <a:latin typeface="宋体" pitchFamily="2" charset="-122"/>
                    <a:cs typeface="Tahoma"/>
                  </a:rPr>
                  <a:t>对称性：</a:t>
                </a:r>
                <a:endParaRPr lang="en-US" altLang="zh-CN" sz="2900" dirty="0">
                  <a:solidFill>
                    <a:srgbClr val="C00000"/>
                  </a:solidFill>
                  <a:latin typeface="宋体" pitchFamily="2" charset="-122"/>
                  <a:cs typeface="Tahoma"/>
                </a:endParaRPr>
              </a:p>
              <a:p>
                <a:pPr eaLnBrk="1" hangingPunct="1">
                  <a:lnSpc>
                    <a:spcPct val="150000"/>
                  </a:lnSpc>
                  <a:defRPr/>
                </a:pPr>
                <a:r>
                  <a:rPr lang="en-US" altLang="zh-CN" sz="2900" dirty="0">
                    <a:solidFill>
                      <a:srgbClr val="C00000"/>
                    </a:solidFill>
                    <a:latin typeface="宋体" pitchFamily="2" charset="-122"/>
                    <a:cs typeface="Tahoma"/>
                  </a:rPr>
                  <a:t> </a:t>
                </a:r>
                <a:r>
                  <a:rPr kumimoji="1" lang="en-US" altLang="zh-CN" sz="2900" dirty="0">
                    <a:solidFill>
                      <a:srgbClr val="000000"/>
                    </a:solidFill>
                    <a:latin typeface="Times New Roman" pitchFamily="18" charset="0"/>
                    <a:cs typeface="Tahoma"/>
                  </a:rPr>
                  <a:t> </a:t>
                </a:r>
                <a14:m>
                  <m:oMath xmlns:m="http://schemas.openxmlformats.org/officeDocument/2006/math">
                    <m:r>
                      <a:rPr kumimoji="1" lang="en-US" altLang="zh-CN" sz="2900" b="0" i="1">
                        <a:solidFill>
                          <a:srgbClr val="000000"/>
                        </a:solidFill>
                        <a:latin typeface="Cambria Math" panose="02040503050406030204" pitchFamily="18" charset="0"/>
                      </a:rPr>
                      <m:t>𝐻</m:t>
                    </m:r>
                    <m:d>
                      <m:dPr>
                        <m:ctrlPr>
                          <a:rPr kumimoji="1" lang="en-US" altLang="zh-CN" sz="2900" i="1">
                            <a:solidFill>
                              <a:srgbClr val="000000"/>
                            </a:solidFill>
                            <a:latin typeface="Cambria Math" panose="02040503050406030204" pitchFamily="18" charset="0"/>
                          </a:rPr>
                        </m:ctrlPr>
                      </m:dPr>
                      <m:e>
                        <m:sSub>
                          <m:sSubPr>
                            <m:ctrlPr>
                              <a:rPr kumimoji="1" lang="en-US" altLang="zh-CN" sz="2900" i="1" smtClean="0">
                                <a:solidFill>
                                  <a:srgbClr val="000000"/>
                                </a:solidFill>
                                <a:latin typeface="Cambria Math" panose="02040503050406030204" pitchFamily="18" charset="0"/>
                              </a:rPr>
                            </m:ctrlPr>
                          </m:sSubPr>
                          <m:e>
                            <m:r>
                              <a:rPr kumimoji="1" lang="en-US" altLang="zh-CN" sz="2900" b="0" i="1" smtClean="0">
                                <a:solidFill>
                                  <a:srgbClr val="000000"/>
                                </a:solidFill>
                                <a:latin typeface="Cambria Math" panose="02040503050406030204" pitchFamily="18" charset="0"/>
                              </a:rPr>
                              <m:t>𝑝</m:t>
                            </m:r>
                          </m:e>
                          <m:sub>
                            <m:r>
                              <a:rPr kumimoji="1" lang="en-US" altLang="zh-CN" sz="2900" b="0" i="1" smtClean="0">
                                <a:solidFill>
                                  <a:srgbClr val="000000"/>
                                </a:solidFill>
                                <a:latin typeface="Cambria Math" panose="02040503050406030204" pitchFamily="18" charset="0"/>
                              </a:rPr>
                              <m:t>1</m:t>
                            </m:r>
                          </m:sub>
                        </m:sSub>
                        <m:r>
                          <a:rPr kumimoji="1" lang="zh-CN" altLang="en-US" sz="2900" i="1">
                            <a:solidFill>
                              <a:srgbClr val="000000"/>
                            </a:solidFill>
                            <a:latin typeface="Cambria Math" panose="02040503050406030204" pitchFamily="18" charset="0"/>
                          </a:rPr>
                          <m:t>，</m:t>
                        </m:r>
                        <m:r>
                          <a:rPr kumimoji="1" lang="en-US" altLang="zh-CN" sz="2900" b="0" i="1" smtClean="0">
                            <a:solidFill>
                              <a:srgbClr val="000000"/>
                            </a:solidFill>
                            <a:latin typeface="Cambria Math" panose="02040503050406030204" pitchFamily="18" charset="0"/>
                          </a:rPr>
                          <m:t> </m:t>
                        </m:r>
                        <m:sSub>
                          <m:sSubPr>
                            <m:ctrlPr>
                              <a:rPr kumimoji="1" lang="en-US" altLang="zh-CN" sz="2900" i="1" smtClean="0">
                                <a:solidFill>
                                  <a:srgbClr val="000000"/>
                                </a:solidFill>
                                <a:latin typeface="Cambria Math" panose="02040503050406030204" pitchFamily="18" charset="0"/>
                              </a:rPr>
                            </m:ctrlPr>
                          </m:sSubPr>
                          <m:e>
                            <m:r>
                              <a:rPr kumimoji="1" lang="en-US" altLang="zh-CN" sz="2900" b="0" i="1" smtClean="0">
                                <a:solidFill>
                                  <a:srgbClr val="000000"/>
                                </a:solidFill>
                                <a:latin typeface="Cambria Math" panose="02040503050406030204" pitchFamily="18" charset="0"/>
                              </a:rPr>
                              <m:t>𝑝</m:t>
                            </m:r>
                          </m:e>
                          <m:sub>
                            <m:r>
                              <a:rPr kumimoji="1" lang="en-US" altLang="zh-CN" sz="2900" b="0" i="1" smtClean="0">
                                <a:solidFill>
                                  <a:srgbClr val="000000"/>
                                </a:solidFill>
                                <a:latin typeface="Cambria Math" panose="02040503050406030204" pitchFamily="18" charset="0"/>
                              </a:rPr>
                              <m:t>2</m:t>
                            </m:r>
                          </m:sub>
                        </m:sSub>
                        <m:r>
                          <a:rPr kumimoji="1" lang="zh-CN" altLang="en-US" sz="2900" i="1">
                            <a:solidFill>
                              <a:srgbClr val="000000"/>
                            </a:solidFill>
                            <a:latin typeface="Cambria Math" panose="02040503050406030204" pitchFamily="18" charset="0"/>
                          </a:rPr>
                          <m:t>，</m:t>
                        </m:r>
                        <m:r>
                          <a:rPr kumimoji="1" lang="en-US" altLang="zh-CN" sz="2900" b="0" i="1" smtClean="0">
                            <a:solidFill>
                              <a:srgbClr val="000000"/>
                            </a:solidFill>
                            <a:latin typeface="Cambria Math" panose="02040503050406030204" pitchFamily="18" charset="0"/>
                          </a:rPr>
                          <m:t>…</m:t>
                        </m:r>
                        <m:r>
                          <a:rPr kumimoji="1" lang="zh-CN" altLang="en-US" sz="2900" i="1">
                            <a:solidFill>
                              <a:srgbClr val="000000"/>
                            </a:solidFill>
                            <a:latin typeface="Cambria Math" panose="02040503050406030204" pitchFamily="18" charset="0"/>
                          </a:rPr>
                          <m:t>，</m:t>
                        </m:r>
                        <m:r>
                          <a:rPr kumimoji="1" lang="en-US" altLang="zh-CN" sz="2900" b="0" i="1" smtClean="0">
                            <a:solidFill>
                              <a:srgbClr val="000000"/>
                            </a:solidFill>
                            <a:latin typeface="Cambria Math" panose="02040503050406030204" pitchFamily="18" charset="0"/>
                          </a:rPr>
                          <m:t> </m:t>
                        </m:r>
                        <m:sSub>
                          <m:sSubPr>
                            <m:ctrlPr>
                              <a:rPr kumimoji="1" lang="en-US" altLang="zh-CN" sz="2900" i="1" smtClean="0">
                                <a:solidFill>
                                  <a:srgbClr val="000000"/>
                                </a:solidFill>
                                <a:latin typeface="Cambria Math" panose="02040503050406030204" pitchFamily="18" charset="0"/>
                              </a:rPr>
                            </m:ctrlPr>
                          </m:sSubPr>
                          <m:e>
                            <m:r>
                              <a:rPr kumimoji="1" lang="en-US" altLang="zh-CN" sz="2900" b="0" i="1" smtClean="0">
                                <a:solidFill>
                                  <a:srgbClr val="000000"/>
                                </a:solidFill>
                                <a:latin typeface="Cambria Math" panose="02040503050406030204" pitchFamily="18" charset="0"/>
                              </a:rPr>
                              <m:t>𝑝</m:t>
                            </m:r>
                          </m:e>
                          <m:sub>
                            <m:r>
                              <a:rPr kumimoji="1" lang="en-US" altLang="zh-CN" sz="2900" b="0" i="1" smtClean="0">
                                <a:solidFill>
                                  <a:srgbClr val="000000"/>
                                </a:solidFill>
                                <a:latin typeface="Cambria Math" panose="02040503050406030204" pitchFamily="18" charset="0"/>
                              </a:rPr>
                              <m:t>𝑞</m:t>
                            </m:r>
                          </m:sub>
                        </m:sSub>
                      </m:e>
                    </m:d>
                    <m:r>
                      <a:rPr kumimoji="1" lang="en-US" altLang="zh-CN" sz="2900" b="0" i="1">
                        <a:solidFill>
                          <a:srgbClr val="000000"/>
                        </a:solidFill>
                        <a:latin typeface="Cambria Math" panose="02040503050406030204" pitchFamily="18" charset="0"/>
                      </a:rPr>
                      <m:t>=</m:t>
                    </m:r>
                    <m:r>
                      <a:rPr kumimoji="1" lang="en-US" altLang="zh-CN" sz="2900" b="0" i="1">
                        <a:solidFill>
                          <a:srgbClr val="000000"/>
                        </a:solidFill>
                        <a:latin typeface="Cambria Math" panose="02040503050406030204" pitchFamily="18" charset="0"/>
                      </a:rPr>
                      <m:t>𝐻</m:t>
                    </m:r>
                    <m:d>
                      <m:dPr>
                        <m:ctrlPr>
                          <a:rPr kumimoji="1" lang="en-US" altLang="zh-CN" sz="2900" i="1">
                            <a:solidFill>
                              <a:srgbClr val="000000"/>
                            </a:solidFill>
                            <a:latin typeface="Cambria Math" panose="02040503050406030204" pitchFamily="18" charset="0"/>
                          </a:rPr>
                        </m:ctrlPr>
                      </m:dPr>
                      <m:e>
                        <m:sSub>
                          <m:sSubPr>
                            <m:ctrlPr>
                              <a:rPr kumimoji="1" lang="en-US" altLang="zh-CN" sz="2900" i="1">
                                <a:solidFill>
                                  <a:srgbClr val="000000"/>
                                </a:solidFill>
                                <a:latin typeface="Cambria Math" panose="02040503050406030204" pitchFamily="18" charset="0"/>
                              </a:rPr>
                            </m:ctrlPr>
                          </m:sSubPr>
                          <m:e>
                            <m:r>
                              <a:rPr kumimoji="1" lang="en-US" altLang="zh-CN" sz="2900" b="0" i="1">
                                <a:solidFill>
                                  <a:srgbClr val="000000"/>
                                </a:solidFill>
                                <a:latin typeface="Cambria Math" panose="02040503050406030204" pitchFamily="18" charset="0"/>
                              </a:rPr>
                              <m:t>𝑝</m:t>
                            </m:r>
                          </m:e>
                          <m:sub>
                            <m:r>
                              <a:rPr kumimoji="1" lang="en-US" altLang="zh-CN" sz="2900" b="0" i="1" smtClean="0">
                                <a:solidFill>
                                  <a:srgbClr val="000000"/>
                                </a:solidFill>
                                <a:latin typeface="Cambria Math" panose="02040503050406030204" pitchFamily="18" charset="0"/>
                              </a:rPr>
                              <m:t>2</m:t>
                            </m:r>
                          </m:sub>
                        </m:sSub>
                        <m:r>
                          <a:rPr kumimoji="1" lang="zh-CN" altLang="en-US" sz="2900" i="1">
                            <a:solidFill>
                              <a:srgbClr val="000000"/>
                            </a:solidFill>
                            <a:latin typeface="Cambria Math" panose="02040503050406030204" pitchFamily="18" charset="0"/>
                          </a:rPr>
                          <m:t>，</m:t>
                        </m:r>
                        <m:sSub>
                          <m:sSubPr>
                            <m:ctrlPr>
                              <a:rPr kumimoji="1" lang="en-US" altLang="zh-CN" sz="2900" i="1">
                                <a:solidFill>
                                  <a:srgbClr val="000000"/>
                                </a:solidFill>
                                <a:latin typeface="Cambria Math" panose="02040503050406030204" pitchFamily="18" charset="0"/>
                              </a:rPr>
                            </m:ctrlPr>
                          </m:sSubPr>
                          <m:e>
                            <m:r>
                              <a:rPr kumimoji="1" lang="en-US" altLang="zh-CN" sz="2900" b="0" i="1">
                                <a:solidFill>
                                  <a:srgbClr val="000000"/>
                                </a:solidFill>
                                <a:latin typeface="Cambria Math" panose="02040503050406030204" pitchFamily="18" charset="0"/>
                              </a:rPr>
                              <m:t>𝑝</m:t>
                            </m:r>
                          </m:e>
                          <m:sub>
                            <m:r>
                              <a:rPr kumimoji="1" lang="en-US" altLang="zh-CN" sz="2900" b="0" i="1" smtClean="0">
                                <a:solidFill>
                                  <a:srgbClr val="000000"/>
                                </a:solidFill>
                                <a:latin typeface="Cambria Math" panose="02040503050406030204" pitchFamily="18" charset="0"/>
                              </a:rPr>
                              <m:t>1</m:t>
                            </m:r>
                          </m:sub>
                        </m:sSub>
                        <m:r>
                          <a:rPr kumimoji="1" lang="zh-CN" altLang="en-US" sz="2900" i="1">
                            <a:solidFill>
                              <a:srgbClr val="000000"/>
                            </a:solidFill>
                            <a:latin typeface="Cambria Math" panose="02040503050406030204" pitchFamily="18" charset="0"/>
                          </a:rPr>
                          <m:t>，</m:t>
                        </m:r>
                        <m:r>
                          <a:rPr kumimoji="1" lang="en-US" altLang="zh-CN" sz="2900" b="0" i="1">
                            <a:solidFill>
                              <a:srgbClr val="000000"/>
                            </a:solidFill>
                            <a:latin typeface="Cambria Math" panose="02040503050406030204" pitchFamily="18" charset="0"/>
                          </a:rPr>
                          <m:t>…</m:t>
                        </m:r>
                        <m:r>
                          <a:rPr kumimoji="1" lang="zh-CN" altLang="en-US" sz="2900" i="1">
                            <a:solidFill>
                              <a:srgbClr val="000000"/>
                            </a:solidFill>
                            <a:latin typeface="Cambria Math" panose="02040503050406030204" pitchFamily="18" charset="0"/>
                          </a:rPr>
                          <m:t>，</m:t>
                        </m:r>
                        <m:sSub>
                          <m:sSubPr>
                            <m:ctrlPr>
                              <a:rPr kumimoji="1" lang="en-US" altLang="zh-CN" sz="2900" i="1" smtClean="0">
                                <a:solidFill>
                                  <a:srgbClr val="000000"/>
                                </a:solidFill>
                                <a:latin typeface="Cambria Math" panose="02040503050406030204" pitchFamily="18" charset="0"/>
                              </a:rPr>
                            </m:ctrlPr>
                          </m:sSubPr>
                          <m:e>
                            <m:r>
                              <a:rPr kumimoji="1" lang="en-US" altLang="zh-CN" sz="2900" b="0" i="1">
                                <a:solidFill>
                                  <a:srgbClr val="000000"/>
                                </a:solidFill>
                                <a:latin typeface="Cambria Math" panose="02040503050406030204" pitchFamily="18" charset="0"/>
                              </a:rPr>
                              <m:t>𝑝</m:t>
                            </m:r>
                          </m:e>
                          <m:sub>
                            <m:r>
                              <a:rPr kumimoji="1" lang="en-US" altLang="zh-CN" sz="2900" b="0" i="1">
                                <a:solidFill>
                                  <a:srgbClr val="000000"/>
                                </a:solidFill>
                                <a:latin typeface="Cambria Math" panose="02040503050406030204" pitchFamily="18" charset="0"/>
                              </a:rPr>
                              <m:t>𝑞</m:t>
                            </m:r>
                          </m:sub>
                        </m:sSub>
                      </m:e>
                    </m:d>
                    <m:r>
                      <a:rPr kumimoji="1" lang="en-US" altLang="zh-CN" sz="2900" b="0" i="1" smtClean="0">
                        <a:solidFill>
                          <a:srgbClr val="000000"/>
                        </a:solidFill>
                        <a:latin typeface="Cambria Math" panose="02040503050406030204" pitchFamily="18" charset="0"/>
                      </a:rPr>
                      <m:t>=</m:t>
                    </m:r>
                    <m:r>
                      <a:rPr kumimoji="1" lang="en-US" altLang="zh-CN" sz="2900" b="0" i="1">
                        <a:solidFill>
                          <a:srgbClr val="000000"/>
                        </a:solidFill>
                        <a:latin typeface="Cambria Math" panose="02040503050406030204" pitchFamily="18" charset="0"/>
                      </a:rPr>
                      <m:t>𝐻</m:t>
                    </m:r>
                    <m:d>
                      <m:dPr>
                        <m:ctrlPr>
                          <a:rPr kumimoji="1" lang="en-US" altLang="zh-CN" sz="2900" i="1">
                            <a:solidFill>
                              <a:srgbClr val="000000"/>
                            </a:solidFill>
                            <a:latin typeface="Cambria Math" panose="02040503050406030204" pitchFamily="18" charset="0"/>
                          </a:rPr>
                        </m:ctrlPr>
                      </m:dPr>
                      <m:e>
                        <m:sSub>
                          <m:sSubPr>
                            <m:ctrlPr>
                              <a:rPr kumimoji="1" lang="en-US" altLang="zh-CN" sz="2900" i="1">
                                <a:solidFill>
                                  <a:srgbClr val="000000"/>
                                </a:solidFill>
                                <a:latin typeface="Cambria Math" panose="02040503050406030204" pitchFamily="18" charset="0"/>
                              </a:rPr>
                            </m:ctrlPr>
                          </m:sSubPr>
                          <m:e>
                            <m:r>
                              <a:rPr kumimoji="1" lang="en-US" altLang="zh-CN" sz="2900" b="0" i="1">
                                <a:solidFill>
                                  <a:srgbClr val="000000"/>
                                </a:solidFill>
                                <a:latin typeface="Cambria Math" panose="02040503050406030204" pitchFamily="18" charset="0"/>
                              </a:rPr>
                              <m:t>𝑝</m:t>
                            </m:r>
                          </m:e>
                          <m:sub>
                            <m:r>
                              <a:rPr kumimoji="1" lang="en-US" altLang="zh-CN" sz="2900" b="0" i="1" smtClean="0">
                                <a:solidFill>
                                  <a:srgbClr val="000000"/>
                                </a:solidFill>
                                <a:latin typeface="Cambria Math" panose="02040503050406030204" pitchFamily="18" charset="0"/>
                              </a:rPr>
                              <m:t>𝑞</m:t>
                            </m:r>
                          </m:sub>
                        </m:sSub>
                        <m:r>
                          <a:rPr kumimoji="1" lang="zh-CN" altLang="en-US" sz="2900" i="1">
                            <a:solidFill>
                              <a:srgbClr val="000000"/>
                            </a:solidFill>
                            <a:latin typeface="Cambria Math" panose="02040503050406030204" pitchFamily="18" charset="0"/>
                          </a:rPr>
                          <m:t>，</m:t>
                        </m:r>
                        <m:sSub>
                          <m:sSubPr>
                            <m:ctrlPr>
                              <a:rPr kumimoji="1" lang="en-US" altLang="zh-CN" sz="2900" i="1">
                                <a:solidFill>
                                  <a:srgbClr val="000000"/>
                                </a:solidFill>
                                <a:latin typeface="Cambria Math" panose="02040503050406030204" pitchFamily="18" charset="0"/>
                              </a:rPr>
                            </m:ctrlPr>
                          </m:sSubPr>
                          <m:e>
                            <m:r>
                              <a:rPr kumimoji="1" lang="en-US" altLang="zh-CN" sz="2900" b="0" i="1">
                                <a:solidFill>
                                  <a:srgbClr val="000000"/>
                                </a:solidFill>
                                <a:latin typeface="Cambria Math" panose="02040503050406030204" pitchFamily="18" charset="0"/>
                              </a:rPr>
                              <m:t>𝑝</m:t>
                            </m:r>
                          </m:e>
                          <m:sub>
                            <m:r>
                              <a:rPr kumimoji="1" lang="en-US" altLang="zh-CN" sz="2900" b="0" i="1" smtClean="0">
                                <a:solidFill>
                                  <a:srgbClr val="000000"/>
                                </a:solidFill>
                                <a:latin typeface="Cambria Math" panose="02040503050406030204" pitchFamily="18" charset="0"/>
                              </a:rPr>
                              <m:t>1</m:t>
                            </m:r>
                          </m:sub>
                        </m:sSub>
                        <m:r>
                          <a:rPr kumimoji="1" lang="zh-CN" altLang="en-US" sz="2900" i="1">
                            <a:solidFill>
                              <a:srgbClr val="000000"/>
                            </a:solidFill>
                            <a:latin typeface="Cambria Math" panose="02040503050406030204" pitchFamily="18" charset="0"/>
                          </a:rPr>
                          <m:t>，</m:t>
                        </m:r>
                        <m:r>
                          <a:rPr kumimoji="1" lang="en-US" altLang="zh-CN" sz="2900" b="0" i="1">
                            <a:solidFill>
                              <a:srgbClr val="000000"/>
                            </a:solidFill>
                            <a:latin typeface="Cambria Math" panose="02040503050406030204" pitchFamily="18" charset="0"/>
                          </a:rPr>
                          <m:t>…</m:t>
                        </m:r>
                        <m:r>
                          <a:rPr kumimoji="1" lang="zh-CN" altLang="en-US" sz="2900" i="1">
                            <a:solidFill>
                              <a:srgbClr val="000000"/>
                            </a:solidFill>
                            <a:latin typeface="Cambria Math" panose="02040503050406030204" pitchFamily="18" charset="0"/>
                          </a:rPr>
                          <m:t>，</m:t>
                        </m:r>
                        <m:sSub>
                          <m:sSubPr>
                            <m:ctrlPr>
                              <a:rPr kumimoji="1" lang="en-US" altLang="zh-CN" sz="2900" i="1">
                                <a:solidFill>
                                  <a:srgbClr val="000000"/>
                                </a:solidFill>
                                <a:latin typeface="Cambria Math" panose="02040503050406030204" pitchFamily="18" charset="0"/>
                              </a:rPr>
                            </m:ctrlPr>
                          </m:sSubPr>
                          <m:e>
                            <m:r>
                              <a:rPr kumimoji="1" lang="en-US" altLang="zh-CN" sz="2900" b="0" i="1">
                                <a:solidFill>
                                  <a:srgbClr val="000000"/>
                                </a:solidFill>
                                <a:latin typeface="Cambria Math" panose="02040503050406030204" pitchFamily="18" charset="0"/>
                              </a:rPr>
                              <m:t>𝑝</m:t>
                            </m:r>
                          </m:e>
                          <m:sub>
                            <m:r>
                              <a:rPr kumimoji="1" lang="en-US" altLang="zh-CN" sz="2900" b="0" i="1">
                                <a:solidFill>
                                  <a:srgbClr val="000000"/>
                                </a:solidFill>
                                <a:latin typeface="Cambria Math" panose="02040503050406030204" pitchFamily="18" charset="0"/>
                              </a:rPr>
                              <m:t>𝑞</m:t>
                            </m:r>
                            <m:r>
                              <a:rPr kumimoji="1" lang="en-US" altLang="zh-CN" sz="2900" b="0" i="1" smtClean="0">
                                <a:solidFill>
                                  <a:srgbClr val="000000"/>
                                </a:solidFill>
                                <a:latin typeface="Cambria Math" panose="02040503050406030204" pitchFamily="18" charset="0"/>
                              </a:rPr>
                              <m:t>−1</m:t>
                            </m:r>
                          </m:sub>
                        </m:sSub>
                      </m:e>
                    </m:d>
                  </m:oMath>
                </a14:m>
                <a:endParaRPr lang="en-US" altLang="zh-CN" sz="2900" dirty="0">
                  <a:solidFill>
                    <a:srgbClr val="C00000"/>
                  </a:solidFill>
                  <a:latin typeface="宋体" pitchFamily="2" charset="-122"/>
                  <a:cs typeface="Tahoma"/>
                </a:endParaRPr>
              </a:p>
              <a:p>
                <a:pPr eaLnBrk="1" hangingPunct="1">
                  <a:lnSpc>
                    <a:spcPct val="150000"/>
                  </a:lnSpc>
                  <a:defRPr/>
                </a:pPr>
                <a:r>
                  <a:rPr lang="zh-CN" altLang="en-US" sz="2900" dirty="0">
                    <a:solidFill>
                      <a:srgbClr val="000000"/>
                    </a:solidFill>
                    <a:latin typeface="宋体" pitchFamily="2" charset="-122"/>
                    <a:cs typeface="Tahoma"/>
                  </a:rPr>
                  <a:t>即概率矢量</a:t>
                </a:r>
                <a14:m>
                  <m:oMath xmlns:m="http://schemas.openxmlformats.org/officeDocument/2006/math">
                    <m:r>
                      <a:rPr lang="en-US" altLang="zh-CN" sz="2900" b="0" smtClean="0">
                        <a:solidFill>
                          <a:srgbClr val="000000"/>
                        </a:solidFill>
                        <a:latin typeface="Cambria Math" panose="02040503050406030204" pitchFamily="18" charset="0"/>
                        <a:cs typeface="Times New Roman" pitchFamily="18" charset="0"/>
                      </a:rPr>
                      <m:t> </m:t>
                    </m:r>
                    <m:acc>
                      <m:accPr>
                        <m:chr m:val="̅"/>
                        <m:ctrlPr>
                          <a:rPr lang="en-US" altLang="zh-CN" sz="2900" i="1">
                            <a:solidFill>
                              <a:srgbClr val="000000"/>
                            </a:solidFill>
                            <a:latin typeface="Cambria Math" panose="02040503050406030204" pitchFamily="18" charset="0"/>
                            <a:cs typeface="Times New Roman" pitchFamily="18" charset="0"/>
                          </a:rPr>
                        </m:ctrlPr>
                      </m:accPr>
                      <m:e>
                        <m:r>
                          <a:rPr lang="en-US" altLang="zh-CN" sz="2900" b="0" i="1">
                            <a:solidFill>
                              <a:srgbClr val="000000"/>
                            </a:solidFill>
                            <a:latin typeface="Cambria Math" panose="02040503050406030204" pitchFamily="18" charset="0"/>
                            <a:cs typeface="Times New Roman" pitchFamily="18" charset="0"/>
                          </a:rPr>
                          <m:t>𝑝</m:t>
                        </m:r>
                      </m:e>
                    </m:acc>
                    <m:r>
                      <a:rPr lang="en-US" altLang="zh-CN" sz="2900" b="0" i="1" smtClean="0">
                        <a:solidFill>
                          <a:srgbClr val="000000"/>
                        </a:solidFill>
                        <a:latin typeface="Cambria Math" panose="02040503050406030204" pitchFamily="18" charset="0"/>
                        <a:cs typeface="Times New Roman" pitchFamily="18" charset="0"/>
                      </a:rPr>
                      <m:t> </m:t>
                    </m:r>
                  </m:oMath>
                </a14:m>
                <a:r>
                  <a:rPr lang="zh-CN" altLang="en-US" sz="2900" dirty="0">
                    <a:solidFill>
                      <a:srgbClr val="000000"/>
                    </a:solidFill>
                    <a:latin typeface="宋体" pitchFamily="2" charset="-122"/>
                    <a:cs typeface="Tahoma"/>
                  </a:rPr>
                  <a:t>各分量的次序可以任意变更，熵值不变。</a:t>
                </a:r>
                <a:endParaRPr lang="en-US" altLang="zh-CN" sz="2900" dirty="0">
                  <a:solidFill>
                    <a:srgbClr val="000000"/>
                  </a:solidFill>
                  <a:latin typeface="宋体" pitchFamily="2" charset="-122"/>
                  <a:cs typeface="Tahoma"/>
                </a:endParaRPr>
              </a:p>
            </p:txBody>
          </p:sp>
        </mc:Choice>
        <mc:Fallback>
          <p:sp>
            <p:nvSpPr>
              <p:cNvPr id="3" name="Rectangle 2">
                <a:hlinkClick r:id="rId3" action="ppaction://hlinksldjump"/>
                <a:extLst>
                  <a:ext uri="{FF2B5EF4-FFF2-40B4-BE49-F238E27FC236}">
                    <a16:creationId xmlns:a16="http://schemas.microsoft.com/office/drawing/2014/main" id="{341DB8C2-F579-3818-9E50-A25D182E5402}"/>
                  </a:ext>
                </a:extLst>
              </p:cNvPr>
              <p:cNvSpPr>
                <a:spLocks noRot="1" noChangeAspect="1" noMove="1" noResize="1" noEditPoints="1" noAdjustHandles="1" noChangeArrowheads="1" noChangeShapeType="1" noTextEdit="1"/>
              </p:cNvSpPr>
              <p:nvPr/>
            </p:nvSpPr>
            <p:spPr bwMode="auto">
              <a:xfrm>
                <a:off x="212271" y="609959"/>
                <a:ext cx="8746671" cy="5638082"/>
              </a:xfrm>
              <a:prstGeom prst="rect">
                <a:avLst/>
              </a:prstGeom>
              <a:blipFill>
                <a:blip r:embed="rId4"/>
                <a:stretch>
                  <a:fillRect l="-1533" r="-5714" b="-1838"/>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59F4E2EE-7C8A-4675-7FE9-771EBD2A6BBF}"/>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dirty="0"/>
              <a:t>2 </a:t>
            </a:r>
            <a:r>
              <a:rPr lang="zh-CN" altLang="en-US" dirty="0"/>
              <a:t>信息的度量（续）</a:t>
            </a:r>
            <a:endParaRPr lang="en-US" altLang="zh-CN" dirty="0"/>
          </a:p>
        </p:txBody>
      </p:sp>
      <mc:AlternateContent xmlns:mc="http://schemas.openxmlformats.org/markup-compatibility/2006" xmlns:a14="http://schemas.microsoft.com/office/drawing/2010/main">
        <mc:Choice Requires="a14">
          <p:sp>
            <p:nvSpPr>
              <p:cNvPr id="3" name="Rectangle 2">
                <a:hlinkClick r:id="rId3" action="ppaction://hlinksldjump"/>
                <a:extLst>
                  <a:ext uri="{FF2B5EF4-FFF2-40B4-BE49-F238E27FC236}">
                    <a16:creationId xmlns:a16="http://schemas.microsoft.com/office/drawing/2014/main" id="{768B0D4F-CBE3-5E0F-1CA3-8FED1888FA3D}"/>
                  </a:ext>
                </a:extLst>
              </p:cNvPr>
              <p:cNvSpPr>
                <a:spLocks noChangeArrowheads="1"/>
              </p:cNvSpPr>
              <p:nvPr/>
            </p:nvSpPr>
            <p:spPr bwMode="auto">
              <a:xfrm>
                <a:off x="228600" y="609991"/>
                <a:ext cx="8855636" cy="6117380"/>
              </a:xfrm>
              <a:prstGeom prst="rect">
                <a:avLst/>
              </a:prstGeom>
              <a:noFill/>
              <a:ln w="9525">
                <a:noFill/>
                <a:miter lim="800000"/>
                <a:headEnd/>
                <a:tailEnd/>
              </a:ln>
              <a:effectLst/>
            </p:spPr>
            <p:txBody>
              <a:bodyPr wrap="square">
                <a:spAutoFit/>
              </a:bodyPr>
              <a:lstStyle/>
              <a:p>
                <a:pPr marL="457200" indent="-457200" eaLnBrk="1" hangingPunct="1">
                  <a:lnSpc>
                    <a:spcPct val="150000"/>
                  </a:lnSpc>
                  <a:buFont typeface="Wingdings" panose="05000000000000000000" pitchFamily="2" charset="2"/>
                  <a:buChar char="Ø"/>
                  <a:defRPr/>
                </a:pPr>
                <a:r>
                  <a:rPr lang="zh-CN" altLang="en-US" sz="2800" dirty="0">
                    <a:solidFill>
                      <a:srgbClr val="C00000"/>
                    </a:solidFill>
                    <a:latin typeface="宋体" pitchFamily="2" charset="-122"/>
                    <a:cs typeface="Tahoma"/>
                  </a:rPr>
                  <a:t>熵函数</a:t>
                </a:r>
                <a14:m>
                  <m:oMath xmlns:m="http://schemas.openxmlformats.org/officeDocument/2006/math">
                    <m:r>
                      <a:rPr lang="en-US" altLang="zh-CN" sz="2800" b="0" i="1" smtClean="0">
                        <a:solidFill>
                          <a:srgbClr val="C00000"/>
                        </a:solidFill>
                        <a:latin typeface="Cambria Math" panose="02040503050406030204" pitchFamily="18" charset="0"/>
                      </a:rPr>
                      <m:t> </m:t>
                    </m:r>
                    <m:r>
                      <a:rPr lang="en-US" altLang="zh-CN" sz="2800" b="0" i="1" smtClean="0">
                        <a:solidFill>
                          <a:srgbClr val="C00000"/>
                        </a:solidFill>
                        <a:latin typeface="Cambria Math" panose="02040503050406030204" pitchFamily="18" charset="0"/>
                      </a:rPr>
                      <m:t>𝐻</m:t>
                    </m:r>
                    <m:d>
                      <m:dPr>
                        <m:ctrlPr>
                          <a:rPr lang="en-US" altLang="zh-CN" sz="2800" i="1" smtClean="0">
                            <a:solidFill>
                              <a:srgbClr val="C00000"/>
                            </a:solidFill>
                            <a:latin typeface="Cambria Math" panose="02040503050406030204" pitchFamily="18" charset="0"/>
                          </a:rPr>
                        </m:ctrlPr>
                      </m:dPr>
                      <m:e>
                        <m:acc>
                          <m:accPr>
                            <m:chr m:val="̅"/>
                            <m:ctrlPr>
                              <a:rPr lang="en-US" altLang="zh-CN" sz="2800" i="1" smtClean="0">
                                <a:solidFill>
                                  <a:srgbClr val="C00000"/>
                                </a:solidFill>
                                <a:latin typeface="Cambria Math" panose="02040503050406030204" pitchFamily="18" charset="0"/>
                                <a:cs typeface="Times New Roman" pitchFamily="18" charset="0"/>
                              </a:rPr>
                            </m:ctrlPr>
                          </m:accPr>
                          <m:e>
                            <m:r>
                              <a:rPr lang="en-US" altLang="zh-CN" sz="2800" b="0" i="1">
                                <a:solidFill>
                                  <a:srgbClr val="C00000"/>
                                </a:solidFill>
                                <a:latin typeface="Cambria Math" panose="02040503050406030204" pitchFamily="18" charset="0"/>
                                <a:cs typeface="Times New Roman" pitchFamily="18" charset="0"/>
                              </a:rPr>
                              <m:t>𝑝</m:t>
                            </m:r>
                          </m:e>
                        </m:acc>
                      </m:e>
                    </m:d>
                    <m:r>
                      <a:rPr lang="en-US" altLang="zh-CN" sz="2800" b="0" i="1" smtClean="0">
                        <a:solidFill>
                          <a:srgbClr val="C00000"/>
                        </a:solidFill>
                        <a:latin typeface="Cambria Math" panose="02040503050406030204" pitchFamily="18" charset="0"/>
                      </a:rPr>
                      <m:t> </m:t>
                    </m:r>
                  </m:oMath>
                </a14:m>
                <a:r>
                  <a:rPr lang="zh-CN" altLang="en-US" sz="2800" dirty="0">
                    <a:solidFill>
                      <a:srgbClr val="C00000"/>
                    </a:solidFill>
                    <a:latin typeface="宋体" pitchFamily="2" charset="-122"/>
                    <a:cs typeface="Tahoma"/>
                  </a:rPr>
                  <a:t>的性质</a:t>
                </a:r>
                <a:r>
                  <a:rPr lang="en-US" altLang="zh-CN" sz="2800" dirty="0">
                    <a:solidFill>
                      <a:srgbClr val="C00000"/>
                    </a:solidFill>
                    <a:latin typeface="宋体" pitchFamily="2" charset="-122"/>
                    <a:cs typeface="Tahoma"/>
                  </a:rPr>
                  <a:t>:</a:t>
                </a:r>
                <a:r>
                  <a:rPr lang="zh-CN" altLang="en-US" sz="2800" dirty="0">
                    <a:solidFill>
                      <a:srgbClr val="C00000"/>
                    </a:solidFill>
                    <a:latin typeface="宋体" pitchFamily="2" charset="-122"/>
                    <a:cs typeface="Tahoma"/>
                  </a:rPr>
                  <a:t>（续）</a:t>
                </a:r>
                <a:endParaRPr lang="en-US" altLang="zh-CN" sz="2800" dirty="0">
                  <a:solidFill>
                    <a:srgbClr val="C00000"/>
                  </a:solidFill>
                  <a:latin typeface="宋体" pitchFamily="2" charset="-122"/>
                  <a:cs typeface="Tahoma"/>
                </a:endParaRPr>
              </a:p>
              <a:p>
                <a:pPr marL="514350" indent="-514350" eaLnBrk="1" hangingPunct="1">
                  <a:lnSpc>
                    <a:spcPct val="150000"/>
                  </a:lnSpc>
                  <a:buFont typeface="+mj-lt"/>
                  <a:buAutoNum type="arabicPeriod" startAt="3"/>
                  <a:defRPr/>
                </a:pPr>
                <a:r>
                  <a:rPr lang="zh-CN" altLang="en-US" sz="2800" dirty="0">
                    <a:solidFill>
                      <a:srgbClr val="C00000"/>
                    </a:solidFill>
                    <a:latin typeface="宋体" pitchFamily="2" charset="-122"/>
                    <a:cs typeface="Tahoma"/>
                  </a:rPr>
                  <a:t>确定性：</a:t>
                </a:r>
                <a14:m>
                  <m:oMath xmlns:m="http://schemas.openxmlformats.org/officeDocument/2006/math">
                    <m:r>
                      <a:rPr lang="en-US" altLang="zh-CN" sz="2800" b="0" i="1" smtClean="0">
                        <a:solidFill>
                          <a:srgbClr val="000000"/>
                        </a:solidFill>
                        <a:latin typeface="Cambria Math" panose="02040503050406030204" pitchFamily="18" charset="0"/>
                      </a:rPr>
                      <m:t>𝐻</m:t>
                    </m:r>
                    <m:d>
                      <m:dPr>
                        <m:ctrlPr>
                          <a:rPr lang="en-US" altLang="zh-CN" sz="2800" i="1">
                            <a:solidFill>
                              <a:srgbClr val="000000"/>
                            </a:solidFill>
                            <a:latin typeface="Cambria Math" panose="02040503050406030204" pitchFamily="18" charset="0"/>
                          </a:rPr>
                        </m:ctrlPr>
                      </m:dPr>
                      <m:e>
                        <m:r>
                          <a:rPr lang="en-US" altLang="zh-CN" sz="2800" b="0" i="1" smtClean="0">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0</m:t>
                        </m:r>
                      </m:e>
                    </m:d>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𝐻</m:t>
                    </m:r>
                    <m:d>
                      <m:dPr>
                        <m:ctrlPr>
                          <a:rPr lang="en-US" altLang="zh-CN" sz="2800" i="1" smtClean="0">
                            <a:solidFill>
                              <a:srgbClr val="000000"/>
                            </a:solidFill>
                            <a:latin typeface="Cambria Math" panose="02040503050406030204" pitchFamily="18" charset="0"/>
                          </a:rPr>
                        </m:ctrlPr>
                      </m:dPr>
                      <m:e>
                        <m:r>
                          <a:rPr lang="en-US" altLang="zh-CN" sz="2800" b="0" i="1" smtClean="0">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0</m:t>
                        </m:r>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0</m:t>
                        </m:r>
                      </m:e>
                    </m:d>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𝐻</m:t>
                    </m:r>
                    <m:d>
                      <m:dPr>
                        <m:ctrlPr>
                          <a:rPr lang="en-US" altLang="zh-CN" sz="2800" i="1" smtClean="0">
                            <a:solidFill>
                              <a:srgbClr val="000000"/>
                            </a:solidFill>
                            <a:latin typeface="Cambria Math" panose="02040503050406030204" pitchFamily="18" charset="0"/>
                          </a:rPr>
                        </m:ctrlPr>
                      </m:dPr>
                      <m:e>
                        <m:r>
                          <a:rPr lang="en-US" altLang="zh-CN" sz="2800" b="0" i="1" smtClean="0">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0</m:t>
                        </m:r>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0</m:t>
                        </m:r>
                      </m:e>
                    </m:d>
                    <m:r>
                      <a:rPr lang="en-US" altLang="zh-CN" sz="2800" b="0" i="1" smtClean="0">
                        <a:solidFill>
                          <a:srgbClr val="000000"/>
                        </a:solidFill>
                        <a:latin typeface="Cambria Math" panose="02040503050406030204" pitchFamily="18" charset="0"/>
                      </a:rPr>
                      <m:t>=0</m:t>
                    </m:r>
                  </m:oMath>
                </a14:m>
                <a:endParaRPr lang="en-US" altLang="zh-CN" sz="2800" dirty="0">
                  <a:solidFill>
                    <a:srgbClr val="C00000"/>
                  </a:solidFill>
                  <a:latin typeface="宋体" pitchFamily="2" charset="-122"/>
                  <a:cs typeface="Tahoma"/>
                </a:endParaRPr>
              </a:p>
              <a:p>
                <a:pPr eaLnBrk="1" hangingPunct="1">
                  <a:lnSpc>
                    <a:spcPct val="150000"/>
                  </a:lnSpc>
                  <a:defRPr/>
                </a:pPr>
                <a:r>
                  <a:rPr lang="zh-CN" altLang="en-US" sz="2800" b="1" dirty="0">
                    <a:solidFill>
                      <a:srgbClr val="000000"/>
                    </a:solidFill>
                    <a:latin typeface="宋体" pitchFamily="2" charset="-122"/>
                    <a:cs typeface="Tahoma"/>
                  </a:rPr>
                  <a:t>确定性证明</a:t>
                </a:r>
                <a14:m>
                  <m:oMath xmlns:m="http://schemas.openxmlformats.org/officeDocument/2006/math">
                    <m:r>
                      <a:rPr lang="en-US" altLang="zh-CN" sz="2800" b="1" i="0" dirty="0">
                        <a:solidFill>
                          <a:srgbClr val="000000"/>
                        </a:solidFill>
                        <a:latin typeface="Cambria Math" panose="02040503050406030204" pitchFamily="18" charset="0"/>
                      </a:rPr>
                      <m:t>.</m:t>
                    </m:r>
                    <m:r>
                      <a:rPr lang="en-US" altLang="zh-CN" sz="2800" b="0" i="1" dirty="0" smtClean="0">
                        <a:solidFill>
                          <a:srgbClr val="000000"/>
                        </a:solidFill>
                        <a:latin typeface="Cambria Math" panose="02040503050406030204" pitchFamily="18" charset="0"/>
                      </a:rPr>
                      <m:t>  </m:t>
                    </m:r>
                    <m:r>
                      <a:rPr kumimoji="1" lang="en-US" altLang="zh-CN" sz="2600" b="0" i="1">
                        <a:solidFill>
                          <a:srgbClr val="000000"/>
                        </a:solidFill>
                        <a:latin typeface="Cambria Math" panose="02040503050406030204" pitchFamily="18" charset="0"/>
                      </a:rPr>
                      <m:t>𝐻</m:t>
                    </m:r>
                    <m:d>
                      <m:dPr>
                        <m:ctrlPr>
                          <a:rPr kumimoji="1" lang="en-US" altLang="zh-CN" sz="2600" i="1">
                            <a:solidFill>
                              <a:srgbClr val="000000"/>
                            </a:solidFill>
                            <a:latin typeface="Cambria Math" panose="02040503050406030204" pitchFamily="18" charset="0"/>
                          </a:rPr>
                        </m:ctrlPr>
                      </m:dPr>
                      <m:e>
                        <m:acc>
                          <m:accPr>
                            <m:chr m:val="̅"/>
                            <m:ctrlPr>
                              <a:rPr lang="en-US" altLang="zh-CN" sz="2600" i="1">
                                <a:solidFill>
                                  <a:srgbClr val="000000"/>
                                </a:solidFill>
                                <a:latin typeface="Cambria Math" panose="02040503050406030204" pitchFamily="18" charset="0"/>
                                <a:cs typeface="Times New Roman" pitchFamily="18" charset="0"/>
                              </a:rPr>
                            </m:ctrlPr>
                          </m:accPr>
                          <m:e>
                            <m:r>
                              <a:rPr lang="en-US" altLang="zh-CN" sz="2600" b="0" i="1">
                                <a:solidFill>
                                  <a:srgbClr val="000000"/>
                                </a:solidFill>
                                <a:latin typeface="Cambria Math" panose="02040503050406030204" pitchFamily="18" charset="0"/>
                                <a:cs typeface="Times New Roman" pitchFamily="18" charset="0"/>
                              </a:rPr>
                              <m:t>𝑝</m:t>
                            </m:r>
                          </m:e>
                        </m:acc>
                      </m:e>
                    </m:d>
                    <m:r>
                      <a:rPr kumimoji="1" lang="en-US" altLang="zh-CN" sz="2600" b="0" i="1">
                        <a:solidFill>
                          <a:srgbClr val="000000"/>
                        </a:solidFill>
                        <a:latin typeface="Cambria Math" panose="02040503050406030204" pitchFamily="18" charset="0"/>
                      </a:rPr>
                      <m:t>=−</m:t>
                    </m:r>
                    <m:nary>
                      <m:naryPr>
                        <m:chr m:val="∑"/>
                        <m:limLoc m:val="subSup"/>
                        <m:ctrlPr>
                          <a:rPr kumimoji="1" lang="en-US" altLang="zh-CN" sz="2600" i="1">
                            <a:solidFill>
                              <a:srgbClr val="000000"/>
                            </a:solidFill>
                            <a:latin typeface="Cambria Math" panose="02040503050406030204" pitchFamily="18" charset="0"/>
                          </a:rPr>
                        </m:ctrlPr>
                      </m:naryPr>
                      <m:sub>
                        <m:r>
                          <m:rPr>
                            <m:brk m:alnAt="25"/>
                          </m:rPr>
                          <a:rPr kumimoji="1" lang="en-US" altLang="zh-CN" sz="2600" b="0" i="1">
                            <a:solidFill>
                              <a:srgbClr val="000000"/>
                            </a:solidFill>
                            <a:latin typeface="Cambria Math" panose="02040503050406030204" pitchFamily="18" charset="0"/>
                          </a:rPr>
                          <m:t>𝑖</m:t>
                        </m:r>
                        <m:r>
                          <a:rPr kumimoji="1" lang="en-US" altLang="zh-CN" sz="2600" b="0" i="1">
                            <a:solidFill>
                              <a:srgbClr val="000000"/>
                            </a:solidFill>
                            <a:latin typeface="Cambria Math" panose="02040503050406030204" pitchFamily="18" charset="0"/>
                          </a:rPr>
                          <m:t>=1</m:t>
                        </m:r>
                      </m:sub>
                      <m:sup>
                        <m:r>
                          <a:rPr kumimoji="1" lang="en-US" altLang="zh-CN" sz="2600" b="0" i="1">
                            <a:solidFill>
                              <a:srgbClr val="000000"/>
                            </a:solidFill>
                            <a:latin typeface="Cambria Math" panose="02040503050406030204" pitchFamily="18" charset="0"/>
                          </a:rPr>
                          <m:t>𝑞</m:t>
                        </m:r>
                      </m:sup>
                      <m:e>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𝑖</m:t>
                            </m:r>
                          </m:sub>
                        </m:sSub>
                      </m:e>
                    </m:nary>
                    <m:r>
                      <m:rPr>
                        <m:sty m:val="p"/>
                      </m:rPr>
                      <a:rPr lang="en-US" altLang="zh-CN" sz="2600" b="0" i="1">
                        <a:solidFill>
                          <a:srgbClr val="000000"/>
                        </a:solidFill>
                        <a:latin typeface="Cambria Math" panose="02040503050406030204" pitchFamily="18" charset="0"/>
                        <a:cs typeface="Times New Roman" pitchFamily="18" charset="0"/>
                      </a:rPr>
                      <m:t>log</m:t>
                    </m:r>
                    <m:r>
                      <a:rPr lang="en-US" altLang="zh-CN" sz="2600" b="0">
                        <a:solidFill>
                          <a:srgbClr val="000000"/>
                        </a:solidFill>
                        <a:latin typeface="Cambria Math" panose="02040503050406030204" pitchFamily="18" charset="0"/>
                        <a:cs typeface="Times New Roman" pitchFamily="18" charset="0"/>
                      </a:rPr>
                      <m:t> </m:t>
                    </m:r>
                    <m:d>
                      <m:dPr>
                        <m:ctrlPr>
                          <a:rPr lang="en-US" altLang="zh-CN" sz="2600" i="1">
                            <a:solidFill>
                              <a:srgbClr val="000000"/>
                            </a:solidFill>
                            <a:latin typeface="Cambria Math" panose="02040503050406030204" pitchFamily="18" charset="0"/>
                            <a:cs typeface="Times New Roman" pitchFamily="18" charset="0"/>
                          </a:rPr>
                        </m:ctrlPr>
                      </m:dPr>
                      <m:e>
                        <m:sSub>
                          <m:sSubPr>
                            <m:ctrlPr>
                              <a:rPr lang="en-US" altLang="zh-CN" sz="2600" i="1">
                                <a:solidFill>
                                  <a:srgbClr val="000000"/>
                                </a:solidFill>
                                <a:latin typeface="Cambria Math" panose="02040503050406030204" pitchFamily="18" charset="0"/>
                                <a:cs typeface="Times New Roman" pitchFamily="18" charset="0"/>
                              </a:rPr>
                            </m:ctrlPr>
                          </m:sSubPr>
                          <m:e>
                            <m:r>
                              <a:rPr lang="en-US" altLang="zh-CN" sz="2600" b="0" i="1">
                                <a:solidFill>
                                  <a:srgbClr val="000000"/>
                                </a:solidFill>
                                <a:latin typeface="Cambria Math" panose="02040503050406030204" pitchFamily="18" charset="0"/>
                                <a:cs typeface="Times New Roman" pitchFamily="18" charset="0"/>
                              </a:rPr>
                              <m:t>𝑝</m:t>
                            </m:r>
                          </m:e>
                          <m:sub>
                            <m:r>
                              <a:rPr lang="en-US" altLang="zh-CN" sz="2600" b="0" i="1">
                                <a:solidFill>
                                  <a:srgbClr val="000000"/>
                                </a:solidFill>
                                <a:latin typeface="Cambria Math" panose="02040503050406030204" pitchFamily="18" charset="0"/>
                                <a:cs typeface="Times New Roman" pitchFamily="18" charset="0"/>
                              </a:rPr>
                              <m:t>𝑖</m:t>
                            </m:r>
                          </m:sub>
                        </m:sSub>
                      </m:e>
                    </m:d>
                    <m:r>
                      <a:rPr lang="en-US" altLang="zh-CN" sz="2600" b="0" smtClean="0">
                        <a:solidFill>
                          <a:srgbClr val="000000"/>
                        </a:solidFill>
                        <a:latin typeface="Cambria Math" panose="02040503050406030204" pitchFamily="18" charset="0"/>
                        <a:cs typeface="Times New Roman" pitchFamily="18" charset="0"/>
                      </a:rPr>
                      <m:t>=</m:t>
                    </m:r>
                    <m:r>
                      <a:rPr lang="en-US" altLang="zh-CN" sz="2600" b="0" i="1" smtClean="0">
                        <a:solidFill>
                          <a:srgbClr val="000000"/>
                        </a:solidFill>
                        <a:latin typeface="Cambria Math" panose="02040503050406030204" pitchFamily="18" charset="0"/>
                        <a:cs typeface="Times New Roman" pitchFamily="18" charset="0"/>
                      </a:rPr>
                      <m:t>1⋅</m:t>
                    </m:r>
                    <m:r>
                      <m:rPr>
                        <m:sty m:val="p"/>
                      </m:rPr>
                      <a:rPr lang="en-US" altLang="zh-CN" sz="2600" b="0" i="1" smtClean="0">
                        <a:solidFill>
                          <a:srgbClr val="000000"/>
                        </a:solidFill>
                        <a:latin typeface="Cambria Math" panose="02040503050406030204" pitchFamily="18" charset="0"/>
                        <a:cs typeface="Times New Roman" pitchFamily="18" charset="0"/>
                      </a:rPr>
                      <m:t>log</m:t>
                    </m:r>
                    <m:r>
                      <a:rPr lang="en-US" altLang="zh-CN" sz="2600" b="0" i="1" smtClean="0">
                        <a:solidFill>
                          <a:srgbClr val="000000"/>
                        </a:solidFill>
                        <a:latin typeface="Cambria Math" panose="02040503050406030204" pitchFamily="18" charset="0"/>
                        <a:cs typeface="Times New Roman" pitchFamily="18" charset="0"/>
                      </a:rPr>
                      <m:t>1</m:t>
                    </m:r>
                    <m:r>
                      <a:rPr lang="en-US" altLang="zh-CN" sz="2600" b="0" smtClean="0">
                        <a:solidFill>
                          <a:srgbClr val="000000"/>
                        </a:solidFill>
                        <a:latin typeface="Cambria Math" panose="02040503050406030204" pitchFamily="18" charset="0"/>
                        <a:cs typeface="Times New Roman" pitchFamily="18" charset="0"/>
                      </a:rPr>
                      <m:t>+</m:t>
                    </m:r>
                    <m:r>
                      <a:rPr lang="en-US" altLang="zh-CN" sz="2600" b="0" i="1" smtClean="0">
                        <a:solidFill>
                          <a:srgbClr val="000000"/>
                        </a:solidFill>
                        <a:latin typeface="Cambria Math" panose="02040503050406030204" pitchFamily="18" charset="0"/>
                        <a:cs typeface="Times New Roman" pitchFamily="18" charset="0"/>
                      </a:rPr>
                      <m:t>0</m:t>
                    </m:r>
                    <m:r>
                      <a:rPr lang="en-US" altLang="zh-CN" sz="2600" b="0" smtClean="0">
                        <a:solidFill>
                          <a:srgbClr val="000000"/>
                        </a:solidFill>
                        <a:latin typeface="Cambria Math" panose="02040503050406030204" pitchFamily="18" charset="0"/>
                        <a:cs typeface="Times New Roman" pitchFamily="18" charset="0"/>
                      </a:rPr>
                      <m:t>+</m:t>
                    </m:r>
                    <m:r>
                      <a:rPr lang="en-US" altLang="zh-CN" sz="2600" b="0" i="1" smtClean="0">
                        <a:solidFill>
                          <a:srgbClr val="000000"/>
                        </a:solidFill>
                        <a:latin typeface="Cambria Math" panose="02040503050406030204" pitchFamily="18" charset="0"/>
                        <a:cs typeface="Times New Roman" pitchFamily="18" charset="0"/>
                      </a:rPr>
                      <m:t>…+0=0</m:t>
                    </m:r>
                    <m:r>
                      <a:rPr lang="zh-CN" altLang="en-US" sz="2600" b="0" i="1">
                        <a:solidFill>
                          <a:srgbClr val="000000"/>
                        </a:solidFill>
                        <a:latin typeface="Cambria Math" panose="02040503050406030204" pitchFamily="18" charset="0"/>
                        <a:cs typeface="Times New Roman" pitchFamily="18" charset="0"/>
                      </a:rPr>
                      <m:t>。</m:t>
                    </m:r>
                  </m:oMath>
                </a14:m>
                <a:endParaRPr lang="en-US" altLang="zh-CN" sz="2600" dirty="0">
                  <a:solidFill>
                    <a:srgbClr val="000000"/>
                  </a:solidFill>
                  <a:latin typeface="宋体" pitchFamily="2" charset="-122"/>
                  <a:cs typeface="Tahoma"/>
                </a:endParaRPr>
              </a:p>
              <a:p>
                <a:pPr marL="514350" indent="-514350" eaLnBrk="1" hangingPunct="1">
                  <a:lnSpc>
                    <a:spcPct val="150000"/>
                  </a:lnSpc>
                  <a:buFont typeface="+mj-lt"/>
                  <a:buAutoNum type="arabicPeriod" startAt="4"/>
                  <a:defRPr/>
                </a:pPr>
                <a:r>
                  <a:rPr lang="zh-CN" altLang="en-US" sz="2800" dirty="0">
                    <a:solidFill>
                      <a:srgbClr val="C00000"/>
                    </a:solidFill>
                    <a:latin typeface="宋体" pitchFamily="2" charset="-122"/>
                    <a:cs typeface="Tahoma"/>
                  </a:rPr>
                  <a:t>扩展性：</a:t>
                </a:r>
                <a:endParaRPr lang="en-US" altLang="zh-CN" sz="2800" dirty="0">
                  <a:solidFill>
                    <a:srgbClr val="C00000"/>
                  </a:solidFill>
                  <a:latin typeface="宋体" pitchFamily="2" charset="-122"/>
                  <a:cs typeface="Tahoma"/>
                </a:endParaRPr>
              </a:p>
              <a:p>
                <a:pPr eaLnBrk="1" hangingPunct="1">
                  <a:lnSpc>
                    <a:spcPct val="150000"/>
                  </a:lnSpc>
                  <a:defRPr/>
                </a:pPr>
                <a:r>
                  <a:rPr lang="en-US" altLang="zh-CN" sz="2800" dirty="0">
                    <a:solidFill>
                      <a:srgbClr val="C00000"/>
                    </a:solidFill>
                    <a:latin typeface="宋体" pitchFamily="2" charset="-122"/>
                    <a:cs typeface="Tahoma"/>
                  </a:rPr>
                  <a:t> </a:t>
                </a:r>
                <a:r>
                  <a:rPr kumimoji="1" lang="en-US" altLang="zh-CN" sz="2800" dirty="0">
                    <a:solidFill>
                      <a:srgbClr val="000000"/>
                    </a:solidFill>
                    <a:latin typeface="Times New Roman" pitchFamily="18" charset="0"/>
                    <a:cs typeface="Tahoma"/>
                  </a:rPr>
                  <a:t> </a:t>
                </a:r>
                <a14:m>
                  <m:oMath xmlns:m="http://schemas.openxmlformats.org/officeDocument/2006/math">
                    <m:func>
                      <m:funcPr>
                        <m:ctrlPr>
                          <a:rPr kumimoji="1" lang="en-US" altLang="zh-CN" sz="2500" i="1" smtClean="0">
                            <a:solidFill>
                              <a:srgbClr val="000000"/>
                            </a:solidFill>
                            <a:latin typeface="Cambria Math" panose="02040503050406030204" pitchFamily="18" charset="0"/>
                          </a:rPr>
                        </m:ctrlPr>
                      </m:funcPr>
                      <m:fName>
                        <m:limLow>
                          <m:limLowPr>
                            <m:ctrlPr>
                              <a:rPr kumimoji="1" lang="en-US" altLang="zh-CN" sz="2500" i="1" smtClean="0">
                                <a:solidFill>
                                  <a:srgbClr val="000000"/>
                                </a:solidFill>
                                <a:latin typeface="Cambria Math" panose="02040503050406030204" pitchFamily="18" charset="0"/>
                              </a:rPr>
                            </m:ctrlPr>
                          </m:limLowPr>
                          <m:e>
                            <m:r>
                              <m:rPr>
                                <m:sty m:val="p"/>
                              </m:rPr>
                              <a:rPr kumimoji="1" lang="en-US" altLang="zh-CN" sz="2500" b="0" smtClean="0">
                                <a:solidFill>
                                  <a:srgbClr val="000000"/>
                                </a:solidFill>
                                <a:latin typeface="Cambria Math" panose="02040503050406030204" pitchFamily="18" charset="0"/>
                              </a:rPr>
                              <m:t>lim</m:t>
                            </m:r>
                          </m:e>
                          <m:lim>
                            <m:r>
                              <a:rPr kumimoji="1" lang="en-US" altLang="zh-CN" sz="2500" b="0" i="1" smtClean="0">
                                <a:solidFill>
                                  <a:srgbClr val="000000"/>
                                </a:solidFill>
                                <a:latin typeface="Cambria Math" panose="02040503050406030204" pitchFamily="18" charset="0"/>
                              </a:rPr>
                              <m:t>𝜖</m:t>
                            </m:r>
                            <m:r>
                              <a:rPr kumimoji="1" lang="en-US" altLang="zh-CN" sz="2500" b="0" i="1" smtClean="0">
                                <a:solidFill>
                                  <a:srgbClr val="000000"/>
                                </a:solidFill>
                                <a:latin typeface="Cambria Math" panose="02040503050406030204" pitchFamily="18" charset="0"/>
                              </a:rPr>
                              <m:t>→0</m:t>
                            </m:r>
                          </m:lim>
                        </m:limLow>
                      </m:fName>
                      <m:e>
                        <m:sSub>
                          <m:sSubPr>
                            <m:ctrlPr>
                              <a:rPr kumimoji="1" lang="en-US" altLang="zh-CN" sz="2500" i="1" smtClean="0">
                                <a:solidFill>
                                  <a:srgbClr val="000000"/>
                                </a:solidFill>
                                <a:latin typeface="Cambria Math" panose="02040503050406030204" pitchFamily="18" charset="0"/>
                              </a:rPr>
                            </m:ctrlPr>
                          </m:sSubPr>
                          <m:e>
                            <m:r>
                              <a:rPr kumimoji="1" lang="en-US" altLang="zh-CN" sz="2500" b="0" i="1">
                                <a:solidFill>
                                  <a:srgbClr val="000000"/>
                                </a:solidFill>
                                <a:latin typeface="Cambria Math" panose="02040503050406030204" pitchFamily="18" charset="0"/>
                              </a:rPr>
                              <m:t>𝐻</m:t>
                            </m:r>
                          </m:e>
                          <m:sub>
                            <m:r>
                              <a:rPr kumimoji="1" lang="en-US" altLang="zh-CN" sz="2500" b="0" i="1" smtClean="0">
                                <a:solidFill>
                                  <a:srgbClr val="000000"/>
                                </a:solidFill>
                                <a:latin typeface="Cambria Math" panose="02040503050406030204" pitchFamily="18" charset="0"/>
                              </a:rPr>
                              <m:t>𝑞</m:t>
                            </m:r>
                            <m:r>
                              <a:rPr kumimoji="1" lang="en-US" altLang="zh-CN" sz="2500" b="0" i="1" smtClean="0">
                                <a:solidFill>
                                  <a:srgbClr val="000000"/>
                                </a:solidFill>
                                <a:latin typeface="Cambria Math" panose="02040503050406030204" pitchFamily="18" charset="0"/>
                              </a:rPr>
                              <m:t>+1</m:t>
                            </m:r>
                          </m:sub>
                        </m:sSub>
                        <m:d>
                          <m:dPr>
                            <m:ctrlPr>
                              <a:rPr kumimoji="1" lang="en-US" altLang="zh-CN" sz="2500" i="1">
                                <a:solidFill>
                                  <a:srgbClr val="000000"/>
                                </a:solidFill>
                                <a:latin typeface="Cambria Math" panose="02040503050406030204" pitchFamily="18" charset="0"/>
                              </a:rPr>
                            </m:ctrlPr>
                          </m:dPr>
                          <m:e>
                            <m:sSub>
                              <m:sSubPr>
                                <m:ctrlPr>
                                  <a:rPr kumimoji="1" lang="en-US" altLang="zh-CN" sz="2500" i="1">
                                    <a:solidFill>
                                      <a:srgbClr val="000000"/>
                                    </a:solidFill>
                                    <a:latin typeface="Cambria Math" panose="02040503050406030204" pitchFamily="18" charset="0"/>
                                  </a:rPr>
                                </m:ctrlPr>
                              </m:sSubPr>
                              <m:e>
                                <m:r>
                                  <a:rPr kumimoji="1" lang="en-US" altLang="zh-CN" sz="2500" b="0" i="1">
                                    <a:solidFill>
                                      <a:srgbClr val="000000"/>
                                    </a:solidFill>
                                    <a:latin typeface="Cambria Math" panose="02040503050406030204" pitchFamily="18" charset="0"/>
                                  </a:rPr>
                                  <m:t>𝑝</m:t>
                                </m:r>
                              </m:e>
                              <m:sub>
                                <m:r>
                                  <a:rPr kumimoji="1" lang="en-US" altLang="zh-CN" sz="2500" b="0" i="1">
                                    <a:solidFill>
                                      <a:srgbClr val="000000"/>
                                    </a:solidFill>
                                    <a:latin typeface="Cambria Math" panose="02040503050406030204" pitchFamily="18" charset="0"/>
                                  </a:rPr>
                                  <m:t>1</m:t>
                                </m:r>
                              </m:sub>
                            </m:sSub>
                            <m:r>
                              <a:rPr kumimoji="1" lang="zh-CN" altLang="en-US" sz="2500" b="0" i="1">
                                <a:solidFill>
                                  <a:srgbClr val="000000"/>
                                </a:solidFill>
                                <a:latin typeface="Cambria Math" panose="02040503050406030204" pitchFamily="18" charset="0"/>
                              </a:rPr>
                              <m:t>，</m:t>
                            </m:r>
                            <m:r>
                              <a:rPr kumimoji="1" lang="en-US" altLang="zh-CN" sz="2500" b="0" i="1">
                                <a:solidFill>
                                  <a:srgbClr val="000000"/>
                                </a:solidFill>
                                <a:latin typeface="Cambria Math" panose="02040503050406030204" pitchFamily="18" charset="0"/>
                              </a:rPr>
                              <m:t> </m:t>
                            </m:r>
                            <m:sSub>
                              <m:sSubPr>
                                <m:ctrlPr>
                                  <a:rPr kumimoji="1" lang="en-US" altLang="zh-CN" sz="2500" i="1" smtClean="0">
                                    <a:solidFill>
                                      <a:srgbClr val="000000"/>
                                    </a:solidFill>
                                    <a:latin typeface="Cambria Math" panose="02040503050406030204" pitchFamily="18" charset="0"/>
                                  </a:rPr>
                                </m:ctrlPr>
                              </m:sSubPr>
                              <m:e>
                                <m:r>
                                  <a:rPr kumimoji="1" lang="en-US" altLang="zh-CN" sz="2500" b="0" i="1">
                                    <a:solidFill>
                                      <a:srgbClr val="000000"/>
                                    </a:solidFill>
                                    <a:latin typeface="Cambria Math" panose="02040503050406030204" pitchFamily="18" charset="0"/>
                                  </a:rPr>
                                  <m:t>𝑝</m:t>
                                </m:r>
                              </m:e>
                              <m:sub>
                                <m:r>
                                  <a:rPr kumimoji="1" lang="en-US" altLang="zh-CN" sz="2500" b="0" i="1">
                                    <a:solidFill>
                                      <a:srgbClr val="000000"/>
                                    </a:solidFill>
                                    <a:latin typeface="Cambria Math" panose="02040503050406030204" pitchFamily="18" charset="0"/>
                                  </a:rPr>
                                  <m:t>2</m:t>
                                </m:r>
                              </m:sub>
                            </m:sSub>
                            <m:r>
                              <a:rPr kumimoji="1" lang="zh-CN" altLang="en-US" sz="2500" i="1">
                                <a:solidFill>
                                  <a:srgbClr val="000000"/>
                                </a:solidFill>
                                <a:latin typeface="Cambria Math" panose="02040503050406030204" pitchFamily="18" charset="0"/>
                              </a:rPr>
                              <m:t>，</m:t>
                            </m:r>
                            <m:r>
                              <a:rPr kumimoji="1" lang="en-US" altLang="zh-CN" sz="2500" b="0" i="1">
                                <a:solidFill>
                                  <a:srgbClr val="000000"/>
                                </a:solidFill>
                                <a:latin typeface="Cambria Math" panose="02040503050406030204" pitchFamily="18" charset="0"/>
                              </a:rPr>
                              <m:t>…</m:t>
                            </m:r>
                            <m:r>
                              <a:rPr kumimoji="1" lang="zh-CN" altLang="en-US" sz="2500" i="1">
                                <a:solidFill>
                                  <a:srgbClr val="000000"/>
                                </a:solidFill>
                                <a:latin typeface="Cambria Math" panose="02040503050406030204" pitchFamily="18" charset="0"/>
                              </a:rPr>
                              <m:t>，</m:t>
                            </m:r>
                            <m:r>
                              <a:rPr kumimoji="1" lang="en-US" altLang="zh-CN" sz="2500" b="0" i="1">
                                <a:solidFill>
                                  <a:srgbClr val="000000"/>
                                </a:solidFill>
                                <a:latin typeface="Cambria Math" panose="02040503050406030204" pitchFamily="18" charset="0"/>
                              </a:rPr>
                              <m:t> </m:t>
                            </m:r>
                            <m:sSub>
                              <m:sSubPr>
                                <m:ctrlPr>
                                  <a:rPr kumimoji="1" lang="en-US" altLang="zh-CN" sz="2500" i="1">
                                    <a:solidFill>
                                      <a:srgbClr val="000000"/>
                                    </a:solidFill>
                                    <a:latin typeface="Cambria Math" panose="02040503050406030204" pitchFamily="18" charset="0"/>
                                  </a:rPr>
                                </m:ctrlPr>
                              </m:sSubPr>
                              <m:e>
                                <m:r>
                                  <a:rPr kumimoji="1" lang="en-US" altLang="zh-CN" sz="2500" b="0" i="1">
                                    <a:solidFill>
                                      <a:srgbClr val="000000"/>
                                    </a:solidFill>
                                    <a:latin typeface="Cambria Math" panose="02040503050406030204" pitchFamily="18" charset="0"/>
                                  </a:rPr>
                                  <m:t>𝑝</m:t>
                                </m:r>
                              </m:e>
                              <m:sub>
                                <m:r>
                                  <a:rPr kumimoji="1" lang="en-US" altLang="zh-CN" sz="2500" b="0" i="1">
                                    <a:solidFill>
                                      <a:srgbClr val="000000"/>
                                    </a:solidFill>
                                    <a:latin typeface="Cambria Math" panose="02040503050406030204" pitchFamily="18" charset="0"/>
                                  </a:rPr>
                                  <m:t>𝑞</m:t>
                                </m:r>
                              </m:sub>
                            </m:sSub>
                            <m:r>
                              <a:rPr kumimoji="1" lang="en-US" altLang="zh-CN" sz="2500" b="0" i="1" smtClean="0">
                                <a:solidFill>
                                  <a:srgbClr val="000000"/>
                                </a:solidFill>
                                <a:latin typeface="Cambria Math" panose="02040503050406030204" pitchFamily="18" charset="0"/>
                              </a:rPr>
                              <m:t>−</m:t>
                            </m:r>
                            <m:r>
                              <a:rPr kumimoji="1" lang="en-US" altLang="zh-CN" sz="2500" b="0" i="1" smtClean="0">
                                <a:solidFill>
                                  <a:srgbClr val="000000"/>
                                </a:solidFill>
                                <a:latin typeface="Cambria Math" panose="02040503050406030204" pitchFamily="18" charset="0"/>
                              </a:rPr>
                              <m:t>𝜖</m:t>
                            </m:r>
                            <m:r>
                              <a:rPr kumimoji="1" lang="zh-CN" altLang="en-US" sz="2500" i="1">
                                <a:solidFill>
                                  <a:srgbClr val="000000"/>
                                </a:solidFill>
                                <a:latin typeface="Cambria Math" panose="02040503050406030204" pitchFamily="18" charset="0"/>
                              </a:rPr>
                              <m:t>，</m:t>
                            </m:r>
                            <m:r>
                              <a:rPr kumimoji="1" lang="en-US" altLang="zh-CN" sz="2500" b="0" i="1" smtClean="0">
                                <a:solidFill>
                                  <a:srgbClr val="000000"/>
                                </a:solidFill>
                                <a:latin typeface="Cambria Math" panose="02040503050406030204" pitchFamily="18" charset="0"/>
                              </a:rPr>
                              <m:t> </m:t>
                            </m:r>
                            <m:r>
                              <a:rPr kumimoji="1" lang="en-US" altLang="zh-CN" sz="2500" b="0" i="1" smtClean="0">
                                <a:solidFill>
                                  <a:srgbClr val="000000"/>
                                </a:solidFill>
                                <a:latin typeface="Cambria Math" panose="02040503050406030204" pitchFamily="18" charset="0"/>
                              </a:rPr>
                              <m:t>𝜖</m:t>
                            </m:r>
                          </m:e>
                        </m:d>
                      </m:e>
                    </m:func>
                    <m:r>
                      <a:rPr kumimoji="1" lang="en-US" altLang="zh-CN" sz="2500" b="0" i="1">
                        <a:solidFill>
                          <a:srgbClr val="000000"/>
                        </a:solidFill>
                        <a:latin typeface="Cambria Math" panose="02040503050406030204" pitchFamily="18" charset="0"/>
                      </a:rPr>
                      <m:t>=</m:t>
                    </m:r>
                    <m:sSub>
                      <m:sSubPr>
                        <m:ctrlPr>
                          <a:rPr kumimoji="1" lang="en-US" altLang="zh-CN" sz="2500" i="1" smtClean="0">
                            <a:solidFill>
                              <a:srgbClr val="000000"/>
                            </a:solidFill>
                            <a:latin typeface="Cambria Math" panose="02040503050406030204" pitchFamily="18" charset="0"/>
                          </a:rPr>
                        </m:ctrlPr>
                      </m:sSubPr>
                      <m:e>
                        <m:r>
                          <a:rPr kumimoji="1" lang="en-US" altLang="zh-CN" sz="2500" b="0" i="1">
                            <a:solidFill>
                              <a:srgbClr val="000000"/>
                            </a:solidFill>
                            <a:latin typeface="Cambria Math" panose="02040503050406030204" pitchFamily="18" charset="0"/>
                          </a:rPr>
                          <m:t>𝐻</m:t>
                        </m:r>
                      </m:e>
                      <m:sub>
                        <m:r>
                          <a:rPr kumimoji="1" lang="en-US" altLang="zh-CN" sz="2500" b="0" i="1" smtClean="0">
                            <a:solidFill>
                              <a:srgbClr val="000000"/>
                            </a:solidFill>
                            <a:latin typeface="Cambria Math" panose="02040503050406030204" pitchFamily="18" charset="0"/>
                          </a:rPr>
                          <m:t>𝑞</m:t>
                        </m:r>
                      </m:sub>
                    </m:sSub>
                    <m:d>
                      <m:dPr>
                        <m:ctrlPr>
                          <a:rPr kumimoji="1" lang="en-US" altLang="zh-CN" sz="2500" i="1">
                            <a:solidFill>
                              <a:srgbClr val="000000"/>
                            </a:solidFill>
                            <a:latin typeface="Cambria Math" panose="02040503050406030204" pitchFamily="18" charset="0"/>
                          </a:rPr>
                        </m:ctrlPr>
                      </m:dPr>
                      <m:e>
                        <m:sSub>
                          <m:sSubPr>
                            <m:ctrlPr>
                              <a:rPr kumimoji="1" lang="en-US" altLang="zh-CN" sz="2500" i="1">
                                <a:solidFill>
                                  <a:srgbClr val="000000"/>
                                </a:solidFill>
                                <a:latin typeface="Cambria Math" panose="02040503050406030204" pitchFamily="18" charset="0"/>
                              </a:rPr>
                            </m:ctrlPr>
                          </m:sSubPr>
                          <m:e>
                            <m:r>
                              <a:rPr kumimoji="1" lang="en-US" altLang="zh-CN" sz="2500" b="0" i="1">
                                <a:solidFill>
                                  <a:srgbClr val="000000"/>
                                </a:solidFill>
                                <a:latin typeface="Cambria Math" panose="02040503050406030204" pitchFamily="18" charset="0"/>
                              </a:rPr>
                              <m:t>𝑝</m:t>
                            </m:r>
                          </m:e>
                          <m:sub>
                            <m:r>
                              <a:rPr kumimoji="1" lang="en-US" altLang="zh-CN" sz="2500" b="0" i="1" smtClean="0">
                                <a:solidFill>
                                  <a:srgbClr val="000000"/>
                                </a:solidFill>
                                <a:latin typeface="Cambria Math" panose="02040503050406030204" pitchFamily="18" charset="0"/>
                              </a:rPr>
                              <m:t>1</m:t>
                            </m:r>
                          </m:sub>
                        </m:sSub>
                        <m:r>
                          <a:rPr kumimoji="1" lang="zh-CN" altLang="en-US" sz="2500" i="1">
                            <a:solidFill>
                              <a:srgbClr val="000000"/>
                            </a:solidFill>
                            <a:latin typeface="Cambria Math" panose="02040503050406030204" pitchFamily="18" charset="0"/>
                          </a:rPr>
                          <m:t>，</m:t>
                        </m:r>
                        <m:sSub>
                          <m:sSubPr>
                            <m:ctrlPr>
                              <a:rPr kumimoji="1" lang="en-US" altLang="zh-CN" sz="2500" i="1" smtClean="0">
                                <a:solidFill>
                                  <a:srgbClr val="000000"/>
                                </a:solidFill>
                                <a:latin typeface="Cambria Math" panose="02040503050406030204" pitchFamily="18" charset="0"/>
                              </a:rPr>
                            </m:ctrlPr>
                          </m:sSubPr>
                          <m:e>
                            <m:r>
                              <a:rPr kumimoji="1" lang="en-US" altLang="zh-CN" sz="2500" i="1">
                                <a:solidFill>
                                  <a:srgbClr val="000000"/>
                                </a:solidFill>
                                <a:latin typeface="Cambria Math" panose="02040503050406030204" pitchFamily="18" charset="0"/>
                              </a:rPr>
                              <m:t>𝑝</m:t>
                            </m:r>
                          </m:e>
                          <m:sub>
                            <m:r>
                              <a:rPr kumimoji="1" lang="en-US" altLang="zh-CN" sz="2500" i="1">
                                <a:solidFill>
                                  <a:srgbClr val="000000"/>
                                </a:solidFill>
                                <a:latin typeface="Cambria Math" panose="02040503050406030204" pitchFamily="18" charset="0"/>
                              </a:rPr>
                              <m:t>2</m:t>
                            </m:r>
                          </m:sub>
                        </m:sSub>
                        <m:r>
                          <a:rPr kumimoji="1" lang="zh-CN" altLang="en-US" sz="2500" i="1">
                            <a:solidFill>
                              <a:srgbClr val="000000"/>
                            </a:solidFill>
                            <a:latin typeface="Cambria Math" panose="02040503050406030204" pitchFamily="18" charset="0"/>
                          </a:rPr>
                          <m:t>，</m:t>
                        </m:r>
                        <m:r>
                          <a:rPr kumimoji="1" lang="en-US" altLang="zh-CN" sz="2500" b="0" i="1">
                            <a:solidFill>
                              <a:srgbClr val="000000"/>
                            </a:solidFill>
                            <a:latin typeface="Cambria Math" panose="02040503050406030204" pitchFamily="18" charset="0"/>
                          </a:rPr>
                          <m:t>…</m:t>
                        </m:r>
                        <m:r>
                          <a:rPr kumimoji="1" lang="zh-CN" altLang="en-US" sz="2500" i="1">
                            <a:solidFill>
                              <a:srgbClr val="000000"/>
                            </a:solidFill>
                            <a:latin typeface="Cambria Math" panose="02040503050406030204" pitchFamily="18" charset="0"/>
                          </a:rPr>
                          <m:t>，</m:t>
                        </m:r>
                        <m:sSub>
                          <m:sSubPr>
                            <m:ctrlPr>
                              <a:rPr kumimoji="1" lang="en-US" altLang="zh-CN" sz="2500" i="1">
                                <a:solidFill>
                                  <a:srgbClr val="000000"/>
                                </a:solidFill>
                                <a:latin typeface="Cambria Math" panose="02040503050406030204" pitchFamily="18" charset="0"/>
                              </a:rPr>
                            </m:ctrlPr>
                          </m:sSubPr>
                          <m:e>
                            <m:r>
                              <a:rPr kumimoji="1" lang="en-US" altLang="zh-CN" sz="2500" i="1">
                                <a:solidFill>
                                  <a:srgbClr val="000000"/>
                                </a:solidFill>
                                <a:latin typeface="Cambria Math" panose="02040503050406030204" pitchFamily="18" charset="0"/>
                              </a:rPr>
                              <m:t>𝑝</m:t>
                            </m:r>
                          </m:e>
                          <m:sub>
                            <m:r>
                              <a:rPr kumimoji="1" lang="en-US" altLang="zh-CN" sz="2500" i="1">
                                <a:solidFill>
                                  <a:srgbClr val="000000"/>
                                </a:solidFill>
                                <a:latin typeface="Cambria Math" panose="02040503050406030204" pitchFamily="18" charset="0"/>
                              </a:rPr>
                              <m:t>𝑞</m:t>
                            </m:r>
                          </m:sub>
                        </m:sSub>
                      </m:e>
                    </m:d>
                  </m:oMath>
                </a14:m>
                <a:endParaRPr lang="en-US" altLang="zh-CN" sz="2500" dirty="0">
                  <a:solidFill>
                    <a:srgbClr val="C00000"/>
                  </a:solidFill>
                  <a:latin typeface="宋体" pitchFamily="2" charset="-122"/>
                  <a:cs typeface="Tahoma"/>
                </a:endParaRPr>
              </a:p>
              <a:p>
                <a:pPr eaLnBrk="1" hangingPunct="1">
                  <a:lnSpc>
                    <a:spcPct val="150000"/>
                  </a:lnSpc>
                  <a:defRPr/>
                </a:pPr>
                <a:r>
                  <a:rPr lang="zh-CN" altLang="en-US" sz="2800" dirty="0">
                    <a:solidFill>
                      <a:srgbClr val="000000"/>
                    </a:solidFill>
                    <a:latin typeface="宋体" pitchFamily="2" charset="-122"/>
                    <a:cs typeface="Tahoma"/>
                  </a:rPr>
                  <a:t>注意到</a:t>
                </a:r>
                <a14:m>
                  <m:oMath xmlns:m="http://schemas.openxmlformats.org/officeDocument/2006/math">
                    <m:r>
                      <a:rPr kumimoji="1" lang="en-US" altLang="zh-CN" sz="2800" b="0" smtClean="0">
                        <a:solidFill>
                          <a:srgbClr val="000000"/>
                        </a:solidFill>
                        <a:latin typeface="Cambria Math" panose="02040503050406030204" pitchFamily="18" charset="0"/>
                      </a:rPr>
                      <m:t> </m:t>
                    </m:r>
                    <m:limLow>
                      <m:limLowPr>
                        <m:ctrlPr>
                          <a:rPr kumimoji="1" lang="en-US" altLang="zh-CN" sz="2800" i="1">
                            <a:solidFill>
                              <a:srgbClr val="000000"/>
                            </a:solidFill>
                            <a:latin typeface="Cambria Math" panose="02040503050406030204" pitchFamily="18" charset="0"/>
                          </a:rPr>
                        </m:ctrlPr>
                      </m:limLowPr>
                      <m:e>
                        <m:r>
                          <m:rPr>
                            <m:sty m:val="p"/>
                          </m:rPr>
                          <a:rPr kumimoji="1" lang="en-US" altLang="zh-CN" sz="2800" b="0">
                            <a:solidFill>
                              <a:srgbClr val="000000"/>
                            </a:solidFill>
                            <a:latin typeface="Cambria Math" panose="02040503050406030204" pitchFamily="18" charset="0"/>
                          </a:rPr>
                          <m:t>lim</m:t>
                        </m:r>
                      </m:e>
                      <m:lim>
                        <m:r>
                          <a:rPr kumimoji="1" lang="en-US" altLang="zh-CN" sz="2800" b="0" i="1">
                            <a:solidFill>
                              <a:srgbClr val="000000"/>
                            </a:solidFill>
                            <a:latin typeface="Cambria Math" panose="02040503050406030204" pitchFamily="18" charset="0"/>
                          </a:rPr>
                          <m:t>𝜖</m:t>
                        </m:r>
                        <m:r>
                          <a:rPr kumimoji="1" lang="en-US" altLang="zh-CN" sz="2800" b="0" i="1">
                            <a:solidFill>
                              <a:srgbClr val="000000"/>
                            </a:solidFill>
                            <a:latin typeface="Cambria Math" panose="02040503050406030204" pitchFamily="18" charset="0"/>
                          </a:rPr>
                          <m:t>→0</m:t>
                        </m:r>
                      </m:lim>
                    </m:limLow>
                    <m:r>
                      <a:rPr kumimoji="1" lang="en-US" altLang="zh-CN" sz="2800" b="0" i="1" smtClean="0">
                        <a:solidFill>
                          <a:srgbClr val="000000"/>
                        </a:solidFill>
                        <a:latin typeface="Cambria Math" panose="02040503050406030204" pitchFamily="18" charset="0"/>
                      </a:rPr>
                      <m:t>𝜖</m:t>
                    </m:r>
                    <m:r>
                      <a:rPr kumimoji="1" lang="en-US" altLang="zh-CN" sz="2800" b="0" i="1" smtClean="0">
                        <a:solidFill>
                          <a:srgbClr val="000000"/>
                        </a:solidFill>
                        <a:latin typeface="Cambria Math" panose="02040503050406030204" pitchFamily="18" charset="0"/>
                      </a:rPr>
                      <m:t> </m:t>
                    </m:r>
                    <m:r>
                      <a:rPr kumimoji="1" lang="en-US" altLang="zh-CN" sz="2800" b="0" i="1" smtClean="0">
                        <a:solidFill>
                          <a:srgbClr val="000000"/>
                        </a:solidFill>
                        <a:latin typeface="Cambria Math" panose="02040503050406030204" pitchFamily="18" charset="0"/>
                      </a:rPr>
                      <m:t>𝑙𝑜𝑔</m:t>
                    </m:r>
                    <m:r>
                      <a:rPr kumimoji="1" lang="en-US" altLang="zh-CN" sz="2800" b="0" i="1" smtClean="0">
                        <a:solidFill>
                          <a:srgbClr val="000000"/>
                        </a:solidFill>
                        <a:latin typeface="Cambria Math" panose="02040503050406030204" pitchFamily="18" charset="0"/>
                      </a:rPr>
                      <m:t>𝜖</m:t>
                    </m:r>
                    <m:r>
                      <a:rPr kumimoji="1" lang="en-US" altLang="zh-CN" sz="2800" b="0" i="1" smtClean="0">
                        <a:solidFill>
                          <a:srgbClr val="000000"/>
                        </a:solidFill>
                        <a:latin typeface="Cambria Math" panose="02040503050406030204" pitchFamily="18" charset="0"/>
                      </a:rPr>
                      <m:t>=0</m:t>
                    </m:r>
                  </m:oMath>
                </a14:m>
                <a:r>
                  <a:rPr lang="zh-CN" altLang="en-US" sz="2800" dirty="0">
                    <a:solidFill>
                      <a:srgbClr val="000000"/>
                    </a:solidFill>
                    <a:latin typeface="宋体" pitchFamily="2" charset="-122"/>
                    <a:cs typeface="Tahoma"/>
                  </a:rPr>
                  <a:t>。说明增加一个基本不会出现的小概率事件，信源的熵保持不变。</a:t>
                </a:r>
                <a:endParaRPr lang="en-US" altLang="zh-CN" sz="2800" dirty="0">
                  <a:solidFill>
                    <a:srgbClr val="000000"/>
                  </a:solidFill>
                  <a:latin typeface="宋体" pitchFamily="2" charset="-122"/>
                  <a:cs typeface="Tahoma"/>
                </a:endParaRPr>
              </a:p>
            </p:txBody>
          </p:sp>
        </mc:Choice>
        <mc:Fallback xmlns="">
          <p:sp>
            <p:nvSpPr>
              <p:cNvPr id="3" name="Rectangle 2">
                <a:hlinkClick r:id="rId4" action="ppaction://hlinksldjump"/>
                <a:extLst>
                  <a:ext uri="{FF2B5EF4-FFF2-40B4-BE49-F238E27FC236}">
                    <a16:creationId xmlns:a16="http://schemas.microsoft.com/office/drawing/2014/main" id="{768B0D4F-CBE3-5E0F-1CA3-8FED1888FA3D}"/>
                  </a:ext>
                </a:extLst>
              </p:cNvPr>
              <p:cNvSpPr>
                <a:spLocks noRot="1" noChangeAspect="1" noMove="1" noResize="1" noEditPoints="1" noAdjustHandles="1" noChangeArrowheads="1" noChangeShapeType="1" noTextEdit="1"/>
              </p:cNvSpPr>
              <p:nvPr/>
            </p:nvSpPr>
            <p:spPr bwMode="auto">
              <a:xfrm>
                <a:off x="228600" y="609991"/>
                <a:ext cx="8855636" cy="6117380"/>
              </a:xfrm>
              <a:prstGeom prst="rect">
                <a:avLst/>
              </a:prstGeom>
              <a:blipFill>
                <a:blip r:embed="rId5"/>
                <a:stretch>
                  <a:fillRect l="-1446" r="-275" b="-2291"/>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E33D8B91-168A-909D-6B29-F01BE9BC0186}"/>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xmlns:a14="http://schemas.microsoft.com/office/drawing/2010/main">
        <mc:Choice Requires="a14">
          <p:sp>
            <p:nvSpPr>
              <p:cNvPr id="4" name="Rectangle 2">
                <a:hlinkClick r:id="rId3" action="ppaction://hlinksldjump"/>
                <a:extLst>
                  <a:ext uri="{FF2B5EF4-FFF2-40B4-BE49-F238E27FC236}">
                    <a16:creationId xmlns:a16="http://schemas.microsoft.com/office/drawing/2014/main" id="{FB57E975-5B12-8647-7F23-61BC37BCB0D9}"/>
                  </a:ext>
                </a:extLst>
              </p:cNvPr>
              <p:cNvSpPr>
                <a:spLocks noChangeArrowheads="1"/>
              </p:cNvSpPr>
              <p:nvPr/>
            </p:nvSpPr>
            <p:spPr bwMode="auto">
              <a:xfrm>
                <a:off x="206828" y="762000"/>
                <a:ext cx="8937171" cy="5922775"/>
              </a:xfrm>
              <a:prstGeom prst="rect">
                <a:avLst/>
              </a:prstGeom>
              <a:noFill/>
              <a:ln w="9525">
                <a:noFill/>
                <a:miter lim="800000"/>
                <a:headEnd/>
                <a:tailEnd/>
              </a:ln>
              <a:effectLst/>
            </p:spPr>
            <p:txBody>
              <a:bodyPr wrap="square">
                <a:spAutoFit/>
              </a:bodyPr>
              <a:lstStyle/>
              <a:p>
                <a:pPr marL="457200" indent="-457200" eaLnBrk="1">
                  <a:lnSpc>
                    <a:spcPct val="130000"/>
                  </a:lnSpc>
                  <a:buFont typeface="Wingdings" panose="05000000000000000000" pitchFamily="2" charset="2"/>
                  <a:buChar char="Ø"/>
                  <a:defRPr/>
                </a:pPr>
                <a:r>
                  <a:rPr kumimoji="0" lang="zh-CN" altLang="en-US" sz="2600" dirty="0">
                    <a:solidFill>
                      <a:srgbClr val="C00000"/>
                    </a:solidFill>
                    <a:latin typeface="宋体" pitchFamily="2" charset="-122"/>
                  </a:rPr>
                  <a:t>熵函数</a:t>
                </a:r>
                <a14:m>
                  <m:oMath xmlns:m="http://schemas.openxmlformats.org/officeDocument/2006/math">
                    <m:r>
                      <a:rPr kumimoji="0" lang="en-US" altLang="zh-CN" sz="2600" b="0" i="1" smtClean="0">
                        <a:solidFill>
                          <a:srgbClr val="C00000"/>
                        </a:solidFill>
                        <a:latin typeface="Cambria Math" panose="02040503050406030204" pitchFamily="18" charset="0"/>
                      </a:rPr>
                      <m:t> </m:t>
                    </m:r>
                    <m:r>
                      <a:rPr kumimoji="0" lang="en-US" altLang="zh-CN" sz="2600" b="0" i="1" smtClean="0">
                        <a:solidFill>
                          <a:srgbClr val="C00000"/>
                        </a:solidFill>
                        <a:latin typeface="Cambria Math" panose="02040503050406030204" pitchFamily="18" charset="0"/>
                      </a:rPr>
                      <m:t>𝐻</m:t>
                    </m:r>
                    <m:d>
                      <m:dPr>
                        <m:ctrlPr>
                          <a:rPr kumimoji="0" lang="en-US" altLang="zh-CN" sz="2600" i="1" smtClean="0">
                            <a:solidFill>
                              <a:srgbClr val="C00000"/>
                            </a:solidFill>
                            <a:latin typeface="Cambria Math" panose="02040503050406030204" pitchFamily="18" charset="0"/>
                          </a:rPr>
                        </m:ctrlPr>
                      </m:dPr>
                      <m:e>
                        <m:acc>
                          <m:accPr>
                            <m:chr m:val="̅"/>
                            <m:ctrlPr>
                              <a:rPr kumimoji="0" lang="en-US" altLang="zh-CN" sz="2600" i="1" smtClean="0">
                                <a:solidFill>
                                  <a:srgbClr val="C00000"/>
                                </a:solidFill>
                                <a:latin typeface="Cambria Math" panose="02040503050406030204" pitchFamily="18" charset="0"/>
                                <a:cs typeface="Times New Roman" pitchFamily="18" charset="0"/>
                              </a:rPr>
                            </m:ctrlPr>
                          </m:accPr>
                          <m:e>
                            <m:r>
                              <a:rPr kumimoji="0" lang="en-US" altLang="zh-CN" sz="2600" b="0" i="1">
                                <a:solidFill>
                                  <a:srgbClr val="C00000"/>
                                </a:solidFill>
                                <a:latin typeface="Cambria Math" panose="02040503050406030204" pitchFamily="18" charset="0"/>
                                <a:cs typeface="Times New Roman" pitchFamily="18" charset="0"/>
                              </a:rPr>
                              <m:t>𝑝</m:t>
                            </m:r>
                          </m:e>
                        </m:acc>
                      </m:e>
                    </m:d>
                    <m:r>
                      <a:rPr kumimoji="0" lang="en-US" altLang="zh-CN" sz="2600" b="0" i="1" smtClean="0">
                        <a:solidFill>
                          <a:srgbClr val="C00000"/>
                        </a:solidFill>
                        <a:latin typeface="Cambria Math" panose="02040503050406030204" pitchFamily="18" charset="0"/>
                      </a:rPr>
                      <m:t> </m:t>
                    </m:r>
                  </m:oMath>
                </a14:m>
                <a:r>
                  <a:rPr kumimoji="0" lang="zh-CN" altLang="en-US" sz="2600" dirty="0">
                    <a:solidFill>
                      <a:srgbClr val="C00000"/>
                    </a:solidFill>
                    <a:latin typeface="宋体" pitchFamily="2" charset="-122"/>
                  </a:rPr>
                  <a:t>的性质</a:t>
                </a:r>
                <a:r>
                  <a:rPr kumimoji="0" lang="en-US" altLang="zh-CN" sz="2600" dirty="0">
                    <a:solidFill>
                      <a:srgbClr val="C00000"/>
                    </a:solidFill>
                    <a:latin typeface="宋体" pitchFamily="2" charset="-122"/>
                  </a:rPr>
                  <a:t>:</a:t>
                </a:r>
              </a:p>
              <a:p>
                <a:pPr marL="514350" indent="-514350" eaLnBrk="1">
                  <a:lnSpc>
                    <a:spcPct val="130000"/>
                  </a:lnSpc>
                  <a:buFont typeface="+mj-lt"/>
                  <a:buAutoNum type="arabicPeriod" startAt="5"/>
                  <a:defRPr/>
                </a:pPr>
                <a:r>
                  <a:rPr kumimoji="0" lang="zh-CN" altLang="en-US" sz="2600" dirty="0">
                    <a:solidFill>
                      <a:srgbClr val="C00000"/>
                    </a:solidFill>
                    <a:latin typeface="宋体" pitchFamily="2" charset="-122"/>
                  </a:rPr>
                  <a:t>连续性：</a:t>
                </a:r>
                <a:endParaRPr kumimoji="0" lang="en-US" altLang="zh-CN" sz="2600" dirty="0">
                  <a:solidFill>
                    <a:srgbClr val="C00000"/>
                  </a:solidFill>
                  <a:latin typeface="宋体" pitchFamily="2" charset="-122"/>
                </a:endParaRPr>
              </a:p>
              <a:p>
                <a:pPr eaLnBrk="1">
                  <a:lnSpc>
                    <a:spcPct val="130000"/>
                  </a:lnSpc>
                  <a:defRPr/>
                </a:pPr>
                <a14:m>
                  <m:oMathPara xmlns:m="http://schemas.openxmlformats.org/officeDocument/2006/math">
                    <m:oMathParaPr>
                      <m:jc m:val="centerGroup"/>
                    </m:oMathParaPr>
                    <m:oMath xmlns:m="http://schemas.openxmlformats.org/officeDocument/2006/math">
                      <m:func>
                        <m:funcPr>
                          <m:ctrlPr>
                            <a:rPr lang="en-US" altLang="zh-CN" sz="2600" i="1">
                              <a:latin typeface="Cambria Math" panose="02040503050406030204" pitchFamily="18" charset="0"/>
                            </a:rPr>
                          </m:ctrlPr>
                        </m:funcPr>
                        <m:fName>
                          <m:limLow>
                            <m:limLowPr>
                              <m:ctrlPr>
                                <a:rPr lang="en-US" altLang="zh-CN" sz="2600" i="1">
                                  <a:latin typeface="Cambria Math" panose="02040503050406030204" pitchFamily="18" charset="0"/>
                                </a:rPr>
                              </m:ctrlPr>
                            </m:limLowPr>
                            <m:e>
                              <m:r>
                                <m:rPr>
                                  <m:sty m:val="p"/>
                                </m:rPr>
                                <a:rPr lang="en-US" altLang="zh-CN" sz="2600" b="0">
                                  <a:latin typeface="Cambria Math" panose="02040503050406030204" pitchFamily="18" charset="0"/>
                                </a:rPr>
                                <m:t>lim</m:t>
                              </m:r>
                            </m:e>
                            <m:lim>
                              <m:r>
                                <a:rPr lang="en-US" altLang="zh-CN" sz="2600" b="0" i="1">
                                  <a:latin typeface="Cambria Math" panose="02040503050406030204" pitchFamily="18" charset="0"/>
                                </a:rPr>
                                <m:t>𝜖</m:t>
                              </m:r>
                              <m:r>
                                <a:rPr lang="en-US" altLang="zh-CN" sz="2600" b="0" i="1">
                                  <a:latin typeface="Cambria Math" panose="02040503050406030204" pitchFamily="18" charset="0"/>
                                </a:rPr>
                                <m:t>→0</m:t>
                              </m:r>
                            </m:lim>
                          </m:limLow>
                        </m:fName>
                        <m:e>
                          <m:sSub>
                            <m:sSubPr>
                              <m:ctrlPr>
                                <a:rPr lang="en-US" altLang="zh-CN" sz="2600" i="1">
                                  <a:latin typeface="Cambria Math" panose="02040503050406030204" pitchFamily="18" charset="0"/>
                                </a:rPr>
                              </m:ctrlPr>
                            </m:sSubPr>
                            <m:e>
                              <m:r>
                                <a:rPr lang="en-US" altLang="zh-CN" sz="2600" b="0" i="1">
                                  <a:latin typeface="Cambria Math" panose="02040503050406030204" pitchFamily="18" charset="0"/>
                                </a:rPr>
                                <m:t>𝐻</m:t>
                              </m:r>
                            </m:e>
                            <m:sub>
                              <m:r>
                                <a:rPr lang="en-US" altLang="zh-CN" sz="2600" b="0" i="1">
                                  <a:latin typeface="Cambria Math" panose="02040503050406030204" pitchFamily="18" charset="0"/>
                                </a:rPr>
                                <m:t>𝑞</m:t>
                              </m:r>
                            </m:sub>
                          </m:sSub>
                          <m:d>
                            <m:dPr>
                              <m:ctrlPr>
                                <a:rPr lang="en-US" altLang="zh-CN" sz="2600" i="1">
                                  <a:latin typeface="Cambria Math" panose="02040503050406030204" pitchFamily="18" charset="0"/>
                                </a:rPr>
                              </m:ctrlPr>
                            </m:dPr>
                            <m:e>
                              <m:sSub>
                                <m:sSubPr>
                                  <m:ctrlPr>
                                    <a:rPr lang="en-US" altLang="zh-CN" sz="2600" i="1">
                                      <a:latin typeface="Cambria Math" panose="02040503050406030204" pitchFamily="18" charset="0"/>
                                    </a:rPr>
                                  </m:ctrlPr>
                                </m:sSubPr>
                                <m:e>
                                  <m:r>
                                    <a:rPr lang="en-US" altLang="zh-CN" sz="2600" b="0" i="1">
                                      <a:latin typeface="Cambria Math" panose="02040503050406030204" pitchFamily="18" charset="0"/>
                                    </a:rPr>
                                    <m:t>𝑝</m:t>
                                  </m:r>
                                </m:e>
                                <m:sub>
                                  <m:r>
                                    <a:rPr lang="en-US" altLang="zh-CN" sz="2600" b="0" i="1">
                                      <a:latin typeface="Cambria Math" panose="02040503050406030204" pitchFamily="18" charset="0"/>
                                    </a:rPr>
                                    <m:t>1</m:t>
                                  </m:r>
                                </m:sub>
                              </m:sSub>
                              <m:r>
                                <a:rPr lang="zh-CN" altLang="en-US" sz="2600" b="0" i="1">
                                  <a:latin typeface="Cambria Math" panose="02040503050406030204" pitchFamily="18" charset="0"/>
                                </a:rPr>
                                <m:t>，</m:t>
                              </m:r>
                              <m:r>
                                <a:rPr lang="en-US" altLang="zh-CN" sz="2600" b="0" i="1">
                                  <a:latin typeface="Cambria Math" panose="02040503050406030204" pitchFamily="18" charset="0"/>
                                </a:rPr>
                                <m:t> </m:t>
                              </m:r>
                              <m:sSub>
                                <m:sSubPr>
                                  <m:ctrlPr>
                                    <a:rPr lang="en-US" altLang="zh-CN" sz="2600" i="1">
                                      <a:latin typeface="Cambria Math" panose="02040503050406030204" pitchFamily="18" charset="0"/>
                                    </a:rPr>
                                  </m:ctrlPr>
                                </m:sSubPr>
                                <m:e>
                                  <m:r>
                                    <a:rPr lang="en-US" altLang="zh-CN" sz="2600" b="0" i="1">
                                      <a:latin typeface="Cambria Math" panose="02040503050406030204" pitchFamily="18" charset="0"/>
                                    </a:rPr>
                                    <m:t>𝑝</m:t>
                                  </m:r>
                                </m:e>
                                <m:sub>
                                  <m:r>
                                    <a:rPr lang="en-US" altLang="zh-CN" sz="2600" b="0" i="1">
                                      <a:latin typeface="Cambria Math" panose="02040503050406030204" pitchFamily="18" charset="0"/>
                                    </a:rPr>
                                    <m:t>2</m:t>
                                  </m:r>
                                </m:sub>
                              </m:sSub>
                              <m:r>
                                <a:rPr lang="zh-CN" altLang="en-US" sz="2600" b="0" i="1">
                                  <a:latin typeface="Cambria Math" panose="02040503050406030204" pitchFamily="18" charset="0"/>
                                </a:rPr>
                                <m:t>，</m:t>
                              </m:r>
                              <m:r>
                                <a:rPr lang="en-US" altLang="zh-CN" sz="2600" b="0" i="1">
                                  <a:latin typeface="Cambria Math" panose="02040503050406030204" pitchFamily="18" charset="0"/>
                                </a:rPr>
                                <m:t>…</m:t>
                              </m:r>
                              <m:r>
                                <a:rPr lang="zh-CN" altLang="en-US" sz="2600" i="1">
                                  <a:latin typeface="Cambria Math" panose="02040503050406030204" pitchFamily="18" charset="0"/>
                                </a:rPr>
                                <m:t>，</m:t>
                              </m:r>
                              <m:r>
                                <a:rPr lang="en-US" altLang="zh-CN" sz="2600" b="0" i="1">
                                  <a:latin typeface="Cambria Math" panose="02040503050406030204" pitchFamily="18" charset="0"/>
                                </a:rPr>
                                <m:t> </m:t>
                              </m:r>
                              <m:sSub>
                                <m:sSubPr>
                                  <m:ctrlPr>
                                    <a:rPr lang="en-US" altLang="zh-CN" sz="2600" i="1">
                                      <a:latin typeface="Cambria Math" panose="02040503050406030204" pitchFamily="18" charset="0"/>
                                    </a:rPr>
                                  </m:ctrlPr>
                                </m:sSubPr>
                                <m:e>
                                  <m:r>
                                    <a:rPr lang="en-US" altLang="zh-CN" sz="2600" b="0" i="1">
                                      <a:latin typeface="Cambria Math" panose="02040503050406030204" pitchFamily="18" charset="0"/>
                                    </a:rPr>
                                    <m:t>𝑝</m:t>
                                  </m:r>
                                </m:e>
                                <m:sub>
                                  <m:r>
                                    <a:rPr lang="en-US" altLang="zh-CN" sz="2600" b="0" i="1">
                                      <a:latin typeface="Cambria Math" panose="02040503050406030204" pitchFamily="18" charset="0"/>
                                    </a:rPr>
                                    <m:t>𝑞</m:t>
                                  </m:r>
                                  <m:r>
                                    <a:rPr lang="en-US" altLang="zh-CN" sz="2600" b="0" i="1" smtClean="0">
                                      <a:latin typeface="Cambria Math" panose="02040503050406030204" pitchFamily="18" charset="0"/>
                                    </a:rPr>
                                    <m:t>−1</m:t>
                                  </m:r>
                                </m:sub>
                              </m:sSub>
                              <m:r>
                                <a:rPr lang="en-US" altLang="zh-CN" sz="2600" b="0" i="1">
                                  <a:latin typeface="Cambria Math" panose="02040503050406030204" pitchFamily="18" charset="0"/>
                                </a:rPr>
                                <m:t>−</m:t>
                              </m:r>
                              <m:r>
                                <a:rPr lang="en-US" altLang="zh-CN" sz="2600" b="0" i="1">
                                  <a:latin typeface="Cambria Math" panose="02040503050406030204" pitchFamily="18" charset="0"/>
                                </a:rPr>
                                <m:t>𝜖</m:t>
                              </m:r>
                              <m:r>
                                <a:rPr lang="zh-CN" altLang="en-US" sz="2600" i="1">
                                  <a:latin typeface="Cambria Math" panose="02040503050406030204" pitchFamily="18" charset="0"/>
                                </a:rPr>
                                <m:t>，</m:t>
                              </m:r>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𝑝</m:t>
                                  </m:r>
                                </m:e>
                                <m:sub>
                                  <m:r>
                                    <a:rPr lang="en-US" altLang="zh-CN" sz="2600" b="0" i="1" smtClean="0">
                                      <a:latin typeface="Cambria Math" panose="02040503050406030204" pitchFamily="18" charset="0"/>
                                    </a:rPr>
                                    <m:t>𝑞</m:t>
                                  </m:r>
                                </m:sub>
                              </m:sSub>
                              <m:r>
                                <a:rPr lang="en-US" altLang="zh-CN" sz="2600" b="0" i="1" smtClean="0">
                                  <a:latin typeface="Cambria Math" panose="02040503050406030204" pitchFamily="18" charset="0"/>
                                </a:rPr>
                                <m:t>+</m:t>
                              </m:r>
                              <m:r>
                                <a:rPr lang="en-US" altLang="zh-CN" sz="2600" b="0" i="1">
                                  <a:latin typeface="Cambria Math" panose="02040503050406030204" pitchFamily="18" charset="0"/>
                                </a:rPr>
                                <m:t>𝜖</m:t>
                              </m:r>
                            </m:e>
                          </m:d>
                        </m:e>
                      </m:func>
                      <m:r>
                        <a:rPr lang="en-US" altLang="zh-CN" sz="2600" b="0" i="1" smtClean="0">
                          <a:latin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b="0" i="1">
                              <a:latin typeface="Cambria Math" panose="02040503050406030204" pitchFamily="18" charset="0"/>
                            </a:rPr>
                            <m:t>𝐻</m:t>
                          </m:r>
                        </m:e>
                        <m:sub>
                          <m:r>
                            <a:rPr lang="en-US" altLang="zh-CN" sz="2600" b="0" i="1">
                              <a:latin typeface="Cambria Math" panose="02040503050406030204" pitchFamily="18" charset="0"/>
                            </a:rPr>
                            <m:t>𝑞</m:t>
                          </m:r>
                        </m:sub>
                      </m:sSub>
                      <m:d>
                        <m:dPr>
                          <m:ctrlPr>
                            <a:rPr lang="en-US" altLang="zh-CN" sz="2600" i="1">
                              <a:latin typeface="Cambria Math" panose="02040503050406030204" pitchFamily="18" charset="0"/>
                            </a:rPr>
                          </m:ctrlPr>
                        </m:dPr>
                        <m:e>
                          <m:sSub>
                            <m:sSubPr>
                              <m:ctrlPr>
                                <a:rPr lang="en-US" altLang="zh-CN" sz="2600" i="1">
                                  <a:latin typeface="Cambria Math" panose="02040503050406030204" pitchFamily="18" charset="0"/>
                                </a:rPr>
                              </m:ctrlPr>
                            </m:sSubPr>
                            <m:e>
                              <m:r>
                                <a:rPr lang="en-US" altLang="zh-CN" sz="2600" b="0" i="1">
                                  <a:latin typeface="Cambria Math" panose="02040503050406030204" pitchFamily="18" charset="0"/>
                                </a:rPr>
                                <m:t>𝑝</m:t>
                              </m:r>
                            </m:e>
                            <m:sub>
                              <m:r>
                                <a:rPr lang="en-US" altLang="zh-CN" sz="2600" b="0" i="1">
                                  <a:latin typeface="Cambria Math" panose="02040503050406030204" pitchFamily="18" charset="0"/>
                                </a:rPr>
                                <m:t>1</m:t>
                              </m:r>
                            </m:sub>
                          </m:sSub>
                          <m:r>
                            <a:rPr lang="zh-CN" altLang="en-US" sz="2600" b="0" i="1">
                              <a:latin typeface="Cambria Math" panose="02040503050406030204" pitchFamily="18" charset="0"/>
                            </a:rPr>
                            <m:t>，</m:t>
                          </m:r>
                          <m:r>
                            <a:rPr lang="en-US" altLang="zh-CN" sz="2600" b="0" i="1">
                              <a:latin typeface="Cambria Math" panose="02040503050406030204" pitchFamily="18" charset="0"/>
                            </a:rPr>
                            <m:t>…,</m:t>
                          </m:r>
                          <m:r>
                            <a:rPr lang="zh-CN" altLang="en-US" sz="2600" i="1">
                              <a:latin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b="0" i="1">
                                  <a:latin typeface="Cambria Math" panose="02040503050406030204" pitchFamily="18" charset="0"/>
                                </a:rPr>
                                <m:t>𝑝</m:t>
                              </m:r>
                            </m:e>
                            <m:sub>
                              <m:r>
                                <a:rPr lang="en-US" altLang="zh-CN" sz="2600" b="0" i="1">
                                  <a:latin typeface="Cambria Math" panose="02040503050406030204" pitchFamily="18" charset="0"/>
                                </a:rPr>
                                <m:t>𝑞</m:t>
                              </m:r>
                            </m:sub>
                          </m:sSub>
                        </m:e>
                      </m:d>
                    </m:oMath>
                  </m:oMathPara>
                </a14:m>
                <a:endParaRPr kumimoji="0" lang="en-US" altLang="zh-CN" sz="2600" dirty="0">
                  <a:solidFill>
                    <a:srgbClr val="C00000"/>
                  </a:solidFill>
                  <a:latin typeface="宋体" pitchFamily="2" charset="-122"/>
                </a:endParaRPr>
              </a:p>
              <a:p>
                <a:pPr marL="514350" indent="-514350" eaLnBrk="1">
                  <a:lnSpc>
                    <a:spcPct val="130000"/>
                  </a:lnSpc>
                  <a:buFont typeface="+mj-lt"/>
                  <a:buAutoNum type="arabicPeriod" startAt="6"/>
                  <a:defRPr/>
                </a:pPr>
                <a:r>
                  <a:rPr kumimoji="0" lang="zh-CN" altLang="en-US" sz="2600" dirty="0">
                    <a:solidFill>
                      <a:srgbClr val="C00000"/>
                    </a:solidFill>
                    <a:latin typeface="宋体" pitchFamily="2" charset="-122"/>
                  </a:rPr>
                  <a:t>递推性：</a:t>
                </a:r>
                <a:endParaRPr kumimoji="0" lang="en-US" altLang="zh-CN" sz="2600" dirty="0">
                  <a:solidFill>
                    <a:srgbClr val="C00000"/>
                  </a:solidFill>
                  <a:latin typeface="宋体" pitchFamily="2" charset="-122"/>
                </a:endParaRPr>
              </a:p>
              <a:p>
                <a:pPr eaLnBrk="1">
                  <a:lnSpc>
                    <a:spcPct val="130000"/>
                  </a:lnSpc>
                  <a:defRPr/>
                </a:pPr>
                <a14:m>
                  <m:oMathPara xmlns:m="http://schemas.openxmlformats.org/officeDocument/2006/math">
                    <m:oMathParaPr>
                      <m:jc m:val="centerGroup"/>
                    </m:oMathParaPr>
                    <m:oMath xmlns:m="http://schemas.openxmlformats.org/officeDocument/2006/math">
                      <m:r>
                        <a:rPr lang="en-US" altLang="zh-CN" sz="2600" b="0" i="1" smtClean="0">
                          <a:latin typeface="Cambria Math" panose="02040503050406030204" pitchFamily="18" charset="0"/>
                        </a:rPr>
                        <m:t>𝐻</m:t>
                      </m:r>
                      <m:d>
                        <m:dPr>
                          <m:ctrlPr>
                            <a:rPr lang="en-US" altLang="zh-CN" sz="2600" i="1">
                              <a:latin typeface="Cambria Math" panose="02040503050406030204" pitchFamily="18" charset="0"/>
                            </a:rPr>
                          </m:ctrlPr>
                        </m:dPr>
                        <m:e>
                          <m:sSub>
                            <m:sSubPr>
                              <m:ctrlPr>
                                <a:rPr lang="en-US" altLang="zh-CN" sz="2600" i="1">
                                  <a:latin typeface="Cambria Math" panose="02040503050406030204" pitchFamily="18" charset="0"/>
                                </a:rPr>
                              </m:ctrlPr>
                            </m:sSubPr>
                            <m:e>
                              <m:r>
                                <a:rPr lang="en-US" altLang="zh-CN" sz="2600" b="0" i="1">
                                  <a:latin typeface="Cambria Math" panose="02040503050406030204" pitchFamily="18" charset="0"/>
                                </a:rPr>
                                <m:t>𝑝</m:t>
                              </m:r>
                            </m:e>
                            <m:sub>
                              <m:r>
                                <a:rPr lang="en-US" altLang="zh-CN" sz="2600" b="0" i="1" smtClean="0">
                                  <a:latin typeface="Cambria Math" panose="02040503050406030204" pitchFamily="18" charset="0"/>
                                </a:rPr>
                                <m:t>1</m:t>
                              </m:r>
                            </m:sub>
                          </m:sSub>
                          <m:r>
                            <a:rPr lang="zh-CN" altLang="en-US" sz="2600" b="0" i="1">
                              <a:latin typeface="Cambria Math" panose="02040503050406030204" pitchFamily="18" charset="0"/>
                            </a:rPr>
                            <m:t>，</m:t>
                          </m:r>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𝑝</m:t>
                              </m:r>
                            </m:e>
                            <m:sub>
                              <m:r>
                                <a:rPr lang="en-US" altLang="zh-CN" sz="2600" b="0" i="1" smtClean="0">
                                  <a:latin typeface="Cambria Math" panose="02040503050406030204" pitchFamily="18" charset="0"/>
                                </a:rPr>
                                <m:t>2</m:t>
                              </m:r>
                            </m:sub>
                          </m:sSub>
                          <m:r>
                            <a:rPr lang="zh-CN" altLang="en-US" sz="2600" i="1">
                              <a:latin typeface="Cambria Math" panose="02040503050406030204" pitchFamily="18" charset="0"/>
                            </a:rPr>
                            <m:t>，</m:t>
                          </m:r>
                          <m:r>
                            <a:rPr lang="en-US" altLang="zh-CN" sz="2600" b="0" i="1">
                              <a:latin typeface="Cambria Math" panose="02040503050406030204" pitchFamily="18" charset="0"/>
                            </a:rPr>
                            <m:t>…</m:t>
                          </m:r>
                          <m:r>
                            <a:rPr lang="zh-CN" altLang="en-US" sz="2600" i="1">
                              <a:latin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b="0" i="1">
                                  <a:latin typeface="Cambria Math" panose="02040503050406030204" pitchFamily="18" charset="0"/>
                                </a:rPr>
                                <m:t>𝑝</m:t>
                              </m:r>
                            </m:e>
                            <m:sub>
                              <m:r>
                                <a:rPr lang="en-US" altLang="zh-CN" sz="2600" b="0" i="1" smtClean="0">
                                  <a:latin typeface="Cambria Math" panose="02040503050406030204" pitchFamily="18" charset="0"/>
                                </a:rPr>
                                <m:t>𝑛</m:t>
                              </m:r>
                            </m:sub>
                          </m:sSub>
                        </m:e>
                      </m:d>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𝐻</m:t>
                      </m:r>
                      <m:d>
                        <m:dPr>
                          <m:begChr m:val="["/>
                          <m:endChr m:val="]"/>
                          <m:ctrlPr>
                            <a:rPr lang="en-US" altLang="zh-CN" sz="2600" i="1" smtClean="0">
                              <a:latin typeface="Cambria Math" panose="02040503050406030204" pitchFamily="18" charset="0"/>
                            </a:rPr>
                          </m:ctrlPr>
                        </m:dPr>
                        <m:e>
                          <m:d>
                            <m:dPr>
                              <m:ctrlPr>
                                <a:rPr lang="en-US" altLang="zh-CN" sz="2600" i="1" smtClean="0">
                                  <a:latin typeface="Cambria Math" panose="02040503050406030204" pitchFamily="18" charset="0"/>
                                </a:rPr>
                              </m:ctrlPr>
                            </m:dPr>
                            <m:e>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𝑝</m:t>
                                  </m:r>
                                </m:e>
                                <m:sub>
                                  <m:r>
                                    <a:rPr lang="en-US" altLang="zh-CN" sz="2600" b="0" i="1" smtClean="0">
                                      <a:latin typeface="Cambria Math" panose="02040503050406030204" pitchFamily="18" charset="0"/>
                                    </a:rPr>
                                    <m:t>1</m:t>
                                  </m:r>
                                </m:sub>
                              </m:sSub>
                              <m:r>
                                <a:rPr lang="en-US" altLang="zh-CN" sz="2600" b="0" i="1" smtClean="0">
                                  <a:latin typeface="Cambria Math" panose="02040503050406030204" pitchFamily="18" charset="0"/>
                                </a:rPr>
                                <m:t>+</m:t>
                              </m:r>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𝑝</m:t>
                                  </m:r>
                                </m:e>
                                <m:sub>
                                  <m:r>
                                    <a:rPr lang="en-US" altLang="zh-CN" sz="2600" b="0" i="1" smtClean="0">
                                      <a:latin typeface="Cambria Math" panose="02040503050406030204" pitchFamily="18" charset="0"/>
                                    </a:rPr>
                                    <m:t>2</m:t>
                                  </m:r>
                                </m:sub>
                              </m:sSub>
                              <m:r>
                                <a:rPr lang="en-US" altLang="zh-CN" sz="2600" b="0" i="1" smtClean="0">
                                  <a:latin typeface="Cambria Math" panose="02040503050406030204" pitchFamily="18" charset="0"/>
                                </a:rPr>
                                <m:t>+⋯+</m:t>
                              </m:r>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𝑝</m:t>
                                  </m:r>
                                </m:e>
                                <m:sub>
                                  <m:r>
                                    <a:rPr lang="en-US" altLang="zh-CN" sz="2600" b="0" i="1" smtClean="0">
                                      <a:latin typeface="Cambria Math" panose="02040503050406030204" pitchFamily="18" charset="0"/>
                                    </a:rPr>
                                    <m:t>𝑘</m:t>
                                  </m:r>
                                </m:sub>
                              </m:sSub>
                            </m:e>
                          </m:d>
                          <m:r>
                            <a:rPr lang="zh-CN" altLang="en-US" sz="2600" b="0" i="1">
                              <a:latin typeface="Cambria Math" panose="02040503050406030204" pitchFamily="18" charset="0"/>
                            </a:rPr>
                            <m:t>，</m:t>
                          </m:r>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𝑝</m:t>
                              </m:r>
                            </m:e>
                            <m:sub>
                              <m:r>
                                <a:rPr lang="en-US" altLang="zh-CN" sz="2600" b="0" i="1" smtClean="0">
                                  <a:latin typeface="Cambria Math" panose="02040503050406030204" pitchFamily="18" charset="0"/>
                                </a:rPr>
                                <m:t>𝑘</m:t>
                              </m:r>
                              <m:r>
                                <a:rPr lang="en-US" altLang="zh-CN" sz="2600" b="0" i="1" smtClean="0">
                                  <a:latin typeface="Cambria Math" panose="02040503050406030204" pitchFamily="18" charset="0"/>
                                </a:rPr>
                                <m:t>+1</m:t>
                              </m:r>
                            </m:sub>
                          </m:sSub>
                          <m:r>
                            <a:rPr lang="zh-CN" altLang="en-US" sz="2600" b="0" i="1">
                              <a:latin typeface="Cambria Math" panose="02040503050406030204" pitchFamily="18" charset="0"/>
                            </a:rPr>
                            <m:t>，</m:t>
                          </m:r>
                          <m:r>
                            <a:rPr lang="en-US" altLang="zh-CN" sz="2600" b="0" i="1" smtClean="0">
                              <a:latin typeface="Cambria Math" panose="02040503050406030204" pitchFamily="18" charset="0"/>
                            </a:rPr>
                            <m:t>…</m:t>
                          </m:r>
                          <m:r>
                            <a:rPr lang="zh-CN" altLang="en-US" sz="2600" i="1">
                              <a:latin typeface="Cambria Math" panose="02040503050406030204" pitchFamily="18" charset="0"/>
                            </a:rPr>
                            <m:t>，</m:t>
                          </m:r>
                          <m:r>
                            <a:rPr lang="en-US" altLang="zh-CN" sz="2600" b="0" i="1" smtClean="0">
                              <a:latin typeface="Cambria Math" panose="02040503050406030204" pitchFamily="18" charset="0"/>
                            </a:rPr>
                            <m:t> </m:t>
                          </m:r>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𝑝</m:t>
                              </m:r>
                            </m:e>
                            <m:sub>
                              <m:r>
                                <a:rPr lang="en-US" altLang="zh-CN" sz="2600" b="0" i="1" smtClean="0">
                                  <a:latin typeface="Cambria Math" panose="02040503050406030204" pitchFamily="18" charset="0"/>
                                </a:rPr>
                                <m:t>𝑛</m:t>
                              </m:r>
                            </m:sub>
                          </m:sSub>
                        </m:e>
                      </m:d>
                    </m:oMath>
                  </m:oMathPara>
                </a14:m>
                <a:endParaRPr lang="en-US" altLang="zh-CN" sz="2600" i="1" dirty="0">
                  <a:latin typeface="Cambria Math" panose="02040503050406030204" pitchFamily="18" charset="0"/>
                </a:endParaRPr>
              </a:p>
              <a:p>
                <a:pPr eaLnBrk="1">
                  <a:lnSpc>
                    <a:spcPct val="130000"/>
                  </a:lnSpc>
                  <a:defRPr/>
                </a:pPr>
                <a:r>
                  <a:rPr lang="en-US" altLang="zh-CN" sz="2600" dirty="0"/>
                  <a:t>                                      </a:t>
                </a:r>
                <a14:m>
                  <m:oMath xmlns:m="http://schemas.openxmlformats.org/officeDocument/2006/math">
                    <m:r>
                      <a:rPr lang="en-US" altLang="zh-CN" sz="2600" b="0" i="1" smtClean="0">
                        <a:latin typeface="Cambria Math" panose="02040503050406030204" pitchFamily="18" charset="0"/>
                      </a:rPr>
                      <m:t>+</m:t>
                    </m:r>
                    <m:d>
                      <m:dPr>
                        <m:ctrlPr>
                          <a:rPr lang="en-US" altLang="zh-CN" sz="2600" i="1" smtClean="0">
                            <a:latin typeface="Cambria Math" panose="02040503050406030204" pitchFamily="18" charset="0"/>
                          </a:rPr>
                        </m:ctrlPr>
                      </m:dPr>
                      <m:e>
                        <m:sSub>
                          <m:sSubPr>
                            <m:ctrlPr>
                              <a:rPr lang="en-US" altLang="zh-CN" sz="2600" i="1">
                                <a:latin typeface="Cambria Math" panose="02040503050406030204" pitchFamily="18" charset="0"/>
                              </a:rPr>
                            </m:ctrlPr>
                          </m:sSubPr>
                          <m:e>
                            <m:r>
                              <a:rPr lang="en-US" altLang="zh-CN" sz="2600" b="0" i="1">
                                <a:latin typeface="Cambria Math" panose="02040503050406030204" pitchFamily="18" charset="0"/>
                              </a:rPr>
                              <m:t>𝑝</m:t>
                            </m:r>
                          </m:e>
                          <m:sub>
                            <m:r>
                              <a:rPr lang="en-US" altLang="zh-CN" sz="2600" b="0" i="1">
                                <a:latin typeface="Cambria Math" panose="02040503050406030204" pitchFamily="18" charset="0"/>
                              </a:rPr>
                              <m:t>1</m:t>
                            </m:r>
                          </m:sub>
                        </m:sSub>
                        <m:r>
                          <a:rPr lang="en-US" altLang="zh-CN" sz="2600" b="0" i="1">
                            <a:latin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b="0" i="1">
                                <a:latin typeface="Cambria Math" panose="02040503050406030204" pitchFamily="18" charset="0"/>
                              </a:rPr>
                              <m:t>𝑝</m:t>
                            </m:r>
                          </m:e>
                          <m:sub>
                            <m:r>
                              <a:rPr lang="en-US" altLang="zh-CN" sz="2600" b="0" i="1">
                                <a:latin typeface="Cambria Math" panose="02040503050406030204" pitchFamily="18" charset="0"/>
                              </a:rPr>
                              <m:t>2</m:t>
                            </m:r>
                          </m:sub>
                        </m:sSub>
                        <m:r>
                          <a:rPr lang="en-US" altLang="zh-CN" sz="2600" b="0" i="1">
                            <a:latin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b="0" i="1">
                                <a:latin typeface="Cambria Math" panose="02040503050406030204" pitchFamily="18" charset="0"/>
                              </a:rPr>
                              <m:t>𝑝</m:t>
                            </m:r>
                          </m:e>
                          <m:sub>
                            <m:r>
                              <a:rPr lang="en-US" altLang="zh-CN" sz="2600" b="0" i="1">
                                <a:latin typeface="Cambria Math" panose="02040503050406030204" pitchFamily="18" charset="0"/>
                              </a:rPr>
                              <m:t>𝑘</m:t>
                            </m:r>
                          </m:sub>
                        </m:sSub>
                      </m:e>
                    </m:d>
                    <m:r>
                      <a:rPr lang="en-US" altLang="zh-CN" sz="2600" b="0" i="1">
                        <a:latin typeface="Cambria Math" panose="02040503050406030204" pitchFamily="18" charset="0"/>
                      </a:rPr>
                      <m:t>𝐻</m:t>
                    </m:r>
                    <m:d>
                      <m:dPr>
                        <m:ctrlPr>
                          <a:rPr lang="en-US" altLang="zh-CN" sz="2600" i="1">
                            <a:latin typeface="Cambria Math" panose="02040503050406030204" pitchFamily="18" charset="0"/>
                          </a:rPr>
                        </m:ctrlPr>
                      </m:dPr>
                      <m:e>
                        <m:sSubSup>
                          <m:sSubSupPr>
                            <m:ctrlPr>
                              <a:rPr lang="en-US" altLang="zh-CN" sz="2600" i="1" smtClean="0">
                                <a:latin typeface="Cambria Math" panose="02040503050406030204" pitchFamily="18" charset="0"/>
                              </a:rPr>
                            </m:ctrlPr>
                          </m:sSubSupPr>
                          <m:e>
                            <m:r>
                              <a:rPr lang="en-US" altLang="zh-CN" sz="2600" b="0" i="1">
                                <a:latin typeface="Cambria Math" panose="02040503050406030204" pitchFamily="18" charset="0"/>
                              </a:rPr>
                              <m:t>𝑝</m:t>
                            </m:r>
                          </m:e>
                          <m:sub>
                            <m:r>
                              <a:rPr lang="en-US" altLang="zh-CN" sz="2600" b="0" i="1">
                                <a:latin typeface="Cambria Math" panose="02040503050406030204" pitchFamily="18" charset="0"/>
                              </a:rPr>
                              <m:t>1</m:t>
                            </m:r>
                          </m:sub>
                          <m:sup>
                            <m:r>
                              <a:rPr lang="en-US" altLang="zh-CN" sz="2600" b="0" i="1" smtClean="0">
                                <a:latin typeface="Cambria Math" panose="02040503050406030204" pitchFamily="18" charset="0"/>
                              </a:rPr>
                              <m:t>′</m:t>
                            </m:r>
                          </m:sup>
                        </m:sSubSup>
                        <m:r>
                          <a:rPr lang="zh-CN" altLang="en-US" sz="2600" i="1">
                            <a:latin typeface="Cambria Math" panose="02040503050406030204" pitchFamily="18" charset="0"/>
                          </a:rPr>
                          <m:t>，</m:t>
                        </m:r>
                        <m:sSubSup>
                          <m:sSubSupPr>
                            <m:ctrlPr>
                              <a:rPr lang="en-US" altLang="zh-CN" sz="2600" i="1" smtClean="0">
                                <a:latin typeface="Cambria Math" panose="02040503050406030204" pitchFamily="18" charset="0"/>
                              </a:rPr>
                            </m:ctrlPr>
                          </m:sSubSupPr>
                          <m:e>
                            <m:r>
                              <a:rPr lang="en-US" altLang="zh-CN" sz="2600" b="0" i="1">
                                <a:latin typeface="Cambria Math" panose="02040503050406030204" pitchFamily="18" charset="0"/>
                              </a:rPr>
                              <m:t>𝑝</m:t>
                            </m:r>
                          </m:e>
                          <m:sub>
                            <m:r>
                              <a:rPr lang="en-US" altLang="zh-CN" sz="2600" b="0" i="1">
                                <a:latin typeface="Cambria Math" panose="02040503050406030204" pitchFamily="18" charset="0"/>
                              </a:rPr>
                              <m:t>2</m:t>
                            </m:r>
                          </m:sub>
                          <m:sup>
                            <m:r>
                              <a:rPr lang="en-US" altLang="zh-CN" sz="2600" b="0" i="1" smtClean="0">
                                <a:latin typeface="Cambria Math" panose="02040503050406030204" pitchFamily="18" charset="0"/>
                              </a:rPr>
                              <m:t>′</m:t>
                            </m:r>
                          </m:sup>
                        </m:sSubSup>
                        <m:r>
                          <a:rPr lang="zh-CN" altLang="en-US" sz="2600" i="1">
                            <a:latin typeface="Cambria Math" panose="02040503050406030204" pitchFamily="18" charset="0"/>
                          </a:rPr>
                          <m:t>，</m:t>
                        </m:r>
                        <m:r>
                          <a:rPr lang="en-US" altLang="zh-CN" sz="2600" b="0" i="1">
                            <a:latin typeface="Cambria Math" panose="02040503050406030204" pitchFamily="18" charset="0"/>
                          </a:rPr>
                          <m:t>…</m:t>
                        </m:r>
                        <m:r>
                          <a:rPr lang="zh-CN" altLang="en-US" sz="2600" i="1">
                            <a:latin typeface="Cambria Math" panose="02040503050406030204" pitchFamily="18" charset="0"/>
                          </a:rPr>
                          <m:t>，</m:t>
                        </m:r>
                        <m:sSubSup>
                          <m:sSubSupPr>
                            <m:ctrlPr>
                              <a:rPr lang="en-US" altLang="zh-CN" sz="2600" i="1" smtClean="0">
                                <a:latin typeface="Cambria Math" panose="02040503050406030204" pitchFamily="18" charset="0"/>
                              </a:rPr>
                            </m:ctrlPr>
                          </m:sSubSupPr>
                          <m:e>
                            <m:r>
                              <a:rPr lang="en-US" altLang="zh-CN" sz="2600" b="0" i="1">
                                <a:latin typeface="Cambria Math" panose="02040503050406030204" pitchFamily="18" charset="0"/>
                              </a:rPr>
                              <m:t>𝑝</m:t>
                            </m:r>
                          </m:e>
                          <m:sub>
                            <m:r>
                              <a:rPr lang="en-US" altLang="zh-CN" sz="2600" b="0" i="1" smtClean="0">
                                <a:latin typeface="Cambria Math" panose="02040503050406030204" pitchFamily="18" charset="0"/>
                              </a:rPr>
                              <m:t>𝑘</m:t>
                            </m:r>
                          </m:sub>
                          <m:sup>
                            <m:r>
                              <a:rPr lang="en-US" altLang="zh-CN" sz="2600" b="0" i="1" smtClean="0">
                                <a:latin typeface="Cambria Math" panose="02040503050406030204" pitchFamily="18" charset="0"/>
                              </a:rPr>
                              <m:t>′</m:t>
                            </m:r>
                          </m:sup>
                        </m:sSubSup>
                      </m:e>
                    </m:d>
                  </m:oMath>
                </a14:m>
                <a:endParaRPr kumimoji="0" lang="en-US" altLang="zh-CN" sz="2600" dirty="0">
                  <a:solidFill>
                    <a:srgbClr val="C00000"/>
                  </a:solidFill>
                  <a:latin typeface="宋体" pitchFamily="2" charset="-122"/>
                </a:endParaRPr>
              </a:p>
              <a:p>
                <a:pPr eaLnBrk="1">
                  <a:lnSpc>
                    <a:spcPct val="130000"/>
                  </a:lnSpc>
                  <a:defRPr/>
                </a:pPr>
                <a:r>
                  <a:rPr kumimoji="0" lang="zh-CN" altLang="en-US" sz="2600" dirty="0">
                    <a:latin typeface="宋体" pitchFamily="2" charset="-122"/>
                  </a:rPr>
                  <a:t>其中</a:t>
                </a:r>
                <a14:m>
                  <m:oMath xmlns:m="http://schemas.openxmlformats.org/officeDocument/2006/math">
                    <m:r>
                      <a:rPr kumimoji="0" lang="en-US" altLang="zh-CN" sz="2600" b="0" i="1" smtClean="0">
                        <a:latin typeface="Cambria Math" panose="02040503050406030204" pitchFamily="18" charset="0"/>
                      </a:rPr>
                      <m:t> </m:t>
                    </m:r>
                    <m:sSubSup>
                      <m:sSubSupPr>
                        <m:ctrlPr>
                          <a:rPr kumimoji="0" lang="en-US" altLang="zh-CN" sz="2600" i="1" smtClean="0">
                            <a:latin typeface="Cambria Math" panose="02040503050406030204" pitchFamily="18" charset="0"/>
                          </a:rPr>
                        </m:ctrlPr>
                      </m:sSubSupPr>
                      <m:e>
                        <m:r>
                          <a:rPr kumimoji="0" lang="en-US" altLang="zh-CN" sz="2600" b="0" i="1" smtClean="0">
                            <a:latin typeface="Cambria Math" panose="02040503050406030204" pitchFamily="18" charset="0"/>
                          </a:rPr>
                          <m:t>𝑝</m:t>
                        </m:r>
                      </m:e>
                      <m:sub>
                        <m:r>
                          <a:rPr kumimoji="0" lang="en-US" altLang="zh-CN" sz="2600" b="0" i="1" smtClean="0">
                            <a:latin typeface="Cambria Math" panose="02040503050406030204" pitchFamily="18" charset="0"/>
                          </a:rPr>
                          <m:t>𝑙</m:t>
                        </m:r>
                      </m:sub>
                      <m:sup>
                        <m:r>
                          <a:rPr kumimoji="0" lang="en-US" altLang="zh-CN" sz="2600" b="0" i="1" smtClean="0">
                            <a:latin typeface="Cambria Math" panose="02040503050406030204" pitchFamily="18" charset="0"/>
                          </a:rPr>
                          <m:t>′</m:t>
                        </m:r>
                      </m:sup>
                    </m:sSubSup>
                    <m:r>
                      <a:rPr kumimoji="0" lang="en-US" altLang="zh-CN" sz="2600" b="0" i="1" smtClean="0">
                        <a:latin typeface="Cambria Math" panose="02040503050406030204" pitchFamily="18" charset="0"/>
                      </a:rPr>
                      <m:t>=</m:t>
                    </m:r>
                    <m:f>
                      <m:fPr>
                        <m:type m:val="lin"/>
                        <m:ctrlPr>
                          <a:rPr kumimoji="0" lang="en-US" altLang="zh-CN" sz="2600" i="1" smtClean="0">
                            <a:latin typeface="Cambria Math" panose="02040503050406030204" pitchFamily="18" charset="0"/>
                          </a:rPr>
                        </m:ctrlPr>
                      </m:fPr>
                      <m:num>
                        <m:sSub>
                          <m:sSubPr>
                            <m:ctrlPr>
                              <a:rPr kumimoji="0" lang="en-US" altLang="zh-CN" sz="2600" i="1" smtClean="0">
                                <a:latin typeface="Cambria Math" panose="02040503050406030204" pitchFamily="18" charset="0"/>
                              </a:rPr>
                            </m:ctrlPr>
                          </m:sSubPr>
                          <m:e>
                            <m:r>
                              <a:rPr kumimoji="0" lang="en-US" altLang="zh-CN" sz="2600" b="0" i="1" smtClean="0">
                                <a:latin typeface="Cambria Math" panose="02040503050406030204" pitchFamily="18" charset="0"/>
                              </a:rPr>
                              <m:t>𝑝</m:t>
                            </m:r>
                          </m:e>
                          <m:sub>
                            <m:r>
                              <a:rPr kumimoji="0" lang="en-US" altLang="zh-CN" sz="2600" b="0" i="1" smtClean="0">
                                <a:latin typeface="Cambria Math" panose="02040503050406030204" pitchFamily="18" charset="0"/>
                              </a:rPr>
                              <m:t>𝑙</m:t>
                            </m:r>
                          </m:sub>
                        </m:sSub>
                      </m:num>
                      <m:den>
                        <m:d>
                          <m:dPr>
                            <m:ctrlPr>
                              <a:rPr kumimoji="0" lang="en-US" altLang="zh-CN" sz="2600" i="1" smtClean="0">
                                <a:latin typeface="Cambria Math" panose="02040503050406030204" pitchFamily="18" charset="0"/>
                              </a:rPr>
                            </m:ctrlPr>
                          </m:dPr>
                          <m:e>
                            <m:sSub>
                              <m:sSubPr>
                                <m:ctrlPr>
                                  <a:rPr kumimoji="0" lang="en-US" altLang="zh-CN" sz="2600" i="1" smtClean="0">
                                    <a:latin typeface="Cambria Math" panose="02040503050406030204" pitchFamily="18" charset="0"/>
                                  </a:rPr>
                                </m:ctrlPr>
                              </m:sSubPr>
                              <m:e>
                                <m:r>
                                  <a:rPr kumimoji="0" lang="en-US" altLang="zh-CN" sz="2600" b="0" i="1" smtClean="0">
                                    <a:latin typeface="Cambria Math" panose="02040503050406030204" pitchFamily="18" charset="0"/>
                                  </a:rPr>
                                  <m:t>𝑝</m:t>
                                </m:r>
                              </m:e>
                              <m:sub>
                                <m:r>
                                  <a:rPr kumimoji="0" lang="en-US" altLang="zh-CN" sz="2600" b="0" i="1" smtClean="0">
                                    <a:latin typeface="Cambria Math" panose="02040503050406030204" pitchFamily="18" charset="0"/>
                                  </a:rPr>
                                  <m:t>1</m:t>
                                </m:r>
                              </m:sub>
                            </m:sSub>
                            <m:r>
                              <a:rPr kumimoji="0" lang="en-US" altLang="zh-CN" sz="2600" b="0" i="1" smtClean="0">
                                <a:latin typeface="Cambria Math" panose="02040503050406030204" pitchFamily="18" charset="0"/>
                              </a:rPr>
                              <m:t>+</m:t>
                            </m:r>
                            <m:sSub>
                              <m:sSubPr>
                                <m:ctrlPr>
                                  <a:rPr kumimoji="0" lang="en-US" altLang="zh-CN" sz="2600" i="1" smtClean="0">
                                    <a:latin typeface="Cambria Math" panose="02040503050406030204" pitchFamily="18" charset="0"/>
                                  </a:rPr>
                                </m:ctrlPr>
                              </m:sSubPr>
                              <m:e>
                                <m:r>
                                  <a:rPr kumimoji="0" lang="en-US" altLang="zh-CN" sz="2600" b="0" i="1" smtClean="0">
                                    <a:latin typeface="Cambria Math" panose="02040503050406030204" pitchFamily="18" charset="0"/>
                                  </a:rPr>
                                  <m:t>𝑝</m:t>
                                </m:r>
                              </m:e>
                              <m:sub>
                                <m:r>
                                  <a:rPr kumimoji="0" lang="en-US" altLang="zh-CN" sz="2600" b="0" i="1" smtClean="0">
                                    <a:latin typeface="Cambria Math" panose="02040503050406030204" pitchFamily="18" charset="0"/>
                                  </a:rPr>
                                  <m:t>2</m:t>
                                </m:r>
                              </m:sub>
                            </m:sSub>
                            <m:r>
                              <a:rPr kumimoji="0" lang="en-US" altLang="zh-CN" sz="2600" b="0" i="1" smtClean="0">
                                <a:latin typeface="Cambria Math" panose="02040503050406030204" pitchFamily="18" charset="0"/>
                              </a:rPr>
                              <m:t>+⋯+</m:t>
                            </m:r>
                            <m:sSub>
                              <m:sSubPr>
                                <m:ctrlPr>
                                  <a:rPr kumimoji="0" lang="en-US" altLang="zh-CN" sz="2600" i="1" smtClean="0">
                                    <a:latin typeface="Cambria Math" panose="02040503050406030204" pitchFamily="18" charset="0"/>
                                  </a:rPr>
                                </m:ctrlPr>
                              </m:sSubPr>
                              <m:e>
                                <m:r>
                                  <a:rPr kumimoji="0" lang="en-US" altLang="zh-CN" sz="2600" b="0" i="1" smtClean="0">
                                    <a:latin typeface="Cambria Math" panose="02040503050406030204" pitchFamily="18" charset="0"/>
                                  </a:rPr>
                                  <m:t>𝑝</m:t>
                                </m:r>
                              </m:e>
                              <m:sub>
                                <m:r>
                                  <a:rPr kumimoji="0" lang="en-US" altLang="zh-CN" sz="2600" b="0" i="1" smtClean="0">
                                    <a:latin typeface="Cambria Math" panose="02040503050406030204" pitchFamily="18" charset="0"/>
                                  </a:rPr>
                                  <m:t>𝑘</m:t>
                                </m:r>
                              </m:sub>
                            </m:sSub>
                          </m:e>
                        </m:d>
                        <m:r>
                          <a:rPr kumimoji="0" lang="en-US" altLang="zh-CN" sz="2600" b="0" i="1" smtClean="0">
                            <a:latin typeface="Cambria Math" panose="02040503050406030204" pitchFamily="18" charset="0"/>
                          </a:rPr>
                          <m:t>,   </m:t>
                        </m:r>
                        <m:r>
                          <a:rPr kumimoji="0" lang="en-US" altLang="zh-CN" sz="2600" b="0" i="1" smtClean="0">
                            <a:latin typeface="Cambria Math" panose="02040503050406030204" pitchFamily="18" charset="0"/>
                          </a:rPr>
                          <m:t>𝑙</m:t>
                        </m:r>
                        <m:r>
                          <a:rPr kumimoji="0" lang="en-US" altLang="zh-CN" sz="2600" b="0" i="1" smtClean="0">
                            <a:latin typeface="Cambria Math" panose="02040503050406030204" pitchFamily="18" charset="0"/>
                          </a:rPr>
                          <m:t>=1</m:t>
                        </m:r>
                        <m:r>
                          <a:rPr lang="zh-CN" altLang="en-US" sz="2600" i="1">
                            <a:latin typeface="Cambria Math" panose="02040503050406030204" pitchFamily="18" charset="0"/>
                          </a:rPr>
                          <m:t>，</m:t>
                        </m:r>
                        <m:r>
                          <a:rPr kumimoji="0" lang="en-US" altLang="zh-CN" sz="2600" b="0" i="1" smtClean="0">
                            <a:latin typeface="Cambria Math" panose="02040503050406030204" pitchFamily="18" charset="0"/>
                          </a:rPr>
                          <m:t>2</m:t>
                        </m:r>
                        <m:r>
                          <a:rPr lang="zh-CN" altLang="en-US" sz="2600" i="1">
                            <a:latin typeface="Cambria Math" panose="02040503050406030204" pitchFamily="18" charset="0"/>
                          </a:rPr>
                          <m:t>，</m:t>
                        </m:r>
                        <m:r>
                          <a:rPr kumimoji="0" lang="en-US" altLang="zh-CN" sz="2600" b="0" i="1" smtClean="0">
                            <a:latin typeface="Cambria Math" panose="02040503050406030204" pitchFamily="18" charset="0"/>
                          </a:rPr>
                          <m:t>…</m:t>
                        </m:r>
                        <m:r>
                          <a:rPr lang="zh-CN" altLang="en-US" sz="2600" i="1">
                            <a:latin typeface="Cambria Math" panose="02040503050406030204" pitchFamily="18" charset="0"/>
                          </a:rPr>
                          <m:t>，</m:t>
                        </m:r>
                        <m:r>
                          <a:rPr kumimoji="0" lang="en-US" altLang="zh-CN" sz="2600" b="0" i="1" smtClean="0">
                            <a:latin typeface="Cambria Math" panose="02040503050406030204" pitchFamily="18" charset="0"/>
                          </a:rPr>
                          <m:t>𝑘</m:t>
                        </m:r>
                        <m:r>
                          <a:rPr kumimoji="0" lang="en-US" altLang="zh-CN" sz="2600" b="0" i="1" smtClean="0">
                            <a:latin typeface="Cambria Math" panose="02040503050406030204" pitchFamily="18" charset="0"/>
                          </a:rPr>
                          <m:t> </m:t>
                        </m:r>
                      </m:den>
                    </m:f>
                    <m:r>
                      <a:rPr kumimoji="0" lang="zh-CN" altLang="en-US" sz="2600" b="0" i="1">
                        <a:latin typeface="Cambria Math" panose="02040503050406030204" pitchFamily="18" charset="0"/>
                      </a:rPr>
                      <m:t>。</m:t>
                    </m:r>
                  </m:oMath>
                </a14:m>
                <a:endParaRPr kumimoji="0" lang="en-US" altLang="zh-CN" sz="2600" dirty="0">
                  <a:latin typeface="宋体" pitchFamily="2" charset="-122"/>
                </a:endParaRPr>
              </a:p>
              <a:p>
                <a:pPr eaLnBrk="1">
                  <a:lnSpc>
                    <a:spcPct val="130000"/>
                  </a:lnSpc>
                  <a:defRPr/>
                </a:pPr>
                <a:r>
                  <a:rPr kumimoji="0" lang="zh-CN" altLang="en-US" sz="2600" dirty="0">
                    <a:latin typeface="宋体" pitchFamily="2" charset="-122"/>
                  </a:rPr>
                  <a:t>说明信源中某个消息</a:t>
                </a:r>
                <a14:m>
                  <m:oMath xmlns:m="http://schemas.openxmlformats.org/officeDocument/2006/math">
                    <m:r>
                      <a:rPr kumimoji="0" lang="en-US" altLang="zh-CN" sz="2600" b="0" i="1" smtClean="0">
                        <a:latin typeface="Cambria Math" panose="02040503050406030204" pitchFamily="18" charset="0"/>
                      </a:rPr>
                      <m:t> </m:t>
                    </m:r>
                    <m:sSub>
                      <m:sSubPr>
                        <m:ctrlPr>
                          <a:rPr kumimoji="0" lang="en-US" altLang="zh-CN" sz="2600" i="1" smtClean="0">
                            <a:latin typeface="Cambria Math" panose="02040503050406030204" pitchFamily="18" charset="0"/>
                          </a:rPr>
                        </m:ctrlPr>
                      </m:sSubPr>
                      <m:e>
                        <m:r>
                          <a:rPr kumimoji="0" lang="en-US" altLang="zh-CN" sz="2600" b="0" i="1" smtClean="0">
                            <a:latin typeface="Cambria Math" panose="02040503050406030204" pitchFamily="18" charset="0"/>
                          </a:rPr>
                          <m:t>𝑥</m:t>
                        </m:r>
                      </m:e>
                      <m:sub>
                        <m:r>
                          <a:rPr kumimoji="0" lang="en-US" altLang="zh-CN" sz="2600" b="0" i="1" smtClean="0">
                            <a:latin typeface="Cambria Math" panose="02040503050406030204" pitchFamily="18" charset="0"/>
                          </a:rPr>
                          <m:t>𝑖</m:t>
                        </m:r>
                      </m:sub>
                    </m:sSub>
                    <m:r>
                      <a:rPr kumimoji="0" lang="en-US" altLang="zh-CN" sz="2600" b="0" i="1" smtClean="0">
                        <a:latin typeface="Cambria Math" panose="02040503050406030204" pitchFamily="18" charset="0"/>
                      </a:rPr>
                      <m:t> </m:t>
                    </m:r>
                  </m:oMath>
                </a14:m>
                <a:r>
                  <a:rPr kumimoji="0" lang="zh-CN" altLang="en-US" sz="2600" dirty="0">
                    <a:latin typeface="宋体" pitchFamily="2" charset="-122"/>
                  </a:rPr>
                  <a:t>被划分后，新信源的熵由于</a:t>
                </a:r>
                <a14:m>
                  <m:oMath xmlns:m="http://schemas.openxmlformats.org/officeDocument/2006/math">
                    <m:sSub>
                      <m:sSubPr>
                        <m:ctrlPr>
                          <a:rPr kumimoji="0" lang="en-US" altLang="zh-CN" sz="2600" i="1">
                            <a:latin typeface="Cambria Math" panose="02040503050406030204" pitchFamily="18" charset="0"/>
                          </a:rPr>
                        </m:ctrlPr>
                      </m:sSubPr>
                      <m:e>
                        <m:r>
                          <a:rPr kumimoji="0" lang="en-US" altLang="zh-CN" sz="2600" b="0" i="1" smtClean="0">
                            <a:latin typeface="Cambria Math" panose="02040503050406030204" pitchFamily="18" charset="0"/>
                          </a:rPr>
                          <m:t> </m:t>
                        </m:r>
                        <m:r>
                          <a:rPr kumimoji="0" lang="en-US" altLang="zh-CN" sz="2600" b="0" i="1">
                            <a:latin typeface="Cambria Math" panose="02040503050406030204" pitchFamily="18" charset="0"/>
                          </a:rPr>
                          <m:t>𝑥</m:t>
                        </m:r>
                      </m:e>
                      <m:sub>
                        <m:r>
                          <a:rPr kumimoji="0" lang="en-US" altLang="zh-CN" sz="2600" b="0" i="1">
                            <a:latin typeface="Cambria Math" panose="02040503050406030204" pitchFamily="18" charset="0"/>
                          </a:rPr>
                          <m:t>𝑖</m:t>
                        </m:r>
                      </m:sub>
                    </m:sSub>
                    <m:r>
                      <a:rPr kumimoji="0" lang="en-US" altLang="zh-CN" sz="2600" b="0" i="1" smtClean="0">
                        <a:latin typeface="Cambria Math" panose="02040503050406030204" pitchFamily="18" charset="0"/>
                      </a:rPr>
                      <m:t> </m:t>
                    </m:r>
                  </m:oMath>
                </a14:m>
                <a:r>
                  <a:rPr kumimoji="0" lang="zh-CN" altLang="en-US" sz="2600" dirty="0">
                    <a:latin typeface="宋体" pitchFamily="2" charset="-122"/>
                  </a:rPr>
                  <a:t>被划分产生的不确定性而增加了。</a:t>
                </a:r>
                <a:endParaRPr kumimoji="0" lang="en-US" altLang="zh-CN" sz="2600" dirty="0">
                  <a:latin typeface="宋体" pitchFamily="2" charset="-122"/>
                </a:endParaRPr>
              </a:p>
            </p:txBody>
          </p:sp>
        </mc:Choice>
        <mc:Fallback xmlns="">
          <p:sp>
            <p:nvSpPr>
              <p:cNvPr id="4" name="Rectangle 2">
                <a:hlinkClick r:id="rId4" action="ppaction://hlinksldjump"/>
                <a:extLst>
                  <a:ext uri="{FF2B5EF4-FFF2-40B4-BE49-F238E27FC236}">
                    <a16:creationId xmlns:a16="http://schemas.microsoft.com/office/drawing/2014/main" id="{FB57E975-5B12-8647-7F23-61BC37BCB0D9}"/>
                  </a:ext>
                </a:extLst>
              </p:cNvPr>
              <p:cNvSpPr>
                <a:spLocks noRot="1" noChangeAspect="1" noMove="1" noResize="1" noEditPoints="1" noAdjustHandles="1" noChangeArrowheads="1" noChangeShapeType="1" noTextEdit="1"/>
              </p:cNvSpPr>
              <p:nvPr/>
            </p:nvSpPr>
            <p:spPr bwMode="auto">
              <a:xfrm>
                <a:off x="206828" y="762000"/>
                <a:ext cx="8937171" cy="5922775"/>
              </a:xfrm>
              <a:prstGeom prst="rect">
                <a:avLst/>
              </a:prstGeom>
              <a:blipFill>
                <a:blip r:embed="rId5"/>
                <a:stretch>
                  <a:fillRect l="-1228" t="-103" b="-1646"/>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6FEFE143-0E16-402E-9AFB-0E87D4C53AC2}"/>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mc:Choice xmlns:a14="http://schemas.microsoft.com/office/drawing/2010/main" Requires="a14">
          <p:sp>
            <p:nvSpPr>
              <p:cNvPr id="3" name="Rectangle 2">
                <a:hlinkClick r:id="rId3" action="ppaction://hlinksldjump"/>
                <a:extLst>
                  <a:ext uri="{FF2B5EF4-FFF2-40B4-BE49-F238E27FC236}">
                    <a16:creationId xmlns:a16="http://schemas.microsoft.com/office/drawing/2014/main" id="{D9CF1447-51CB-FC5F-DF85-C9A0A3465132}"/>
                  </a:ext>
                </a:extLst>
              </p:cNvPr>
              <p:cNvSpPr>
                <a:spLocks noChangeArrowheads="1"/>
              </p:cNvSpPr>
              <p:nvPr/>
            </p:nvSpPr>
            <p:spPr bwMode="auto">
              <a:xfrm>
                <a:off x="288364" y="838200"/>
                <a:ext cx="8855636" cy="5334409"/>
              </a:xfrm>
              <a:prstGeom prst="rect">
                <a:avLst/>
              </a:prstGeom>
              <a:noFill/>
              <a:ln w="9525">
                <a:noFill/>
                <a:miter lim="800000"/>
                <a:headEnd/>
                <a:tailEnd/>
              </a:ln>
              <a:effectLst/>
            </p:spPr>
            <p:txBody>
              <a:bodyPr wrap="square">
                <a:spAutoFit/>
              </a:bodyPr>
              <a:lstStyle/>
              <a:p>
                <a:pPr eaLnBrk="1" hangingPunct="1">
                  <a:lnSpc>
                    <a:spcPct val="150000"/>
                  </a:lnSpc>
                  <a:defRPr/>
                </a:pPr>
                <a:r>
                  <a:rPr lang="zh-CN" altLang="en-US" sz="2800" b="1" dirty="0">
                    <a:solidFill>
                      <a:srgbClr val="000000"/>
                    </a:solidFill>
                    <a:latin typeface="宋体" pitchFamily="2" charset="-122"/>
                    <a:cs typeface="Tahoma"/>
                  </a:rPr>
                  <a:t>递推性证明</a:t>
                </a:r>
                <a:r>
                  <a:rPr lang="en-US" altLang="zh-CN" sz="2800" b="1" dirty="0">
                    <a:solidFill>
                      <a:srgbClr val="000000"/>
                    </a:solidFill>
                    <a:latin typeface="宋体" pitchFamily="2" charset="-122"/>
                    <a:cs typeface="Tahoma"/>
                  </a:rPr>
                  <a:t>.</a:t>
                </a:r>
              </a:p>
              <a:p>
                <a:pPr eaLnBrk="1" hangingPunct="1">
                  <a:lnSpc>
                    <a:spcPct val="150000"/>
                  </a:lnSpc>
                  <a:defRPr/>
                </a:pPr>
                <a14:m>
                  <m:oMathPara xmlns:m="http://schemas.openxmlformats.org/officeDocument/2006/math">
                    <m:oMathParaPr>
                      <m:jc m:val="centerGroup"/>
                    </m:oMathParaPr>
                    <m:oMath xmlns:m="http://schemas.openxmlformats.org/officeDocument/2006/math">
                      <m:r>
                        <a:rPr kumimoji="1" lang="en-US" altLang="zh-CN" sz="2600" b="0" i="1" smtClean="0">
                          <a:solidFill>
                            <a:srgbClr val="000000"/>
                          </a:solidFill>
                          <a:latin typeface="Cambria Math" panose="02040503050406030204" pitchFamily="18" charset="0"/>
                        </a:rPr>
                        <m:t>𝐻</m:t>
                      </m:r>
                      <m:d>
                        <m:dPr>
                          <m:ctrlPr>
                            <a:rPr kumimoji="1" lang="en-US" altLang="zh-CN" sz="2600" i="1">
                              <a:solidFill>
                                <a:srgbClr val="000000"/>
                              </a:solidFill>
                              <a:latin typeface="Cambria Math" panose="02040503050406030204" pitchFamily="18" charset="0"/>
                            </a:rPr>
                          </m:ctrlPr>
                        </m:dPr>
                        <m:e>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1</m:t>
                              </m:r>
                            </m:sub>
                          </m:sSub>
                          <m:r>
                            <a:rPr kumimoji="1" lang="zh-CN" altLang="en-US" sz="2600" b="0" i="1" smtClean="0">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2</m:t>
                              </m:r>
                            </m:sub>
                          </m:sSub>
                          <m:r>
                            <a:rPr kumimoji="1" lang="zh-CN" altLang="en-US" sz="2600" b="0" i="1" smtClean="0">
                              <a:solidFill>
                                <a:srgbClr val="000000"/>
                              </a:solidFill>
                              <a:latin typeface="Cambria Math" panose="02040503050406030204" pitchFamily="18" charset="0"/>
                            </a:rPr>
                            <m:t>，</m:t>
                          </m:r>
                          <m:r>
                            <a:rPr kumimoji="1" lang="en-US" altLang="zh-CN" sz="2600" b="0" i="1" smtClean="0">
                              <a:solidFill>
                                <a:srgbClr val="000000"/>
                              </a:solidFill>
                              <a:latin typeface="Cambria Math" panose="02040503050406030204" pitchFamily="18" charset="0"/>
                            </a:rPr>
                            <m:t>…</m:t>
                          </m:r>
                          <m:r>
                            <a:rPr kumimoji="1" lang="zh-CN" altLang="en-US"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𝑛</m:t>
                              </m:r>
                            </m:sub>
                          </m:sSub>
                        </m:e>
                      </m:d>
                      <m:r>
                        <a:rPr kumimoji="1" lang="en-US" altLang="zh-CN" sz="2600" b="0" i="1" smtClean="0">
                          <a:solidFill>
                            <a:srgbClr val="000000"/>
                          </a:solidFill>
                          <a:latin typeface="Cambria Math" panose="02040503050406030204" pitchFamily="18" charset="0"/>
                        </a:rPr>
                        <m:t>−</m:t>
                      </m:r>
                      <m:r>
                        <a:rPr kumimoji="1" lang="en-US" altLang="zh-CN" sz="2600" b="0" i="1" smtClean="0">
                          <a:solidFill>
                            <a:srgbClr val="000000"/>
                          </a:solidFill>
                          <a:latin typeface="Cambria Math" panose="02040503050406030204" pitchFamily="18" charset="0"/>
                        </a:rPr>
                        <m:t>𝐻</m:t>
                      </m:r>
                      <m:d>
                        <m:dPr>
                          <m:begChr m:val="["/>
                          <m:endChr m:val="]"/>
                          <m:ctrlPr>
                            <a:rPr kumimoji="1" lang="en-US" altLang="zh-CN" sz="2600" i="1" smtClean="0">
                              <a:solidFill>
                                <a:srgbClr val="000000"/>
                              </a:solidFill>
                              <a:latin typeface="Cambria Math" panose="02040503050406030204" pitchFamily="18" charset="0"/>
                            </a:rPr>
                          </m:ctrlPr>
                        </m:dPr>
                        <m:e>
                          <m:d>
                            <m:dPr>
                              <m:ctrlPr>
                                <a:rPr kumimoji="1" lang="en-US" altLang="zh-CN" sz="2600" i="1" smtClean="0">
                                  <a:solidFill>
                                    <a:srgbClr val="000000"/>
                                  </a:solidFill>
                                  <a:latin typeface="Cambria Math" panose="02040503050406030204" pitchFamily="18" charset="0"/>
                                </a:rPr>
                              </m:ctrlPr>
                            </m:dPr>
                            <m:e>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1</m:t>
                                  </m:r>
                                </m:sub>
                              </m:sSub>
                              <m:r>
                                <a:rPr kumimoji="1" lang="en-US" altLang="zh-CN" sz="2600" b="0" i="1" smtClean="0">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2</m:t>
                                  </m:r>
                                </m:sub>
                              </m:sSub>
                              <m:r>
                                <a:rPr kumimoji="1" lang="en-US" altLang="zh-CN" sz="2600" b="0" i="1" smtClean="0">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𝑘</m:t>
                                  </m:r>
                                </m:sub>
                              </m:sSub>
                            </m:e>
                          </m:d>
                          <m:r>
                            <a:rPr kumimoji="1" lang="zh-CN" altLang="en-US" sz="2600" b="0" i="1" smtClean="0">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𝑘</m:t>
                              </m:r>
                              <m:r>
                                <a:rPr kumimoji="1" lang="en-US" altLang="zh-CN" sz="2600" b="0" i="1" smtClean="0">
                                  <a:solidFill>
                                    <a:srgbClr val="000000"/>
                                  </a:solidFill>
                                  <a:latin typeface="Cambria Math" panose="02040503050406030204" pitchFamily="18" charset="0"/>
                                </a:rPr>
                                <m:t>+1</m:t>
                              </m:r>
                            </m:sub>
                          </m:sSub>
                          <m:r>
                            <a:rPr kumimoji="1" lang="zh-CN" altLang="en-US" sz="2600" b="0" i="1" smtClean="0">
                              <a:solidFill>
                                <a:srgbClr val="000000"/>
                              </a:solidFill>
                              <a:latin typeface="Cambria Math" panose="02040503050406030204" pitchFamily="18" charset="0"/>
                            </a:rPr>
                            <m:t>，</m:t>
                          </m:r>
                          <m:r>
                            <a:rPr kumimoji="1" lang="en-US" altLang="zh-CN" sz="2600" b="0" i="1" smtClean="0">
                              <a:solidFill>
                                <a:srgbClr val="000000"/>
                              </a:solidFill>
                              <a:latin typeface="Cambria Math" panose="02040503050406030204" pitchFamily="18" charset="0"/>
                            </a:rPr>
                            <m:t>…</m:t>
                          </m:r>
                          <m:r>
                            <a:rPr kumimoji="1" lang="zh-CN" altLang="en-US" sz="2600" b="0" i="1" smtClean="0">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𝑛</m:t>
                              </m:r>
                            </m:sub>
                          </m:sSub>
                        </m:e>
                      </m:d>
                    </m:oMath>
                  </m:oMathPara>
                </a14:m>
                <a:endParaRPr kumimoji="1" lang="en-US" altLang="zh-CN" sz="2600" i="1" dirty="0">
                  <a:solidFill>
                    <a:srgbClr val="000000"/>
                  </a:solidFill>
                  <a:latin typeface="Cambria Math" panose="02040503050406030204" pitchFamily="18" charset="0"/>
                  <a:cs typeface="Tahoma"/>
                </a:endParaRPr>
              </a:p>
              <a:p>
                <a:pPr eaLnBrk="1" hangingPunct="1">
                  <a:lnSpc>
                    <a:spcPct val="150000"/>
                  </a:lnSpc>
                  <a:defRPr/>
                </a:pPr>
                <a:r>
                  <a:rPr kumimoji="1" lang="en-US" altLang="zh-CN" sz="2600" dirty="0">
                    <a:solidFill>
                      <a:srgbClr val="000000"/>
                    </a:solidFill>
                    <a:latin typeface="Times New Roman" pitchFamily="18" charset="0"/>
                    <a:cs typeface="Tahoma"/>
                  </a:rPr>
                  <a:t> </a:t>
                </a:r>
                <a14:m>
                  <m:oMath xmlns:m="http://schemas.openxmlformats.org/officeDocument/2006/math">
                    <m:r>
                      <a:rPr kumimoji="1" lang="en-US" altLang="zh-CN" sz="2600" b="0" i="1" smtClean="0">
                        <a:solidFill>
                          <a:srgbClr val="000000"/>
                        </a:solidFill>
                        <a:latin typeface="Cambria Math" panose="02040503050406030204" pitchFamily="18" charset="0"/>
                      </a:rPr>
                      <m:t>=</m:t>
                    </m:r>
                    <m:nary>
                      <m:naryPr>
                        <m:chr m:val="∑"/>
                        <m:limLoc m:val="subSup"/>
                        <m:ctrlPr>
                          <a:rPr kumimoji="1" lang="en-US" altLang="zh-CN" sz="2600" i="1">
                            <a:solidFill>
                              <a:srgbClr val="000000"/>
                            </a:solidFill>
                            <a:latin typeface="Cambria Math" panose="02040503050406030204" pitchFamily="18" charset="0"/>
                          </a:rPr>
                        </m:ctrlPr>
                      </m:naryPr>
                      <m:sub>
                        <m:r>
                          <m:rPr>
                            <m:brk m:alnAt="25"/>
                          </m:rPr>
                          <a:rPr kumimoji="1" lang="en-US" altLang="zh-CN" sz="2600" b="0" i="1" smtClean="0">
                            <a:solidFill>
                              <a:srgbClr val="000000"/>
                            </a:solidFill>
                            <a:latin typeface="Cambria Math" panose="02040503050406030204" pitchFamily="18" charset="0"/>
                          </a:rPr>
                          <m:t>𝑖</m:t>
                        </m:r>
                        <m:r>
                          <a:rPr kumimoji="1" lang="en-US" altLang="zh-CN" sz="2600" b="0" i="1" smtClean="0">
                            <a:solidFill>
                              <a:srgbClr val="000000"/>
                            </a:solidFill>
                            <a:latin typeface="Cambria Math" panose="02040503050406030204" pitchFamily="18" charset="0"/>
                          </a:rPr>
                          <m:t>=1</m:t>
                        </m:r>
                      </m:sub>
                      <m:sup>
                        <m:r>
                          <a:rPr kumimoji="1" lang="en-US" altLang="zh-CN" sz="2600" b="0" i="1" smtClean="0">
                            <a:solidFill>
                              <a:srgbClr val="000000"/>
                            </a:solidFill>
                            <a:latin typeface="Cambria Math" panose="02040503050406030204" pitchFamily="18" charset="0"/>
                          </a:rPr>
                          <m:t>𝑘</m:t>
                        </m:r>
                      </m:sup>
                      <m:e>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𝑖</m:t>
                            </m:r>
                          </m:sub>
                        </m:sSub>
                      </m:e>
                    </m:nary>
                    <m:r>
                      <m:rPr>
                        <m:sty m:val="p"/>
                      </m:rPr>
                      <a:rPr lang="en-US" altLang="zh-CN" sz="2600" b="0" i="1" smtClean="0">
                        <a:solidFill>
                          <a:srgbClr val="000000"/>
                        </a:solidFill>
                        <a:latin typeface="Cambria Math" panose="02040503050406030204" pitchFamily="18" charset="0"/>
                        <a:cs typeface="Times New Roman" pitchFamily="18" charset="0"/>
                      </a:rPr>
                      <m:t>log</m:t>
                    </m:r>
                    <m:f>
                      <m:fPr>
                        <m:ctrlPr>
                          <a:rPr lang="en-US" altLang="zh-CN" sz="2600" i="1" smtClean="0">
                            <a:solidFill>
                              <a:srgbClr val="000000"/>
                            </a:solidFill>
                            <a:latin typeface="Cambria Math" panose="02040503050406030204" pitchFamily="18" charset="0"/>
                            <a:cs typeface="Times New Roman" pitchFamily="18" charset="0"/>
                          </a:rPr>
                        </m:ctrlPr>
                      </m:fPr>
                      <m:num>
                        <m:r>
                          <a:rPr lang="en-US" altLang="zh-CN" sz="2600" b="0" i="1" smtClean="0">
                            <a:solidFill>
                              <a:srgbClr val="000000"/>
                            </a:solidFill>
                            <a:latin typeface="Cambria Math" panose="02040503050406030204" pitchFamily="18" charset="0"/>
                            <a:cs typeface="Times New Roman" pitchFamily="18" charset="0"/>
                          </a:rPr>
                          <m:t>1</m:t>
                        </m:r>
                      </m:num>
                      <m:den>
                        <m:sSub>
                          <m:sSubPr>
                            <m:ctrlPr>
                              <a:rPr lang="en-US" altLang="zh-CN" sz="2600" i="1" smtClean="0">
                                <a:solidFill>
                                  <a:srgbClr val="000000"/>
                                </a:solidFill>
                                <a:latin typeface="Cambria Math" panose="02040503050406030204" pitchFamily="18" charset="0"/>
                                <a:cs typeface="Times New Roman" pitchFamily="18" charset="0"/>
                              </a:rPr>
                            </m:ctrlPr>
                          </m:sSubPr>
                          <m:e>
                            <m:r>
                              <a:rPr lang="en-US" altLang="zh-CN" sz="2600" b="0" i="1" smtClean="0">
                                <a:solidFill>
                                  <a:srgbClr val="000000"/>
                                </a:solidFill>
                                <a:latin typeface="Cambria Math" panose="02040503050406030204" pitchFamily="18" charset="0"/>
                                <a:cs typeface="Times New Roman" pitchFamily="18" charset="0"/>
                              </a:rPr>
                              <m:t>𝑝</m:t>
                            </m:r>
                          </m:e>
                          <m:sub>
                            <m:r>
                              <a:rPr lang="en-US" altLang="zh-CN" sz="2600" b="0" i="1" smtClean="0">
                                <a:solidFill>
                                  <a:srgbClr val="000000"/>
                                </a:solidFill>
                                <a:latin typeface="Cambria Math" panose="02040503050406030204" pitchFamily="18" charset="0"/>
                                <a:cs typeface="Times New Roman" pitchFamily="18" charset="0"/>
                              </a:rPr>
                              <m:t>𝑖</m:t>
                            </m:r>
                          </m:sub>
                        </m:sSub>
                      </m:den>
                    </m:f>
                    <m:r>
                      <a:rPr lang="en-US" altLang="zh-CN" sz="2600" b="0" i="1" smtClean="0">
                        <a:solidFill>
                          <a:srgbClr val="000000"/>
                        </a:solidFill>
                        <a:latin typeface="Cambria Math" panose="02040503050406030204" pitchFamily="18" charset="0"/>
                        <a:cs typeface="Times New Roman" pitchFamily="18" charset="0"/>
                      </a:rPr>
                      <m:t>−</m:t>
                    </m:r>
                    <m:d>
                      <m:dPr>
                        <m:ctrlPr>
                          <a:rPr lang="en-US" altLang="zh-CN" sz="2600" i="1" smtClean="0">
                            <a:solidFill>
                              <a:srgbClr val="000000"/>
                            </a:solidFill>
                            <a:latin typeface="Cambria Math" panose="02040503050406030204" pitchFamily="18" charset="0"/>
                            <a:cs typeface="Times New Roman" pitchFamily="18" charset="0"/>
                          </a:rPr>
                        </m:ctrlPr>
                      </m:dPr>
                      <m:e>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1</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2</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𝑘</m:t>
                            </m:r>
                          </m:sub>
                        </m:sSub>
                      </m:e>
                    </m:d>
                    <m:r>
                      <m:rPr>
                        <m:sty m:val="p"/>
                      </m:rPr>
                      <a:rPr lang="en-US" altLang="zh-CN" sz="2600" b="0" i="1" smtClean="0">
                        <a:solidFill>
                          <a:srgbClr val="000000"/>
                        </a:solidFill>
                        <a:latin typeface="Cambria Math" panose="02040503050406030204" pitchFamily="18" charset="0"/>
                        <a:cs typeface="Times New Roman" pitchFamily="18" charset="0"/>
                      </a:rPr>
                      <m:t>log</m:t>
                    </m:r>
                    <m:f>
                      <m:fPr>
                        <m:ctrlPr>
                          <a:rPr lang="en-US" altLang="zh-CN" sz="2600" i="1">
                            <a:solidFill>
                              <a:srgbClr val="000000"/>
                            </a:solidFill>
                            <a:latin typeface="Cambria Math" panose="02040503050406030204" pitchFamily="18" charset="0"/>
                            <a:cs typeface="Times New Roman" pitchFamily="18" charset="0"/>
                          </a:rPr>
                        </m:ctrlPr>
                      </m:fPr>
                      <m:num>
                        <m:r>
                          <a:rPr lang="en-US" altLang="zh-CN" sz="2600" b="0" i="1" smtClean="0">
                            <a:solidFill>
                              <a:srgbClr val="000000"/>
                            </a:solidFill>
                            <a:latin typeface="Cambria Math" panose="02040503050406030204" pitchFamily="18" charset="0"/>
                            <a:cs typeface="Times New Roman" pitchFamily="18" charset="0"/>
                          </a:rPr>
                          <m:t>1</m:t>
                        </m:r>
                      </m:num>
                      <m:den>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1</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2</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𝑘</m:t>
                            </m:r>
                          </m:sub>
                        </m:sSub>
                      </m:den>
                    </m:f>
                  </m:oMath>
                </a14:m>
                <a:r>
                  <a:rPr lang="en-US" altLang="zh-CN" sz="2600" dirty="0">
                    <a:solidFill>
                      <a:srgbClr val="C00000"/>
                    </a:solidFill>
                    <a:latin typeface="宋体" pitchFamily="2" charset="-122"/>
                    <a:cs typeface="Tahoma"/>
                  </a:rPr>
                  <a:t> </a:t>
                </a:r>
              </a:p>
              <a:p>
                <a:pPr eaLnBrk="1" hangingPunct="1">
                  <a:lnSpc>
                    <a:spcPct val="150000"/>
                  </a:lnSpc>
                  <a:defRPr/>
                </a:pPr>
                <a:r>
                  <a:rPr kumimoji="1" lang="en-US" altLang="zh-CN" sz="2600" dirty="0">
                    <a:solidFill>
                      <a:srgbClr val="000000"/>
                    </a:solidFill>
                    <a:latin typeface="Times New Roman" pitchFamily="18" charset="0"/>
                    <a:cs typeface="Tahoma"/>
                  </a:rPr>
                  <a:t> </a:t>
                </a:r>
                <a14:m>
                  <m:oMath xmlns:m="http://schemas.openxmlformats.org/officeDocument/2006/math">
                    <m:r>
                      <a:rPr kumimoji="1" lang="en-US" altLang="zh-CN" sz="2600" b="0" i="1" smtClean="0">
                        <a:solidFill>
                          <a:srgbClr val="000000"/>
                        </a:solidFill>
                        <a:latin typeface="Cambria Math" panose="02040503050406030204" pitchFamily="18" charset="0"/>
                      </a:rPr>
                      <m:t>=</m:t>
                    </m:r>
                    <m:d>
                      <m:dPr>
                        <m:ctrlPr>
                          <a:rPr kumimoji="1" lang="en-US" altLang="zh-CN" sz="2600" i="1" smtClean="0">
                            <a:solidFill>
                              <a:srgbClr val="000000"/>
                            </a:solidFill>
                            <a:latin typeface="Cambria Math" panose="02040503050406030204" pitchFamily="18" charset="0"/>
                          </a:rPr>
                        </m:ctrlPr>
                      </m:dPr>
                      <m:e>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1</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2</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𝑘</m:t>
                            </m:r>
                          </m:sub>
                        </m:sSub>
                      </m:e>
                    </m:d>
                    <m:d>
                      <m:dPr>
                        <m:ctrlPr>
                          <a:rPr kumimoji="1" lang="en-US" altLang="zh-CN" sz="2600" i="1" smtClean="0">
                            <a:solidFill>
                              <a:srgbClr val="000000"/>
                            </a:solidFill>
                            <a:latin typeface="Cambria Math" panose="02040503050406030204" pitchFamily="18" charset="0"/>
                          </a:rPr>
                        </m:ctrlPr>
                      </m:dPr>
                      <m:e>
                        <m:nary>
                          <m:naryPr>
                            <m:chr m:val="∑"/>
                            <m:limLoc m:val="subSup"/>
                            <m:ctrlPr>
                              <a:rPr kumimoji="1" lang="en-US" altLang="zh-CN" sz="2600" i="1">
                                <a:solidFill>
                                  <a:srgbClr val="000000"/>
                                </a:solidFill>
                                <a:latin typeface="Cambria Math" panose="02040503050406030204" pitchFamily="18" charset="0"/>
                              </a:rPr>
                            </m:ctrlPr>
                          </m:naryPr>
                          <m:sub>
                            <m:r>
                              <m:rPr>
                                <m:brk m:alnAt="1"/>
                              </m:rPr>
                              <a:rPr kumimoji="1" lang="en-US" altLang="zh-CN" sz="2600" b="0" i="1" smtClean="0">
                                <a:solidFill>
                                  <a:srgbClr val="000000"/>
                                </a:solidFill>
                                <a:latin typeface="Cambria Math" panose="02040503050406030204" pitchFamily="18" charset="0"/>
                              </a:rPr>
                              <m:t>𝑙</m:t>
                            </m:r>
                            <m:r>
                              <a:rPr kumimoji="1" lang="en-US" altLang="zh-CN" sz="2600" b="0" i="1" smtClean="0">
                                <a:solidFill>
                                  <a:srgbClr val="000000"/>
                                </a:solidFill>
                                <a:latin typeface="Cambria Math" panose="02040503050406030204" pitchFamily="18" charset="0"/>
                              </a:rPr>
                              <m:t>=1</m:t>
                            </m:r>
                          </m:sub>
                          <m:sup>
                            <m:r>
                              <a:rPr kumimoji="1" lang="en-US" altLang="zh-CN" sz="2600" b="0" i="1" smtClean="0">
                                <a:solidFill>
                                  <a:srgbClr val="000000"/>
                                </a:solidFill>
                                <a:latin typeface="Cambria Math" panose="02040503050406030204" pitchFamily="18" charset="0"/>
                              </a:rPr>
                              <m:t>𝑘</m:t>
                            </m:r>
                          </m:sup>
                          <m:e>
                            <m:f>
                              <m:fPr>
                                <m:ctrlPr>
                                  <a:rPr kumimoji="1" lang="en-US" altLang="zh-CN" sz="2600" i="1" smtClean="0">
                                    <a:solidFill>
                                      <a:srgbClr val="000000"/>
                                    </a:solidFill>
                                    <a:latin typeface="Cambria Math" panose="02040503050406030204" pitchFamily="18" charset="0"/>
                                  </a:rPr>
                                </m:ctrlPr>
                              </m:fPr>
                              <m:num>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𝑙</m:t>
                                    </m:r>
                                  </m:sub>
                                </m:sSub>
                              </m:num>
                              <m:den>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1</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2</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𝑘</m:t>
                                    </m:r>
                                  </m:sub>
                                </m:sSub>
                              </m:den>
                            </m:f>
                            <m:r>
                              <m:rPr>
                                <m:sty m:val="p"/>
                              </m:rPr>
                              <a:rPr lang="en-US" altLang="zh-CN" sz="2600" b="0" i="1" smtClean="0">
                                <a:solidFill>
                                  <a:srgbClr val="000000"/>
                                </a:solidFill>
                                <a:latin typeface="Cambria Math" panose="02040503050406030204" pitchFamily="18" charset="0"/>
                                <a:cs typeface="Times New Roman" pitchFamily="18" charset="0"/>
                              </a:rPr>
                              <m:t>log</m:t>
                            </m:r>
                            <m:f>
                              <m:fPr>
                                <m:ctrlPr>
                                  <a:rPr lang="en-US" altLang="zh-CN" sz="2600" i="1" smtClean="0">
                                    <a:solidFill>
                                      <a:srgbClr val="000000"/>
                                    </a:solidFill>
                                    <a:latin typeface="Cambria Math" panose="02040503050406030204" pitchFamily="18" charset="0"/>
                                    <a:cs typeface="Times New Roman" pitchFamily="18" charset="0"/>
                                  </a:rPr>
                                </m:ctrlPr>
                              </m:fPr>
                              <m:num>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1</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2</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𝑘</m:t>
                                    </m:r>
                                  </m:sub>
                                </m:sSub>
                              </m:num>
                              <m:den>
                                <m:sSub>
                                  <m:sSubPr>
                                    <m:ctrlPr>
                                      <a:rPr lang="en-US" altLang="zh-CN" sz="2600" i="1" smtClean="0">
                                        <a:solidFill>
                                          <a:srgbClr val="000000"/>
                                        </a:solidFill>
                                        <a:latin typeface="Cambria Math" panose="02040503050406030204" pitchFamily="18" charset="0"/>
                                        <a:cs typeface="Times New Roman" pitchFamily="18" charset="0"/>
                                      </a:rPr>
                                    </m:ctrlPr>
                                  </m:sSubPr>
                                  <m:e>
                                    <m:r>
                                      <a:rPr lang="en-US" altLang="zh-CN" sz="2600" b="0" i="1" smtClean="0">
                                        <a:solidFill>
                                          <a:srgbClr val="000000"/>
                                        </a:solidFill>
                                        <a:latin typeface="Cambria Math" panose="02040503050406030204" pitchFamily="18" charset="0"/>
                                        <a:cs typeface="Times New Roman" pitchFamily="18" charset="0"/>
                                      </a:rPr>
                                      <m:t>𝑝</m:t>
                                    </m:r>
                                  </m:e>
                                  <m:sub>
                                    <m:r>
                                      <a:rPr lang="en-US" altLang="zh-CN" sz="2600" b="0" i="1" smtClean="0">
                                        <a:solidFill>
                                          <a:srgbClr val="000000"/>
                                        </a:solidFill>
                                        <a:latin typeface="Cambria Math" panose="02040503050406030204" pitchFamily="18" charset="0"/>
                                        <a:cs typeface="Times New Roman" pitchFamily="18" charset="0"/>
                                      </a:rPr>
                                      <m:t>𝑙</m:t>
                                    </m:r>
                                  </m:sub>
                                </m:sSub>
                              </m:den>
                            </m:f>
                          </m:e>
                        </m:nary>
                      </m:e>
                    </m:d>
                  </m:oMath>
                </a14:m>
                <a:endParaRPr lang="en-US" altLang="zh-CN" sz="2600" dirty="0">
                  <a:solidFill>
                    <a:srgbClr val="C00000"/>
                  </a:solidFill>
                  <a:latin typeface="宋体" pitchFamily="2" charset="-122"/>
                  <a:cs typeface="Tahoma"/>
                </a:endParaRPr>
              </a:p>
              <a:p>
                <a:pPr eaLnBrk="1" hangingPunct="1">
                  <a:lnSpc>
                    <a:spcPct val="150000"/>
                  </a:lnSpc>
                  <a:defRPr/>
                </a:pPr>
                <a:r>
                  <a:rPr kumimoji="1" lang="en-US" altLang="zh-CN" sz="2600" dirty="0">
                    <a:solidFill>
                      <a:srgbClr val="000000"/>
                    </a:solidFill>
                    <a:latin typeface="Times New Roman" pitchFamily="18" charset="0"/>
                    <a:cs typeface="Tahoma"/>
                  </a:rPr>
                  <a:t> </a:t>
                </a:r>
                <a14:m>
                  <m:oMath xmlns:m="http://schemas.openxmlformats.org/officeDocument/2006/math">
                    <m:r>
                      <a:rPr kumimoji="1" lang="en-US" altLang="zh-CN" sz="2600" b="0" i="1" smtClean="0">
                        <a:solidFill>
                          <a:srgbClr val="000000"/>
                        </a:solidFill>
                        <a:latin typeface="Cambria Math" panose="02040503050406030204" pitchFamily="18" charset="0"/>
                      </a:rPr>
                      <m:t>=</m:t>
                    </m:r>
                    <m:d>
                      <m:dPr>
                        <m:ctrlPr>
                          <a:rPr kumimoji="1" lang="en-US" altLang="zh-CN" sz="2600" i="1">
                            <a:solidFill>
                              <a:srgbClr val="000000"/>
                            </a:solidFill>
                            <a:latin typeface="Cambria Math" panose="02040503050406030204" pitchFamily="18" charset="0"/>
                          </a:rPr>
                        </m:ctrlPr>
                      </m:dPr>
                      <m:e>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1</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2</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𝑘</m:t>
                            </m:r>
                          </m:sub>
                        </m:sSub>
                      </m:e>
                    </m:d>
                    <m:nary>
                      <m:naryPr>
                        <m:chr m:val="∑"/>
                        <m:limLoc m:val="subSup"/>
                        <m:ctrlPr>
                          <a:rPr kumimoji="1" lang="en-US" altLang="zh-CN" sz="2600" i="1">
                            <a:solidFill>
                              <a:srgbClr val="000000"/>
                            </a:solidFill>
                            <a:latin typeface="Cambria Math" panose="02040503050406030204" pitchFamily="18" charset="0"/>
                          </a:rPr>
                        </m:ctrlPr>
                      </m:naryPr>
                      <m:sub>
                        <m:r>
                          <m:rPr>
                            <m:brk m:alnAt="1"/>
                          </m:rPr>
                          <a:rPr kumimoji="1" lang="en-US" altLang="zh-CN" sz="2600" b="0" i="1" smtClean="0">
                            <a:solidFill>
                              <a:srgbClr val="000000"/>
                            </a:solidFill>
                            <a:latin typeface="Cambria Math" panose="02040503050406030204" pitchFamily="18" charset="0"/>
                          </a:rPr>
                          <m:t>𝑙</m:t>
                        </m:r>
                        <m:r>
                          <a:rPr kumimoji="1" lang="en-US" altLang="zh-CN" sz="2600" b="0" i="1" smtClean="0">
                            <a:solidFill>
                              <a:srgbClr val="000000"/>
                            </a:solidFill>
                            <a:latin typeface="Cambria Math" panose="02040503050406030204" pitchFamily="18" charset="0"/>
                          </a:rPr>
                          <m:t>=1</m:t>
                        </m:r>
                      </m:sub>
                      <m:sup>
                        <m:r>
                          <a:rPr kumimoji="1" lang="en-US" altLang="zh-CN" sz="2600" b="0" i="1" smtClean="0">
                            <a:solidFill>
                              <a:srgbClr val="000000"/>
                            </a:solidFill>
                            <a:latin typeface="Cambria Math" panose="02040503050406030204" pitchFamily="18" charset="0"/>
                          </a:rPr>
                          <m:t>𝑘</m:t>
                        </m:r>
                      </m:sup>
                      <m:e>
                        <m:sSubSup>
                          <m:sSubSupPr>
                            <m:ctrlPr>
                              <a:rPr kumimoji="1" lang="en-US" altLang="zh-CN" sz="2600" i="1" smtClean="0">
                                <a:solidFill>
                                  <a:srgbClr val="000000"/>
                                </a:solidFill>
                                <a:latin typeface="Cambria Math" panose="02040503050406030204" pitchFamily="18" charset="0"/>
                              </a:rPr>
                            </m:ctrlPr>
                          </m:sSubSup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𝑙</m:t>
                            </m:r>
                          </m:sub>
                          <m:sup>
                            <m:r>
                              <a:rPr kumimoji="1" lang="en-US" altLang="zh-CN" sz="2600" b="0" i="1" smtClean="0">
                                <a:solidFill>
                                  <a:srgbClr val="000000"/>
                                </a:solidFill>
                                <a:latin typeface="Cambria Math" panose="02040503050406030204" pitchFamily="18" charset="0"/>
                              </a:rPr>
                              <m:t>′</m:t>
                            </m:r>
                          </m:sup>
                        </m:sSubSup>
                      </m:e>
                    </m:nary>
                    <m:r>
                      <m:rPr>
                        <m:sty m:val="p"/>
                      </m:rPr>
                      <a:rPr lang="en-US" altLang="zh-CN" sz="2600" b="0" i="1" smtClean="0">
                        <a:solidFill>
                          <a:srgbClr val="000000"/>
                        </a:solidFill>
                        <a:latin typeface="Cambria Math" panose="02040503050406030204" pitchFamily="18" charset="0"/>
                        <a:cs typeface="Times New Roman" pitchFamily="18" charset="0"/>
                      </a:rPr>
                      <m:t>log</m:t>
                    </m:r>
                    <m:f>
                      <m:fPr>
                        <m:ctrlPr>
                          <a:rPr lang="en-US" altLang="zh-CN" sz="2600" i="1">
                            <a:solidFill>
                              <a:srgbClr val="000000"/>
                            </a:solidFill>
                            <a:latin typeface="Cambria Math" panose="02040503050406030204" pitchFamily="18" charset="0"/>
                            <a:cs typeface="Times New Roman" pitchFamily="18" charset="0"/>
                          </a:rPr>
                        </m:ctrlPr>
                      </m:fPr>
                      <m:num>
                        <m:r>
                          <a:rPr lang="en-US" altLang="zh-CN" sz="2600" b="0" i="1" smtClean="0">
                            <a:solidFill>
                              <a:srgbClr val="000000"/>
                            </a:solidFill>
                            <a:latin typeface="Cambria Math" panose="02040503050406030204" pitchFamily="18" charset="0"/>
                            <a:cs typeface="Times New Roman" pitchFamily="18" charset="0"/>
                          </a:rPr>
                          <m:t>1</m:t>
                        </m:r>
                      </m:num>
                      <m:den>
                        <m:sSubSup>
                          <m:sSubSupPr>
                            <m:ctrlPr>
                              <a:rPr lang="en-US" altLang="zh-CN" sz="2600" i="1" smtClean="0">
                                <a:solidFill>
                                  <a:srgbClr val="000000"/>
                                </a:solidFill>
                                <a:latin typeface="Cambria Math" panose="02040503050406030204" pitchFamily="18" charset="0"/>
                                <a:cs typeface="Times New Roman" pitchFamily="18" charset="0"/>
                              </a:rPr>
                            </m:ctrlPr>
                          </m:sSubSupPr>
                          <m:e>
                            <m:r>
                              <a:rPr lang="en-US" altLang="zh-CN" sz="2600" b="0" i="1" smtClean="0">
                                <a:solidFill>
                                  <a:srgbClr val="000000"/>
                                </a:solidFill>
                                <a:latin typeface="Cambria Math" panose="02040503050406030204" pitchFamily="18" charset="0"/>
                                <a:cs typeface="Times New Roman" pitchFamily="18" charset="0"/>
                              </a:rPr>
                              <m:t>𝑝</m:t>
                            </m:r>
                          </m:e>
                          <m:sub>
                            <m:r>
                              <a:rPr lang="en-US" altLang="zh-CN" sz="2600" b="0" i="1" smtClean="0">
                                <a:solidFill>
                                  <a:srgbClr val="000000"/>
                                </a:solidFill>
                                <a:latin typeface="Cambria Math" panose="02040503050406030204" pitchFamily="18" charset="0"/>
                                <a:cs typeface="Times New Roman" pitchFamily="18" charset="0"/>
                              </a:rPr>
                              <m:t>𝑙</m:t>
                            </m:r>
                          </m:sub>
                          <m:sup>
                            <m:r>
                              <a:rPr lang="en-US" altLang="zh-CN" sz="2600" b="0" i="1" smtClean="0">
                                <a:solidFill>
                                  <a:srgbClr val="000000"/>
                                </a:solidFill>
                                <a:latin typeface="Cambria Math" panose="02040503050406030204" pitchFamily="18" charset="0"/>
                                <a:cs typeface="Times New Roman" pitchFamily="18" charset="0"/>
                              </a:rPr>
                              <m:t>′</m:t>
                            </m:r>
                          </m:sup>
                        </m:sSubSup>
                      </m:den>
                    </m:f>
                  </m:oMath>
                </a14:m>
                <a:endParaRPr lang="en-US" altLang="zh-CN" sz="2600" dirty="0">
                  <a:solidFill>
                    <a:srgbClr val="C00000"/>
                  </a:solidFill>
                  <a:latin typeface="宋体" pitchFamily="2" charset="-122"/>
                  <a:cs typeface="Tahoma"/>
                </a:endParaRPr>
              </a:p>
              <a:p>
                <a:pPr eaLnBrk="1" hangingPunct="1">
                  <a:lnSpc>
                    <a:spcPct val="150000"/>
                  </a:lnSpc>
                  <a:defRPr/>
                </a:pPr>
                <a:r>
                  <a:rPr kumimoji="1" lang="en-US" altLang="zh-CN" sz="2600" dirty="0">
                    <a:solidFill>
                      <a:srgbClr val="000000"/>
                    </a:solidFill>
                    <a:latin typeface="Times New Roman" pitchFamily="18" charset="0"/>
                    <a:cs typeface="Tahoma"/>
                  </a:rPr>
                  <a:t> </a:t>
                </a:r>
                <a14:m>
                  <m:oMath xmlns:m="http://schemas.openxmlformats.org/officeDocument/2006/math">
                    <m:r>
                      <a:rPr kumimoji="1" lang="en-US" altLang="zh-CN" sz="2600" b="0" i="1" smtClean="0">
                        <a:solidFill>
                          <a:srgbClr val="000000"/>
                        </a:solidFill>
                        <a:latin typeface="Cambria Math" panose="02040503050406030204" pitchFamily="18" charset="0"/>
                      </a:rPr>
                      <m:t>=</m:t>
                    </m:r>
                    <m:d>
                      <m:dPr>
                        <m:ctrlPr>
                          <a:rPr kumimoji="1" lang="en-US" altLang="zh-CN" sz="2600" i="1">
                            <a:solidFill>
                              <a:srgbClr val="000000"/>
                            </a:solidFill>
                            <a:latin typeface="Cambria Math" panose="02040503050406030204" pitchFamily="18" charset="0"/>
                          </a:rPr>
                        </m:ctrlPr>
                      </m:dPr>
                      <m:e>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1</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2</m:t>
                            </m:r>
                          </m:sub>
                        </m:sSub>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𝑘</m:t>
                            </m:r>
                          </m:sub>
                        </m:sSub>
                      </m:e>
                    </m:d>
                    <m:r>
                      <a:rPr kumimoji="1" lang="en-US" altLang="zh-CN" sz="2600" b="0" i="1" smtClean="0">
                        <a:solidFill>
                          <a:srgbClr val="000000"/>
                        </a:solidFill>
                        <a:latin typeface="Cambria Math" panose="02040503050406030204" pitchFamily="18" charset="0"/>
                      </a:rPr>
                      <m:t>𝐻</m:t>
                    </m:r>
                    <m:d>
                      <m:dPr>
                        <m:ctrlPr>
                          <a:rPr kumimoji="1" lang="en-US" altLang="zh-CN" sz="2600" i="1">
                            <a:solidFill>
                              <a:srgbClr val="000000"/>
                            </a:solidFill>
                            <a:latin typeface="Cambria Math" panose="02040503050406030204" pitchFamily="18" charset="0"/>
                          </a:rPr>
                        </m:ctrlPr>
                      </m:dPr>
                      <m:e>
                        <m:sSubSup>
                          <m:sSubSupPr>
                            <m:ctrlPr>
                              <a:rPr kumimoji="1" lang="en-US" altLang="zh-CN" sz="2600" i="1">
                                <a:solidFill>
                                  <a:srgbClr val="000000"/>
                                </a:solidFill>
                                <a:latin typeface="Cambria Math" panose="02040503050406030204" pitchFamily="18" charset="0"/>
                              </a:rPr>
                            </m:ctrlPr>
                          </m:sSubSup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1</m:t>
                            </m:r>
                          </m:sub>
                          <m:sup>
                            <m:r>
                              <a:rPr kumimoji="1" lang="en-US" altLang="zh-CN" sz="2600" b="0" i="1" smtClean="0">
                                <a:solidFill>
                                  <a:srgbClr val="000000"/>
                                </a:solidFill>
                                <a:latin typeface="Cambria Math" panose="02040503050406030204" pitchFamily="18" charset="0"/>
                              </a:rPr>
                              <m:t>′</m:t>
                            </m:r>
                          </m:sup>
                        </m:sSubSup>
                        <m:r>
                          <a:rPr kumimoji="1" lang="zh-CN" altLang="en-US" sz="2600" b="0" i="1" smtClean="0">
                            <a:solidFill>
                              <a:srgbClr val="000000"/>
                            </a:solidFill>
                            <a:latin typeface="Cambria Math" panose="02040503050406030204" pitchFamily="18" charset="0"/>
                          </a:rPr>
                          <m:t>，</m:t>
                        </m:r>
                        <m:sSubSup>
                          <m:sSubSupPr>
                            <m:ctrlPr>
                              <a:rPr kumimoji="1" lang="en-US" altLang="zh-CN" sz="2600" i="1">
                                <a:solidFill>
                                  <a:srgbClr val="000000"/>
                                </a:solidFill>
                                <a:latin typeface="Cambria Math" panose="02040503050406030204" pitchFamily="18" charset="0"/>
                              </a:rPr>
                            </m:ctrlPr>
                          </m:sSubSup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2</m:t>
                            </m:r>
                          </m:sub>
                          <m:sup>
                            <m:r>
                              <a:rPr kumimoji="1" lang="en-US" altLang="zh-CN" sz="2600" b="0" i="1" smtClean="0">
                                <a:solidFill>
                                  <a:srgbClr val="000000"/>
                                </a:solidFill>
                                <a:latin typeface="Cambria Math" panose="02040503050406030204" pitchFamily="18" charset="0"/>
                              </a:rPr>
                              <m:t>′</m:t>
                            </m:r>
                          </m:sup>
                        </m:sSubSup>
                        <m:r>
                          <a:rPr kumimoji="1" lang="zh-CN" altLang="en-US" sz="2600" b="0" i="1" smtClean="0">
                            <a:solidFill>
                              <a:srgbClr val="000000"/>
                            </a:solidFill>
                            <a:latin typeface="Cambria Math" panose="02040503050406030204" pitchFamily="18" charset="0"/>
                          </a:rPr>
                          <m:t>，</m:t>
                        </m:r>
                        <m:r>
                          <a:rPr kumimoji="1" lang="en-US" altLang="zh-CN" sz="2600" b="0" i="1" smtClean="0">
                            <a:solidFill>
                              <a:srgbClr val="000000"/>
                            </a:solidFill>
                            <a:latin typeface="Cambria Math" panose="02040503050406030204" pitchFamily="18" charset="0"/>
                          </a:rPr>
                          <m:t>…</m:t>
                        </m:r>
                        <m:r>
                          <a:rPr kumimoji="1" lang="zh-CN" altLang="en-US" sz="2600" b="0" i="1" smtClean="0">
                            <a:solidFill>
                              <a:srgbClr val="000000"/>
                            </a:solidFill>
                            <a:latin typeface="Cambria Math" panose="02040503050406030204" pitchFamily="18" charset="0"/>
                          </a:rPr>
                          <m:t>，</m:t>
                        </m:r>
                        <m:sSubSup>
                          <m:sSubSupPr>
                            <m:ctrlPr>
                              <a:rPr kumimoji="1" lang="en-US" altLang="zh-CN" sz="2600" i="1">
                                <a:solidFill>
                                  <a:srgbClr val="000000"/>
                                </a:solidFill>
                                <a:latin typeface="Cambria Math" panose="02040503050406030204" pitchFamily="18" charset="0"/>
                              </a:rPr>
                            </m:ctrlPr>
                          </m:sSubSup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𝑘</m:t>
                            </m:r>
                          </m:sub>
                          <m:sup>
                            <m:r>
                              <a:rPr kumimoji="1" lang="en-US" altLang="zh-CN" sz="2600" b="0" i="1" smtClean="0">
                                <a:solidFill>
                                  <a:srgbClr val="000000"/>
                                </a:solidFill>
                                <a:latin typeface="Cambria Math" panose="02040503050406030204" pitchFamily="18" charset="0"/>
                              </a:rPr>
                              <m:t>′</m:t>
                            </m:r>
                          </m:sup>
                        </m:sSubSup>
                      </m:e>
                    </m:d>
                    <m:r>
                      <a:rPr kumimoji="1" lang="zh-CN" altLang="en-US" sz="2600" b="1" i="1" smtClean="0">
                        <a:solidFill>
                          <a:srgbClr val="000000"/>
                        </a:solidFill>
                        <a:latin typeface="Cambria Math" panose="02040503050406030204" pitchFamily="18" charset="0"/>
                      </a:rPr>
                      <m:t>。</m:t>
                    </m:r>
                  </m:oMath>
                </a14:m>
                <a:endParaRPr lang="en-US" altLang="zh-CN" sz="2800" b="1" dirty="0">
                  <a:solidFill>
                    <a:srgbClr val="000000"/>
                  </a:solidFill>
                  <a:latin typeface="宋体" pitchFamily="2" charset="-122"/>
                  <a:cs typeface="Tahoma"/>
                </a:endParaRPr>
              </a:p>
            </p:txBody>
          </p:sp>
        </mc:Choice>
        <mc:Fallback>
          <p:sp>
            <p:nvSpPr>
              <p:cNvPr id="3" name="Rectangle 2">
                <a:hlinkClick r:id="rId3" action="ppaction://hlinksldjump"/>
                <a:extLst>
                  <a:ext uri="{FF2B5EF4-FFF2-40B4-BE49-F238E27FC236}">
                    <a16:creationId xmlns:a16="http://schemas.microsoft.com/office/drawing/2014/main" id="{D9CF1447-51CB-FC5F-DF85-C9A0A3465132}"/>
                  </a:ext>
                </a:extLst>
              </p:cNvPr>
              <p:cNvSpPr>
                <a:spLocks noRot="1" noChangeAspect="1" noMove="1" noResize="1" noEditPoints="1" noAdjustHandles="1" noChangeArrowheads="1" noChangeShapeType="1" noTextEdit="1"/>
              </p:cNvSpPr>
              <p:nvPr/>
            </p:nvSpPr>
            <p:spPr bwMode="auto">
              <a:xfrm>
                <a:off x="288364" y="838200"/>
                <a:ext cx="8855636" cy="5334409"/>
              </a:xfrm>
              <a:prstGeom prst="rect">
                <a:avLst/>
              </a:prstGeom>
              <a:blipFill>
                <a:blip r:embed="rId4"/>
                <a:stretch>
                  <a:fillRect l="-1376"/>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22D473FC-3F21-B9DE-B429-3AF159B68607}"/>
              </a:ext>
            </a:extLst>
          </p:cNvPr>
          <p:cNvSpPr>
            <a:spLocks noGrp="1" noChangeArrowheads="1"/>
          </p:cNvSpPr>
          <p:nvPr>
            <p:ph type="body" idx="1"/>
          </p:nvPr>
        </p:nvSpPr>
        <p:spPr>
          <a:xfrm>
            <a:off x="0" y="152400"/>
            <a:ext cx="7772400" cy="609600"/>
          </a:xfrm>
        </p:spPr>
        <p:txBody>
          <a:bodyPr/>
          <a:lstStyle/>
          <a:p>
            <a:pPr eaLnBrk="1" hangingPunct="1">
              <a:buFontTx/>
              <a:buNone/>
            </a:pPr>
            <a:r>
              <a:rPr lang="en-US" altLang="zh-CN"/>
              <a:t>2 </a:t>
            </a:r>
            <a:r>
              <a:rPr lang="zh-CN" altLang="en-US"/>
              <a:t>信息的度量（续）</a:t>
            </a:r>
            <a:endParaRPr lang="en-US" altLang="zh-CN"/>
          </a:p>
        </p:txBody>
      </p:sp>
      <mc:AlternateContent xmlns:mc="http://schemas.openxmlformats.org/markup-compatibility/2006" xmlns:a14="http://schemas.microsoft.com/office/drawing/2010/main">
        <mc:Choice Requires="a14">
          <p:sp>
            <p:nvSpPr>
              <p:cNvPr id="3" name="Rectangle 2">
                <a:hlinkClick r:id="rId3" action="ppaction://hlinksldjump"/>
                <a:extLst>
                  <a:ext uri="{FF2B5EF4-FFF2-40B4-BE49-F238E27FC236}">
                    <a16:creationId xmlns:a16="http://schemas.microsoft.com/office/drawing/2014/main" id="{60ED1040-C190-5330-468B-16DB34D56B20}"/>
                  </a:ext>
                </a:extLst>
              </p:cNvPr>
              <p:cNvSpPr>
                <a:spLocks noChangeArrowheads="1"/>
              </p:cNvSpPr>
              <p:nvPr/>
            </p:nvSpPr>
            <p:spPr bwMode="auto">
              <a:xfrm>
                <a:off x="288364" y="706380"/>
                <a:ext cx="8855636" cy="6151620"/>
              </a:xfrm>
              <a:prstGeom prst="rect">
                <a:avLst/>
              </a:prstGeom>
              <a:noFill/>
              <a:ln w="9525">
                <a:noFill/>
                <a:miter lim="800000"/>
                <a:headEnd/>
                <a:tailEnd/>
              </a:ln>
              <a:effectLst/>
            </p:spPr>
            <p:txBody>
              <a:bodyPr wrap="square">
                <a:spAutoFit/>
              </a:bodyPr>
              <a:lstStyle/>
              <a:p>
                <a:pPr marL="457200" indent="-457200" eaLnBrk="1" hangingPunct="1">
                  <a:lnSpc>
                    <a:spcPct val="130000"/>
                  </a:lnSpc>
                  <a:buFont typeface="Wingdings" panose="05000000000000000000" pitchFamily="2" charset="2"/>
                  <a:buChar char="Ø"/>
                  <a:defRPr/>
                </a:pPr>
                <a:r>
                  <a:rPr lang="zh-CN" altLang="en-US" sz="2600" dirty="0">
                    <a:solidFill>
                      <a:srgbClr val="C00000"/>
                    </a:solidFill>
                    <a:latin typeface="宋体" pitchFamily="2" charset="-122"/>
                    <a:cs typeface="Tahoma"/>
                  </a:rPr>
                  <a:t>熵函数</a:t>
                </a:r>
                <a14:m>
                  <m:oMath xmlns:m="http://schemas.openxmlformats.org/officeDocument/2006/math">
                    <m:r>
                      <a:rPr lang="en-US" altLang="zh-CN" sz="2600" b="0" i="1" smtClean="0">
                        <a:solidFill>
                          <a:srgbClr val="C00000"/>
                        </a:solidFill>
                        <a:latin typeface="Cambria Math" panose="02040503050406030204" pitchFamily="18" charset="0"/>
                      </a:rPr>
                      <m:t> </m:t>
                    </m:r>
                    <m:r>
                      <a:rPr lang="en-US" altLang="zh-CN" sz="2600" b="0" i="1" smtClean="0">
                        <a:solidFill>
                          <a:srgbClr val="C00000"/>
                        </a:solidFill>
                        <a:latin typeface="Cambria Math" panose="02040503050406030204" pitchFamily="18" charset="0"/>
                      </a:rPr>
                      <m:t>𝐻</m:t>
                    </m:r>
                    <m:d>
                      <m:dPr>
                        <m:ctrlPr>
                          <a:rPr lang="en-US" altLang="zh-CN" sz="2600" i="1" smtClean="0">
                            <a:solidFill>
                              <a:srgbClr val="C00000"/>
                            </a:solidFill>
                            <a:latin typeface="Cambria Math" panose="02040503050406030204" pitchFamily="18" charset="0"/>
                          </a:rPr>
                        </m:ctrlPr>
                      </m:dPr>
                      <m:e>
                        <m:acc>
                          <m:accPr>
                            <m:chr m:val="̅"/>
                            <m:ctrlPr>
                              <a:rPr lang="en-US" altLang="zh-CN" sz="2600" i="1" smtClean="0">
                                <a:solidFill>
                                  <a:srgbClr val="C00000"/>
                                </a:solidFill>
                                <a:latin typeface="Cambria Math" panose="02040503050406030204" pitchFamily="18" charset="0"/>
                                <a:cs typeface="Times New Roman" pitchFamily="18" charset="0"/>
                              </a:rPr>
                            </m:ctrlPr>
                          </m:accPr>
                          <m:e>
                            <m:r>
                              <a:rPr lang="en-US" altLang="zh-CN" sz="2600" b="0" i="1">
                                <a:solidFill>
                                  <a:srgbClr val="C00000"/>
                                </a:solidFill>
                                <a:latin typeface="Cambria Math" panose="02040503050406030204" pitchFamily="18" charset="0"/>
                                <a:cs typeface="Times New Roman" pitchFamily="18" charset="0"/>
                              </a:rPr>
                              <m:t>𝑝</m:t>
                            </m:r>
                          </m:e>
                        </m:acc>
                      </m:e>
                    </m:d>
                    <m:r>
                      <a:rPr lang="en-US" altLang="zh-CN" sz="2600" b="0" i="1" smtClean="0">
                        <a:solidFill>
                          <a:srgbClr val="C00000"/>
                        </a:solidFill>
                        <a:latin typeface="Cambria Math" panose="02040503050406030204" pitchFamily="18" charset="0"/>
                      </a:rPr>
                      <m:t> </m:t>
                    </m:r>
                  </m:oMath>
                </a14:m>
                <a:r>
                  <a:rPr lang="zh-CN" altLang="en-US" sz="2600" dirty="0">
                    <a:solidFill>
                      <a:srgbClr val="C00000"/>
                    </a:solidFill>
                    <a:latin typeface="宋体" pitchFamily="2" charset="-122"/>
                    <a:cs typeface="Tahoma"/>
                  </a:rPr>
                  <a:t>的性质</a:t>
                </a:r>
                <a:r>
                  <a:rPr lang="en-US" altLang="zh-CN" sz="2600" dirty="0">
                    <a:solidFill>
                      <a:srgbClr val="C00000"/>
                    </a:solidFill>
                    <a:latin typeface="宋体" pitchFamily="2" charset="-122"/>
                    <a:cs typeface="Tahoma"/>
                  </a:rPr>
                  <a:t>:</a:t>
                </a:r>
              </a:p>
              <a:p>
                <a:pPr marL="514350" indent="-514350" eaLnBrk="1" hangingPunct="1">
                  <a:lnSpc>
                    <a:spcPct val="130000"/>
                  </a:lnSpc>
                  <a:buFont typeface="+mj-lt"/>
                  <a:buAutoNum type="arabicPeriod" startAt="7"/>
                  <a:defRPr/>
                </a:pPr>
                <a:r>
                  <a:rPr lang="zh-CN" altLang="en-US" sz="2600" dirty="0">
                    <a:solidFill>
                      <a:srgbClr val="C00000"/>
                    </a:solidFill>
                    <a:latin typeface="宋体" pitchFamily="2" charset="-122"/>
                    <a:cs typeface="Tahoma"/>
                  </a:rPr>
                  <a:t>可加性：</a:t>
                </a:r>
                <a:endParaRPr lang="en-US" altLang="zh-CN" sz="2600" dirty="0">
                  <a:solidFill>
                    <a:srgbClr val="C00000"/>
                  </a:solidFill>
                  <a:latin typeface="宋体" pitchFamily="2" charset="-122"/>
                  <a:cs typeface="Tahoma"/>
                </a:endParaRPr>
              </a:p>
              <a:p>
                <a:pPr eaLnBrk="1" hangingPunct="1">
                  <a:lnSpc>
                    <a:spcPct val="130000"/>
                  </a:lnSpc>
                  <a:defRPr/>
                </a:pPr>
                <a14:m>
                  <m:oMathPara xmlns:m="http://schemas.openxmlformats.org/officeDocument/2006/math">
                    <m:oMathParaPr>
                      <m:jc m:val="centerGroup"/>
                    </m:oMathParaPr>
                    <m:oMath xmlns:m="http://schemas.openxmlformats.org/officeDocument/2006/math">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𝐻</m:t>
                          </m:r>
                        </m:e>
                        <m:sub>
                          <m:r>
                            <a:rPr kumimoji="1" lang="en-US" altLang="zh-CN" sz="2600" b="0" i="1" smtClean="0">
                              <a:solidFill>
                                <a:srgbClr val="000000"/>
                              </a:solidFill>
                              <a:latin typeface="Cambria Math" panose="02040503050406030204" pitchFamily="18" charset="0"/>
                            </a:rPr>
                            <m:t>𝑛𝑚</m:t>
                          </m:r>
                        </m:sub>
                      </m:sSub>
                      <m:d>
                        <m:dPr>
                          <m:ctrlPr>
                            <a:rPr kumimoji="1" lang="en-US" altLang="zh-CN" sz="2600" i="1" smtClean="0">
                              <a:solidFill>
                                <a:srgbClr val="000000"/>
                              </a:solidFill>
                              <a:latin typeface="Cambria Math" panose="02040503050406030204" pitchFamily="18" charset="0"/>
                            </a:rPr>
                          </m:ctrlPr>
                        </m:dPr>
                        <m:e>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1</m:t>
                              </m:r>
                            </m:sub>
                          </m:sSub>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𝑞</m:t>
                              </m:r>
                            </m:e>
                            <m:sub>
                              <m:r>
                                <a:rPr kumimoji="1" lang="en-US" altLang="zh-CN" sz="2600" b="0" i="1" smtClean="0">
                                  <a:solidFill>
                                    <a:srgbClr val="000000"/>
                                  </a:solidFill>
                                  <a:latin typeface="Cambria Math" panose="02040503050406030204" pitchFamily="18" charset="0"/>
                                </a:rPr>
                                <m:t>1</m:t>
                              </m:r>
                            </m:sub>
                          </m:sSub>
                          <m:r>
                            <a:rPr kumimoji="1" lang="zh-CN" altLang="en-US" sz="2600" b="0" i="1">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1</m:t>
                              </m:r>
                            </m:sub>
                          </m:sSub>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𝑞</m:t>
                              </m:r>
                            </m:e>
                            <m:sub>
                              <m:r>
                                <a:rPr kumimoji="1" lang="en-US" altLang="zh-CN" sz="2600" b="0" i="1" smtClean="0">
                                  <a:solidFill>
                                    <a:srgbClr val="000000"/>
                                  </a:solidFill>
                                  <a:latin typeface="Cambria Math" panose="02040503050406030204" pitchFamily="18" charset="0"/>
                                </a:rPr>
                                <m:t>2</m:t>
                              </m:r>
                            </m:sub>
                          </m:sSub>
                          <m:r>
                            <a:rPr kumimoji="1" lang="zh-CN" altLang="en-US" sz="2600" b="0" i="1">
                              <a:solidFill>
                                <a:srgbClr val="000000"/>
                              </a:solidFill>
                              <a:latin typeface="Cambria Math" panose="02040503050406030204" pitchFamily="18" charset="0"/>
                            </a:rPr>
                            <m:t>，</m:t>
                          </m:r>
                          <m:r>
                            <a:rPr kumimoji="1" lang="en-US" altLang="zh-CN" sz="2600" b="0" i="1" smtClean="0">
                              <a:solidFill>
                                <a:srgbClr val="000000"/>
                              </a:solidFill>
                              <a:latin typeface="Cambria Math" panose="02040503050406030204" pitchFamily="18" charset="0"/>
                            </a:rPr>
                            <m:t>…</m:t>
                          </m:r>
                          <m:r>
                            <a:rPr kumimoji="1" lang="zh-CN" altLang="en-US" sz="2600" b="0" i="1">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𝑝</m:t>
                                  </m:r>
                                </m:e>
                                <m:sub>
                                  <m:r>
                                    <a:rPr kumimoji="1" lang="en-US" altLang="zh-CN" sz="2600" i="1">
                                      <a:solidFill>
                                        <a:srgbClr val="000000"/>
                                      </a:solidFill>
                                      <a:latin typeface="Cambria Math" panose="02040503050406030204" pitchFamily="18" charset="0"/>
                                    </a:rPr>
                                    <m:t>1</m:t>
                                  </m:r>
                                </m:sub>
                              </m:sSub>
                              <m:r>
                                <a:rPr kumimoji="1" lang="en-US" altLang="zh-CN" sz="2600" b="0" i="1" smtClean="0">
                                  <a:solidFill>
                                    <a:srgbClr val="000000"/>
                                  </a:solidFill>
                                  <a:latin typeface="Cambria Math" panose="02040503050406030204" pitchFamily="18" charset="0"/>
                                </a:rPr>
                                <m:t>𝑞</m:t>
                              </m:r>
                            </m:e>
                            <m:sub>
                              <m:r>
                                <a:rPr kumimoji="1" lang="en-US" altLang="zh-CN" sz="2600" b="0" i="1" smtClean="0">
                                  <a:solidFill>
                                    <a:srgbClr val="000000"/>
                                  </a:solidFill>
                                  <a:latin typeface="Cambria Math" panose="02040503050406030204" pitchFamily="18" charset="0"/>
                                </a:rPr>
                                <m:t>𝑚</m:t>
                              </m:r>
                            </m:sub>
                          </m:sSub>
                          <m:r>
                            <a:rPr kumimoji="1" lang="zh-CN" altLang="en-US" sz="2600" b="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𝑝</m:t>
                              </m:r>
                            </m:e>
                            <m:sub>
                              <m:r>
                                <a:rPr kumimoji="1" lang="en-US" altLang="zh-CN" sz="2600" i="1">
                                  <a:solidFill>
                                    <a:srgbClr val="000000"/>
                                  </a:solidFill>
                                  <a:latin typeface="Cambria Math" panose="02040503050406030204" pitchFamily="18" charset="0"/>
                                </a:rPr>
                                <m:t>2</m:t>
                              </m:r>
                            </m:sub>
                          </m:sSub>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𝑞</m:t>
                              </m:r>
                            </m:e>
                            <m:sub>
                              <m:r>
                                <a:rPr kumimoji="1" lang="en-US" altLang="zh-CN" sz="2600" b="0" i="1" smtClean="0">
                                  <a:solidFill>
                                    <a:srgbClr val="000000"/>
                                  </a:solidFill>
                                  <a:latin typeface="Cambria Math" panose="02040503050406030204" pitchFamily="18" charset="0"/>
                                </a:rPr>
                                <m:t>1</m:t>
                              </m:r>
                            </m:sub>
                          </m:sSub>
                          <m:r>
                            <a:rPr kumimoji="1" lang="zh-CN" altLang="en-US" sz="2600" b="0" i="1">
                              <a:solidFill>
                                <a:srgbClr val="000000"/>
                              </a:solidFill>
                              <a:latin typeface="Cambria Math" panose="02040503050406030204" pitchFamily="18" charset="0"/>
                            </a:rPr>
                            <m:t>，</m:t>
                          </m:r>
                          <m:r>
                            <a:rPr kumimoji="1" lang="en-US" altLang="zh-CN" sz="2600" b="0" i="1" smtClean="0">
                              <a:solidFill>
                                <a:srgbClr val="000000"/>
                              </a:solidFill>
                              <a:latin typeface="Cambria Math" panose="02040503050406030204" pitchFamily="18" charset="0"/>
                            </a:rPr>
                            <m:t>…</m:t>
                          </m:r>
                          <m:r>
                            <a:rPr kumimoji="1" lang="zh-CN" altLang="en-US" sz="2600" b="0" i="1">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𝑝</m:t>
                                  </m:r>
                                </m:e>
                                <m:sub>
                                  <m:r>
                                    <a:rPr kumimoji="1" lang="en-US" altLang="zh-CN" sz="2600" i="1">
                                      <a:solidFill>
                                        <a:srgbClr val="000000"/>
                                      </a:solidFill>
                                      <a:latin typeface="Cambria Math" panose="02040503050406030204" pitchFamily="18" charset="0"/>
                                    </a:rPr>
                                    <m:t>2</m:t>
                                  </m:r>
                                </m:sub>
                              </m:sSub>
                              <m:r>
                                <a:rPr kumimoji="1" lang="en-US" altLang="zh-CN" sz="2600" b="0" i="1" smtClean="0">
                                  <a:solidFill>
                                    <a:srgbClr val="000000"/>
                                  </a:solidFill>
                                  <a:latin typeface="Cambria Math" panose="02040503050406030204" pitchFamily="18" charset="0"/>
                                </a:rPr>
                                <m:t>𝑞</m:t>
                              </m:r>
                            </m:e>
                            <m:sub>
                              <m:r>
                                <a:rPr kumimoji="1" lang="en-US" altLang="zh-CN" sz="2600" b="0" i="1" smtClean="0">
                                  <a:solidFill>
                                    <a:srgbClr val="000000"/>
                                  </a:solidFill>
                                  <a:latin typeface="Cambria Math" panose="02040503050406030204" pitchFamily="18" charset="0"/>
                                </a:rPr>
                                <m:t>𝑚</m:t>
                              </m:r>
                            </m:sub>
                          </m:sSub>
                          <m:r>
                            <a:rPr kumimoji="1" lang="zh-CN" altLang="en-US" sz="2600" b="0" i="1">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𝑛</m:t>
                              </m:r>
                            </m:sub>
                          </m:sSub>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𝑞</m:t>
                              </m:r>
                            </m:e>
                            <m:sub>
                              <m:r>
                                <a:rPr kumimoji="1" lang="en-US" altLang="zh-CN" sz="2600" b="0" i="1" smtClean="0">
                                  <a:solidFill>
                                    <a:srgbClr val="000000"/>
                                  </a:solidFill>
                                  <a:latin typeface="Cambria Math" panose="02040503050406030204" pitchFamily="18" charset="0"/>
                                </a:rPr>
                                <m:t>1</m:t>
                              </m:r>
                            </m:sub>
                          </m:sSub>
                          <m:r>
                            <a:rPr kumimoji="1" lang="zh-CN" altLang="en-US" sz="2600" b="0" i="1">
                              <a:solidFill>
                                <a:srgbClr val="000000"/>
                              </a:solidFill>
                              <a:latin typeface="Cambria Math" panose="02040503050406030204" pitchFamily="18" charset="0"/>
                            </a:rPr>
                            <m:t>，</m:t>
                          </m:r>
                          <m:r>
                            <a:rPr kumimoji="1" lang="en-US" altLang="zh-CN" sz="2600" b="0" i="1" smtClean="0">
                              <a:solidFill>
                                <a:srgbClr val="000000"/>
                              </a:solidFill>
                              <a:latin typeface="Cambria Math" panose="02040503050406030204" pitchFamily="18" charset="0"/>
                            </a:rPr>
                            <m:t>…</m:t>
                          </m:r>
                          <m:r>
                            <a:rPr kumimoji="1" lang="zh-CN" altLang="en-US" sz="2600" b="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𝑝</m:t>
                              </m:r>
                            </m:e>
                            <m:sub>
                              <m:r>
                                <a:rPr kumimoji="1" lang="en-US" altLang="zh-CN" sz="2600" i="1">
                                  <a:solidFill>
                                    <a:srgbClr val="000000"/>
                                  </a:solidFill>
                                  <a:latin typeface="Cambria Math" panose="02040503050406030204" pitchFamily="18" charset="0"/>
                                </a:rPr>
                                <m:t>𝑛</m:t>
                              </m:r>
                            </m:sub>
                          </m:sSub>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𝑞</m:t>
                              </m:r>
                            </m:e>
                            <m:sub>
                              <m:r>
                                <a:rPr kumimoji="1" lang="en-US" altLang="zh-CN" sz="2600" b="0" i="1" smtClean="0">
                                  <a:solidFill>
                                    <a:srgbClr val="000000"/>
                                  </a:solidFill>
                                  <a:latin typeface="Cambria Math" panose="02040503050406030204" pitchFamily="18" charset="0"/>
                                </a:rPr>
                                <m:t>𝑚</m:t>
                              </m:r>
                            </m:sub>
                          </m:sSub>
                          <m:r>
                            <a:rPr kumimoji="1" lang="en-US" altLang="zh-CN" sz="2600" b="0" i="1" smtClean="0">
                              <a:solidFill>
                                <a:srgbClr val="000000"/>
                              </a:solidFill>
                              <a:latin typeface="Cambria Math" panose="02040503050406030204" pitchFamily="18" charset="0"/>
                            </a:rPr>
                            <m:t> </m:t>
                          </m:r>
                        </m:e>
                      </m:d>
                      <m:r>
                        <a:rPr kumimoji="1" lang="en-US" altLang="zh-CN" sz="2600" b="0" i="1" smtClean="0">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𝐻</m:t>
                          </m:r>
                        </m:e>
                        <m:sub>
                          <m:r>
                            <a:rPr kumimoji="1" lang="en-US" altLang="zh-CN" sz="2600" b="0" i="1" smtClean="0">
                              <a:solidFill>
                                <a:srgbClr val="000000"/>
                              </a:solidFill>
                              <a:latin typeface="Cambria Math" panose="02040503050406030204" pitchFamily="18" charset="0"/>
                            </a:rPr>
                            <m:t>𝑛</m:t>
                          </m:r>
                        </m:sub>
                      </m:sSub>
                      <m:d>
                        <m:dPr>
                          <m:ctrlPr>
                            <a:rPr kumimoji="1" lang="en-US" altLang="zh-CN" sz="2600" i="1">
                              <a:solidFill>
                                <a:srgbClr val="000000"/>
                              </a:solidFill>
                              <a:latin typeface="Cambria Math" panose="02040503050406030204" pitchFamily="18" charset="0"/>
                            </a:rPr>
                          </m:ctrlPr>
                        </m:dPr>
                        <m:e>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1</m:t>
                              </m:r>
                            </m:sub>
                          </m:sSub>
                          <m:r>
                            <a:rPr kumimoji="1" lang="zh-CN" altLang="en-US" sz="2600" b="0" i="1">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𝑝</m:t>
                              </m:r>
                            </m:e>
                            <m:sub>
                              <m:r>
                                <a:rPr kumimoji="1" lang="en-US" altLang="zh-CN" sz="2600" b="0" i="1" smtClean="0">
                                  <a:solidFill>
                                    <a:srgbClr val="000000"/>
                                  </a:solidFill>
                                  <a:latin typeface="Cambria Math" panose="02040503050406030204" pitchFamily="18" charset="0"/>
                                </a:rPr>
                                <m:t>2</m:t>
                              </m:r>
                            </m:sub>
                          </m:sSub>
                          <m:r>
                            <a:rPr kumimoji="1" lang="zh-CN" altLang="en-US" sz="2600" b="0" i="1">
                              <a:solidFill>
                                <a:srgbClr val="000000"/>
                              </a:solidFill>
                              <a:latin typeface="Cambria Math" panose="02040503050406030204" pitchFamily="18" charset="0"/>
                            </a:rPr>
                            <m:t>，</m:t>
                          </m:r>
                          <m:r>
                            <a:rPr kumimoji="1" lang="en-US" altLang="zh-CN" sz="2600" b="0" i="1">
                              <a:solidFill>
                                <a:srgbClr val="000000"/>
                              </a:solidFill>
                              <a:latin typeface="Cambria Math" panose="02040503050406030204" pitchFamily="18" charset="0"/>
                            </a:rPr>
                            <m:t>…</m:t>
                          </m:r>
                          <m:r>
                            <a:rPr kumimoji="1" lang="zh-CN" altLang="en-US" sz="2600" b="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𝑝</m:t>
                              </m:r>
                            </m:e>
                            <m:sub>
                              <m:r>
                                <a:rPr kumimoji="1" lang="en-US" altLang="zh-CN" sz="2600" i="1">
                                  <a:solidFill>
                                    <a:srgbClr val="000000"/>
                                  </a:solidFill>
                                  <a:latin typeface="Cambria Math" panose="02040503050406030204" pitchFamily="18" charset="0"/>
                                </a:rPr>
                                <m:t>𝑛</m:t>
                              </m:r>
                            </m:sub>
                          </m:sSub>
                        </m:e>
                      </m:d>
                      <m:r>
                        <a:rPr kumimoji="1" lang="en-US" altLang="zh-CN" sz="2600" b="0" i="1" smtClean="0">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𝐻</m:t>
                          </m:r>
                        </m:e>
                        <m:sub>
                          <m:r>
                            <a:rPr kumimoji="1" lang="en-US" altLang="zh-CN" sz="2600" b="0" i="1" smtClean="0">
                              <a:solidFill>
                                <a:srgbClr val="000000"/>
                              </a:solidFill>
                              <a:latin typeface="Cambria Math" panose="02040503050406030204" pitchFamily="18" charset="0"/>
                            </a:rPr>
                            <m:t>𝑚</m:t>
                          </m:r>
                        </m:sub>
                      </m:sSub>
                      <m:d>
                        <m:dPr>
                          <m:ctrlPr>
                            <a:rPr kumimoji="1" lang="en-US" altLang="zh-CN" sz="2600" i="1" smtClean="0">
                              <a:solidFill>
                                <a:srgbClr val="000000"/>
                              </a:solidFill>
                              <a:latin typeface="Cambria Math" panose="02040503050406030204" pitchFamily="18" charset="0"/>
                            </a:rPr>
                          </m:ctrlPr>
                        </m:dPr>
                        <m:e>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𝑞</m:t>
                              </m:r>
                            </m:e>
                            <m:sub>
                              <m:r>
                                <a:rPr kumimoji="1" lang="en-US" altLang="zh-CN" sz="2600" b="0" i="1" smtClean="0">
                                  <a:solidFill>
                                    <a:srgbClr val="000000"/>
                                  </a:solidFill>
                                  <a:latin typeface="Cambria Math" panose="02040503050406030204" pitchFamily="18" charset="0"/>
                                </a:rPr>
                                <m:t>1</m:t>
                              </m:r>
                            </m:sub>
                          </m:sSub>
                          <m:r>
                            <a:rPr kumimoji="1" lang="zh-CN" altLang="en-US" sz="2600" b="0" i="1">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𝑞</m:t>
                              </m:r>
                            </m:e>
                            <m:sub>
                              <m:r>
                                <a:rPr kumimoji="1" lang="en-US" altLang="zh-CN" sz="2600" b="0" i="1" smtClean="0">
                                  <a:solidFill>
                                    <a:srgbClr val="000000"/>
                                  </a:solidFill>
                                  <a:latin typeface="Cambria Math" panose="02040503050406030204" pitchFamily="18" charset="0"/>
                                </a:rPr>
                                <m:t>2</m:t>
                              </m:r>
                            </m:sub>
                          </m:sSub>
                          <m:r>
                            <a:rPr kumimoji="1" lang="zh-CN" altLang="en-US" sz="2600" b="0" i="1">
                              <a:solidFill>
                                <a:srgbClr val="000000"/>
                              </a:solidFill>
                              <a:latin typeface="Cambria Math" panose="02040503050406030204" pitchFamily="18" charset="0"/>
                            </a:rPr>
                            <m:t>，</m:t>
                          </m:r>
                          <m:r>
                            <a:rPr kumimoji="1" lang="en-US" altLang="zh-CN" sz="2600" b="0" i="1" smtClean="0">
                              <a:solidFill>
                                <a:srgbClr val="000000"/>
                              </a:solidFill>
                              <a:latin typeface="Cambria Math" panose="02040503050406030204" pitchFamily="18" charset="0"/>
                            </a:rPr>
                            <m:t>…</m:t>
                          </m:r>
                          <m:r>
                            <a:rPr kumimoji="1" lang="zh-CN" altLang="en-US" sz="2600" b="0" i="1">
                              <a:solidFill>
                                <a:srgbClr val="000000"/>
                              </a:solidFill>
                              <a:latin typeface="Cambria Math" panose="02040503050406030204" pitchFamily="18" charset="0"/>
                            </a:rPr>
                            <m:t>，</m:t>
                          </m:r>
                          <m:sSub>
                            <m:sSubPr>
                              <m:ctrlPr>
                                <a:rPr kumimoji="1" lang="en-US" altLang="zh-CN" sz="2600" i="1" smtClean="0">
                                  <a:solidFill>
                                    <a:srgbClr val="000000"/>
                                  </a:solidFill>
                                  <a:latin typeface="Cambria Math" panose="02040503050406030204" pitchFamily="18" charset="0"/>
                                </a:rPr>
                              </m:ctrlPr>
                            </m:sSubPr>
                            <m:e>
                              <m:r>
                                <a:rPr kumimoji="1" lang="en-US" altLang="zh-CN" sz="2600" b="0" i="1" smtClean="0">
                                  <a:solidFill>
                                    <a:srgbClr val="000000"/>
                                  </a:solidFill>
                                  <a:latin typeface="Cambria Math" panose="02040503050406030204" pitchFamily="18" charset="0"/>
                                </a:rPr>
                                <m:t>𝑞</m:t>
                              </m:r>
                            </m:e>
                            <m:sub>
                              <m:r>
                                <a:rPr kumimoji="1" lang="en-US" altLang="zh-CN" sz="2600" b="0" i="1" smtClean="0">
                                  <a:solidFill>
                                    <a:srgbClr val="000000"/>
                                  </a:solidFill>
                                  <a:latin typeface="Cambria Math" panose="02040503050406030204" pitchFamily="18" charset="0"/>
                                </a:rPr>
                                <m:t>𝑚</m:t>
                              </m:r>
                            </m:sub>
                          </m:sSub>
                        </m:e>
                      </m:d>
                    </m:oMath>
                  </m:oMathPara>
                </a14:m>
                <a:endParaRPr lang="en-US" altLang="zh-CN" sz="2600" dirty="0">
                  <a:solidFill>
                    <a:srgbClr val="C00000"/>
                  </a:solidFill>
                  <a:latin typeface="宋体" pitchFamily="2" charset="-122"/>
                  <a:cs typeface="Tahoma"/>
                </a:endParaRPr>
              </a:p>
              <a:p>
                <a:pPr eaLnBrk="1" hangingPunct="1">
                  <a:lnSpc>
                    <a:spcPct val="130000"/>
                  </a:lnSpc>
                  <a:defRPr/>
                </a:pPr>
                <a:r>
                  <a:rPr lang="zh-CN" altLang="en-US" sz="2600" dirty="0">
                    <a:solidFill>
                      <a:srgbClr val="000000"/>
                    </a:solidFill>
                    <a:latin typeface="宋体" pitchFamily="2" charset="-122"/>
                    <a:cs typeface="Tahoma"/>
                  </a:rPr>
                  <a:t>两个独立事件的联合熵等于各自熵之和。</a:t>
                </a:r>
                <a:endParaRPr lang="en-US" altLang="zh-CN" sz="2600" dirty="0">
                  <a:solidFill>
                    <a:srgbClr val="000000"/>
                  </a:solidFill>
                  <a:latin typeface="宋体" pitchFamily="2" charset="-122"/>
                  <a:cs typeface="Tahoma"/>
                </a:endParaRPr>
              </a:p>
              <a:p>
                <a:pPr eaLnBrk="1" hangingPunct="1">
                  <a:lnSpc>
                    <a:spcPct val="130000"/>
                  </a:lnSpc>
                  <a:defRPr/>
                </a:pPr>
                <a:r>
                  <a:rPr lang="zh-CN" altLang="en-US" sz="2600" b="1" dirty="0">
                    <a:solidFill>
                      <a:srgbClr val="000000"/>
                    </a:solidFill>
                    <a:latin typeface="宋体" pitchFamily="2" charset="-122"/>
                    <a:cs typeface="Tahoma"/>
                  </a:rPr>
                  <a:t>可加性证明</a:t>
                </a:r>
                <a:r>
                  <a:rPr lang="en-US" altLang="zh-CN" sz="2600" b="1" dirty="0">
                    <a:solidFill>
                      <a:srgbClr val="000000"/>
                    </a:solidFill>
                    <a:latin typeface="宋体" pitchFamily="2" charset="-122"/>
                    <a:cs typeface="Tahoma"/>
                  </a:rPr>
                  <a:t>. </a:t>
                </a:r>
                <a14:m>
                  <m:oMath xmlns:m="http://schemas.openxmlformats.org/officeDocument/2006/math">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𝐻</m:t>
                        </m:r>
                      </m:e>
                      <m:sub>
                        <m:r>
                          <a:rPr kumimoji="1" lang="en-US" altLang="zh-CN" sz="2600" b="0" i="1">
                            <a:solidFill>
                              <a:srgbClr val="000000"/>
                            </a:solidFill>
                            <a:latin typeface="Cambria Math" panose="02040503050406030204" pitchFamily="18" charset="0"/>
                          </a:rPr>
                          <m:t>𝑛𝑚</m:t>
                        </m:r>
                      </m:sub>
                    </m:sSub>
                    <m:d>
                      <m:dPr>
                        <m:ctrlPr>
                          <a:rPr kumimoji="1" lang="en-US" altLang="zh-CN" sz="2600" i="1">
                            <a:solidFill>
                              <a:srgbClr val="000000"/>
                            </a:solidFill>
                            <a:latin typeface="Cambria Math" panose="02040503050406030204" pitchFamily="18" charset="0"/>
                          </a:rPr>
                        </m:ctrlPr>
                      </m:dPr>
                      <m:e>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1</m:t>
                            </m:r>
                          </m:sub>
                        </m:sSub>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𝑞</m:t>
                            </m:r>
                          </m:e>
                          <m:sub>
                            <m:r>
                              <a:rPr kumimoji="1" lang="en-US" altLang="zh-CN" sz="2600" b="0" i="1">
                                <a:solidFill>
                                  <a:srgbClr val="000000"/>
                                </a:solidFill>
                                <a:latin typeface="Cambria Math" panose="02040503050406030204" pitchFamily="18" charset="0"/>
                              </a:rPr>
                              <m:t>1</m:t>
                            </m:r>
                          </m:sub>
                        </m:sSub>
                        <m:r>
                          <a:rPr kumimoji="1" lang="zh-CN" altLang="en-US" sz="2600" b="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1</m:t>
                            </m:r>
                          </m:sub>
                        </m:sSub>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𝑞</m:t>
                            </m:r>
                          </m:e>
                          <m:sub>
                            <m:r>
                              <a:rPr kumimoji="1" lang="en-US" altLang="zh-CN" sz="2600" b="0" i="1">
                                <a:solidFill>
                                  <a:srgbClr val="000000"/>
                                </a:solidFill>
                                <a:latin typeface="Cambria Math" panose="02040503050406030204" pitchFamily="18" charset="0"/>
                              </a:rPr>
                              <m:t>2</m:t>
                            </m:r>
                          </m:sub>
                        </m:sSub>
                        <m:r>
                          <a:rPr kumimoji="1" lang="zh-CN" altLang="en-US" sz="2600" b="0" i="1">
                            <a:solidFill>
                              <a:srgbClr val="000000"/>
                            </a:solidFill>
                            <a:latin typeface="Cambria Math" panose="02040503050406030204" pitchFamily="18" charset="0"/>
                          </a:rPr>
                          <m:t>，</m:t>
                        </m:r>
                        <m:r>
                          <a:rPr kumimoji="1" lang="en-US" altLang="zh-CN" sz="2600" b="0" i="1">
                            <a:solidFill>
                              <a:srgbClr val="000000"/>
                            </a:solidFill>
                            <a:latin typeface="Cambria Math" panose="02040503050406030204" pitchFamily="18" charset="0"/>
                          </a:rPr>
                          <m:t> …</m:t>
                        </m:r>
                        <m:r>
                          <a:rPr kumimoji="1" lang="zh-CN" altLang="en-US" sz="2600" i="1">
                            <a:solidFill>
                              <a:srgbClr val="000000"/>
                            </a:solidFill>
                            <a:latin typeface="Cambria Math" panose="02040503050406030204" pitchFamily="18" charset="0"/>
                          </a:rPr>
                          <m:t>，</m:t>
                        </m:r>
                        <m:r>
                          <a:rPr kumimoji="1" lang="en-US" altLang="zh-CN" sz="2600" b="0" i="1">
                            <a:solidFill>
                              <a:srgbClr val="000000"/>
                            </a:solidFill>
                            <a:latin typeface="Cambria Math" panose="02040503050406030204" pitchFamily="18" charset="0"/>
                          </a:rPr>
                          <m:t> </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1</m:t>
                            </m:r>
                          </m:sub>
                        </m:sSub>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𝑞</m:t>
                            </m:r>
                          </m:e>
                          <m:sub>
                            <m:r>
                              <a:rPr kumimoji="1" lang="en-US" altLang="zh-CN" sz="2600" b="0" i="1">
                                <a:solidFill>
                                  <a:srgbClr val="000000"/>
                                </a:solidFill>
                                <a:latin typeface="Cambria Math" panose="02040503050406030204" pitchFamily="18" charset="0"/>
                              </a:rPr>
                              <m:t>𝑚</m:t>
                            </m:r>
                          </m:sub>
                        </m:sSub>
                        <m:r>
                          <a:rPr kumimoji="1" lang="zh-CN" altLang="en-US" sz="2600" b="0" i="1">
                            <a:solidFill>
                              <a:srgbClr val="000000"/>
                            </a:solidFill>
                            <a:latin typeface="Cambria Math" panose="02040503050406030204" pitchFamily="18" charset="0"/>
                          </a:rPr>
                          <m:t>，</m:t>
                        </m:r>
                        <m:r>
                          <a:rPr kumimoji="1" lang="en-US" altLang="zh-CN" sz="2600" b="0" i="1">
                            <a:solidFill>
                              <a:srgbClr val="000000"/>
                            </a:solidFill>
                            <a:latin typeface="Cambria Math" panose="02040503050406030204" pitchFamily="18" charset="0"/>
                          </a:rPr>
                          <m:t> </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2</m:t>
                            </m:r>
                          </m:sub>
                        </m:sSub>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𝑞</m:t>
                            </m:r>
                          </m:e>
                          <m:sub>
                            <m:r>
                              <a:rPr kumimoji="1" lang="en-US" altLang="zh-CN" sz="2600" b="0" i="1">
                                <a:solidFill>
                                  <a:srgbClr val="000000"/>
                                </a:solidFill>
                                <a:latin typeface="Cambria Math" panose="02040503050406030204" pitchFamily="18" charset="0"/>
                              </a:rPr>
                              <m:t>1</m:t>
                            </m:r>
                          </m:sub>
                        </m:sSub>
                        <m:r>
                          <a:rPr kumimoji="1" lang="zh-CN" altLang="en-US" sz="2600" b="0" i="1">
                            <a:solidFill>
                              <a:srgbClr val="000000"/>
                            </a:solidFill>
                            <a:latin typeface="Cambria Math" panose="02040503050406030204" pitchFamily="18" charset="0"/>
                          </a:rPr>
                          <m:t>，</m:t>
                        </m:r>
                        <m:r>
                          <a:rPr kumimoji="1" lang="en-US" altLang="zh-CN" sz="2600" b="0" i="1">
                            <a:solidFill>
                              <a:srgbClr val="000000"/>
                            </a:solidFill>
                            <a:latin typeface="Cambria Math" panose="02040503050406030204" pitchFamily="18" charset="0"/>
                          </a:rPr>
                          <m:t>…</m:t>
                        </m:r>
                        <m:r>
                          <a:rPr kumimoji="1" lang="zh-CN" altLang="en-US" sz="2600" i="1">
                            <a:solidFill>
                              <a:srgbClr val="000000"/>
                            </a:solidFill>
                            <a:latin typeface="Cambria Math" panose="02040503050406030204" pitchFamily="18" charset="0"/>
                          </a:rPr>
                          <m:t>，</m:t>
                        </m:r>
                        <m:r>
                          <a:rPr kumimoji="1" lang="en-US" altLang="zh-CN" sz="2600" b="0" i="1">
                            <a:solidFill>
                              <a:srgbClr val="000000"/>
                            </a:solidFill>
                            <a:latin typeface="Cambria Math" panose="02040503050406030204" pitchFamily="18" charset="0"/>
                          </a:rPr>
                          <m:t> </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2</m:t>
                            </m:r>
                          </m:sub>
                        </m:sSub>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𝑞</m:t>
                            </m:r>
                          </m:e>
                          <m:sub>
                            <m:r>
                              <a:rPr kumimoji="1" lang="en-US" altLang="zh-CN" sz="2600" b="0" i="1">
                                <a:solidFill>
                                  <a:srgbClr val="000000"/>
                                </a:solidFill>
                                <a:latin typeface="Cambria Math" panose="02040503050406030204" pitchFamily="18" charset="0"/>
                              </a:rPr>
                              <m:t>𝑚</m:t>
                            </m:r>
                          </m:sub>
                        </m:sSub>
                        <m:r>
                          <a:rPr kumimoji="1" lang="zh-CN" altLang="en-US" sz="2600" b="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𝑛</m:t>
                            </m:r>
                          </m:sub>
                        </m:sSub>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𝑞</m:t>
                            </m:r>
                          </m:e>
                          <m:sub>
                            <m:r>
                              <a:rPr kumimoji="1" lang="en-US" altLang="zh-CN" sz="2600" b="0" i="1">
                                <a:solidFill>
                                  <a:srgbClr val="000000"/>
                                </a:solidFill>
                                <a:latin typeface="Cambria Math" panose="02040503050406030204" pitchFamily="18" charset="0"/>
                              </a:rPr>
                              <m:t>1</m:t>
                            </m:r>
                          </m:sub>
                        </m:sSub>
                        <m:r>
                          <a:rPr kumimoji="1" lang="zh-CN" altLang="en-US" sz="2600" b="0" i="1">
                            <a:solidFill>
                              <a:srgbClr val="000000"/>
                            </a:solidFill>
                            <a:latin typeface="Cambria Math" panose="02040503050406030204" pitchFamily="18" charset="0"/>
                          </a:rPr>
                          <m:t>，</m:t>
                        </m:r>
                        <m:r>
                          <a:rPr kumimoji="1" lang="en-US" altLang="zh-CN" sz="2600" b="0" i="1">
                            <a:solidFill>
                              <a:srgbClr val="000000"/>
                            </a:solidFill>
                            <a:latin typeface="Cambria Math" panose="02040503050406030204" pitchFamily="18" charset="0"/>
                          </a:rPr>
                          <m:t>…</m:t>
                        </m:r>
                        <m:r>
                          <a:rPr kumimoji="1" lang="zh-CN" altLang="en-US" sz="260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𝑛</m:t>
                            </m:r>
                          </m:sub>
                        </m:sSub>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𝑞</m:t>
                            </m:r>
                          </m:e>
                          <m:sub>
                            <m:r>
                              <a:rPr kumimoji="1" lang="en-US" altLang="zh-CN" sz="2600" b="0" i="1">
                                <a:solidFill>
                                  <a:srgbClr val="000000"/>
                                </a:solidFill>
                                <a:latin typeface="Cambria Math" panose="02040503050406030204" pitchFamily="18" charset="0"/>
                              </a:rPr>
                              <m:t>𝑚</m:t>
                            </m:r>
                          </m:sub>
                        </m:sSub>
                        <m:r>
                          <a:rPr kumimoji="1" lang="en-US" altLang="zh-CN" sz="2600" b="0" i="1">
                            <a:solidFill>
                              <a:srgbClr val="000000"/>
                            </a:solidFill>
                            <a:latin typeface="Cambria Math" panose="02040503050406030204" pitchFamily="18" charset="0"/>
                          </a:rPr>
                          <m:t> </m:t>
                        </m:r>
                      </m:e>
                    </m:d>
                  </m:oMath>
                </a14:m>
                <a:endParaRPr lang="en-US" altLang="zh-CN" sz="2600" dirty="0">
                  <a:solidFill>
                    <a:srgbClr val="000000"/>
                  </a:solidFill>
                  <a:latin typeface="宋体" pitchFamily="2" charset="-122"/>
                  <a:cs typeface="Tahoma"/>
                </a:endParaRPr>
              </a:p>
              <a:p>
                <a:pPr eaLnBrk="1" hangingPunct="1">
                  <a:lnSpc>
                    <a:spcPct val="130000"/>
                  </a:lnSpc>
                  <a:defRPr/>
                </a:pPr>
                <a:r>
                  <a:rPr lang="en-US" altLang="zh-CN" sz="2600" dirty="0">
                    <a:solidFill>
                      <a:srgbClr val="000000"/>
                    </a:solidFill>
                    <a:latin typeface="Times New Roman" pitchFamily="18" charset="0"/>
                    <a:cs typeface="Tahoma"/>
                  </a:rPr>
                  <a:t> </a:t>
                </a:r>
                <a14:m>
                  <m:oMath xmlns:m="http://schemas.openxmlformats.org/officeDocument/2006/math">
                    <m:r>
                      <a:rPr lang="en-US" altLang="zh-CN" sz="2600" b="0" i="1" dirty="0">
                        <a:solidFill>
                          <a:srgbClr val="000000"/>
                        </a:solidFill>
                        <a:latin typeface="Cambria Math" panose="02040503050406030204" pitchFamily="18" charset="0"/>
                      </a:rPr>
                      <m:t>=</m:t>
                    </m:r>
                    <m:r>
                      <a:rPr lang="en-US" altLang="zh-CN" sz="2600" b="0" i="1" dirty="0" smtClean="0">
                        <a:solidFill>
                          <a:srgbClr val="000000"/>
                        </a:solidFill>
                        <a:latin typeface="Cambria Math" panose="02040503050406030204" pitchFamily="18" charset="0"/>
                      </a:rPr>
                      <m:t>−</m:t>
                    </m:r>
                    <m:nary>
                      <m:naryPr>
                        <m:chr m:val="∑"/>
                        <m:limLoc m:val="subSup"/>
                        <m:ctrlPr>
                          <a:rPr kumimoji="1" lang="en-US" altLang="zh-CN" sz="2600" i="1">
                            <a:solidFill>
                              <a:srgbClr val="000000"/>
                            </a:solidFill>
                            <a:latin typeface="Cambria Math" panose="02040503050406030204" pitchFamily="18" charset="0"/>
                          </a:rPr>
                        </m:ctrlPr>
                      </m:naryPr>
                      <m:sub>
                        <m:r>
                          <m:rPr>
                            <m:brk m:alnAt="25"/>
                          </m:rPr>
                          <a:rPr kumimoji="1" lang="en-US" altLang="zh-CN" sz="2600" b="0" i="1">
                            <a:solidFill>
                              <a:srgbClr val="000000"/>
                            </a:solidFill>
                            <a:latin typeface="Cambria Math" panose="02040503050406030204" pitchFamily="18" charset="0"/>
                          </a:rPr>
                          <m:t>𝑖</m:t>
                        </m:r>
                        <m:r>
                          <a:rPr kumimoji="1" lang="en-US" altLang="zh-CN" sz="2600" b="0" i="1">
                            <a:solidFill>
                              <a:srgbClr val="000000"/>
                            </a:solidFill>
                            <a:latin typeface="Cambria Math" panose="02040503050406030204" pitchFamily="18" charset="0"/>
                          </a:rPr>
                          <m:t>=1</m:t>
                        </m:r>
                      </m:sub>
                      <m:sup>
                        <m:r>
                          <a:rPr kumimoji="1" lang="en-US" altLang="zh-CN" sz="2600" b="0" i="1" smtClean="0">
                            <a:solidFill>
                              <a:srgbClr val="000000"/>
                            </a:solidFill>
                            <a:latin typeface="Cambria Math" panose="02040503050406030204" pitchFamily="18" charset="0"/>
                          </a:rPr>
                          <m:t>𝑛</m:t>
                        </m:r>
                      </m:sup>
                      <m:e>
                        <m:sSub>
                          <m:sSubPr>
                            <m:ctrlPr>
                              <a:rPr kumimoji="1" lang="en-US" altLang="zh-CN" sz="2600" i="1">
                                <a:solidFill>
                                  <a:srgbClr val="000000"/>
                                </a:solidFill>
                                <a:latin typeface="Cambria Math" panose="02040503050406030204" pitchFamily="18" charset="0"/>
                              </a:rPr>
                            </m:ctrlPr>
                          </m:sSubPr>
                          <m:e>
                            <m:nary>
                              <m:naryPr>
                                <m:chr m:val="∑"/>
                                <m:limLoc m:val="subSup"/>
                                <m:ctrlPr>
                                  <a:rPr kumimoji="1" lang="en-US" altLang="zh-CN" sz="2600" i="1">
                                    <a:solidFill>
                                      <a:srgbClr val="000000"/>
                                    </a:solidFill>
                                    <a:latin typeface="Cambria Math" panose="02040503050406030204" pitchFamily="18" charset="0"/>
                                  </a:rPr>
                                </m:ctrlPr>
                              </m:naryPr>
                              <m:sub>
                                <m:r>
                                  <m:rPr>
                                    <m:brk m:alnAt="1"/>
                                  </m:rPr>
                                  <a:rPr kumimoji="1" lang="en-US" altLang="zh-CN" sz="2600" b="0" i="1" smtClean="0">
                                    <a:solidFill>
                                      <a:srgbClr val="000000"/>
                                    </a:solidFill>
                                    <a:latin typeface="Cambria Math" panose="02040503050406030204" pitchFamily="18" charset="0"/>
                                  </a:rPr>
                                  <m:t>𝑗</m:t>
                                </m:r>
                                <m:r>
                                  <a:rPr kumimoji="1" lang="en-US" altLang="zh-CN" sz="2600" b="0" i="1">
                                    <a:solidFill>
                                      <a:srgbClr val="000000"/>
                                    </a:solidFill>
                                    <a:latin typeface="Cambria Math" panose="02040503050406030204" pitchFamily="18" charset="0"/>
                                  </a:rPr>
                                  <m:t>=1</m:t>
                                </m:r>
                              </m:sub>
                              <m:sup>
                                <m:r>
                                  <a:rPr kumimoji="1" lang="en-US" altLang="zh-CN" sz="2600" b="0" i="1" smtClean="0">
                                    <a:solidFill>
                                      <a:srgbClr val="000000"/>
                                    </a:solidFill>
                                    <a:latin typeface="Cambria Math" panose="02040503050406030204" pitchFamily="18" charset="0"/>
                                  </a:rPr>
                                  <m:t>𝑚</m:t>
                                </m:r>
                              </m:sup>
                              <m:e>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𝑖</m:t>
                                    </m:r>
                                  </m:sub>
                                </m:sSub>
                              </m:e>
                            </m:nary>
                            <m:r>
                              <a:rPr kumimoji="1" lang="en-US" altLang="zh-CN" sz="2600" b="0" i="1" smtClean="0">
                                <a:solidFill>
                                  <a:srgbClr val="000000"/>
                                </a:solidFill>
                                <a:latin typeface="Cambria Math" panose="02040503050406030204" pitchFamily="18" charset="0"/>
                              </a:rPr>
                              <m:t>𝑞</m:t>
                            </m:r>
                          </m:e>
                          <m:sub>
                            <m:r>
                              <a:rPr kumimoji="1" lang="en-US" altLang="zh-CN" sz="2600" b="0" i="1" smtClean="0">
                                <a:solidFill>
                                  <a:srgbClr val="000000"/>
                                </a:solidFill>
                                <a:latin typeface="Cambria Math" panose="02040503050406030204" pitchFamily="18" charset="0"/>
                              </a:rPr>
                              <m:t>𝑗</m:t>
                            </m:r>
                          </m:sub>
                        </m:sSub>
                      </m:e>
                    </m:nary>
                    <m:r>
                      <m:rPr>
                        <m:sty m:val="p"/>
                      </m:rPr>
                      <a:rPr lang="en-US" altLang="zh-CN" sz="2600" b="0" i="1">
                        <a:solidFill>
                          <a:srgbClr val="000000"/>
                        </a:solidFill>
                        <a:latin typeface="Cambria Math" panose="02040503050406030204" pitchFamily="18" charset="0"/>
                        <a:cs typeface="Times New Roman" pitchFamily="18" charset="0"/>
                      </a:rPr>
                      <m:t>log</m:t>
                    </m:r>
                    <m:r>
                      <a:rPr lang="en-US" altLang="zh-CN" sz="2600" b="0">
                        <a:solidFill>
                          <a:srgbClr val="000000"/>
                        </a:solidFill>
                        <a:latin typeface="Cambria Math" panose="02040503050406030204" pitchFamily="18" charset="0"/>
                        <a:cs typeface="Times New Roman" pitchFamily="18" charset="0"/>
                      </a:rPr>
                      <m:t> </m:t>
                    </m:r>
                    <m:d>
                      <m:dPr>
                        <m:ctrlPr>
                          <a:rPr lang="en-US" altLang="zh-CN" sz="2600" i="1">
                            <a:solidFill>
                              <a:srgbClr val="000000"/>
                            </a:solidFill>
                            <a:latin typeface="Cambria Math" panose="02040503050406030204" pitchFamily="18" charset="0"/>
                            <a:cs typeface="Times New Roman" pitchFamily="18" charset="0"/>
                          </a:rPr>
                        </m:ctrlPr>
                      </m:dPr>
                      <m:e>
                        <m:sSub>
                          <m:sSubPr>
                            <m:ctrlPr>
                              <a:rPr lang="en-US" altLang="zh-CN" sz="2600" i="1">
                                <a:solidFill>
                                  <a:srgbClr val="000000"/>
                                </a:solidFill>
                                <a:latin typeface="Cambria Math" panose="02040503050406030204" pitchFamily="18" charset="0"/>
                                <a:cs typeface="Times New Roman" pitchFamily="18" charset="0"/>
                              </a:rPr>
                            </m:ctrlPr>
                          </m:sSubPr>
                          <m:e>
                            <m:r>
                              <a:rPr lang="en-US" altLang="zh-CN" sz="2600" b="0" i="1">
                                <a:solidFill>
                                  <a:srgbClr val="000000"/>
                                </a:solidFill>
                                <a:latin typeface="Cambria Math" panose="02040503050406030204" pitchFamily="18" charset="0"/>
                                <a:cs typeface="Times New Roman" pitchFamily="18" charset="0"/>
                              </a:rPr>
                              <m:t>𝑝</m:t>
                            </m:r>
                          </m:e>
                          <m:sub>
                            <m:r>
                              <a:rPr lang="en-US" altLang="zh-CN" sz="2600" b="0" i="1">
                                <a:solidFill>
                                  <a:srgbClr val="000000"/>
                                </a:solidFill>
                                <a:latin typeface="Cambria Math" panose="02040503050406030204" pitchFamily="18" charset="0"/>
                                <a:cs typeface="Times New Roman" pitchFamily="18" charset="0"/>
                              </a:rPr>
                              <m:t>𝑖</m:t>
                            </m:r>
                          </m:sub>
                        </m:sSub>
                        <m:sSub>
                          <m:sSubPr>
                            <m:ctrlPr>
                              <a:rPr lang="en-US" altLang="zh-CN" sz="2600" i="1" smtClean="0">
                                <a:solidFill>
                                  <a:srgbClr val="000000"/>
                                </a:solidFill>
                                <a:latin typeface="Cambria Math" panose="02040503050406030204" pitchFamily="18" charset="0"/>
                                <a:cs typeface="Times New Roman" pitchFamily="18" charset="0"/>
                              </a:rPr>
                            </m:ctrlPr>
                          </m:sSubPr>
                          <m:e>
                            <m:r>
                              <a:rPr lang="en-US" altLang="zh-CN" sz="2600" b="0" i="1" smtClean="0">
                                <a:solidFill>
                                  <a:srgbClr val="000000"/>
                                </a:solidFill>
                                <a:latin typeface="Cambria Math" panose="02040503050406030204" pitchFamily="18" charset="0"/>
                                <a:cs typeface="Times New Roman" pitchFamily="18" charset="0"/>
                              </a:rPr>
                              <m:t>𝑞</m:t>
                            </m:r>
                          </m:e>
                          <m:sub>
                            <m:r>
                              <a:rPr lang="en-US" altLang="zh-CN" sz="2600" b="0" i="1" smtClean="0">
                                <a:solidFill>
                                  <a:srgbClr val="000000"/>
                                </a:solidFill>
                                <a:latin typeface="Cambria Math" panose="02040503050406030204" pitchFamily="18" charset="0"/>
                                <a:cs typeface="Times New Roman" pitchFamily="18" charset="0"/>
                              </a:rPr>
                              <m:t>𝑗</m:t>
                            </m:r>
                          </m:sub>
                        </m:sSub>
                      </m:e>
                    </m:d>
                  </m:oMath>
                </a14:m>
                <a:endParaRPr lang="en-US" altLang="zh-CN" sz="2600" dirty="0">
                  <a:solidFill>
                    <a:srgbClr val="000000"/>
                  </a:solidFill>
                  <a:latin typeface="Times New Roman" pitchFamily="18" charset="0"/>
                  <a:cs typeface="Times New Roman" pitchFamily="18" charset="0"/>
                </a:endParaRPr>
              </a:p>
              <a:p>
                <a:pPr eaLnBrk="1" hangingPunct="1">
                  <a:lnSpc>
                    <a:spcPct val="130000"/>
                  </a:lnSpc>
                  <a:defRPr/>
                </a:pPr>
                <a:r>
                  <a:rPr lang="en-US" altLang="zh-CN" sz="2600" dirty="0">
                    <a:solidFill>
                      <a:srgbClr val="000000"/>
                    </a:solidFill>
                    <a:latin typeface="Times New Roman" pitchFamily="18" charset="0"/>
                    <a:cs typeface="Tahoma"/>
                  </a:rPr>
                  <a:t> </a:t>
                </a:r>
                <a14:m>
                  <m:oMath xmlns:m="http://schemas.openxmlformats.org/officeDocument/2006/math">
                    <m:r>
                      <a:rPr lang="en-US" altLang="zh-CN" sz="2600" b="0" i="1" dirty="0">
                        <a:solidFill>
                          <a:srgbClr val="000000"/>
                        </a:solidFill>
                        <a:latin typeface="Cambria Math" panose="02040503050406030204" pitchFamily="18" charset="0"/>
                      </a:rPr>
                      <m:t>=−</m:t>
                    </m:r>
                    <m:nary>
                      <m:naryPr>
                        <m:chr m:val="∑"/>
                        <m:limLoc m:val="subSup"/>
                        <m:ctrlPr>
                          <a:rPr kumimoji="1" lang="en-US" altLang="zh-CN" sz="2600" i="1">
                            <a:solidFill>
                              <a:srgbClr val="000000"/>
                            </a:solidFill>
                            <a:latin typeface="Cambria Math" panose="02040503050406030204" pitchFamily="18" charset="0"/>
                          </a:rPr>
                        </m:ctrlPr>
                      </m:naryPr>
                      <m:sub>
                        <m:r>
                          <m:rPr>
                            <m:brk m:alnAt="25"/>
                          </m:rPr>
                          <a:rPr kumimoji="1" lang="en-US" altLang="zh-CN" sz="2600" b="0" i="1">
                            <a:solidFill>
                              <a:srgbClr val="000000"/>
                            </a:solidFill>
                            <a:latin typeface="Cambria Math" panose="02040503050406030204" pitchFamily="18" charset="0"/>
                          </a:rPr>
                          <m:t>𝑖</m:t>
                        </m:r>
                        <m:r>
                          <a:rPr kumimoji="1" lang="en-US" altLang="zh-CN" sz="2600" b="0" i="1">
                            <a:solidFill>
                              <a:srgbClr val="000000"/>
                            </a:solidFill>
                            <a:latin typeface="Cambria Math" panose="02040503050406030204" pitchFamily="18" charset="0"/>
                          </a:rPr>
                          <m:t>=1</m:t>
                        </m:r>
                      </m:sub>
                      <m:sup>
                        <m:r>
                          <a:rPr kumimoji="1" lang="en-US" altLang="zh-CN" sz="2600" b="0" i="1">
                            <a:solidFill>
                              <a:srgbClr val="000000"/>
                            </a:solidFill>
                            <a:latin typeface="Cambria Math" panose="02040503050406030204" pitchFamily="18" charset="0"/>
                          </a:rPr>
                          <m:t>𝑛</m:t>
                        </m:r>
                      </m:sup>
                      <m:e>
                        <m:sSub>
                          <m:sSubPr>
                            <m:ctrlPr>
                              <a:rPr kumimoji="1" lang="en-US" altLang="zh-CN" sz="2600" i="1">
                                <a:solidFill>
                                  <a:srgbClr val="000000"/>
                                </a:solidFill>
                                <a:latin typeface="Cambria Math" panose="02040503050406030204" pitchFamily="18" charset="0"/>
                              </a:rPr>
                            </m:ctrlPr>
                          </m:sSubPr>
                          <m:e>
                            <m:nary>
                              <m:naryPr>
                                <m:chr m:val="∑"/>
                                <m:limLoc m:val="subSup"/>
                                <m:ctrlPr>
                                  <a:rPr kumimoji="1" lang="en-US" altLang="zh-CN" sz="2600" i="1">
                                    <a:solidFill>
                                      <a:srgbClr val="000000"/>
                                    </a:solidFill>
                                    <a:latin typeface="Cambria Math" panose="02040503050406030204" pitchFamily="18" charset="0"/>
                                  </a:rPr>
                                </m:ctrlPr>
                              </m:naryPr>
                              <m:sub>
                                <m:r>
                                  <m:rPr>
                                    <m:brk m:alnAt="1"/>
                                  </m:rPr>
                                  <a:rPr kumimoji="1" lang="en-US" altLang="zh-CN" sz="2600" b="0" i="1">
                                    <a:solidFill>
                                      <a:srgbClr val="000000"/>
                                    </a:solidFill>
                                    <a:latin typeface="Cambria Math" panose="02040503050406030204" pitchFamily="18" charset="0"/>
                                  </a:rPr>
                                  <m:t>𝑗</m:t>
                                </m:r>
                                <m:r>
                                  <a:rPr kumimoji="1" lang="en-US" altLang="zh-CN" sz="2600" b="0" i="1">
                                    <a:solidFill>
                                      <a:srgbClr val="000000"/>
                                    </a:solidFill>
                                    <a:latin typeface="Cambria Math" panose="02040503050406030204" pitchFamily="18" charset="0"/>
                                  </a:rPr>
                                  <m:t>=1</m:t>
                                </m:r>
                              </m:sub>
                              <m:sup>
                                <m:r>
                                  <a:rPr kumimoji="1" lang="en-US" altLang="zh-CN" sz="2600" b="0" i="1">
                                    <a:solidFill>
                                      <a:srgbClr val="000000"/>
                                    </a:solidFill>
                                    <a:latin typeface="Cambria Math" panose="02040503050406030204" pitchFamily="18" charset="0"/>
                                  </a:rPr>
                                  <m:t>𝑚</m:t>
                                </m:r>
                              </m:sup>
                              <m:e>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𝑖</m:t>
                                    </m:r>
                                  </m:sub>
                                </m:sSub>
                              </m:e>
                            </m:nary>
                            <m:r>
                              <a:rPr kumimoji="1" lang="en-US" altLang="zh-CN" sz="2600" b="0" i="1">
                                <a:solidFill>
                                  <a:srgbClr val="000000"/>
                                </a:solidFill>
                                <a:latin typeface="Cambria Math" panose="02040503050406030204" pitchFamily="18" charset="0"/>
                              </a:rPr>
                              <m:t>𝑞</m:t>
                            </m:r>
                          </m:e>
                          <m:sub>
                            <m:r>
                              <a:rPr kumimoji="1" lang="en-US" altLang="zh-CN" sz="2600" b="0" i="1">
                                <a:solidFill>
                                  <a:srgbClr val="000000"/>
                                </a:solidFill>
                                <a:latin typeface="Cambria Math" panose="02040503050406030204" pitchFamily="18" charset="0"/>
                              </a:rPr>
                              <m:t>𝑗</m:t>
                            </m:r>
                          </m:sub>
                        </m:sSub>
                      </m:e>
                    </m:nary>
                    <m:r>
                      <m:rPr>
                        <m:sty m:val="p"/>
                      </m:rPr>
                      <a:rPr lang="en-US" altLang="zh-CN" sz="2600" b="0" i="1">
                        <a:solidFill>
                          <a:srgbClr val="000000"/>
                        </a:solidFill>
                        <a:latin typeface="Cambria Math" panose="02040503050406030204" pitchFamily="18" charset="0"/>
                        <a:cs typeface="Times New Roman" pitchFamily="18" charset="0"/>
                      </a:rPr>
                      <m:t>log</m:t>
                    </m:r>
                    <m:r>
                      <a:rPr lang="en-US" altLang="zh-CN" sz="2600" b="0">
                        <a:solidFill>
                          <a:srgbClr val="000000"/>
                        </a:solidFill>
                        <a:latin typeface="Cambria Math" panose="02040503050406030204" pitchFamily="18" charset="0"/>
                        <a:cs typeface="Times New Roman" pitchFamily="18" charset="0"/>
                      </a:rPr>
                      <m:t> </m:t>
                    </m:r>
                    <m:d>
                      <m:dPr>
                        <m:ctrlPr>
                          <a:rPr lang="en-US" altLang="zh-CN" sz="2600" i="1">
                            <a:solidFill>
                              <a:srgbClr val="000000"/>
                            </a:solidFill>
                            <a:latin typeface="Cambria Math" panose="02040503050406030204" pitchFamily="18" charset="0"/>
                            <a:cs typeface="Times New Roman" pitchFamily="18" charset="0"/>
                          </a:rPr>
                        </m:ctrlPr>
                      </m:dPr>
                      <m:e>
                        <m:sSub>
                          <m:sSubPr>
                            <m:ctrlPr>
                              <a:rPr lang="en-US" altLang="zh-CN" sz="2600" i="1">
                                <a:solidFill>
                                  <a:srgbClr val="000000"/>
                                </a:solidFill>
                                <a:latin typeface="Cambria Math" panose="02040503050406030204" pitchFamily="18" charset="0"/>
                                <a:cs typeface="Times New Roman" pitchFamily="18" charset="0"/>
                              </a:rPr>
                            </m:ctrlPr>
                          </m:sSubPr>
                          <m:e>
                            <m:r>
                              <a:rPr lang="en-US" altLang="zh-CN" sz="2600" b="0" i="1">
                                <a:solidFill>
                                  <a:srgbClr val="000000"/>
                                </a:solidFill>
                                <a:latin typeface="Cambria Math" panose="02040503050406030204" pitchFamily="18" charset="0"/>
                                <a:cs typeface="Times New Roman" pitchFamily="18" charset="0"/>
                              </a:rPr>
                              <m:t>𝑝</m:t>
                            </m:r>
                          </m:e>
                          <m:sub>
                            <m:r>
                              <a:rPr lang="en-US" altLang="zh-CN" sz="2600" b="0" i="1">
                                <a:solidFill>
                                  <a:srgbClr val="000000"/>
                                </a:solidFill>
                                <a:latin typeface="Cambria Math" panose="02040503050406030204" pitchFamily="18" charset="0"/>
                                <a:cs typeface="Times New Roman" pitchFamily="18" charset="0"/>
                              </a:rPr>
                              <m:t>𝑖</m:t>
                            </m:r>
                          </m:sub>
                        </m:sSub>
                      </m:e>
                    </m:d>
                    <m:r>
                      <a:rPr lang="en-US" altLang="zh-CN" sz="2600" b="0" i="1" dirty="0">
                        <a:solidFill>
                          <a:srgbClr val="000000"/>
                        </a:solidFill>
                        <a:latin typeface="Cambria Math" panose="02040503050406030204" pitchFamily="18" charset="0"/>
                      </a:rPr>
                      <m:t>−</m:t>
                    </m:r>
                    <m:nary>
                      <m:naryPr>
                        <m:chr m:val="∑"/>
                        <m:limLoc m:val="subSup"/>
                        <m:ctrlPr>
                          <a:rPr kumimoji="1" lang="en-US" altLang="zh-CN" sz="2600" i="1">
                            <a:solidFill>
                              <a:srgbClr val="000000"/>
                            </a:solidFill>
                            <a:latin typeface="Cambria Math" panose="02040503050406030204" pitchFamily="18" charset="0"/>
                          </a:rPr>
                        </m:ctrlPr>
                      </m:naryPr>
                      <m:sub>
                        <m:r>
                          <m:rPr>
                            <m:brk m:alnAt="25"/>
                          </m:rPr>
                          <a:rPr kumimoji="1" lang="en-US" altLang="zh-CN" sz="2600" b="0" i="1">
                            <a:solidFill>
                              <a:srgbClr val="000000"/>
                            </a:solidFill>
                            <a:latin typeface="Cambria Math" panose="02040503050406030204" pitchFamily="18" charset="0"/>
                          </a:rPr>
                          <m:t>𝑖</m:t>
                        </m:r>
                        <m:r>
                          <a:rPr kumimoji="1" lang="en-US" altLang="zh-CN" sz="2600" b="0" i="1">
                            <a:solidFill>
                              <a:srgbClr val="000000"/>
                            </a:solidFill>
                            <a:latin typeface="Cambria Math" panose="02040503050406030204" pitchFamily="18" charset="0"/>
                          </a:rPr>
                          <m:t>=1</m:t>
                        </m:r>
                      </m:sub>
                      <m:sup>
                        <m:r>
                          <a:rPr kumimoji="1" lang="en-US" altLang="zh-CN" sz="2600" b="0" i="1">
                            <a:solidFill>
                              <a:srgbClr val="000000"/>
                            </a:solidFill>
                            <a:latin typeface="Cambria Math" panose="02040503050406030204" pitchFamily="18" charset="0"/>
                          </a:rPr>
                          <m:t>𝑛</m:t>
                        </m:r>
                      </m:sup>
                      <m:e>
                        <m:sSub>
                          <m:sSubPr>
                            <m:ctrlPr>
                              <a:rPr kumimoji="1" lang="en-US" altLang="zh-CN" sz="2600" i="1">
                                <a:solidFill>
                                  <a:srgbClr val="000000"/>
                                </a:solidFill>
                                <a:latin typeface="Cambria Math" panose="02040503050406030204" pitchFamily="18" charset="0"/>
                              </a:rPr>
                            </m:ctrlPr>
                          </m:sSubPr>
                          <m:e>
                            <m:nary>
                              <m:naryPr>
                                <m:chr m:val="∑"/>
                                <m:limLoc m:val="subSup"/>
                                <m:ctrlPr>
                                  <a:rPr kumimoji="1" lang="en-US" altLang="zh-CN" sz="2600" i="1">
                                    <a:solidFill>
                                      <a:srgbClr val="000000"/>
                                    </a:solidFill>
                                    <a:latin typeface="Cambria Math" panose="02040503050406030204" pitchFamily="18" charset="0"/>
                                  </a:rPr>
                                </m:ctrlPr>
                              </m:naryPr>
                              <m:sub>
                                <m:r>
                                  <m:rPr>
                                    <m:brk m:alnAt="1"/>
                                  </m:rPr>
                                  <a:rPr kumimoji="1" lang="en-US" altLang="zh-CN" sz="2600" b="0" i="1">
                                    <a:solidFill>
                                      <a:srgbClr val="000000"/>
                                    </a:solidFill>
                                    <a:latin typeface="Cambria Math" panose="02040503050406030204" pitchFamily="18" charset="0"/>
                                  </a:rPr>
                                  <m:t>𝑗</m:t>
                                </m:r>
                                <m:r>
                                  <a:rPr kumimoji="1" lang="en-US" altLang="zh-CN" sz="2600" b="0" i="1">
                                    <a:solidFill>
                                      <a:srgbClr val="000000"/>
                                    </a:solidFill>
                                    <a:latin typeface="Cambria Math" panose="02040503050406030204" pitchFamily="18" charset="0"/>
                                  </a:rPr>
                                  <m:t>=1</m:t>
                                </m:r>
                              </m:sub>
                              <m:sup>
                                <m:r>
                                  <a:rPr kumimoji="1" lang="en-US" altLang="zh-CN" sz="2600" b="0" i="1">
                                    <a:solidFill>
                                      <a:srgbClr val="000000"/>
                                    </a:solidFill>
                                    <a:latin typeface="Cambria Math" panose="02040503050406030204" pitchFamily="18" charset="0"/>
                                  </a:rPr>
                                  <m:t>𝑚</m:t>
                                </m:r>
                              </m:sup>
                              <m:e>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𝑖</m:t>
                                    </m:r>
                                  </m:sub>
                                </m:sSub>
                              </m:e>
                            </m:nary>
                            <m:r>
                              <a:rPr kumimoji="1" lang="en-US" altLang="zh-CN" sz="2600" b="0" i="1">
                                <a:solidFill>
                                  <a:srgbClr val="000000"/>
                                </a:solidFill>
                                <a:latin typeface="Cambria Math" panose="02040503050406030204" pitchFamily="18" charset="0"/>
                              </a:rPr>
                              <m:t>𝑞</m:t>
                            </m:r>
                          </m:e>
                          <m:sub>
                            <m:r>
                              <a:rPr kumimoji="1" lang="en-US" altLang="zh-CN" sz="2600" b="0" i="1">
                                <a:solidFill>
                                  <a:srgbClr val="000000"/>
                                </a:solidFill>
                                <a:latin typeface="Cambria Math" panose="02040503050406030204" pitchFamily="18" charset="0"/>
                              </a:rPr>
                              <m:t>𝑗</m:t>
                            </m:r>
                          </m:sub>
                        </m:sSub>
                      </m:e>
                    </m:nary>
                    <m:r>
                      <m:rPr>
                        <m:sty m:val="p"/>
                      </m:rPr>
                      <a:rPr lang="en-US" altLang="zh-CN" sz="2600" b="0" i="1">
                        <a:solidFill>
                          <a:srgbClr val="000000"/>
                        </a:solidFill>
                        <a:latin typeface="Cambria Math" panose="02040503050406030204" pitchFamily="18" charset="0"/>
                        <a:cs typeface="Times New Roman" pitchFamily="18" charset="0"/>
                      </a:rPr>
                      <m:t>log</m:t>
                    </m:r>
                    <m:r>
                      <a:rPr lang="en-US" altLang="zh-CN" sz="2600" b="0">
                        <a:solidFill>
                          <a:srgbClr val="000000"/>
                        </a:solidFill>
                        <a:latin typeface="Cambria Math" panose="02040503050406030204" pitchFamily="18" charset="0"/>
                        <a:cs typeface="Times New Roman" pitchFamily="18" charset="0"/>
                      </a:rPr>
                      <m:t> </m:t>
                    </m:r>
                    <m:d>
                      <m:dPr>
                        <m:ctrlPr>
                          <a:rPr lang="en-US" altLang="zh-CN" sz="2600" i="1">
                            <a:solidFill>
                              <a:srgbClr val="000000"/>
                            </a:solidFill>
                            <a:latin typeface="Cambria Math" panose="02040503050406030204" pitchFamily="18" charset="0"/>
                            <a:cs typeface="Times New Roman" pitchFamily="18" charset="0"/>
                          </a:rPr>
                        </m:ctrlPr>
                      </m:dPr>
                      <m:e>
                        <m:sSub>
                          <m:sSubPr>
                            <m:ctrlPr>
                              <a:rPr lang="en-US" altLang="zh-CN" sz="2600" i="1" smtClean="0">
                                <a:solidFill>
                                  <a:srgbClr val="000000"/>
                                </a:solidFill>
                                <a:latin typeface="Cambria Math" panose="02040503050406030204" pitchFamily="18" charset="0"/>
                                <a:cs typeface="Times New Roman" pitchFamily="18" charset="0"/>
                              </a:rPr>
                            </m:ctrlPr>
                          </m:sSubPr>
                          <m:e>
                            <m:r>
                              <a:rPr lang="en-US" altLang="zh-CN" sz="2600" b="0" i="1" smtClean="0">
                                <a:solidFill>
                                  <a:srgbClr val="000000"/>
                                </a:solidFill>
                                <a:latin typeface="Cambria Math" panose="02040503050406030204" pitchFamily="18" charset="0"/>
                                <a:cs typeface="Times New Roman" pitchFamily="18" charset="0"/>
                              </a:rPr>
                              <m:t>𝑞</m:t>
                            </m:r>
                          </m:e>
                          <m:sub>
                            <m:r>
                              <a:rPr lang="en-US" altLang="zh-CN" sz="2600" b="0" i="1" smtClean="0">
                                <a:solidFill>
                                  <a:srgbClr val="000000"/>
                                </a:solidFill>
                                <a:latin typeface="Cambria Math" panose="02040503050406030204" pitchFamily="18" charset="0"/>
                                <a:cs typeface="Times New Roman" pitchFamily="18" charset="0"/>
                              </a:rPr>
                              <m:t>𝑗</m:t>
                            </m:r>
                          </m:sub>
                        </m:sSub>
                      </m:e>
                    </m:d>
                  </m:oMath>
                </a14:m>
                <a:endParaRPr lang="en-US" altLang="zh-CN" sz="2600" dirty="0">
                  <a:solidFill>
                    <a:srgbClr val="000000"/>
                  </a:solidFill>
                  <a:latin typeface="Times New Roman" pitchFamily="18" charset="0"/>
                  <a:cs typeface="Times New Roman" pitchFamily="18" charset="0"/>
                </a:endParaRPr>
              </a:p>
              <a:p>
                <a:pPr eaLnBrk="1" hangingPunct="1">
                  <a:lnSpc>
                    <a:spcPct val="130000"/>
                  </a:lnSpc>
                  <a:defRPr/>
                </a:pPr>
                <a:r>
                  <a:rPr lang="en-US" altLang="zh-CN" sz="2600" dirty="0">
                    <a:solidFill>
                      <a:srgbClr val="000000"/>
                    </a:solidFill>
                    <a:latin typeface="Times New Roman" pitchFamily="18" charset="0"/>
                    <a:cs typeface="Times New Roman" pitchFamily="18" charset="0"/>
                  </a:rPr>
                  <a:t> </a:t>
                </a:r>
                <a14:m>
                  <m:oMath xmlns:m="http://schemas.openxmlformats.org/officeDocument/2006/math">
                    <m:r>
                      <a:rPr lang="en-US" altLang="zh-CN" sz="2600" b="0" i="1" dirty="0">
                        <a:solidFill>
                          <a:srgbClr val="000000"/>
                        </a:solidFill>
                        <a:latin typeface="Cambria Math" panose="02040503050406030204" pitchFamily="18" charset="0"/>
                      </a:rPr>
                      <m:t>=−</m:t>
                    </m:r>
                    <m:nary>
                      <m:naryPr>
                        <m:chr m:val="∑"/>
                        <m:limLoc m:val="subSup"/>
                        <m:ctrlPr>
                          <a:rPr lang="en-US" altLang="zh-CN" sz="2600" i="1" dirty="0" smtClean="0">
                            <a:solidFill>
                              <a:srgbClr val="000000"/>
                            </a:solidFill>
                            <a:latin typeface="Cambria Math" panose="02040503050406030204" pitchFamily="18" charset="0"/>
                          </a:rPr>
                        </m:ctrlPr>
                      </m:naryPr>
                      <m:sub>
                        <m:r>
                          <m:rPr>
                            <m:brk m:alnAt="25"/>
                          </m:rPr>
                          <a:rPr lang="en-US" altLang="zh-CN" sz="2600" b="0" i="1" dirty="0" smtClean="0">
                            <a:solidFill>
                              <a:srgbClr val="000000"/>
                            </a:solidFill>
                            <a:latin typeface="Cambria Math" panose="02040503050406030204" pitchFamily="18" charset="0"/>
                          </a:rPr>
                          <m:t>𝑗</m:t>
                        </m:r>
                        <m:r>
                          <a:rPr lang="en-US" altLang="zh-CN" sz="2600" b="0" i="1" dirty="0" smtClean="0">
                            <a:solidFill>
                              <a:srgbClr val="000000"/>
                            </a:solidFill>
                            <a:latin typeface="Cambria Math" panose="02040503050406030204" pitchFamily="18" charset="0"/>
                          </a:rPr>
                          <m:t>=1</m:t>
                        </m:r>
                      </m:sub>
                      <m:sup>
                        <m:r>
                          <a:rPr lang="en-US" altLang="zh-CN" sz="2600" b="0" i="1" dirty="0" smtClean="0">
                            <a:solidFill>
                              <a:srgbClr val="000000"/>
                            </a:solidFill>
                            <a:latin typeface="Cambria Math" panose="02040503050406030204" pitchFamily="18" charset="0"/>
                          </a:rPr>
                          <m:t>𝑚</m:t>
                        </m:r>
                      </m:sup>
                      <m:e>
                        <m:sSub>
                          <m:sSubPr>
                            <m:ctrlPr>
                              <a:rPr lang="en-US" altLang="zh-CN" sz="2600" i="1" dirty="0" smtClean="0">
                                <a:solidFill>
                                  <a:srgbClr val="000000"/>
                                </a:solidFill>
                                <a:latin typeface="Cambria Math" panose="02040503050406030204" pitchFamily="18" charset="0"/>
                              </a:rPr>
                            </m:ctrlPr>
                          </m:sSubPr>
                          <m:e>
                            <m:r>
                              <a:rPr lang="en-US" altLang="zh-CN" sz="2600" b="0" i="1" dirty="0" smtClean="0">
                                <a:solidFill>
                                  <a:srgbClr val="000000"/>
                                </a:solidFill>
                                <a:latin typeface="Cambria Math" panose="02040503050406030204" pitchFamily="18" charset="0"/>
                              </a:rPr>
                              <m:t>𝑞</m:t>
                            </m:r>
                          </m:e>
                          <m:sub>
                            <m:r>
                              <a:rPr lang="en-US" altLang="zh-CN" sz="2600" b="0" i="1" dirty="0" smtClean="0">
                                <a:solidFill>
                                  <a:srgbClr val="000000"/>
                                </a:solidFill>
                                <a:latin typeface="Cambria Math" panose="02040503050406030204" pitchFamily="18" charset="0"/>
                              </a:rPr>
                              <m:t>𝑗</m:t>
                            </m:r>
                          </m:sub>
                        </m:sSub>
                        <m:d>
                          <m:dPr>
                            <m:ctrlPr>
                              <a:rPr lang="en-US" altLang="zh-CN" sz="2600" i="1" dirty="0" smtClean="0">
                                <a:solidFill>
                                  <a:srgbClr val="000000"/>
                                </a:solidFill>
                                <a:latin typeface="Cambria Math" panose="02040503050406030204" pitchFamily="18" charset="0"/>
                              </a:rPr>
                            </m:ctrlPr>
                          </m:dPr>
                          <m:e>
                            <m:nary>
                              <m:naryPr>
                                <m:chr m:val="∑"/>
                                <m:limLoc m:val="subSup"/>
                                <m:ctrlPr>
                                  <a:rPr lang="en-US" altLang="zh-CN" sz="2600" i="1" dirty="0" smtClean="0">
                                    <a:solidFill>
                                      <a:srgbClr val="000000"/>
                                    </a:solidFill>
                                    <a:latin typeface="Cambria Math" panose="02040503050406030204" pitchFamily="18" charset="0"/>
                                  </a:rPr>
                                </m:ctrlPr>
                              </m:naryPr>
                              <m:sub>
                                <m:r>
                                  <m:rPr>
                                    <m:brk m:alnAt="25"/>
                                  </m:rPr>
                                  <a:rPr lang="en-US" altLang="zh-CN" sz="2600" b="0" i="1" dirty="0" smtClean="0">
                                    <a:solidFill>
                                      <a:srgbClr val="000000"/>
                                    </a:solidFill>
                                    <a:latin typeface="Cambria Math" panose="02040503050406030204" pitchFamily="18" charset="0"/>
                                  </a:rPr>
                                  <m:t>𝑖</m:t>
                                </m:r>
                                <m:r>
                                  <a:rPr lang="en-US" altLang="zh-CN" sz="2600" b="0" i="1" dirty="0" smtClean="0">
                                    <a:solidFill>
                                      <a:srgbClr val="000000"/>
                                    </a:solidFill>
                                    <a:latin typeface="Cambria Math" panose="02040503050406030204" pitchFamily="18" charset="0"/>
                                  </a:rPr>
                                  <m:t>=1</m:t>
                                </m:r>
                              </m:sub>
                              <m:sup>
                                <m:r>
                                  <a:rPr lang="en-US" altLang="zh-CN" sz="2600" b="0" i="1" dirty="0" smtClean="0">
                                    <a:solidFill>
                                      <a:srgbClr val="000000"/>
                                    </a:solidFill>
                                    <a:latin typeface="Cambria Math" panose="02040503050406030204" pitchFamily="18" charset="0"/>
                                  </a:rPr>
                                  <m:t>𝑛</m:t>
                                </m:r>
                              </m:sup>
                              <m:e>
                                <m:sSub>
                                  <m:sSubPr>
                                    <m:ctrlPr>
                                      <a:rPr lang="en-US" altLang="zh-CN" sz="2600" i="1" dirty="0" smtClean="0">
                                        <a:solidFill>
                                          <a:srgbClr val="000000"/>
                                        </a:solidFill>
                                        <a:latin typeface="Cambria Math" panose="02040503050406030204" pitchFamily="18" charset="0"/>
                                      </a:rPr>
                                    </m:ctrlPr>
                                  </m:sSubPr>
                                  <m:e>
                                    <m:r>
                                      <a:rPr lang="en-US" altLang="zh-CN" sz="2600" b="0" i="1" dirty="0" smtClean="0">
                                        <a:solidFill>
                                          <a:srgbClr val="000000"/>
                                        </a:solidFill>
                                        <a:latin typeface="Cambria Math" panose="02040503050406030204" pitchFamily="18" charset="0"/>
                                      </a:rPr>
                                      <m:t>𝑝</m:t>
                                    </m:r>
                                  </m:e>
                                  <m:sub>
                                    <m:r>
                                      <a:rPr lang="en-US" altLang="zh-CN" sz="2600" b="0" i="1" dirty="0" smtClean="0">
                                        <a:solidFill>
                                          <a:srgbClr val="000000"/>
                                        </a:solidFill>
                                        <a:latin typeface="Cambria Math" panose="02040503050406030204" pitchFamily="18" charset="0"/>
                                      </a:rPr>
                                      <m:t>𝑖</m:t>
                                    </m:r>
                                  </m:sub>
                                </m:sSub>
                                <m:r>
                                  <m:rPr>
                                    <m:sty m:val="p"/>
                                  </m:rPr>
                                  <a:rPr lang="en-US" altLang="zh-CN" sz="2600" b="0" i="1" dirty="0" smtClean="0">
                                    <a:solidFill>
                                      <a:srgbClr val="000000"/>
                                    </a:solidFill>
                                    <a:latin typeface="Cambria Math" panose="02040503050406030204" pitchFamily="18" charset="0"/>
                                  </a:rPr>
                                  <m:t>log</m:t>
                                </m:r>
                                <m:r>
                                  <a:rPr lang="en-US" altLang="zh-CN" sz="2600" b="0" i="1" dirty="0" smtClean="0">
                                    <a:solidFill>
                                      <a:srgbClr val="000000"/>
                                    </a:solidFill>
                                    <a:latin typeface="Cambria Math" panose="02040503050406030204" pitchFamily="18" charset="0"/>
                                  </a:rPr>
                                  <m:t> </m:t>
                                </m:r>
                                <m:sSub>
                                  <m:sSubPr>
                                    <m:ctrlPr>
                                      <a:rPr lang="en-US" altLang="zh-CN" sz="2600" i="1" dirty="0" smtClean="0">
                                        <a:solidFill>
                                          <a:srgbClr val="000000"/>
                                        </a:solidFill>
                                        <a:latin typeface="Cambria Math" panose="02040503050406030204" pitchFamily="18" charset="0"/>
                                      </a:rPr>
                                    </m:ctrlPr>
                                  </m:sSubPr>
                                  <m:e>
                                    <m:r>
                                      <a:rPr lang="en-US" altLang="zh-CN" sz="2600" b="0" i="1" dirty="0" smtClean="0">
                                        <a:solidFill>
                                          <a:srgbClr val="000000"/>
                                        </a:solidFill>
                                        <a:latin typeface="Cambria Math" panose="02040503050406030204" pitchFamily="18" charset="0"/>
                                      </a:rPr>
                                      <m:t>𝑝</m:t>
                                    </m:r>
                                  </m:e>
                                  <m:sub>
                                    <m:r>
                                      <a:rPr lang="en-US" altLang="zh-CN" sz="2600" b="0" i="1" dirty="0" smtClean="0">
                                        <a:solidFill>
                                          <a:srgbClr val="000000"/>
                                        </a:solidFill>
                                        <a:latin typeface="Cambria Math" panose="02040503050406030204" pitchFamily="18" charset="0"/>
                                      </a:rPr>
                                      <m:t>𝑖</m:t>
                                    </m:r>
                                  </m:sub>
                                </m:sSub>
                              </m:e>
                            </m:nary>
                          </m:e>
                        </m:d>
                      </m:e>
                    </m:nary>
                    <m:r>
                      <a:rPr lang="en-US" altLang="zh-CN" sz="2600" b="0" i="1" dirty="0">
                        <a:solidFill>
                          <a:srgbClr val="000000"/>
                        </a:solidFill>
                        <a:latin typeface="Cambria Math" panose="02040503050406030204" pitchFamily="18" charset="0"/>
                      </a:rPr>
                      <m:t>−</m:t>
                    </m:r>
                    <m:nary>
                      <m:naryPr>
                        <m:chr m:val="∑"/>
                        <m:limLoc m:val="subSup"/>
                        <m:ctrlPr>
                          <a:rPr lang="en-US" altLang="zh-CN" sz="2600" i="1" dirty="0">
                            <a:solidFill>
                              <a:srgbClr val="000000"/>
                            </a:solidFill>
                            <a:latin typeface="Cambria Math" panose="02040503050406030204" pitchFamily="18" charset="0"/>
                          </a:rPr>
                        </m:ctrlPr>
                      </m:naryPr>
                      <m:sub>
                        <m:r>
                          <m:rPr>
                            <m:brk m:alnAt="1"/>
                          </m:rPr>
                          <a:rPr lang="en-US" altLang="zh-CN" sz="2600" b="0" i="1" dirty="0" smtClean="0">
                            <a:solidFill>
                              <a:srgbClr val="000000"/>
                            </a:solidFill>
                            <a:latin typeface="Cambria Math" panose="02040503050406030204" pitchFamily="18" charset="0"/>
                          </a:rPr>
                          <m:t>𝑖</m:t>
                        </m:r>
                        <m:r>
                          <a:rPr lang="en-US" altLang="zh-CN" sz="2600" b="0" i="1" dirty="0">
                            <a:solidFill>
                              <a:srgbClr val="000000"/>
                            </a:solidFill>
                            <a:latin typeface="Cambria Math" panose="02040503050406030204" pitchFamily="18" charset="0"/>
                          </a:rPr>
                          <m:t>=1</m:t>
                        </m:r>
                      </m:sub>
                      <m:sup>
                        <m:r>
                          <a:rPr lang="en-US" altLang="zh-CN" sz="2600" b="0" i="1" dirty="0" smtClean="0">
                            <a:solidFill>
                              <a:srgbClr val="000000"/>
                            </a:solidFill>
                            <a:latin typeface="Cambria Math" panose="02040503050406030204" pitchFamily="18" charset="0"/>
                          </a:rPr>
                          <m:t>𝑛</m:t>
                        </m:r>
                      </m:sup>
                      <m:e>
                        <m:sSub>
                          <m:sSubPr>
                            <m:ctrlPr>
                              <a:rPr lang="en-US" altLang="zh-CN" sz="2600" i="1" dirty="0" smtClean="0">
                                <a:solidFill>
                                  <a:srgbClr val="000000"/>
                                </a:solidFill>
                                <a:latin typeface="Cambria Math" panose="02040503050406030204" pitchFamily="18" charset="0"/>
                              </a:rPr>
                            </m:ctrlPr>
                          </m:sSubPr>
                          <m:e>
                            <m:r>
                              <a:rPr lang="en-US" altLang="zh-CN" sz="2600" b="0" i="1" dirty="0" smtClean="0">
                                <a:solidFill>
                                  <a:srgbClr val="000000"/>
                                </a:solidFill>
                                <a:latin typeface="Cambria Math" panose="02040503050406030204" pitchFamily="18" charset="0"/>
                              </a:rPr>
                              <m:t>𝑝</m:t>
                            </m:r>
                          </m:e>
                          <m:sub>
                            <m:r>
                              <a:rPr lang="en-US" altLang="zh-CN" sz="2600" b="0" i="1" dirty="0" smtClean="0">
                                <a:solidFill>
                                  <a:srgbClr val="000000"/>
                                </a:solidFill>
                                <a:latin typeface="Cambria Math" panose="02040503050406030204" pitchFamily="18" charset="0"/>
                              </a:rPr>
                              <m:t>𝑖</m:t>
                            </m:r>
                          </m:sub>
                        </m:sSub>
                        <m:d>
                          <m:dPr>
                            <m:ctrlPr>
                              <a:rPr lang="en-US" altLang="zh-CN" sz="2600" i="1" dirty="0">
                                <a:solidFill>
                                  <a:srgbClr val="000000"/>
                                </a:solidFill>
                                <a:latin typeface="Cambria Math" panose="02040503050406030204" pitchFamily="18" charset="0"/>
                              </a:rPr>
                            </m:ctrlPr>
                          </m:dPr>
                          <m:e>
                            <m:nary>
                              <m:naryPr>
                                <m:chr m:val="∑"/>
                                <m:limLoc m:val="subSup"/>
                                <m:ctrlPr>
                                  <a:rPr lang="en-US" altLang="zh-CN" sz="2600" i="1" dirty="0" smtClean="0">
                                    <a:solidFill>
                                      <a:srgbClr val="000000"/>
                                    </a:solidFill>
                                    <a:latin typeface="Cambria Math" panose="02040503050406030204" pitchFamily="18" charset="0"/>
                                  </a:rPr>
                                </m:ctrlPr>
                              </m:naryPr>
                              <m:sub>
                                <m:r>
                                  <m:rPr>
                                    <m:brk m:alnAt="1"/>
                                  </m:rPr>
                                  <a:rPr lang="en-US" altLang="zh-CN" sz="2600" b="0" i="1" dirty="0" smtClean="0">
                                    <a:solidFill>
                                      <a:srgbClr val="000000"/>
                                    </a:solidFill>
                                    <a:latin typeface="Cambria Math" panose="02040503050406030204" pitchFamily="18" charset="0"/>
                                  </a:rPr>
                                  <m:t>𝑗</m:t>
                                </m:r>
                                <m:r>
                                  <a:rPr lang="en-US" altLang="zh-CN" sz="2600" b="0" i="1" dirty="0">
                                    <a:solidFill>
                                      <a:srgbClr val="000000"/>
                                    </a:solidFill>
                                    <a:latin typeface="Cambria Math" panose="02040503050406030204" pitchFamily="18" charset="0"/>
                                  </a:rPr>
                                  <m:t>=1</m:t>
                                </m:r>
                              </m:sub>
                              <m:sup>
                                <m:r>
                                  <a:rPr lang="en-US" altLang="zh-CN" sz="2600" b="0" i="1" dirty="0" smtClean="0">
                                    <a:solidFill>
                                      <a:srgbClr val="000000"/>
                                    </a:solidFill>
                                    <a:latin typeface="Cambria Math" panose="02040503050406030204" pitchFamily="18" charset="0"/>
                                  </a:rPr>
                                  <m:t>𝑚</m:t>
                                </m:r>
                              </m:sup>
                              <m:e>
                                <m:sSub>
                                  <m:sSubPr>
                                    <m:ctrlPr>
                                      <a:rPr lang="en-US" altLang="zh-CN" sz="2600" i="1" dirty="0">
                                        <a:solidFill>
                                          <a:srgbClr val="000000"/>
                                        </a:solidFill>
                                        <a:latin typeface="Cambria Math" panose="02040503050406030204" pitchFamily="18" charset="0"/>
                                      </a:rPr>
                                    </m:ctrlPr>
                                  </m:sSubPr>
                                  <m:e>
                                    <m:r>
                                      <a:rPr lang="en-US" altLang="zh-CN" sz="2600" b="0" i="1" dirty="0" smtClean="0">
                                        <a:solidFill>
                                          <a:srgbClr val="000000"/>
                                        </a:solidFill>
                                        <a:latin typeface="Cambria Math" panose="02040503050406030204" pitchFamily="18" charset="0"/>
                                      </a:rPr>
                                      <m:t>𝑞</m:t>
                                    </m:r>
                                  </m:e>
                                  <m:sub>
                                    <m:r>
                                      <a:rPr lang="en-US" altLang="zh-CN" sz="2600" b="0" i="1" dirty="0" smtClean="0">
                                        <a:solidFill>
                                          <a:srgbClr val="000000"/>
                                        </a:solidFill>
                                        <a:latin typeface="Cambria Math" panose="02040503050406030204" pitchFamily="18" charset="0"/>
                                      </a:rPr>
                                      <m:t>𝑗</m:t>
                                    </m:r>
                                  </m:sub>
                                </m:sSub>
                                <m:r>
                                  <m:rPr>
                                    <m:sty m:val="p"/>
                                  </m:rPr>
                                  <a:rPr lang="en-US" altLang="zh-CN" sz="2600" b="0" i="1" dirty="0">
                                    <a:solidFill>
                                      <a:srgbClr val="000000"/>
                                    </a:solidFill>
                                    <a:latin typeface="Cambria Math" panose="02040503050406030204" pitchFamily="18" charset="0"/>
                                  </a:rPr>
                                  <m:t>log</m:t>
                                </m:r>
                                <m:r>
                                  <a:rPr lang="en-US" altLang="zh-CN" sz="2600" b="0" i="1" dirty="0">
                                    <a:solidFill>
                                      <a:srgbClr val="000000"/>
                                    </a:solidFill>
                                    <a:latin typeface="Cambria Math" panose="02040503050406030204" pitchFamily="18" charset="0"/>
                                  </a:rPr>
                                  <m:t> </m:t>
                                </m:r>
                                <m:sSub>
                                  <m:sSubPr>
                                    <m:ctrlPr>
                                      <a:rPr lang="en-US" altLang="zh-CN" sz="2600" i="1" dirty="0" smtClean="0">
                                        <a:solidFill>
                                          <a:srgbClr val="000000"/>
                                        </a:solidFill>
                                        <a:latin typeface="Cambria Math" panose="02040503050406030204" pitchFamily="18" charset="0"/>
                                      </a:rPr>
                                    </m:ctrlPr>
                                  </m:sSubPr>
                                  <m:e>
                                    <m:r>
                                      <a:rPr lang="en-US" altLang="zh-CN" sz="2600" b="0" i="1" dirty="0" smtClean="0">
                                        <a:solidFill>
                                          <a:srgbClr val="000000"/>
                                        </a:solidFill>
                                        <a:latin typeface="Cambria Math" panose="02040503050406030204" pitchFamily="18" charset="0"/>
                                      </a:rPr>
                                      <m:t>𝑞</m:t>
                                    </m:r>
                                  </m:e>
                                  <m:sub>
                                    <m:r>
                                      <a:rPr lang="en-US" altLang="zh-CN" sz="2600" b="0" i="1" dirty="0" smtClean="0">
                                        <a:solidFill>
                                          <a:srgbClr val="000000"/>
                                        </a:solidFill>
                                        <a:latin typeface="Cambria Math" panose="02040503050406030204" pitchFamily="18" charset="0"/>
                                      </a:rPr>
                                      <m:t>𝑗</m:t>
                                    </m:r>
                                  </m:sub>
                                </m:sSub>
                              </m:e>
                            </m:nary>
                          </m:e>
                        </m:d>
                      </m:e>
                    </m:nary>
                  </m:oMath>
                </a14:m>
                <a:endParaRPr lang="en-US" altLang="zh-CN" sz="2600" dirty="0">
                  <a:solidFill>
                    <a:srgbClr val="000000"/>
                  </a:solidFill>
                  <a:latin typeface="Times New Roman" pitchFamily="18" charset="0"/>
                  <a:cs typeface="Times New Roman" pitchFamily="18" charset="0"/>
                </a:endParaRPr>
              </a:p>
              <a:p>
                <a:pPr eaLnBrk="1" hangingPunct="1">
                  <a:lnSpc>
                    <a:spcPct val="130000"/>
                  </a:lnSpc>
                  <a:defRPr/>
                </a:pPr>
                <a:r>
                  <a:rPr lang="en-US" altLang="zh-CN" sz="2600" dirty="0">
                    <a:solidFill>
                      <a:srgbClr val="000000"/>
                    </a:solidFill>
                    <a:latin typeface="Times New Roman" pitchFamily="18" charset="0"/>
                    <a:cs typeface="Times New Roman" pitchFamily="18" charset="0"/>
                  </a:rPr>
                  <a:t> </a:t>
                </a:r>
                <a14:m>
                  <m:oMath xmlns:m="http://schemas.openxmlformats.org/officeDocument/2006/math">
                    <m:r>
                      <a:rPr lang="en-US" altLang="zh-CN" sz="2600" b="0" i="1" smtClean="0">
                        <a:solidFill>
                          <a:srgbClr val="000000"/>
                        </a:solidFill>
                        <a:latin typeface="Cambria Math" panose="02040503050406030204" pitchFamily="18" charset="0"/>
                        <a:cs typeface="Times New Roman"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𝐻</m:t>
                        </m:r>
                      </m:e>
                      <m:sub>
                        <m:r>
                          <a:rPr kumimoji="1" lang="en-US" altLang="zh-CN" sz="2600" b="0" i="1">
                            <a:solidFill>
                              <a:srgbClr val="000000"/>
                            </a:solidFill>
                            <a:latin typeface="Cambria Math" panose="02040503050406030204" pitchFamily="18" charset="0"/>
                          </a:rPr>
                          <m:t>𝑛</m:t>
                        </m:r>
                      </m:sub>
                    </m:sSub>
                    <m:d>
                      <m:dPr>
                        <m:ctrlPr>
                          <a:rPr kumimoji="1" lang="en-US" altLang="zh-CN" sz="2600" i="1">
                            <a:solidFill>
                              <a:srgbClr val="000000"/>
                            </a:solidFill>
                            <a:latin typeface="Cambria Math" panose="02040503050406030204" pitchFamily="18" charset="0"/>
                          </a:rPr>
                        </m:ctrlPr>
                      </m:dPr>
                      <m:e>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1</m:t>
                            </m:r>
                          </m:sub>
                        </m:sSub>
                        <m:r>
                          <a:rPr kumimoji="1" lang="zh-CN" altLang="en-US" sz="2600" b="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2</m:t>
                            </m:r>
                          </m:sub>
                        </m:sSub>
                        <m:r>
                          <a:rPr kumimoji="1" lang="zh-CN" altLang="en-US" sz="2600" b="0" i="1">
                            <a:solidFill>
                              <a:srgbClr val="000000"/>
                            </a:solidFill>
                            <a:latin typeface="Cambria Math" panose="02040503050406030204" pitchFamily="18" charset="0"/>
                          </a:rPr>
                          <m:t>，</m:t>
                        </m:r>
                        <m:r>
                          <a:rPr kumimoji="1" lang="en-US" altLang="zh-CN" sz="2600" b="0" i="1">
                            <a:solidFill>
                              <a:srgbClr val="000000"/>
                            </a:solidFill>
                            <a:latin typeface="Cambria Math" panose="02040503050406030204" pitchFamily="18" charset="0"/>
                          </a:rPr>
                          <m:t>…</m:t>
                        </m:r>
                        <m:r>
                          <a:rPr kumimoji="1" lang="zh-CN" altLang="en-US" sz="2600" i="1">
                            <a:solidFill>
                              <a:srgbClr val="000000"/>
                            </a:solidFill>
                            <a:latin typeface="Cambria Math" panose="02040503050406030204" pitchFamily="18" charset="0"/>
                          </a:rPr>
                          <m:t>，</m:t>
                        </m:r>
                        <m:r>
                          <a:rPr kumimoji="1" lang="en-US" altLang="zh-CN" sz="2600" b="0" i="1">
                            <a:solidFill>
                              <a:srgbClr val="000000"/>
                            </a:solidFill>
                            <a:latin typeface="Cambria Math" panose="02040503050406030204" pitchFamily="18" charset="0"/>
                          </a:rPr>
                          <m:t> </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𝑝</m:t>
                            </m:r>
                          </m:e>
                          <m:sub>
                            <m:r>
                              <a:rPr kumimoji="1" lang="en-US" altLang="zh-CN" sz="2600" b="0" i="1">
                                <a:solidFill>
                                  <a:srgbClr val="000000"/>
                                </a:solidFill>
                                <a:latin typeface="Cambria Math" panose="02040503050406030204" pitchFamily="18" charset="0"/>
                              </a:rPr>
                              <m:t>𝑛</m:t>
                            </m:r>
                          </m:sub>
                        </m:sSub>
                      </m:e>
                    </m:d>
                    <m:r>
                      <a:rPr kumimoji="1" lang="en-US" altLang="zh-CN" sz="2600" b="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𝐻</m:t>
                        </m:r>
                      </m:e>
                      <m:sub>
                        <m:r>
                          <a:rPr kumimoji="1" lang="en-US" altLang="zh-CN" sz="2600" b="0" i="1">
                            <a:solidFill>
                              <a:srgbClr val="000000"/>
                            </a:solidFill>
                            <a:latin typeface="Cambria Math" panose="02040503050406030204" pitchFamily="18" charset="0"/>
                          </a:rPr>
                          <m:t>𝑚</m:t>
                        </m:r>
                      </m:sub>
                    </m:sSub>
                    <m:d>
                      <m:dPr>
                        <m:ctrlPr>
                          <a:rPr kumimoji="1" lang="en-US" altLang="zh-CN" sz="2600" i="1" smtClean="0">
                            <a:solidFill>
                              <a:srgbClr val="000000"/>
                            </a:solidFill>
                            <a:latin typeface="Cambria Math" panose="02040503050406030204" pitchFamily="18" charset="0"/>
                          </a:rPr>
                        </m:ctrlPr>
                      </m:dPr>
                      <m:e>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𝑞</m:t>
                            </m:r>
                          </m:e>
                          <m:sub>
                            <m:r>
                              <a:rPr kumimoji="1" lang="en-US" altLang="zh-CN" sz="2600" b="0" i="1">
                                <a:solidFill>
                                  <a:srgbClr val="000000"/>
                                </a:solidFill>
                                <a:latin typeface="Cambria Math" panose="02040503050406030204" pitchFamily="18" charset="0"/>
                              </a:rPr>
                              <m:t>1</m:t>
                            </m:r>
                          </m:sub>
                        </m:sSub>
                        <m:r>
                          <a:rPr kumimoji="1" lang="zh-CN" altLang="en-US" sz="2600" b="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𝑞</m:t>
                            </m:r>
                          </m:e>
                          <m:sub>
                            <m:r>
                              <a:rPr kumimoji="1" lang="en-US" altLang="zh-CN" sz="2600" b="0" i="1">
                                <a:solidFill>
                                  <a:srgbClr val="000000"/>
                                </a:solidFill>
                                <a:latin typeface="Cambria Math" panose="02040503050406030204" pitchFamily="18" charset="0"/>
                              </a:rPr>
                              <m:t>2</m:t>
                            </m:r>
                          </m:sub>
                        </m:sSub>
                        <m:r>
                          <a:rPr kumimoji="1" lang="zh-CN" altLang="en-US" sz="2600" i="1">
                            <a:solidFill>
                              <a:srgbClr val="000000"/>
                            </a:solidFill>
                            <a:latin typeface="Cambria Math" panose="02040503050406030204" pitchFamily="18" charset="0"/>
                          </a:rPr>
                          <m:t>，</m:t>
                        </m:r>
                        <m:r>
                          <a:rPr kumimoji="1" lang="en-US" altLang="zh-CN" sz="2600" b="0" i="1">
                            <a:solidFill>
                              <a:srgbClr val="000000"/>
                            </a:solidFill>
                            <a:latin typeface="Cambria Math" panose="02040503050406030204" pitchFamily="18" charset="0"/>
                          </a:rPr>
                          <m:t>…</m:t>
                        </m:r>
                        <m:r>
                          <a:rPr kumimoji="1" lang="zh-CN" altLang="en-US" sz="260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b="0" i="1">
                                <a:solidFill>
                                  <a:srgbClr val="000000"/>
                                </a:solidFill>
                                <a:latin typeface="Cambria Math" panose="02040503050406030204" pitchFamily="18" charset="0"/>
                              </a:rPr>
                              <m:t>𝑞</m:t>
                            </m:r>
                          </m:e>
                          <m:sub>
                            <m:r>
                              <a:rPr kumimoji="1" lang="en-US" altLang="zh-CN" sz="2600" b="0" i="1">
                                <a:solidFill>
                                  <a:srgbClr val="000000"/>
                                </a:solidFill>
                                <a:latin typeface="Cambria Math" panose="02040503050406030204" pitchFamily="18" charset="0"/>
                              </a:rPr>
                              <m:t>𝑚</m:t>
                            </m:r>
                          </m:sub>
                        </m:sSub>
                      </m:e>
                    </m:d>
                    <m:r>
                      <a:rPr kumimoji="1" lang="zh-CN" altLang="en-US" sz="2600" b="0" i="1" smtClean="0">
                        <a:solidFill>
                          <a:srgbClr val="000000"/>
                        </a:solidFill>
                        <a:latin typeface="Cambria Math" panose="02040503050406030204" pitchFamily="18" charset="0"/>
                      </a:rPr>
                      <m:t>。</m:t>
                    </m:r>
                  </m:oMath>
                </a14:m>
                <a:endParaRPr lang="en-US" altLang="zh-CN" sz="2600" dirty="0">
                  <a:solidFill>
                    <a:srgbClr val="000000"/>
                  </a:solidFill>
                  <a:latin typeface="Times New Roman" pitchFamily="18" charset="0"/>
                  <a:cs typeface="Times New Roman" pitchFamily="18" charset="0"/>
                </a:endParaRPr>
              </a:p>
            </p:txBody>
          </p:sp>
        </mc:Choice>
        <mc:Fallback xmlns="">
          <p:sp>
            <p:nvSpPr>
              <p:cNvPr id="3" name="Rectangle 2">
                <a:hlinkClick r:id="rId4" action="ppaction://hlinksldjump"/>
                <a:extLst>
                  <a:ext uri="{FF2B5EF4-FFF2-40B4-BE49-F238E27FC236}">
                    <a16:creationId xmlns:a16="http://schemas.microsoft.com/office/drawing/2014/main" id="{60ED1040-C190-5330-468B-16DB34D56B20}"/>
                  </a:ext>
                </a:extLst>
              </p:cNvPr>
              <p:cNvSpPr>
                <a:spLocks noRot="1" noChangeAspect="1" noMove="1" noResize="1" noEditPoints="1" noAdjustHandles="1" noChangeArrowheads="1" noChangeShapeType="1" noTextEdit="1"/>
              </p:cNvSpPr>
              <p:nvPr/>
            </p:nvSpPr>
            <p:spPr bwMode="auto">
              <a:xfrm>
                <a:off x="288364" y="706380"/>
                <a:ext cx="8855636" cy="6151620"/>
              </a:xfrm>
              <a:prstGeom prst="rect">
                <a:avLst/>
              </a:prstGeom>
              <a:blipFill>
                <a:blip r:embed="rId5"/>
                <a:stretch>
                  <a:fillRect l="-1239" t="-99"/>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4A1287B7-B379-5BFD-8A91-7DA9E2138C0D}"/>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3 </a:t>
            </a:r>
            <a:r>
              <a:rPr lang="zh-CN" altLang="en-US"/>
              <a:t>联合熵与条件熵</a:t>
            </a:r>
            <a:endParaRPr lang="en-US" altLang="zh-CN"/>
          </a:p>
        </p:txBody>
      </p:sp>
      <p:sp>
        <p:nvSpPr>
          <p:cNvPr id="63492" name="文本框 2">
            <a:extLst>
              <a:ext uri="{FF2B5EF4-FFF2-40B4-BE49-F238E27FC236}">
                <a16:creationId xmlns:a16="http://schemas.microsoft.com/office/drawing/2014/main" id="{B92DBFCA-5F46-D499-62EE-AD6FD9301D9D}"/>
              </a:ext>
            </a:extLst>
          </p:cNvPr>
          <p:cNvSpPr txBox="1">
            <a:spLocks noChangeArrowheads="1"/>
          </p:cNvSpPr>
          <p:nvPr/>
        </p:nvSpPr>
        <p:spPr bwMode="auto">
          <a:xfrm>
            <a:off x="392113" y="919163"/>
            <a:ext cx="6694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800" b="1" dirty="0">
                <a:solidFill>
                  <a:srgbClr val="000000"/>
                </a:solidFill>
                <a:latin typeface="宋体" panose="02010600030101010101" pitchFamily="2" charset="-122"/>
                <a:cs typeface="Tahoma" panose="020B0604030504040204" pitchFamily="34" charset="0"/>
              </a:rPr>
              <a:t>联合事件的自信息称为</a:t>
            </a:r>
            <a:r>
              <a:rPr lang="zh-CN" altLang="en-US" sz="2800" b="1" dirty="0">
                <a:solidFill>
                  <a:srgbClr val="C00000"/>
                </a:solidFill>
                <a:latin typeface="宋体" panose="02010600030101010101" pitchFamily="2" charset="-122"/>
                <a:cs typeface="Tahoma" panose="020B0604030504040204" pitchFamily="34" charset="0"/>
              </a:rPr>
              <a:t>联合自信息</a:t>
            </a:r>
            <a:r>
              <a:rPr lang="zh-CN" altLang="en-US" sz="2800" b="1" dirty="0">
                <a:solidFill>
                  <a:srgbClr val="000000"/>
                </a:solidFill>
                <a:latin typeface="宋体" panose="02010600030101010101" pitchFamily="2" charset="-122"/>
                <a:cs typeface="Tahoma" panose="020B0604030504040204" pitchFamily="34" charset="0"/>
              </a:rPr>
              <a:t>。</a:t>
            </a:r>
            <a:endParaRPr kumimoji="1" lang="en-US" altLang="zh-CN" sz="2800" b="1" dirty="0">
              <a:solidFill>
                <a:srgbClr val="000000"/>
              </a:solidFill>
              <a:latin typeface="Times New Roman" panose="02020603050405020304" pitchFamily="18" charset="0"/>
              <a:cs typeface="Tahoma" panose="020B0604030504040204" pitchFamily="34" charset="0"/>
            </a:endParaRPr>
          </a:p>
        </p:txBody>
      </p:sp>
      <mc:AlternateContent xmlns:mc="http://schemas.openxmlformats.org/markup-compatibility/2006" xmlns:a14="http://schemas.microsoft.com/office/drawing/2010/main">
        <mc:Choice Requires="a14">
          <p:sp>
            <p:nvSpPr>
              <p:cNvPr id="3" name="Rectangle 2">
                <a:hlinkClick r:id="rId3" action="ppaction://hlinksldjump"/>
                <a:extLst>
                  <a:ext uri="{FF2B5EF4-FFF2-40B4-BE49-F238E27FC236}">
                    <a16:creationId xmlns:a16="http://schemas.microsoft.com/office/drawing/2014/main" id="{CBD7D868-C3A4-4A6D-F12E-4875F7CA41CD}"/>
                  </a:ext>
                </a:extLst>
              </p:cNvPr>
              <p:cNvSpPr>
                <a:spLocks noChangeArrowheads="1"/>
              </p:cNvSpPr>
              <p:nvPr/>
            </p:nvSpPr>
            <p:spPr bwMode="auto">
              <a:xfrm>
                <a:off x="376347" y="1475696"/>
                <a:ext cx="8391305" cy="3538918"/>
              </a:xfrm>
              <a:prstGeom prst="rect">
                <a:avLst/>
              </a:prstGeom>
              <a:noFill/>
              <a:ln w="9525">
                <a:noFill/>
                <a:miter lim="800000"/>
                <a:headEnd/>
                <a:tailEnd/>
              </a:ln>
              <a:effectLst/>
            </p:spPr>
            <p:txBody>
              <a:bodyPr wrap="square">
                <a:spAutoFit/>
              </a:bodyPr>
              <a:lstStyle/>
              <a:p>
                <a:pPr eaLnBrk="1" hangingPunct="1">
                  <a:lnSpc>
                    <a:spcPct val="150000"/>
                  </a:lnSpc>
                  <a:defRPr/>
                </a:pPr>
                <a:r>
                  <a:rPr lang="zh-CN" altLang="en-US" sz="2800" b="1" dirty="0">
                    <a:latin typeface="宋体" pitchFamily="2" charset="-122"/>
                    <a:cs typeface="Tahoma"/>
                  </a:rPr>
                  <a:t>定义</a:t>
                </a:r>
                <a:r>
                  <a:rPr lang="en-US" altLang="zh-CN" sz="2800" b="1" dirty="0">
                    <a:latin typeface="Times New Roman" pitchFamily="18" charset="0"/>
                    <a:cs typeface="Times New Roman" pitchFamily="18" charset="0"/>
                  </a:rPr>
                  <a:t>6  </a:t>
                </a:r>
                <a:r>
                  <a:rPr lang="zh-CN" altLang="en-US" sz="2800" dirty="0">
                    <a:solidFill>
                      <a:srgbClr val="000000"/>
                    </a:solidFill>
                    <a:latin typeface="Times New Roman" pitchFamily="18" charset="0"/>
                    <a:cs typeface="Times New Roman" pitchFamily="18" charset="0"/>
                  </a:rPr>
                  <a:t>两个随机事件的联合自信息定义为这两个事件同时发生的联合概率的对数的负值，简称</a:t>
                </a:r>
                <a:r>
                  <a:rPr lang="zh-CN" altLang="en-US" sz="2800" dirty="0">
                    <a:solidFill>
                      <a:srgbClr val="C00000"/>
                    </a:solidFill>
                    <a:latin typeface="Times New Roman" pitchFamily="18" charset="0"/>
                    <a:cs typeface="Times New Roman" pitchFamily="18" charset="0"/>
                  </a:rPr>
                  <a:t>联合自信息</a:t>
                </a:r>
                <a:r>
                  <a:rPr lang="zh-CN" altLang="en-US" sz="2800" dirty="0">
                    <a:solidFill>
                      <a:srgbClr val="000000"/>
                    </a:solidFill>
                    <a:latin typeface="Times New Roman" pitchFamily="18" charset="0"/>
                    <a:cs typeface="Times New Roman" pitchFamily="18" charset="0"/>
                  </a:rPr>
                  <a:t>。设事件</a:t>
                </a:r>
                <a14:m>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 </m:t>
                    </m:r>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𝑥</m:t>
                        </m:r>
                      </m:e>
                      <m:sub>
                        <m:r>
                          <a:rPr lang="en-US" altLang="zh-CN" sz="2800" b="0" i="1" smtClean="0">
                            <a:solidFill>
                              <a:srgbClr val="000000"/>
                            </a:solidFill>
                            <a:latin typeface="Cambria Math" panose="02040503050406030204" pitchFamily="18" charset="0"/>
                            <a:cs typeface="Times New Roman" pitchFamily="18" charset="0"/>
                          </a:rPr>
                          <m:t>𝑖</m:t>
                        </m:r>
                      </m:sub>
                    </m:sSub>
                    <m:r>
                      <a:rPr lang="en-US" altLang="zh-CN" sz="2800" b="0" i="1" smtClean="0">
                        <a:solidFill>
                          <a:srgbClr val="000000"/>
                        </a:solidFill>
                        <a:latin typeface="Cambria Math" panose="02040503050406030204" pitchFamily="18" charset="0"/>
                        <a:cs typeface="Times New Roman" pitchFamily="18" charset="0"/>
                      </a:rPr>
                      <m:t>,</m:t>
                    </m:r>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 </m:t>
                        </m:r>
                        <m:r>
                          <a:rPr lang="en-US" altLang="zh-CN" sz="2800" b="0" i="1" smtClean="0">
                            <a:solidFill>
                              <a:srgbClr val="000000"/>
                            </a:solidFill>
                            <a:latin typeface="Cambria Math" panose="02040503050406030204" pitchFamily="18" charset="0"/>
                            <a:cs typeface="Times New Roman" pitchFamily="18" charset="0"/>
                          </a:rPr>
                          <m:t>𝑦</m:t>
                        </m:r>
                      </m:e>
                      <m:sub>
                        <m:r>
                          <a:rPr lang="en-US" altLang="zh-CN" sz="2800" b="0" i="1" smtClean="0">
                            <a:solidFill>
                              <a:srgbClr val="000000"/>
                            </a:solidFill>
                            <a:latin typeface="Cambria Math" panose="02040503050406030204" pitchFamily="18" charset="0"/>
                            <a:cs typeface="Times New Roman" pitchFamily="18" charset="0"/>
                          </a:rPr>
                          <m:t>𝑗</m:t>
                        </m:r>
                      </m:sub>
                    </m:sSub>
                    <m:r>
                      <a:rPr lang="en-US" altLang="zh-CN" sz="2800" b="0" i="1" smtClean="0">
                        <a:solidFill>
                          <a:srgbClr val="000000"/>
                        </a:solidFill>
                        <a:latin typeface="Cambria Math" panose="02040503050406030204" pitchFamily="18" charset="0"/>
                        <a:cs typeface="Times New Roman" pitchFamily="18" charset="0"/>
                      </a:rPr>
                      <m:t> </m:t>
                    </m:r>
                  </m:oMath>
                </a14:m>
                <a:r>
                  <a:rPr lang="zh-CN" altLang="en-US" sz="2800" dirty="0">
                    <a:solidFill>
                      <a:srgbClr val="000000"/>
                    </a:solidFill>
                    <a:latin typeface="Cambria Math" panose="02040503050406030204" pitchFamily="18" charset="0"/>
                    <a:cs typeface="Times New Roman" pitchFamily="18" charset="0"/>
                  </a:rPr>
                  <a:t>的联合概率为</a:t>
                </a:r>
                <a14:m>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 </m:t>
                    </m:r>
                    <m:r>
                      <a:rPr lang="en-US" altLang="zh-CN" sz="2800" b="0" i="1" smtClean="0">
                        <a:solidFill>
                          <a:srgbClr val="000000"/>
                        </a:solidFill>
                        <a:latin typeface="Cambria Math" panose="02040503050406030204" pitchFamily="18" charset="0"/>
                        <a:cs typeface="Times New Roman" pitchFamily="18" charset="0"/>
                      </a:rPr>
                      <m:t>𝑝</m:t>
                    </m:r>
                    <m:d>
                      <m:dPr>
                        <m:ctrlPr>
                          <a:rPr lang="en-US" altLang="zh-CN" sz="2800" i="1" smtClean="0">
                            <a:solidFill>
                              <a:srgbClr val="000000"/>
                            </a:solidFill>
                            <a:latin typeface="Cambria Math" panose="02040503050406030204" pitchFamily="18" charset="0"/>
                            <a:cs typeface="Times New Roman" pitchFamily="18" charset="0"/>
                          </a:rPr>
                        </m:ctrlPr>
                      </m:dPr>
                      <m:e>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𝑥</m:t>
                            </m:r>
                          </m:e>
                          <m:sub>
                            <m:r>
                              <a:rPr lang="en-US" altLang="zh-CN" sz="2800" b="0" i="1" smtClean="0">
                                <a:solidFill>
                                  <a:srgbClr val="000000"/>
                                </a:solidFill>
                                <a:latin typeface="Cambria Math" panose="02040503050406030204" pitchFamily="18" charset="0"/>
                                <a:cs typeface="Times New Roman" pitchFamily="18" charset="0"/>
                              </a:rPr>
                              <m:t>𝑖</m:t>
                            </m:r>
                          </m:sub>
                        </m:sSub>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𝑦</m:t>
                            </m:r>
                          </m:e>
                          <m:sub>
                            <m:r>
                              <a:rPr lang="en-US" altLang="zh-CN" sz="2800" b="0" i="1" smtClean="0">
                                <a:solidFill>
                                  <a:srgbClr val="000000"/>
                                </a:solidFill>
                                <a:latin typeface="Cambria Math" panose="02040503050406030204" pitchFamily="18" charset="0"/>
                                <a:cs typeface="Times New Roman" pitchFamily="18" charset="0"/>
                              </a:rPr>
                              <m:t>𝑗</m:t>
                            </m:r>
                          </m:sub>
                        </m:sSub>
                      </m:e>
                    </m:d>
                  </m:oMath>
                </a14:m>
                <a:r>
                  <a:rPr lang="zh-CN" altLang="en-US" sz="2800" dirty="0">
                    <a:solidFill>
                      <a:srgbClr val="000000"/>
                    </a:solidFill>
                    <a:latin typeface="Cambria Math" panose="02040503050406030204" pitchFamily="18" charset="0"/>
                    <a:cs typeface="Times New Roman" pitchFamily="18" charset="0"/>
                  </a:rPr>
                  <a:t>，则它们的联合自信息定义为</a:t>
                </a:r>
                <a:endParaRPr lang="en-US" altLang="zh-CN" sz="2800" dirty="0">
                  <a:solidFill>
                    <a:srgbClr val="000000"/>
                  </a:solidFill>
                  <a:latin typeface="Cambria Math" panose="02040503050406030204" pitchFamily="18" charset="0"/>
                  <a:cs typeface="Times New Roman" pitchFamily="18" charset="0"/>
                </a:endParaRPr>
              </a:p>
              <a:p>
                <a:pPr eaLnBrk="1" hangingPunct="1">
                  <a:lnSpc>
                    <a:spcPct val="150000"/>
                  </a:lnSpc>
                  <a:defRPr/>
                </a:pPr>
                <a14:m>
                  <m:oMathPara xmlns:m="http://schemas.openxmlformats.org/officeDocument/2006/math">
                    <m:oMathParaPr>
                      <m:jc m:val="centerGroup"/>
                    </m:oMathParaPr>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 </m:t>
                      </m:r>
                      <m:r>
                        <a:rPr lang="en-US" altLang="zh-CN" sz="2800" b="0" i="1" smtClean="0">
                          <a:solidFill>
                            <a:srgbClr val="000000"/>
                          </a:solidFill>
                          <a:latin typeface="Cambria Math" panose="02040503050406030204" pitchFamily="18" charset="0"/>
                          <a:cs typeface="Times New Roman" pitchFamily="18" charset="0"/>
                        </a:rPr>
                        <m:t>𝐼</m:t>
                      </m:r>
                      <m:d>
                        <m:dPr>
                          <m:ctrlPr>
                            <a:rPr lang="en-US" altLang="zh-CN" sz="2800" i="1" smtClean="0">
                              <a:solidFill>
                                <a:srgbClr val="000000"/>
                              </a:solidFill>
                              <a:latin typeface="Cambria Math" panose="02040503050406030204" pitchFamily="18" charset="0"/>
                              <a:cs typeface="Times New Roman" pitchFamily="18" charset="0"/>
                            </a:rPr>
                          </m:ctrlPr>
                        </m:dPr>
                        <m:e>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𝑥</m:t>
                              </m:r>
                            </m:e>
                            <m:sub>
                              <m:r>
                                <a:rPr lang="en-US" altLang="zh-CN" sz="2800" b="0" i="1" smtClean="0">
                                  <a:solidFill>
                                    <a:srgbClr val="000000"/>
                                  </a:solidFill>
                                  <a:latin typeface="Cambria Math" panose="02040503050406030204" pitchFamily="18" charset="0"/>
                                  <a:cs typeface="Times New Roman" pitchFamily="18" charset="0"/>
                                </a:rPr>
                                <m:t>𝑖</m:t>
                              </m:r>
                            </m:sub>
                          </m:sSub>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𝑦</m:t>
                              </m:r>
                            </m:e>
                            <m:sub>
                              <m:r>
                                <a:rPr lang="en-US" altLang="zh-CN" sz="2800" b="0" i="1" smtClean="0">
                                  <a:solidFill>
                                    <a:srgbClr val="000000"/>
                                  </a:solidFill>
                                  <a:latin typeface="Cambria Math" panose="02040503050406030204" pitchFamily="18" charset="0"/>
                                  <a:cs typeface="Times New Roman" pitchFamily="18" charset="0"/>
                                </a:rPr>
                                <m:t>𝑗</m:t>
                              </m:r>
                            </m:sub>
                          </m:sSub>
                        </m:e>
                      </m:d>
                      <m:r>
                        <a:rPr lang="en-US" altLang="zh-CN" sz="2800" b="0" i="1" smtClean="0">
                          <a:solidFill>
                            <a:srgbClr val="000000"/>
                          </a:solidFill>
                          <a:latin typeface="Cambria Math" panose="02040503050406030204" pitchFamily="18" charset="0"/>
                          <a:cs typeface="Times New Roman" pitchFamily="18" charset="0"/>
                        </a:rPr>
                        <m:t>=−</m:t>
                      </m:r>
                      <m:r>
                        <m:rPr>
                          <m:sty m:val="p"/>
                        </m:rPr>
                        <a:rPr lang="en-US" altLang="zh-CN" sz="2800" b="0" i="1" smtClean="0">
                          <a:solidFill>
                            <a:srgbClr val="000000"/>
                          </a:solidFill>
                          <a:latin typeface="Cambria Math" panose="02040503050406030204" pitchFamily="18" charset="0"/>
                          <a:cs typeface="Times New Roman" pitchFamily="18" charset="0"/>
                        </a:rPr>
                        <m:t>log</m:t>
                      </m:r>
                      <m:r>
                        <a:rPr lang="en-US" altLang="zh-CN" sz="2800" b="0" i="1" smtClean="0">
                          <a:solidFill>
                            <a:srgbClr val="000000"/>
                          </a:solidFill>
                          <a:latin typeface="Cambria Math" panose="02040503050406030204" pitchFamily="18" charset="0"/>
                          <a:cs typeface="Times New Roman" pitchFamily="18" charset="0"/>
                        </a:rPr>
                        <m:t> </m:t>
                      </m:r>
                      <m:r>
                        <a:rPr lang="en-US" altLang="zh-CN" sz="2800" b="0" i="1" smtClean="0">
                          <a:solidFill>
                            <a:srgbClr val="000000"/>
                          </a:solidFill>
                          <a:latin typeface="Cambria Math" panose="02040503050406030204" pitchFamily="18" charset="0"/>
                          <a:cs typeface="Times New Roman" pitchFamily="18" charset="0"/>
                        </a:rPr>
                        <m:t>𝑝</m:t>
                      </m:r>
                      <m:d>
                        <m:dPr>
                          <m:ctrlPr>
                            <a:rPr lang="en-US" altLang="zh-CN" sz="2800" i="1" smtClean="0">
                              <a:solidFill>
                                <a:srgbClr val="000000"/>
                              </a:solidFill>
                              <a:latin typeface="Cambria Math" panose="02040503050406030204" pitchFamily="18" charset="0"/>
                              <a:cs typeface="Times New Roman" pitchFamily="18" charset="0"/>
                            </a:rPr>
                          </m:ctrlPr>
                        </m:dPr>
                        <m:e>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𝑥</m:t>
                              </m:r>
                            </m:e>
                            <m:sub>
                              <m:r>
                                <a:rPr lang="en-US" altLang="zh-CN" sz="2800" b="0" i="1" smtClean="0">
                                  <a:solidFill>
                                    <a:srgbClr val="000000"/>
                                  </a:solidFill>
                                  <a:latin typeface="Cambria Math" panose="02040503050406030204" pitchFamily="18" charset="0"/>
                                  <a:cs typeface="Times New Roman" pitchFamily="18" charset="0"/>
                                </a:rPr>
                                <m:t>𝑖</m:t>
                              </m:r>
                            </m:sub>
                          </m:sSub>
                          <m:sSub>
                            <m:sSubPr>
                              <m:ctrlPr>
                                <a:rPr lang="en-US" altLang="zh-CN" sz="2800" i="1" smtClean="0">
                                  <a:solidFill>
                                    <a:srgbClr val="000000"/>
                                  </a:solidFill>
                                  <a:latin typeface="Cambria Math" panose="02040503050406030204" pitchFamily="18" charset="0"/>
                                  <a:cs typeface="Times New Roman" pitchFamily="18" charset="0"/>
                                </a:rPr>
                              </m:ctrlPr>
                            </m:sSubPr>
                            <m:e>
                              <m:r>
                                <a:rPr lang="en-US" altLang="zh-CN" sz="2800" b="0" i="1" smtClean="0">
                                  <a:solidFill>
                                    <a:srgbClr val="000000"/>
                                  </a:solidFill>
                                  <a:latin typeface="Cambria Math" panose="02040503050406030204" pitchFamily="18" charset="0"/>
                                  <a:cs typeface="Times New Roman" pitchFamily="18" charset="0"/>
                                </a:rPr>
                                <m:t>𝑦</m:t>
                              </m:r>
                            </m:e>
                            <m:sub>
                              <m:r>
                                <a:rPr lang="en-US" altLang="zh-CN" sz="2800" b="0" i="1" smtClean="0">
                                  <a:solidFill>
                                    <a:srgbClr val="000000"/>
                                  </a:solidFill>
                                  <a:latin typeface="Cambria Math" panose="02040503050406030204" pitchFamily="18" charset="0"/>
                                  <a:cs typeface="Times New Roman" pitchFamily="18" charset="0"/>
                                </a:rPr>
                                <m:t>𝑗</m:t>
                              </m:r>
                            </m:sub>
                          </m:sSub>
                        </m:e>
                      </m:d>
                      <m:r>
                        <a:rPr lang="zh-CN" altLang="en-US" sz="2800" b="0" i="1">
                          <a:solidFill>
                            <a:srgbClr val="000000"/>
                          </a:solidFill>
                          <a:latin typeface="Cambria Math" panose="02040503050406030204" pitchFamily="18" charset="0"/>
                          <a:cs typeface="Times New Roman" pitchFamily="18" charset="0"/>
                        </a:rPr>
                        <m:t>。</m:t>
                      </m:r>
                    </m:oMath>
                  </m:oMathPara>
                </a14:m>
                <a:endParaRPr lang="en-US" altLang="zh-CN" sz="2800" i="1" dirty="0">
                  <a:solidFill>
                    <a:srgbClr val="000000"/>
                  </a:solidFill>
                  <a:latin typeface="Cambria Math" panose="02040503050406030204" pitchFamily="18" charset="0"/>
                  <a:cs typeface="Times New Roman" pitchFamily="18" charset="0"/>
                </a:endParaRPr>
              </a:p>
            </p:txBody>
          </p:sp>
        </mc:Choice>
        <mc:Fallback xmlns="">
          <p:sp>
            <p:nvSpPr>
              <p:cNvPr id="3" name="Rectangle 2">
                <a:hlinkClick r:id="rId4" action="ppaction://hlinksldjump"/>
                <a:extLst>
                  <a:ext uri="{FF2B5EF4-FFF2-40B4-BE49-F238E27FC236}">
                    <a16:creationId xmlns:a16="http://schemas.microsoft.com/office/drawing/2014/main" id="{CBD7D868-C3A4-4A6D-F12E-4875F7CA41CD}"/>
                  </a:ext>
                </a:extLst>
              </p:cNvPr>
              <p:cNvSpPr>
                <a:spLocks noRot="1" noChangeAspect="1" noMove="1" noResize="1" noEditPoints="1" noAdjustHandles="1" noChangeArrowheads="1" noChangeShapeType="1" noTextEdit="1"/>
              </p:cNvSpPr>
              <p:nvPr/>
            </p:nvSpPr>
            <p:spPr bwMode="auto">
              <a:xfrm>
                <a:off x="376347" y="1475696"/>
                <a:ext cx="8391305" cy="3538918"/>
              </a:xfrm>
              <a:prstGeom prst="rect">
                <a:avLst/>
              </a:prstGeom>
              <a:blipFill>
                <a:blip r:embed="rId5"/>
                <a:stretch>
                  <a:fillRect l="-1526" r="-5378"/>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FB8C0D58-3243-7A7C-9522-46EF450E170A}"/>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3 </a:t>
            </a:r>
            <a:r>
              <a:rPr lang="zh-CN" altLang="en-US"/>
              <a:t>联合熵与条件熵（续）</a:t>
            </a:r>
            <a:endParaRPr lang="en-US" altLang="zh-CN"/>
          </a:p>
        </p:txBody>
      </p:sp>
      <p:sp>
        <p:nvSpPr>
          <p:cNvPr id="2" name="Rectangle 2">
            <a:hlinkClick r:id="rId3" action="ppaction://hlinksldjump"/>
            <a:extLst>
              <a:ext uri="{FF2B5EF4-FFF2-40B4-BE49-F238E27FC236}">
                <a16:creationId xmlns:a16="http://schemas.microsoft.com/office/drawing/2014/main" id="{79E76F19-EA48-9C6D-773A-E718E2D4FC60}"/>
              </a:ext>
            </a:extLst>
          </p:cNvPr>
          <p:cNvSpPr>
            <a:spLocks noChangeArrowheads="1"/>
          </p:cNvSpPr>
          <p:nvPr/>
        </p:nvSpPr>
        <p:spPr bwMode="auto">
          <a:xfrm>
            <a:off x="376238" y="784225"/>
            <a:ext cx="8391525" cy="3970338"/>
          </a:xfrm>
          <a:prstGeom prst="rect">
            <a:avLst/>
          </a:prstGeom>
          <a:noFill/>
          <a:ln w="9525">
            <a:noFill/>
            <a:miter lim="800000"/>
            <a:headEnd/>
            <a:tailEnd/>
          </a:ln>
          <a:effectLst/>
        </p:spPr>
        <p:txBody>
          <a:bodyPr>
            <a:spAutoFit/>
          </a:bodyPr>
          <a:lstStyle/>
          <a:p>
            <a:pPr eaLnBrk="1" hangingPunct="1">
              <a:lnSpc>
                <a:spcPct val="150000"/>
              </a:lnSpc>
              <a:defRPr/>
            </a:pPr>
            <a:r>
              <a:rPr lang="zh-CN" altLang="en-US" sz="2800" b="1" dirty="0">
                <a:latin typeface="+mn-ea"/>
                <a:ea typeface="+mn-ea"/>
                <a:cs typeface="Tahoma"/>
              </a:rPr>
              <a:t>例子</a:t>
            </a:r>
            <a:r>
              <a:rPr lang="en-US" altLang="zh-CN" sz="2800" b="1" dirty="0">
                <a:latin typeface="+mn-ea"/>
                <a:ea typeface="+mn-ea"/>
                <a:cs typeface="Times New Roman" pitchFamily="18" charset="0"/>
              </a:rPr>
              <a:t>4 </a:t>
            </a:r>
            <a:r>
              <a:rPr lang="zh-CN" altLang="en-US" sz="2800" dirty="0">
                <a:solidFill>
                  <a:srgbClr val="000000"/>
                </a:solidFill>
                <a:latin typeface="Times New Roman" pitchFamily="18" charset="0"/>
                <a:cs typeface="Times New Roman" pitchFamily="18" charset="0"/>
              </a:rPr>
              <a:t>已知箱中有</a:t>
            </a:r>
            <a:r>
              <a:rPr lang="en-US" altLang="zh-CN" sz="2800" dirty="0">
                <a:solidFill>
                  <a:srgbClr val="000000"/>
                </a:solidFill>
                <a:latin typeface="Times New Roman" pitchFamily="18" charset="0"/>
                <a:cs typeface="Times New Roman" pitchFamily="18" charset="0"/>
              </a:rPr>
              <a:t>10</a:t>
            </a:r>
            <a:r>
              <a:rPr lang="zh-CN" altLang="en-US" sz="2800" dirty="0">
                <a:solidFill>
                  <a:srgbClr val="000000"/>
                </a:solidFill>
                <a:latin typeface="Times New Roman" pitchFamily="18" charset="0"/>
                <a:cs typeface="Times New Roman" pitchFamily="18" charset="0"/>
              </a:rPr>
              <a:t>个红球，</a:t>
            </a:r>
            <a:r>
              <a:rPr lang="en-US" altLang="zh-CN" sz="2800" dirty="0">
                <a:solidFill>
                  <a:srgbClr val="000000"/>
                </a:solidFill>
                <a:latin typeface="Times New Roman" pitchFamily="18" charset="0"/>
                <a:cs typeface="Times New Roman" pitchFamily="18" charset="0"/>
              </a:rPr>
              <a:t>5</a:t>
            </a:r>
            <a:r>
              <a:rPr lang="zh-CN" altLang="en-US" sz="2800" dirty="0">
                <a:solidFill>
                  <a:srgbClr val="000000"/>
                </a:solidFill>
                <a:latin typeface="Times New Roman" pitchFamily="18" charset="0"/>
                <a:cs typeface="Times New Roman" pitchFamily="18" charset="0"/>
              </a:rPr>
              <a:t>个白球。现从箱中随机地取出两个球。求</a:t>
            </a:r>
            <a:endParaRPr lang="en-US" altLang="zh-CN" sz="2800" dirty="0">
              <a:solidFill>
                <a:srgbClr val="000000"/>
              </a:solidFill>
              <a:latin typeface="Times New Roman" pitchFamily="18" charset="0"/>
              <a:cs typeface="Times New Roman" pitchFamily="18" charset="0"/>
            </a:endParaRPr>
          </a:p>
          <a:p>
            <a:pPr marL="514350" indent="-514350" eaLnBrk="1" hangingPunct="1">
              <a:lnSpc>
                <a:spcPct val="150000"/>
              </a:lnSpc>
              <a:buFont typeface="+mj-lt"/>
              <a:buAutoNum type="arabicPeriod"/>
              <a:defRPr/>
            </a:pPr>
            <a:r>
              <a:rPr lang="zh-CN" altLang="en-US" sz="2800" dirty="0">
                <a:solidFill>
                  <a:srgbClr val="000000"/>
                </a:solidFill>
                <a:latin typeface="Cambria Math" panose="02040503050406030204" pitchFamily="18" charset="0"/>
                <a:cs typeface="Times New Roman" pitchFamily="18" charset="0"/>
              </a:rPr>
              <a:t>事件“两个球中有红、白各一个”的不确定性；</a:t>
            </a:r>
            <a:endParaRPr lang="en-US" altLang="zh-CN" sz="2800" dirty="0">
              <a:solidFill>
                <a:srgbClr val="000000"/>
              </a:solidFill>
              <a:latin typeface="Cambria Math" panose="02040503050406030204" pitchFamily="18" charset="0"/>
              <a:cs typeface="Times New Roman" pitchFamily="18" charset="0"/>
            </a:endParaRPr>
          </a:p>
          <a:p>
            <a:pPr marL="514350" indent="-514350" eaLnBrk="1" hangingPunct="1">
              <a:lnSpc>
                <a:spcPct val="150000"/>
              </a:lnSpc>
              <a:buFont typeface="+mj-lt"/>
              <a:buAutoNum type="arabicPeriod"/>
              <a:defRPr/>
            </a:pPr>
            <a:r>
              <a:rPr lang="zh-CN" altLang="en-US" sz="2800" dirty="0">
                <a:solidFill>
                  <a:srgbClr val="000000"/>
                </a:solidFill>
                <a:latin typeface="Cambria Math" panose="02040503050406030204" pitchFamily="18" charset="0"/>
                <a:cs typeface="Times New Roman" pitchFamily="18" charset="0"/>
              </a:rPr>
              <a:t>事件“两个球都是白球”所提供的信息量；</a:t>
            </a:r>
            <a:endParaRPr lang="en-US" altLang="zh-CN" sz="2800" dirty="0">
              <a:solidFill>
                <a:srgbClr val="000000"/>
              </a:solidFill>
              <a:latin typeface="Cambria Math" panose="02040503050406030204" pitchFamily="18" charset="0"/>
              <a:cs typeface="Times New Roman" pitchFamily="18" charset="0"/>
            </a:endParaRPr>
          </a:p>
          <a:p>
            <a:pPr marL="514350" indent="-514350" eaLnBrk="1" hangingPunct="1">
              <a:lnSpc>
                <a:spcPct val="150000"/>
              </a:lnSpc>
              <a:buFont typeface="+mj-lt"/>
              <a:buAutoNum type="arabicPeriod"/>
              <a:defRPr/>
            </a:pPr>
            <a:r>
              <a:rPr lang="zh-CN" altLang="en-US" sz="2800" dirty="0">
                <a:solidFill>
                  <a:srgbClr val="000000"/>
                </a:solidFill>
                <a:latin typeface="Cambria Math" panose="02040503050406030204" pitchFamily="18" charset="0"/>
                <a:cs typeface="Times New Roman" pitchFamily="18" charset="0"/>
              </a:rPr>
              <a:t>事件“两个球都是白球”与“两个球都是红球”的发生，哪个事件更难猜测？</a:t>
            </a:r>
            <a:endParaRPr lang="en-US" altLang="zh-CN" sz="2800" dirty="0">
              <a:solidFill>
                <a:srgbClr val="000000"/>
              </a:solidFill>
              <a:latin typeface="Cambria Math" panose="02040503050406030204"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B63B3939-944F-F994-9DD7-A3B0A8B6DC1A}"/>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3 </a:t>
            </a:r>
            <a:r>
              <a:rPr lang="zh-CN" altLang="en-US"/>
              <a:t>联合熵与条件熵（续）</a:t>
            </a:r>
            <a:endParaRPr lang="en-US" altLang="zh-CN"/>
          </a:p>
        </p:txBody>
      </p:sp>
      <mc:AlternateContent xmlns:mc="http://schemas.openxmlformats.org/markup-compatibility/2006" xmlns:a14="http://schemas.microsoft.com/office/drawing/2010/main">
        <mc:Choice Requires="a14">
          <p:sp>
            <p:nvSpPr>
              <p:cNvPr id="3" name="Rectangle 2">
                <a:hlinkClick r:id="rId3" action="ppaction://hlinksldjump"/>
                <a:extLst>
                  <a:ext uri="{FF2B5EF4-FFF2-40B4-BE49-F238E27FC236}">
                    <a16:creationId xmlns:a16="http://schemas.microsoft.com/office/drawing/2014/main" id="{41E1CDD1-5A72-C6C3-9981-A579C99BD25C}"/>
                  </a:ext>
                </a:extLst>
              </p:cNvPr>
              <p:cNvSpPr>
                <a:spLocks noChangeArrowheads="1"/>
              </p:cNvSpPr>
              <p:nvPr/>
            </p:nvSpPr>
            <p:spPr bwMode="auto">
              <a:xfrm>
                <a:off x="376347" y="914400"/>
                <a:ext cx="8391305" cy="4120872"/>
              </a:xfrm>
              <a:prstGeom prst="rect">
                <a:avLst/>
              </a:prstGeom>
              <a:noFill/>
              <a:ln w="9525">
                <a:noFill/>
                <a:miter lim="800000"/>
                <a:headEnd/>
                <a:tailEnd/>
              </a:ln>
              <a:effectLst/>
            </p:spPr>
            <p:txBody>
              <a:bodyPr wrap="square">
                <a:spAutoFit/>
              </a:bodyPr>
              <a:lstStyle/>
              <a:p>
                <a:pPr eaLnBrk="1" hangingPunct="1">
                  <a:lnSpc>
                    <a:spcPct val="150000"/>
                  </a:lnSpc>
                  <a:defRPr/>
                </a:pPr>
                <a:r>
                  <a:rPr lang="zh-CN" altLang="en-US" sz="2800" b="1" dirty="0">
                    <a:solidFill>
                      <a:srgbClr val="000000"/>
                    </a:solidFill>
                    <a:latin typeface="+mn-ea"/>
                    <a:ea typeface="+mn-ea"/>
                    <a:cs typeface="Tahoma"/>
                  </a:rPr>
                  <a:t>例子</a:t>
                </a:r>
                <a:r>
                  <a:rPr lang="en-US" altLang="zh-CN" sz="2800" b="1" dirty="0">
                    <a:solidFill>
                      <a:srgbClr val="000000"/>
                    </a:solidFill>
                    <a:latin typeface="+mn-ea"/>
                    <a:ea typeface="+mn-ea"/>
                    <a:cs typeface="Times New Roman" pitchFamily="18" charset="0"/>
                  </a:rPr>
                  <a:t>4 </a:t>
                </a:r>
                <a:r>
                  <a:rPr lang="zh-CN" altLang="en-US" sz="2800" dirty="0">
                    <a:solidFill>
                      <a:srgbClr val="000000"/>
                    </a:solidFill>
                    <a:latin typeface="Times New Roman" pitchFamily="18" charset="0"/>
                    <a:cs typeface="Times New Roman" pitchFamily="18" charset="0"/>
                  </a:rPr>
                  <a:t>（续）</a:t>
                </a:r>
                <a:r>
                  <a:rPr lang="en-US" altLang="zh-CN" sz="2800" dirty="0">
                    <a:solidFill>
                      <a:srgbClr val="000000"/>
                    </a:solidFill>
                    <a:latin typeface="宋体" pitchFamily="2" charset="-122"/>
                    <a:cs typeface="Tahoma"/>
                  </a:rPr>
                  <a:t>1. </a:t>
                </a:r>
                <a:r>
                  <a:rPr lang="zh-CN" altLang="en-US" sz="2800" dirty="0">
                    <a:solidFill>
                      <a:srgbClr val="000000"/>
                    </a:solidFill>
                    <a:latin typeface="Cambria Math" panose="02040503050406030204" pitchFamily="18" charset="0"/>
                    <a:cs typeface="Times New Roman" pitchFamily="18" charset="0"/>
                  </a:rPr>
                  <a:t>事件“两个球中有红、白各一个”的不确定性；</a:t>
                </a:r>
                <a:endParaRPr lang="en-US" altLang="zh-CN" sz="2800" dirty="0">
                  <a:solidFill>
                    <a:srgbClr val="000000"/>
                  </a:solidFill>
                  <a:latin typeface="Cambria Math" panose="02040503050406030204" pitchFamily="18" charset="0"/>
                  <a:cs typeface="Times New Roman" pitchFamily="18" charset="0"/>
                </a:endParaRPr>
              </a:p>
              <a:p>
                <a:pPr eaLnBrk="1" hangingPunct="1">
                  <a:lnSpc>
                    <a:spcPct val="150000"/>
                  </a:lnSpc>
                  <a:defRPr/>
                </a:pPr>
                <a14:m>
                  <m:oMathPara xmlns:m="http://schemas.openxmlformats.org/officeDocument/2006/math">
                    <m:oMathParaPr>
                      <m:jc m:val="centerGroup"/>
                    </m:oMathParaPr>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𝑝</m:t>
                      </m:r>
                      <m:d>
                        <m:dPr>
                          <m:ctrlPr>
                            <a:rPr lang="en-US" altLang="zh-CN" sz="2800" i="1" smtClean="0">
                              <a:solidFill>
                                <a:srgbClr val="000000"/>
                              </a:solidFill>
                              <a:latin typeface="Cambria Math" panose="02040503050406030204" pitchFamily="18" charset="0"/>
                              <a:cs typeface="Times New Roman" pitchFamily="18" charset="0"/>
                            </a:rPr>
                          </m:ctrlPr>
                        </m:dPr>
                        <m:e>
                          <m:r>
                            <a:rPr lang="en-US" altLang="zh-CN" sz="2800" b="0" i="1" smtClean="0">
                              <a:solidFill>
                                <a:srgbClr val="000000"/>
                              </a:solidFill>
                              <a:latin typeface="Cambria Math" panose="02040503050406030204" pitchFamily="18" charset="0"/>
                              <a:cs typeface="Times New Roman" pitchFamily="18" charset="0"/>
                            </a:rPr>
                            <m:t>1</m:t>
                          </m:r>
                          <m:r>
                            <a:rPr lang="zh-CN" altLang="en-US" sz="2800" i="1">
                              <a:solidFill>
                                <a:srgbClr val="000000"/>
                              </a:solidFill>
                              <a:latin typeface="Cambria Math" panose="02040503050406030204" pitchFamily="18" charset="0"/>
                              <a:cs typeface="Times New Roman" pitchFamily="18" charset="0"/>
                            </a:rPr>
                            <m:t>，</m:t>
                          </m:r>
                          <m:r>
                            <a:rPr lang="en-US" altLang="zh-CN" sz="2800" b="0" i="1" smtClean="0">
                              <a:solidFill>
                                <a:srgbClr val="000000"/>
                              </a:solidFill>
                              <a:latin typeface="Cambria Math" panose="02040503050406030204" pitchFamily="18" charset="0"/>
                              <a:cs typeface="Times New Roman" pitchFamily="18" charset="0"/>
                            </a:rPr>
                            <m:t>1</m:t>
                          </m:r>
                        </m:e>
                      </m:d>
                      <m:r>
                        <a:rPr lang="en-US" altLang="zh-CN" sz="2800" b="0" i="1" smtClean="0">
                          <a:solidFill>
                            <a:srgbClr val="000000"/>
                          </a:solidFill>
                          <a:latin typeface="Cambria Math" panose="02040503050406030204" pitchFamily="18" charset="0"/>
                          <a:cs typeface="Times New Roman" pitchFamily="18" charset="0"/>
                        </a:rPr>
                        <m:t>=</m:t>
                      </m:r>
                      <m:f>
                        <m:fPr>
                          <m:ctrlPr>
                            <a:rPr lang="en-US" altLang="zh-CN" sz="2800" i="1" smtClean="0">
                              <a:solidFill>
                                <a:srgbClr val="000000"/>
                              </a:solidFill>
                              <a:latin typeface="Cambria Math" panose="02040503050406030204" pitchFamily="18" charset="0"/>
                              <a:cs typeface="Times New Roman" pitchFamily="18" charset="0"/>
                            </a:rPr>
                          </m:ctrlPr>
                        </m:fPr>
                        <m:num>
                          <m:sSubSup>
                            <m:sSubSupPr>
                              <m:ctrlPr>
                                <a:rPr lang="en-US" altLang="zh-CN" sz="2800" i="1" smtClean="0">
                                  <a:solidFill>
                                    <a:srgbClr val="000000"/>
                                  </a:solidFill>
                                  <a:latin typeface="Cambria Math" panose="02040503050406030204" pitchFamily="18" charset="0"/>
                                  <a:cs typeface="Times New Roman" pitchFamily="18" charset="0"/>
                                </a:rPr>
                              </m:ctrlPr>
                            </m:sSubSupPr>
                            <m:e>
                              <m:r>
                                <m:rPr>
                                  <m:sty m:val="p"/>
                                </m:rPr>
                                <a:rPr lang="en-US" altLang="zh-CN" sz="2800" b="0" i="1" smtClean="0">
                                  <a:solidFill>
                                    <a:srgbClr val="000000"/>
                                  </a:solidFill>
                                  <a:latin typeface="Cambria Math" panose="02040503050406030204" pitchFamily="18" charset="0"/>
                                  <a:cs typeface="Times New Roman" pitchFamily="18" charset="0"/>
                                </a:rPr>
                                <m:t>C</m:t>
                              </m:r>
                            </m:e>
                            <m:sub>
                              <m:r>
                                <a:rPr lang="en-US" altLang="zh-CN" sz="2800" b="0" i="1" smtClean="0">
                                  <a:solidFill>
                                    <a:srgbClr val="000000"/>
                                  </a:solidFill>
                                  <a:latin typeface="Cambria Math" panose="02040503050406030204" pitchFamily="18" charset="0"/>
                                  <a:cs typeface="Times New Roman" pitchFamily="18" charset="0"/>
                                </a:rPr>
                                <m:t>10</m:t>
                              </m:r>
                            </m:sub>
                            <m:sup>
                              <m:r>
                                <a:rPr lang="en-US" altLang="zh-CN" sz="2800" b="0" i="1" smtClean="0">
                                  <a:solidFill>
                                    <a:srgbClr val="000000"/>
                                  </a:solidFill>
                                  <a:latin typeface="Cambria Math" panose="02040503050406030204" pitchFamily="18" charset="0"/>
                                  <a:cs typeface="Times New Roman" pitchFamily="18" charset="0"/>
                                </a:rPr>
                                <m:t>1</m:t>
                              </m:r>
                            </m:sup>
                          </m:sSubSup>
                          <m:sSubSup>
                            <m:sSubSupPr>
                              <m:ctrlPr>
                                <a:rPr lang="en-US" altLang="zh-CN" sz="2800" i="1">
                                  <a:solidFill>
                                    <a:srgbClr val="000000"/>
                                  </a:solidFill>
                                  <a:latin typeface="Cambria Math" panose="02040503050406030204" pitchFamily="18" charset="0"/>
                                  <a:cs typeface="Times New Roman" pitchFamily="18" charset="0"/>
                                </a:rPr>
                              </m:ctrlPr>
                            </m:sSubSupPr>
                            <m:e>
                              <m:r>
                                <m:rPr>
                                  <m:sty m:val="p"/>
                                </m:rPr>
                                <a:rPr lang="en-US" altLang="zh-CN" sz="2800" b="0" i="1" smtClean="0">
                                  <a:solidFill>
                                    <a:srgbClr val="000000"/>
                                  </a:solidFill>
                                  <a:latin typeface="Cambria Math" panose="02040503050406030204" pitchFamily="18" charset="0"/>
                                  <a:cs typeface="Times New Roman" pitchFamily="18" charset="0"/>
                                </a:rPr>
                                <m:t>C</m:t>
                              </m:r>
                            </m:e>
                            <m:sub>
                              <m:r>
                                <a:rPr lang="en-US" altLang="zh-CN" sz="2800" b="0" i="1" smtClean="0">
                                  <a:solidFill>
                                    <a:srgbClr val="000000"/>
                                  </a:solidFill>
                                  <a:latin typeface="Cambria Math" panose="02040503050406030204" pitchFamily="18" charset="0"/>
                                  <a:cs typeface="Times New Roman" pitchFamily="18" charset="0"/>
                                </a:rPr>
                                <m:t>5</m:t>
                              </m:r>
                            </m:sub>
                            <m:sup>
                              <m:r>
                                <a:rPr lang="en-US" altLang="zh-CN" sz="2800" b="0" i="1" smtClean="0">
                                  <a:solidFill>
                                    <a:srgbClr val="000000"/>
                                  </a:solidFill>
                                  <a:latin typeface="Cambria Math" panose="02040503050406030204" pitchFamily="18" charset="0"/>
                                  <a:cs typeface="Times New Roman" pitchFamily="18" charset="0"/>
                                </a:rPr>
                                <m:t>1</m:t>
                              </m:r>
                            </m:sup>
                          </m:sSubSup>
                        </m:num>
                        <m:den>
                          <m:sSubSup>
                            <m:sSubSupPr>
                              <m:ctrlPr>
                                <a:rPr lang="en-US" altLang="zh-CN" sz="2800" i="1">
                                  <a:solidFill>
                                    <a:srgbClr val="000000"/>
                                  </a:solidFill>
                                  <a:latin typeface="Cambria Math" panose="02040503050406030204" pitchFamily="18" charset="0"/>
                                  <a:cs typeface="Times New Roman" pitchFamily="18" charset="0"/>
                                </a:rPr>
                              </m:ctrlPr>
                            </m:sSubSupPr>
                            <m:e>
                              <m:r>
                                <m:rPr>
                                  <m:sty m:val="p"/>
                                </m:rPr>
                                <a:rPr lang="en-US" altLang="zh-CN" sz="2800" b="0" i="1" smtClean="0">
                                  <a:solidFill>
                                    <a:srgbClr val="000000"/>
                                  </a:solidFill>
                                  <a:latin typeface="Cambria Math" panose="02040503050406030204" pitchFamily="18" charset="0"/>
                                  <a:cs typeface="Times New Roman" pitchFamily="18" charset="0"/>
                                </a:rPr>
                                <m:t>C</m:t>
                              </m:r>
                            </m:e>
                            <m:sub>
                              <m:r>
                                <a:rPr lang="en-US" altLang="zh-CN" sz="2800" b="0" i="1" smtClean="0">
                                  <a:solidFill>
                                    <a:srgbClr val="000000"/>
                                  </a:solidFill>
                                  <a:latin typeface="Cambria Math" panose="02040503050406030204" pitchFamily="18" charset="0"/>
                                  <a:cs typeface="Times New Roman" pitchFamily="18" charset="0"/>
                                </a:rPr>
                                <m:t>15</m:t>
                              </m:r>
                            </m:sub>
                            <m:sup>
                              <m:r>
                                <a:rPr lang="en-US" altLang="zh-CN" sz="2800" b="0" i="1" smtClean="0">
                                  <a:solidFill>
                                    <a:srgbClr val="000000"/>
                                  </a:solidFill>
                                  <a:latin typeface="Cambria Math" panose="02040503050406030204" pitchFamily="18" charset="0"/>
                                  <a:cs typeface="Times New Roman" pitchFamily="18" charset="0"/>
                                </a:rPr>
                                <m:t>2</m:t>
                              </m:r>
                            </m:sup>
                          </m:sSubSup>
                        </m:den>
                      </m:f>
                      <m:r>
                        <a:rPr lang="en-US" altLang="zh-CN" sz="2800" b="0" i="1" smtClean="0">
                          <a:solidFill>
                            <a:srgbClr val="000000"/>
                          </a:solidFill>
                          <a:latin typeface="Cambria Math" panose="02040503050406030204" pitchFamily="18" charset="0"/>
                          <a:cs typeface="Times New Roman" pitchFamily="18" charset="0"/>
                        </a:rPr>
                        <m:t>=</m:t>
                      </m:r>
                      <m:f>
                        <m:fPr>
                          <m:ctrlPr>
                            <a:rPr lang="en-US" altLang="zh-CN" sz="2800" i="1">
                              <a:solidFill>
                                <a:srgbClr val="000000"/>
                              </a:solidFill>
                              <a:latin typeface="Cambria Math" panose="02040503050406030204" pitchFamily="18" charset="0"/>
                              <a:cs typeface="Times New Roman" pitchFamily="18" charset="0"/>
                            </a:rPr>
                          </m:ctrlPr>
                        </m:fPr>
                        <m:num>
                          <m:r>
                            <a:rPr lang="en-US" altLang="zh-CN" sz="2800" b="0" i="1" smtClean="0">
                              <a:solidFill>
                                <a:srgbClr val="000000"/>
                              </a:solidFill>
                              <a:latin typeface="Cambria Math" panose="02040503050406030204" pitchFamily="18" charset="0"/>
                              <a:cs typeface="Times New Roman" pitchFamily="18" charset="0"/>
                            </a:rPr>
                            <m:t>50</m:t>
                          </m:r>
                        </m:num>
                        <m:den>
                          <m:r>
                            <a:rPr lang="en-US" altLang="zh-CN" sz="2800" b="0" i="1" smtClean="0">
                              <a:solidFill>
                                <a:srgbClr val="000000"/>
                              </a:solidFill>
                              <a:latin typeface="Cambria Math" panose="02040503050406030204" pitchFamily="18" charset="0"/>
                              <a:cs typeface="Times New Roman" pitchFamily="18" charset="0"/>
                            </a:rPr>
                            <m:t>105</m:t>
                          </m:r>
                        </m:den>
                      </m:f>
                      <m:r>
                        <a:rPr lang="en-US" altLang="zh-CN" sz="2800" b="0" i="1" smtClean="0">
                          <a:solidFill>
                            <a:srgbClr val="000000"/>
                          </a:solidFill>
                          <a:latin typeface="Cambria Math" panose="02040503050406030204" pitchFamily="18" charset="0"/>
                          <a:cs typeface="Times New Roman" pitchFamily="18" charset="0"/>
                        </a:rPr>
                        <m:t>=</m:t>
                      </m:r>
                      <m:f>
                        <m:fPr>
                          <m:ctrlPr>
                            <a:rPr lang="en-US" altLang="zh-CN" sz="2800" i="1" smtClean="0">
                              <a:solidFill>
                                <a:srgbClr val="000000"/>
                              </a:solidFill>
                              <a:latin typeface="Cambria Math" panose="02040503050406030204" pitchFamily="18" charset="0"/>
                              <a:cs typeface="Times New Roman" pitchFamily="18" charset="0"/>
                            </a:rPr>
                          </m:ctrlPr>
                        </m:fPr>
                        <m:num>
                          <m:r>
                            <a:rPr lang="en-US" altLang="zh-CN" sz="2800" b="0" i="1" smtClean="0">
                              <a:solidFill>
                                <a:srgbClr val="000000"/>
                              </a:solidFill>
                              <a:latin typeface="Cambria Math" panose="02040503050406030204" pitchFamily="18" charset="0"/>
                              <a:cs typeface="Times New Roman" pitchFamily="18" charset="0"/>
                            </a:rPr>
                            <m:t>10</m:t>
                          </m:r>
                        </m:num>
                        <m:den>
                          <m:r>
                            <a:rPr lang="en-US" altLang="zh-CN" sz="2800" b="0" i="1" smtClean="0">
                              <a:solidFill>
                                <a:srgbClr val="000000"/>
                              </a:solidFill>
                              <a:latin typeface="Cambria Math" panose="02040503050406030204" pitchFamily="18" charset="0"/>
                              <a:cs typeface="Times New Roman" pitchFamily="18" charset="0"/>
                            </a:rPr>
                            <m:t>21</m:t>
                          </m:r>
                        </m:den>
                      </m:f>
                      <m:r>
                        <a:rPr lang="zh-CN" altLang="en-US" sz="2800" b="0" i="1" smtClean="0">
                          <a:solidFill>
                            <a:srgbClr val="000000"/>
                          </a:solidFill>
                          <a:latin typeface="Cambria Math" panose="02040503050406030204" pitchFamily="18" charset="0"/>
                          <a:cs typeface="Times New Roman" pitchFamily="18" charset="0"/>
                        </a:rPr>
                        <m:t>，</m:t>
                      </m:r>
                      <m:r>
                        <a:rPr lang="en-US" altLang="zh-CN" sz="2800" b="0" i="1" smtClean="0">
                          <a:solidFill>
                            <a:srgbClr val="000000"/>
                          </a:solidFill>
                          <a:latin typeface="Cambria Math" panose="02040503050406030204" pitchFamily="18" charset="0"/>
                          <a:cs typeface="Times New Roman" pitchFamily="18" charset="0"/>
                        </a:rPr>
                        <m:t> </m:t>
                      </m:r>
                    </m:oMath>
                  </m:oMathPara>
                </a14:m>
                <a:endParaRPr lang="en-US" altLang="zh-CN" sz="2800" i="1" dirty="0">
                  <a:solidFill>
                    <a:srgbClr val="000000"/>
                  </a:solidFill>
                  <a:latin typeface="Cambria Math" panose="02040503050406030204" pitchFamily="18" charset="0"/>
                  <a:cs typeface="Times New Roman" pitchFamily="18" charset="0"/>
                </a:endParaRPr>
              </a:p>
              <a:p>
                <a:pPr eaLnBrk="1" hangingPunct="1">
                  <a:lnSpc>
                    <a:spcPct val="150000"/>
                  </a:lnSpc>
                  <a:defRPr/>
                </a:pPr>
                <a14:m>
                  <m:oMathPara xmlns:m="http://schemas.openxmlformats.org/officeDocument/2006/math">
                    <m:oMathParaPr>
                      <m:jc m:val="centerGroup"/>
                    </m:oMathParaPr>
                    <m:oMath xmlns:m="http://schemas.openxmlformats.org/officeDocument/2006/math">
                      <m:r>
                        <a:rPr lang="en-US" altLang="zh-CN" sz="2800" b="0" i="1" smtClean="0">
                          <a:solidFill>
                            <a:srgbClr val="000000"/>
                          </a:solidFill>
                          <a:latin typeface="Cambria Math" panose="02040503050406030204" pitchFamily="18" charset="0"/>
                          <a:cs typeface="Times New Roman" pitchFamily="18" charset="0"/>
                        </a:rPr>
                        <m:t> </m:t>
                      </m:r>
                      <m:r>
                        <a:rPr lang="en-US" altLang="zh-CN" sz="2800" b="0" i="1" smtClean="0">
                          <a:solidFill>
                            <a:srgbClr val="000000"/>
                          </a:solidFill>
                          <a:latin typeface="Cambria Math" panose="02040503050406030204" pitchFamily="18" charset="0"/>
                          <a:cs typeface="Times New Roman" pitchFamily="18" charset="0"/>
                        </a:rPr>
                        <m:t>𝐼</m:t>
                      </m:r>
                      <m:d>
                        <m:dPr>
                          <m:ctrlPr>
                            <a:rPr lang="en-US" altLang="zh-CN" sz="2800" i="1" smtClean="0">
                              <a:solidFill>
                                <a:srgbClr val="000000"/>
                              </a:solidFill>
                              <a:latin typeface="Cambria Math" panose="02040503050406030204" pitchFamily="18" charset="0"/>
                              <a:cs typeface="Times New Roman" pitchFamily="18" charset="0"/>
                            </a:rPr>
                          </m:ctrlPr>
                        </m:dPr>
                        <m:e>
                          <m:r>
                            <a:rPr lang="en-US" altLang="zh-CN" sz="2800" b="0" i="1" smtClean="0">
                              <a:solidFill>
                                <a:srgbClr val="000000"/>
                              </a:solidFill>
                              <a:latin typeface="Cambria Math" panose="02040503050406030204" pitchFamily="18" charset="0"/>
                              <a:cs typeface="Times New Roman" pitchFamily="18" charset="0"/>
                            </a:rPr>
                            <m:t>1</m:t>
                          </m:r>
                          <m:r>
                            <a:rPr lang="zh-CN" altLang="en-US" sz="2800" i="1">
                              <a:solidFill>
                                <a:srgbClr val="000000"/>
                              </a:solidFill>
                              <a:latin typeface="Cambria Math" panose="02040503050406030204" pitchFamily="18" charset="0"/>
                              <a:cs typeface="Times New Roman" pitchFamily="18" charset="0"/>
                            </a:rPr>
                            <m:t>，</m:t>
                          </m:r>
                          <m:r>
                            <a:rPr lang="en-US" altLang="zh-CN" sz="2800" b="0" i="1" smtClean="0">
                              <a:solidFill>
                                <a:srgbClr val="000000"/>
                              </a:solidFill>
                              <a:latin typeface="Cambria Math" panose="02040503050406030204" pitchFamily="18" charset="0"/>
                              <a:cs typeface="Times New Roman" pitchFamily="18" charset="0"/>
                            </a:rPr>
                            <m:t>1</m:t>
                          </m:r>
                        </m:e>
                      </m:d>
                      <m:r>
                        <a:rPr lang="en-US" altLang="zh-CN" sz="2800" b="0" i="1" smtClean="0">
                          <a:solidFill>
                            <a:srgbClr val="000000"/>
                          </a:solidFill>
                          <a:latin typeface="Cambria Math" panose="02040503050406030204" pitchFamily="18" charset="0"/>
                          <a:cs typeface="Times New Roman" pitchFamily="18" charset="0"/>
                        </a:rPr>
                        <m:t>=−</m:t>
                      </m:r>
                      <m:r>
                        <m:rPr>
                          <m:sty m:val="p"/>
                        </m:rPr>
                        <a:rPr lang="en-US" altLang="zh-CN" sz="2800" b="0" i="1" smtClean="0">
                          <a:solidFill>
                            <a:srgbClr val="000000"/>
                          </a:solidFill>
                          <a:latin typeface="Cambria Math" panose="02040503050406030204" pitchFamily="18" charset="0"/>
                          <a:cs typeface="Times New Roman" pitchFamily="18" charset="0"/>
                        </a:rPr>
                        <m:t>log</m:t>
                      </m:r>
                      <m:f>
                        <m:fPr>
                          <m:ctrlPr>
                            <a:rPr lang="en-US" altLang="zh-CN" sz="2800" i="1">
                              <a:solidFill>
                                <a:srgbClr val="000000"/>
                              </a:solidFill>
                              <a:latin typeface="Cambria Math" panose="02040503050406030204" pitchFamily="18" charset="0"/>
                              <a:cs typeface="Times New Roman" pitchFamily="18" charset="0"/>
                            </a:rPr>
                          </m:ctrlPr>
                        </m:fPr>
                        <m:num>
                          <m:r>
                            <a:rPr lang="en-US" altLang="zh-CN" sz="2800" b="0" i="1" smtClean="0">
                              <a:solidFill>
                                <a:srgbClr val="000000"/>
                              </a:solidFill>
                              <a:latin typeface="Cambria Math" panose="02040503050406030204" pitchFamily="18" charset="0"/>
                              <a:cs typeface="Times New Roman" pitchFamily="18" charset="0"/>
                            </a:rPr>
                            <m:t>10</m:t>
                          </m:r>
                        </m:num>
                        <m:den>
                          <m:r>
                            <a:rPr lang="en-US" altLang="zh-CN" sz="2800" b="0" i="1" smtClean="0">
                              <a:solidFill>
                                <a:srgbClr val="000000"/>
                              </a:solidFill>
                              <a:latin typeface="Cambria Math" panose="02040503050406030204" pitchFamily="18" charset="0"/>
                              <a:cs typeface="Times New Roman" pitchFamily="18" charset="0"/>
                            </a:rPr>
                            <m:t>21</m:t>
                          </m:r>
                        </m:den>
                      </m:f>
                      <m:r>
                        <a:rPr lang="en-US" altLang="zh-CN" sz="2800" b="0" i="1" smtClean="0">
                          <a:solidFill>
                            <a:srgbClr val="000000"/>
                          </a:solidFill>
                          <a:latin typeface="Cambria Math" panose="02040503050406030204" pitchFamily="18" charset="0"/>
                          <a:cs typeface="Times New Roman" pitchFamily="18" charset="0"/>
                        </a:rPr>
                        <m:t>=1.07</m:t>
                      </m:r>
                      <m:r>
                        <a:rPr lang="en-US" altLang="zh-CN" sz="2800" b="0" smtClean="0">
                          <a:solidFill>
                            <a:srgbClr val="000000"/>
                          </a:solidFill>
                          <a:latin typeface="Cambria Math" panose="02040503050406030204" pitchFamily="18" charset="0"/>
                          <a:cs typeface="Times New Roman" pitchFamily="18" charset="0"/>
                        </a:rPr>
                        <m:t> </m:t>
                      </m:r>
                      <m:r>
                        <m:rPr>
                          <m:sty m:val="p"/>
                        </m:rPr>
                        <a:rPr lang="en-US" altLang="zh-CN" sz="2800" b="0" i="1" smtClean="0">
                          <a:solidFill>
                            <a:srgbClr val="000000"/>
                          </a:solidFill>
                          <a:latin typeface="Cambria Math" panose="02040503050406030204" pitchFamily="18" charset="0"/>
                          <a:cs typeface="Times New Roman" pitchFamily="18" charset="0"/>
                        </a:rPr>
                        <m:t>bit</m:t>
                      </m:r>
                      <m:r>
                        <a:rPr lang="zh-CN" altLang="en-US" sz="2800" b="0" i="1" smtClean="0">
                          <a:solidFill>
                            <a:srgbClr val="000000"/>
                          </a:solidFill>
                          <a:latin typeface="Cambria Math" panose="02040503050406030204" pitchFamily="18" charset="0"/>
                          <a:cs typeface="Times New Roman" pitchFamily="18" charset="0"/>
                        </a:rPr>
                        <m:t>。</m:t>
                      </m:r>
                      <m:r>
                        <a:rPr lang="en-US" altLang="zh-CN" sz="2800" b="0" smtClean="0">
                          <a:solidFill>
                            <a:srgbClr val="000000"/>
                          </a:solidFill>
                          <a:latin typeface="Cambria Math" panose="02040503050406030204" pitchFamily="18" charset="0"/>
                          <a:cs typeface="Times New Roman" pitchFamily="18" charset="0"/>
                        </a:rPr>
                        <m:t> </m:t>
                      </m:r>
                    </m:oMath>
                  </m:oMathPara>
                </a14:m>
                <a:endParaRPr lang="en-US" altLang="zh-CN" sz="2800" dirty="0">
                  <a:solidFill>
                    <a:srgbClr val="000000"/>
                  </a:solidFill>
                  <a:latin typeface="Cambria Math" panose="02040503050406030204" pitchFamily="18" charset="0"/>
                  <a:cs typeface="Times New Roman" pitchFamily="18" charset="0"/>
                </a:endParaRPr>
              </a:p>
            </p:txBody>
          </p:sp>
        </mc:Choice>
        <mc:Fallback xmlns="">
          <p:sp>
            <p:nvSpPr>
              <p:cNvPr id="3" name="Rectangle 2">
                <a:hlinkClick r:id="rId4" action="ppaction://hlinksldjump"/>
                <a:extLst>
                  <a:ext uri="{FF2B5EF4-FFF2-40B4-BE49-F238E27FC236}">
                    <a16:creationId xmlns:a16="http://schemas.microsoft.com/office/drawing/2014/main" id="{41E1CDD1-5A72-C6C3-9981-A579C99BD25C}"/>
                  </a:ext>
                </a:extLst>
              </p:cNvPr>
              <p:cNvSpPr>
                <a:spLocks noRot="1" noChangeAspect="1" noMove="1" noResize="1" noEditPoints="1" noAdjustHandles="1" noChangeArrowheads="1" noChangeShapeType="1" noTextEdit="1"/>
              </p:cNvSpPr>
              <p:nvPr/>
            </p:nvSpPr>
            <p:spPr bwMode="auto">
              <a:xfrm>
                <a:off x="376347" y="914400"/>
                <a:ext cx="8391305" cy="4120872"/>
              </a:xfrm>
              <a:prstGeom prst="rect">
                <a:avLst/>
              </a:prstGeom>
              <a:blipFill>
                <a:blip r:embed="rId5"/>
                <a:stretch>
                  <a:fillRect l="-1526"/>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6E8844BD-3C6A-44AE-ACE5-065DD342483B}"/>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3 </a:t>
            </a:r>
            <a:r>
              <a:rPr lang="zh-CN" altLang="en-US"/>
              <a:t>联合熵与条件熵（续）</a:t>
            </a:r>
            <a:endParaRPr lang="en-US" altLang="zh-CN"/>
          </a:p>
        </p:txBody>
      </p:sp>
      <mc:AlternateContent xmlns:mc="http://schemas.openxmlformats.org/markup-compatibility/2006" xmlns:a14="http://schemas.microsoft.com/office/drawing/2010/main">
        <mc:Choice Requires="a14">
          <p:sp>
            <p:nvSpPr>
              <p:cNvPr id="3" name="Rectangle 2">
                <a:hlinkClick r:id="rId3" action="ppaction://hlinksldjump"/>
                <a:extLst>
                  <a:ext uri="{FF2B5EF4-FFF2-40B4-BE49-F238E27FC236}">
                    <a16:creationId xmlns:a16="http://schemas.microsoft.com/office/drawing/2014/main" id="{5BDE8141-75C2-7FBB-2F6A-98B82246C20A}"/>
                  </a:ext>
                </a:extLst>
              </p:cNvPr>
              <p:cNvSpPr>
                <a:spLocks noChangeArrowheads="1"/>
              </p:cNvSpPr>
              <p:nvPr/>
            </p:nvSpPr>
            <p:spPr bwMode="auto">
              <a:xfrm>
                <a:off x="228600" y="762000"/>
                <a:ext cx="8391305" cy="4639219"/>
              </a:xfrm>
              <a:prstGeom prst="rect">
                <a:avLst/>
              </a:prstGeom>
              <a:noFill/>
              <a:ln w="9525">
                <a:noFill/>
                <a:miter lim="800000"/>
                <a:headEnd/>
                <a:tailEnd/>
              </a:ln>
              <a:effectLst/>
            </p:spPr>
            <p:txBody>
              <a:bodyPr wrap="square">
                <a:spAutoFit/>
              </a:bodyPr>
              <a:lstStyle/>
              <a:p>
                <a:pPr>
                  <a:lnSpc>
                    <a:spcPct val="150000"/>
                  </a:lnSpc>
                  <a:defRPr/>
                </a:pPr>
                <a:r>
                  <a:rPr kumimoji="0" lang="zh-CN" altLang="en-US" sz="3200" b="1" dirty="0">
                    <a:latin typeface="+mn-ea"/>
                    <a:ea typeface="+mn-ea"/>
                  </a:rPr>
                  <a:t>例子</a:t>
                </a:r>
                <a:r>
                  <a:rPr kumimoji="0" lang="en-US" altLang="zh-CN" sz="3200" b="1" dirty="0">
                    <a:latin typeface="+mn-ea"/>
                    <a:ea typeface="+mn-ea"/>
                    <a:cs typeface="Times New Roman" pitchFamily="18" charset="0"/>
                  </a:rPr>
                  <a:t>4</a:t>
                </a:r>
                <a:r>
                  <a:rPr kumimoji="0" lang="zh-CN" altLang="en-US" sz="3200" dirty="0">
                    <a:cs typeface="Times New Roman" pitchFamily="18" charset="0"/>
                  </a:rPr>
                  <a:t>（续）</a:t>
                </a:r>
                <a:r>
                  <a:rPr kumimoji="0" lang="en-US" altLang="zh-CN" sz="3200" dirty="0">
                    <a:latin typeface="宋体" pitchFamily="2" charset="-122"/>
                  </a:rPr>
                  <a:t>2</a:t>
                </a:r>
                <a:r>
                  <a:rPr lang="en-US" altLang="zh-CN" sz="3200" dirty="0">
                    <a:latin typeface="宋体" pitchFamily="2" charset="-122"/>
                  </a:rPr>
                  <a:t>.</a:t>
                </a:r>
                <a:r>
                  <a:rPr lang="zh-CN" altLang="en-US" sz="3200" dirty="0">
                    <a:latin typeface="宋体" pitchFamily="2" charset="-122"/>
                  </a:rPr>
                  <a:t> </a:t>
                </a:r>
                <a:r>
                  <a:rPr kumimoji="0" lang="zh-CN" altLang="en-US" sz="3200" dirty="0">
                    <a:latin typeface="Cambria Math" panose="02040503050406030204" pitchFamily="18" charset="0"/>
                    <a:cs typeface="Times New Roman" pitchFamily="18" charset="0"/>
                  </a:rPr>
                  <a:t>事件“两个球都是白球”所提供的信息量；</a:t>
                </a:r>
                <a:endParaRPr kumimoji="0" lang="en-US" altLang="zh-CN" sz="3200" dirty="0">
                  <a:latin typeface="Cambria Math" panose="02040503050406030204" pitchFamily="18" charset="0"/>
                  <a:cs typeface="Times New Roman" pitchFamily="18" charset="0"/>
                </a:endParaRPr>
              </a:p>
              <a:p>
                <a:pPr>
                  <a:lnSpc>
                    <a:spcPct val="150000"/>
                  </a:lnSpc>
                  <a:defRPr/>
                </a:pPr>
                <a14:m>
                  <m:oMathPara xmlns:m="http://schemas.openxmlformats.org/officeDocument/2006/math">
                    <m:oMathParaPr>
                      <m:jc m:val="centerGroup"/>
                    </m:oMathParaPr>
                    <m:oMath xmlns:m="http://schemas.openxmlformats.org/officeDocument/2006/math">
                      <m:r>
                        <a:rPr kumimoji="0" lang="en-US" altLang="zh-CN" sz="3200" b="0" i="1" smtClean="0">
                          <a:latin typeface="Cambria Math" panose="02040503050406030204" pitchFamily="18" charset="0"/>
                          <a:cs typeface="Times New Roman" pitchFamily="18" charset="0"/>
                        </a:rPr>
                        <m:t>𝑝</m:t>
                      </m:r>
                      <m:d>
                        <m:dPr>
                          <m:ctrlPr>
                            <a:rPr kumimoji="0" lang="en-US" altLang="zh-CN" sz="3200" i="1" smtClean="0">
                              <a:latin typeface="Cambria Math" panose="02040503050406030204" pitchFamily="18" charset="0"/>
                              <a:cs typeface="Times New Roman" pitchFamily="18" charset="0"/>
                            </a:rPr>
                          </m:ctrlPr>
                        </m:dPr>
                        <m:e>
                          <m:r>
                            <a:rPr kumimoji="0" lang="en-US" altLang="zh-CN" sz="3200" b="0" i="1" smtClean="0">
                              <a:latin typeface="Cambria Math" panose="02040503050406030204" pitchFamily="18" charset="0"/>
                              <a:cs typeface="Times New Roman" pitchFamily="18" charset="0"/>
                            </a:rPr>
                            <m:t>0</m:t>
                          </m:r>
                          <m:r>
                            <a:rPr lang="zh-CN" altLang="en-US" sz="3200" i="1">
                              <a:latin typeface="Cambria Math" panose="02040503050406030204" pitchFamily="18" charset="0"/>
                              <a:cs typeface="Times New Roman" pitchFamily="18" charset="0"/>
                            </a:rPr>
                            <m:t>，</m:t>
                          </m:r>
                          <m:r>
                            <a:rPr kumimoji="0" lang="en-US" altLang="zh-CN" sz="3200" b="0" i="1" smtClean="0">
                              <a:latin typeface="Cambria Math" panose="02040503050406030204" pitchFamily="18" charset="0"/>
                              <a:cs typeface="Times New Roman" pitchFamily="18" charset="0"/>
                            </a:rPr>
                            <m:t>2</m:t>
                          </m:r>
                        </m:e>
                      </m:d>
                      <m:r>
                        <a:rPr kumimoji="0" lang="en-US" altLang="zh-CN" sz="3200" b="0" i="1" smtClean="0">
                          <a:latin typeface="Cambria Math" panose="02040503050406030204" pitchFamily="18" charset="0"/>
                          <a:cs typeface="Times New Roman" pitchFamily="18" charset="0"/>
                        </a:rPr>
                        <m:t>=</m:t>
                      </m:r>
                      <m:f>
                        <m:fPr>
                          <m:ctrlPr>
                            <a:rPr kumimoji="0" lang="en-US" altLang="zh-CN" sz="3200" i="1" smtClean="0">
                              <a:latin typeface="Cambria Math" panose="02040503050406030204" pitchFamily="18" charset="0"/>
                              <a:cs typeface="Times New Roman" pitchFamily="18" charset="0"/>
                            </a:rPr>
                          </m:ctrlPr>
                        </m:fPr>
                        <m:num>
                          <m:sSubSup>
                            <m:sSubSupPr>
                              <m:ctrlPr>
                                <a:rPr kumimoji="0" lang="en-US" altLang="zh-CN" sz="3200" i="1">
                                  <a:latin typeface="Cambria Math" panose="02040503050406030204" pitchFamily="18" charset="0"/>
                                  <a:cs typeface="Times New Roman" pitchFamily="18" charset="0"/>
                                </a:rPr>
                              </m:ctrlPr>
                            </m:sSubSupPr>
                            <m:e>
                              <m:r>
                                <m:rPr>
                                  <m:sty m:val="p"/>
                                </m:rPr>
                                <a:rPr kumimoji="0" lang="en-US" altLang="zh-CN" sz="3200" b="0" i="1" smtClean="0">
                                  <a:latin typeface="Cambria Math" panose="02040503050406030204" pitchFamily="18" charset="0"/>
                                  <a:cs typeface="Times New Roman" pitchFamily="18" charset="0"/>
                                </a:rPr>
                                <m:t>C</m:t>
                              </m:r>
                            </m:e>
                            <m:sub>
                              <m:r>
                                <a:rPr kumimoji="0" lang="en-US" altLang="zh-CN" sz="3200" b="0" i="1" smtClean="0">
                                  <a:latin typeface="Cambria Math" panose="02040503050406030204" pitchFamily="18" charset="0"/>
                                  <a:cs typeface="Times New Roman" pitchFamily="18" charset="0"/>
                                </a:rPr>
                                <m:t>5</m:t>
                              </m:r>
                            </m:sub>
                            <m:sup>
                              <m:r>
                                <a:rPr kumimoji="0" lang="en-US" altLang="zh-CN" sz="3200" b="0" i="1" smtClean="0">
                                  <a:latin typeface="Cambria Math" panose="02040503050406030204" pitchFamily="18" charset="0"/>
                                  <a:cs typeface="Times New Roman" pitchFamily="18" charset="0"/>
                                </a:rPr>
                                <m:t>2</m:t>
                              </m:r>
                            </m:sup>
                          </m:sSubSup>
                        </m:num>
                        <m:den>
                          <m:sSubSup>
                            <m:sSubSupPr>
                              <m:ctrlPr>
                                <a:rPr kumimoji="0" lang="en-US" altLang="zh-CN" sz="3200" i="1">
                                  <a:latin typeface="Cambria Math" panose="02040503050406030204" pitchFamily="18" charset="0"/>
                                  <a:cs typeface="Times New Roman" pitchFamily="18" charset="0"/>
                                </a:rPr>
                              </m:ctrlPr>
                            </m:sSubSupPr>
                            <m:e>
                              <m:r>
                                <m:rPr>
                                  <m:sty m:val="p"/>
                                </m:rPr>
                                <a:rPr kumimoji="0" lang="en-US" altLang="zh-CN" sz="3200" b="0" i="1" smtClean="0">
                                  <a:latin typeface="Cambria Math" panose="02040503050406030204" pitchFamily="18" charset="0"/>
                                  <a:cs typeface="Times New Roman" pitchFamily="18" charset="0"/>
                                </a:rPr>
                                <m:t>C</m:t>
                              </m:r>
                            </m:e>
                            <m:sub>
                              <m:r>
                                <a:rPr kumimoji="0" lang="en-US" altLang="zh-CN" sz="3200" b="0" i="1" smtClean="0">
                                  <a:latin typeface="Cambria Math" panose="02040503050406030204" pitchFamily="18" charset="0"/>
                                  <a:cs typeface="Times New Roman" pitchFamily="18" charset="0"/>
                                </a:rPr>
                                <m:t>15</m:t>
                              </m:r>
                            </m:sub>
                            <m:sup>
                              <m:r>
                                <a:rPr kumimoji="0" lang="en-US" altLang="zh-CN" sz="3200" b="0" i="1" smtClean="0">
                                  <a:latin typeface="Cambria Math" panose="02040503050406030204" pitchFamily="18" charset="0"/>
                                  <a:cs typeface="Times New Roman" pitchFamily="18" charset="0"/>
                                </a:rPr>
                                <m:t>2</m:t>
                              </m:r>
                            </m:sup>
                          </m:sSubSup>
                        </m:den>
                      </m:f>
                      <m:r>
                        <a:rPr kumimoji="0" lang="en-US" altLang="zh-CN" sz="3200" b="0" i="1" smtClean="0">
                          <a:latin typeface="Cambria Math" panose="02040503050406030204" pitchFamily="18" charset="0"/>
                          <a:cs typeface="Times New Roman" pitchFamily="18" charset="0"/>
                        </a:rPr>
                        <m:t>=</m:t>
                      </m:r>
                      <m:f>
                        <m:fPr>
                          <m:ctrlPr>
                            <a:rPr kumimoji="0" lang="en-US" altLang="zh-CN" sz="3200" i="1" smtClean="0">
                              <a:latin typeface="Cambria Math" panose="02040503050406030204" pitchFamily="18" charset="0"/>
                              <a:cs typeface="Times New Roman" pitchFamily="18" charset="0"/>
                            </a:rPr>
                          </m:ctrlPr>
                        </m:fPr>
                        <m:num>
                          <m:r>
                            <a:rPr kumimoji="0" lang="en-US" altLang="zh-CN" sz="3200" b="0" i="1" smtClean="0">
                              <a:latin typeface="Cambria Math" panose="02040503050406030204" pitchFamily="18" charset="0"/>
                              <a:cs typeface="Times New Roman" pitchFamily="18" charset="0"/>
                            </a:rPr>
                            <m:t>2</m:t>
                          </m:r>
                        </m:num>
                        <m:den>
                          <m:r>
                            <a:rPr kumimoji="0" lang="en-US" altLang="zh-CN" sz="3200" b="0" i="1" smtClean="0">
                              <a:latin typeface="Cambria Math" panose="02040503050406030204" pitchFamily="18" charset="0"/>
                              <a:cs typeface="Times New Roman" pitchFamily="18" charset="0"/>
                            </a:rPr>
                            <m:t>21</m:t>
                          </m:r>
                        </m:den>
                      </m:f>
                      <m:r>
                        <a:rPr lang="zh-CN" altLang="en-US" sz="3200" b="0" i="1">
                          <a:latin typeface="Cambria Math" panose="02040503050406030204" pitchFamily="18" charset="0"/>
                          <a:cs typeface="Times New Roman" pitchFamily="18" charset="0"/>
                        </a:rPr>
                        <m:t>，</m:t>
                      </m:r>
                      <m:r>
                        <a:rPr kumimoji="0" lang="en-US" altLang="zh-CN" sz="3200" b="0" i="1" smtClean="0">
                          <a:latin typeface="Cambria Math" panose="02040503050406030204" pitchFamily="18" charset="0"/>
                          <a:cs typeface="Times New Roman" pitchFamily="18" charset="0"/>
                        </a:rPr>
                        <m:t>  </m:t>
                      </m:r>
                    </m:oMath>
                  </m:oMathPara>
                </a14:m>
                <a:endParaRPr kumimoji="0" lang="en-US" altLang="zh-CN" sz="3200" i="1" dirty="0">
                  <a:latin typeface="Cambria Math" panose="02040503050406030204" pitchFamily="18" charset="0"/>
                  <a:cs typeface="Times New Roman" pitchFamily="18" charset="0"/>
                </a:endParaRPr>
              </a:p>
              <a:p>
                <a:pPr>
                  <a:lnSpc>
                    <a:spcPct val="150000"/>
                  </a:lnSpc>
                  <a:defRPr/>
                </a:pPr>
                <a14:m>
                  <m:oMathPara xmlns:m="http://schemas.openxmlformats.org/officeDocument/2006/math">
                    <m:oMathParaPr>
                      <m:jc m:val="centerGroup"/>
                    </m:oMathParaPr>
                    <m:oMath xmlns:m="http://schemas.openxmlformats.org/officeDocument/2006/math">
                      <m:r>
                        <a:rPr kumimoji="0" lang="en-US" altLang="zh-CN" sz="3200" b="0" i="1" smtClean="0">
                          <a:latin typeface="Cambria Math" panose="02040503050406030204" pitchFamily="18" charset="0"/>
                          <a:cs typeface="Times New Roman" pitchFamily="18" charset="0"/>
                        </a:rPr>
                        <m:t> </m:t>
                      </m:r>
                      <m:r>
                        <a:rPr kumimoji="0" lang="en-US" altLang="zh-CN" sz="3200" b="0" i="1" smtClean="0">
                          <a:latin typeface="Cambria Math" panose="02040503050406030204" pitchFamily="18" charset="0"/>
                          <a:cs typeface="Times New Roman" pitchFamily="18" charset="0"/>
                        </a:rPr>
                        <m:t>𝐼</m:t>
                      </m:r>
                      <m:d>
                        <m:dPr>
                          <m:ctrlPr>
                            <a:rPr kumimoji="0" lang="en-US" altLang="zh-CN" sz="3200" i="1" smtClean="0">
                              <a:latin typeface="Cambria Math" panose="02040503050406030204" pitchFamily="18" charset="0"/>
                              <a:cs typeface="Times New Roman" pitchFamily="18" charset="0"/>
                            </a:rPr>
                          </m:ctrlPr>
                        </m:dPr>
                        <m:e>
                          <m:r>
                            <a:rPr kumimoji="0" lang="en-US" altLang="zh-CN" sz="3200" b="0" i="1" smtClean="0">
                              <a:latin typeface="Cambria Math" panose="02040503050406030204" pitchFamily="18" charset="0"/>
                              <a:cs typeface="Times New Roman" pitchFamily="18" charset="0"/>
                            </a:rPr>
                            <m:t>0</m:t>
                          </m:r>
                          <m:r>
                            <a:rPr lang="zh-CN" altLang="en-US" sz="3200" i="1">
                              <a:latin typeface="Cambria Math" panose="02040503050406030204" pitchFamily="18" charset="0"/>
                              <a:cs typeface="Times New Roman" pitchFamily="18" charset="0"/>
                            </a:rPr>
                            <m:t>，</m:t>
                          </m:r>
                          <m:r>
                            <a:rPr kumimoji="0" lang="en-US" altLang="zh-CN" sz="3200" b="0" i="1" smtClean="0">
                              <a:latin typeface="Cambria Math" panose="02040503050406030204" pitchFamily="18" charset="0"/>
                              <a:cs typeface="Times New Roman" pitchFamily="18" charset="0"/>
                            </a:rPr>
                            <m:t>2</m:t>
                          </m:r>
                        </m:e>
                      </m:d>
                      <m:r>
                        <a:rPr kumimoji="0" lang="en-US" altLang="zh-CN" sz="3200" b="0" i="1" smtClean="0">
                          <a:latin typeface="Cambria Math" panose="02040503050406030204" pitchFamily="18" charset="0"/>
                          <a:cs typeface="Times New Roman" pitchFamily="18" charset="0"/>
                        </a:rPr>
                        <m:t>=−</m:t>
                      </m:r>
                      <m:r>
                        <m:rPr>
                          <m:sty m:val="p"/>
                        </m:rPr>
                        <a:rPr kumimoji="0" lang="en-US" altLang="zh-CN" sz="3200" b="0" i="0" smtClean="0">
                          <a:latin typeface="Cambria Math" panose="02040503050406030204" pitchFamily="18" charset="0"/>
                          <a:cs typeface="Times New Roman" pitchFamily="18" charset="0"/>
                        </a:rPr>
                        <m:t>log</m:t>
                      </m:r>
                      <m:f>
                        <m:fPr>
                          <m:ctrlPr>
                            <a:rPr kumimoji="0" lang="en-US" altLang="zh-CN" sz="3200" i="1">
                              <a:latin typeface="Cambria Math" panose="02040503050406030204" pitchFamily="18" charset="0"/>
                              <a:cs typeface="Times New Roman" pitchFamily="18" charset="0"/>
                            </a:rPr>
                          </m:ctrlPr>
                        </m:fPr>
                        <m:num>
                          <m:r>
                            <a:rPr kumimoji="0" lang="en-US" altLang="zh-CN" sz="3200" b="0" i="1" smtClean="0">
                              <a:latin typeface="Cambria Math" panose="02040503050406030204" pitchFamily="18" charset="0"/>
                              <a:cs typeface="Times New Roman" pitchFamily="18" charset="0"/>
                            </a:rPr>
                            <m:t>2</m:t>
                          </m:r>
                        </m:num>
                        <m:den>
                          <m:r>
                            <a:rPr kumimoji="0" lang="en-US" altLang="zh-CN" sz="3200" b="0" i="1" smtClean="0">
                              <a:latin typeface="Cambria Math" panose="02040503050406030204" pitchFamily="18" charset="0"/>
                              <a:cs typeface="Times New Roman" pitchFamily="18" charset="0"/>
                            </a:rPr>
                            <m:t>21</m:t>
                          </m:r>
                        </m:den>
                      </m:f>
                      <m:r>
                        <a:rPr kumimoji="0" lang="en-US" altLang="zh-CN" sz="3200" b="0" i="1" smtClean="0">
                          <a:latin typeface="Cambria Math" panose="02040503050406030204" pitchFamily="18" charset="0"/>
                          <a:cs typeface="Times New Roman" pitchFamily="18" charset="0"/>
                        </a:rPr>
                        <m:t>=3.39 </m:t>
                      </m:r>
                      <m:r>
                        <m:rPr>
                          <m:sty m:val="p"/>
                        </m:rPr>
                        <a:rPr kumimoji="0" lang="en-US" altLang="zh-CN" sz="3200" b="0" i="0" smtClean="0">
                          <a:latin typeface="Cambria Math" panose="02040503050406030204" pitchFamily="18" charset="0"/>
                          <a:cs typeface="Times New Roman" pitchFamily="18" charset="0"/>
                        </a:rPr>
                        <m:t>bit</m:t>
                      </m:r>
                      <m:r>
                        <a:rPr lang="zh-CN" altLang="en-US" sz="3200" i="1">
                          <a:latin typeface="Cambria Math" panose="02040503050406030204" pitchFamily="18" charset="0"/>
                          <a:cs typeface="Times New Roman" pitchFamily="18" charset="0"/>
                        </a:rPr>
                        <m:t>。</m:t>
                      </m:r>
                    </m:oMath>
                  </m:oMathPara>
                </a14:m>
                <a:endParaRPr kumimoji="0" lang="en-US" altLang="zh-CN" sz="3200" dirty="0">
                  <a:latin typeface="Cambria Math" panose="02040503050406030204" pitchFamily="18" charset="0"/>
                  <a:cs typeface="Times New Roman" pitchFamily="18" charset="0"/>
                </a:endParaRPr>
              </a:p>
            </p:txBody>
          </p:sp>
        </mc:Choice>
        <mc:Fallback xmlns="">
          <p:sp>
            <p:nvSpPr>
              <p:cNvPr id="3" name="Rectangle 2">
                <a:hlinkClick r:id="rId4" action="ppaction://hlinksldjump"/>
                <a:extLst>
                  <a:ext uri="{FF2B5EF4-FFF2-40B4-BE49-F238E27FC236}">
                    <a16:creationId xmlns:a16="http://schemas.microsoft.com/office/drawing/2014/main" id="{5BDE8141-75C2-7FBB-2F6A-98B82246C20A}"/>
                  </a:ext>
                </a:extLst>
              </p:cNvPr>
              <p:cNvSpPr>
                <a:spLocks noRot="1" noChangeAspect="1" noMove="1" noResize="1" noEditPoints="1" noAdjustHandles="1" noChangeArrowheads="1" noChangeShapeType="1" noTextEdit="1"/>
              </p:cNvSpPr>
              <p:nvPr/>
            </p:nvSpPr>
            <p:spPr bwMode="auto">
              <a:xfrm>
                <a:off x="228600" y="762000"/>
                <a:ext cx="8391305" cy="4639219"/>
              </a:xfrm>
              <a:prstGeom prst="rect">
                <a:avLst/>
              </a:prstGeom>
              <a:blipFill>
                <a:blip r:embed="rId5"/>
                <a:stretch>
                  <a:fillRect l="-1890" r="-1163"/>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E877CAAD-B034-EE67-2E1D-AFA7EAC86B28}"/>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3 </a:t>
            </a:r>
            <a:r>
              <a:rPr lang="zh-CN" altLang="en-US"/>
              <a:t>联合熵与条件熵（续）</a:t>
            </a:r>
            <a:endParaRPr lang="en-US" altLang="zh-CN"/>
          </a:p>
        </p:txBody>
      </p:sp>
      <mc:AlternateContent xmlns:mc="http://schemas.openxmlformats.org/markup-compatibility/2006" xmlns:a14="http://schemas.microsoft.com/office/drawing/2010/main">
        <mc:Choice Requires="a14">
          <p:sp>
            <p:nvSpPr>
              <p:cNvPr id="3" name="Rectangle 2">
                <a:hlinkClick r:id="rId3" action="ppaction://hlinksldjump"/>
                <a:extLst>
                  <a:ext uri="{FF2B5EF4-FFF2-40B4-BE49-F238E27FC236}">
                    <a16:creationId xmlns:a16="http://schemas.microsoft.com/office/drawing/2014/main" id="{285FA1E5-B41B-0109-E2B5-7AE42621C0D4}"/>
                  </a:ext>
                </a:extLst>
              </p:cNvPr>
              <p:cNvSpPr>
                <a:spLocks noChangeArrowheads="1"/>
              </p:cNvSpPr>
              <p:nvPr/>
            </p:nvSpPr>
            <p:spPr bwMode="auto">
              <a:xfrm>
                <a:off x="201386" y="723900"/>
                <a:ext cx="8391305" cy="5291833"/>
              </a:xfrm>
              <a:prstGeom prst="rect">
                <a:avLst/>
              </a:prstGeom>
              <a:noFill/>
              <a:ln w="9525">
                <a:noFill/>
                <a:miter lim="800000"/>
                <a:headEnd/>
                <a:tailEnd/>
              </a:ln>
              <a:effectLst/>
            </p:spPr>
            <p:txBody>
              <a:bodyPr wrap="square">
                <a:spAutoFit/>
              </a:bodyPr>
              <a:lstStyle/>
              <a:p>
                <a:pPr eaLnBrk="1">
                  <a:lnSpc>
                    <a:spcPct val="150000"/>
                  </a:lnSpc>
                  <a:defRPr/>
                </a:pPr>
                <a:r>
                  <a:rPr kumimoji="0" lang="zh-CN" altLang="en-US" sz="3200" b="1" dirty="0">
                    <a:latin typeface="+mn-ea"/>
                    <a:ea typeface="+mn-ea"/>
                  </a:rPr>
                  <a:t>例子</a:t>
                </a:r>
                <a:r>
                  <a:rPr kumimoji="0" lang="en-US" altLang="zh-CN" sz="3200" b="1" dirty="0">
                    <a:latin typeface="+mn-ea"/>
                    <a:ea typeface="+mn-ea"/>
                    <a:cs typeface="Times New Roman" pitchFamily="18" charset="0"/>
                  </a:rPr>
                  <a:t>4</a:t>
                </a:r>
                <a:r>
                  <a:rPr lang="zh-CN" altLang="en-US" sz="3200" dirty="0">
                    <a:cs typeface="Times New Roman" pitchFamily="18" charset="0"/>
                  </a:rPr>
                  <a:t> （续）</a:t>
                </a:r>
                <a:r>
                  <a:rPr kumimoji="0" lang="en-US" altLang="zh-CN" sz="3200" dirty="0">
                    <a:latin typeface="宋体" pitchFamily="2" charset="-122"/>
                  </a:rPr>
                  <a:t>3.</a:t>
                </a:r>
                <a:r>
                  <a:rPr kumimoji="0" lang="zh-CN" altLang="en-US" sz="3200" dirty="0">
                    <a:latin typeface="Cambria Math" panose="02040503050406030204" pitchFamily="18" charset="0"/>
                    <a:cs typeface="Times New Roman" pitchFamily="18" charset="0"/>
                  </a:rPr>
                  <a:t>事件“两个球都是白球”与“两个球都是红球”的发生，哪个事件更难猜测？</a:t>
                </a:r>
                <a:endParaRPr kumimoji="0" lang="en-US" altLang="zh-CN" sz="3200" dirty="0">
                  <a:latin typeface="Cambria Math" panose="02040503050406030204" pitchFamily="18" charset="0"/>
                  <a:cs typeface="Times New Roman" pitchFamily="18" charset="0"/>
                </a:endParaRPr>
              </a:p>
              <a:p>
                <a:pPr eaLnBrk="1">
                  <a:lnSpc>
                    <a:spcPct val="150000"/>
                  </a:lnSpc>
                  <a:defRPr/>
                </a:pPr>
                <a:r>
                  <a:rPr kumimoji="0" lang="zh-CN" altLang="en-US" sz="3200" dirty="0">
                    <a:cs typeface="Times New Roman" pitchFamily="18" charset="0"/>
                  </a:rPr>
                  <a:t>两个球都是红球的信息量： </a:t>
                </a:r>
                <a14:m>
                  <m:oMath xmlns:m="http://schemas.openxmlformats.org/officeDocument/2006/math">
                    <m:r>
                      <a:rPr kumimoji="0" lang="en-US" altLang="zh-CN" sz="3200" b="0" i="1" smtClean="0">
                        <a:latin typeface="Cambria Math" panose="02040503050406030204" pitchFamily="18" charset="0"/>
                        <a:cs typeface="Times New Roman" pitchFamily="18" charset="0"/>
                      </a:rPr>
                      <m:t>𝑝</m:t>
                    </m:r>
                    <m:d>
                      <m:dPr>
                        <m:ctrlPr>
                          <a:rPr kumimoji="0" lang="en-US" altLang="zh-CN" sz="3200" i="1" smtClean="0">
                            <a:latin typeface="Cambria Math" panose="02040503050406030204" pitchFamily="18" charset="0"/>
                            <a:cs typeface="Times New Roman" pitchFamily="18" charset="0"/>
                          </a:rPr>
                        </m:ctrlPr>
                      </m:dPr>
                      <m:e>
                        <m:r>
                          <a:rPr kumimoji="0" lang="en-US" altLang="zh-CN" sz="3200" b="0" i="1" smtClean="0">
                            <a:latin typeface="Cambria Math" panose="02040503050406030204" pitchFamily="18" charset="0"/>
                            <a:cs typeface="Times New Roman" pitchFamily="18" charset="0"/>
                          </a:rPr>
                          <m:t>2</m:t>
                        </m:r>
                        <m:r>
                          <a:rPr lang="zh-CN" altLang="en-US" sz="3200" i="1">
                            <a:latin typeface="Cambria Math" panose="02040503050406030204" pitchFamily="18" charset="0"/>
                            <a:cs typeface="Times New Roman" pitchFamily="18" charset="0"/>
                          </a:rPr>
                          <m:t>，</m:t>
                        </m:r>
                        <m:r>
                          <a:rPr kumimoji="0" lang="en-US" altLang="zh-CN" sz="3200" b="0" i="1" smtClean="0">
                            <a:latin typeface="Cambria Math" panose="02040503050406030204" pitchFamily="18" charset="0"/>
                            <a:cs typeface="Times New Roman" pitchFamily="18" charset="0"/>
                          </a:rPr>
                          <m:t>0</m:t>
                        </m:r>
                      </m:e>
                    </m:d>
                    <m:r>
                      <a:rPr kumimoji="0" lang="en-US" altLang="zh-CN" sz="3200" b="0" i="1" smtClean="0">
                        <a:latin typeface="Cambria Math" panose="02040503050406030204" pitchFamily="18" charset="0"/>
                        <a:cs typeface="Times New Roman" pitchFamily="18" charset="0"/>
                      </a:rPr>
                      <m:t>=</m:t>
                    </m:r>
                    <m:f>
                      <m:fPr>
                        <m:ctrlPr>
                          <a:rPr kumimoji="0" lang="en-US" altLang="zh-CN" sz="3200" i="1" smtClean="0">
                            <a:latin typeface="Cambria Math" panose="02040503050406030204" pitchFamily="18" charset="0"/>
                            <a:cs typeface="Times New Roman" pitchFamily="18" charset="0"/>
                          </a:rPr>
                        </m:ctrlPr>
                      </m:fPr>
                      <m:num>
                        <m:sSubSup>
                          <m:sSubSupPr>
                            <m:ctrlPr>
                              <a:rPr kumimoji="0" lang="en-US" altLang="zh-CN" sz="3200" i="1">
                                <a:latin typeface="Cambria Math" panose="02040503050406030204" pitchFamily="18" charset="0"/>
                                <a:cs typeface="Times New Roman" pitchFamily="18" charset="0"/>
                              </a:rPr>
                            </m:ctrlPr>
                          </m:sSubSupPr>
                          <m:e>
                            <m:r>
                              <m:rPr>
                                <m:sty m:val="p"/>
                              </m:rPr>
                              <a:rPr kumimoji="0" lang="en-US" altLang="zh-CN" sz="3200" b="0" i="1" smtClean="0">
                                <a:latin typeface="Cambria Math" panose="02040503050406030204" pitchFamily="18" charset="0"/>
                                <a:cs typeface="Times New Roman" pitchFamily="18" charset="0"/>
                              </a:rPr>
                              <m:t>C</m:t>
                            </m:r>
                          </m:e>
                          <m:sub>
                            <m:r>
                              <a:rPr kumimoji="0" lang="en-US" altLang="zh-CN" sz="3200" b="0" i="1" smtClean="0">
                                <a:latin typeface="Cambria Math" panose="02040503050406030204" pitchFamily="18" charset="0"/>
                                <a:cs typeface="Times New Roman" pitchFamily="18" charset="0"/>
                              </a:rPr>
                              <m:t>10</m:t>
                            </m:r>
                          </m:sub>
                          <m:sup>
                            <m:r>
                              <a:rPr kumimoji="0" lang="en-US" altLang="zh-CN" sz="3200" b="0" i="1" smtClean="0">
                                <a:latin typeface="Cambria Math" panose="02040503050406030204" pitchFamily="18" charset="0"/>
                                <a:cs typeface="Times New Roman" pitchFamily="18" charset="0"/>
                              </a:rPr>
                              <m:t>2</m:t>
                            </m:r>
                          </m:sup>
                        </m:sSubSup>
                      </m:num>
                      <m:den>
                        <m:sSubSup>
                          <m:sSubSupPr>
                            <m:ctrlPr>
                              <a:rPr kumimoji="0" lang="en-US" altLang="zh-CN" sz="3200" i="1">
                                <a:latin typeface="Cambria Math" panose="02040503050406030204" pitchFamily="18" charset="0"/>
                                <a:cs typeface="Times New Roman" pitchFamily="18" charset="0"/>
                              </a:rPr>
                            </m:ctrlPr>
                          </m:sSubSupPr>
                          <m:e>
                            <m:r>
                              <m:rPr>
                                <m:sty m:val="p"/>
                              </m:rPr>
                              <a:rPr kumimoji="0" lang="en-US" altLang="zh-CN" sz="3200" b="0" i="1" smtClean="0">
                                <a:latin typeface="Cambria Math" panose="02040503050406030204" pitchFamily="18" charset="0"/>
                                <a:cs typeface="Times New Roman" pitchFamily="18" charset="0"/>
                              </a:rPr>
                              <m:t>C</m:t>
                            </m:r>
                          </m:e>
                          <m:sub>
                            <m:r>
                              <a:rPr kumimoji="0" lang="en-US" altLang="zh-CN" sz="3200" b="0" i="1" smtClean="0">
                                <a:latin typeface="Cambria Math" panose="02040503050406030204" pitchFamily="18" charset="0"/>
                                <a:cs typeface="Times New Roman" pitchFamily="18" charset="0"/>
                              </a:rPr>
                              <m:t>15</m:t>
                            </m:r>
                          </m:sub>
                          <m:sup>
                            <m:r>
                              <a:rPr kumimoji="0" lang="en-US" altLang="zh-CN" sz="3200" b="0" i="1" smtClean="0">
                                <a:latin typeface="Cambria Math" panose="02040503050406030204" pitchFamily="18" charset="0"/>
                                <a:cs typeface="Times New Roman" pitchFamily="18" charset="0"/>
                              </a:rPr>
                              <m:t>2</m:t>
                            </m:r>
                          </m:sup>
                        </m:sSubSup>
                      </m:den>
                    </m:f>
                    <m:r>
                      <a:rPr kumimoji="0" lang="en-US" altLang="zh-CN" sz="3200" b="0" i="1" smtClean="0">
                        <a:latin typeface="Cambria Math" panose="02040503050406030204" pitchFamily="18" charset="0"/>
                        <a:cs typeface="Times New Roman" pitchFamily="18" charset="0"/>
                      </a:rPr>
                      <m:t>=</m:t>
                    </m:r>
                    <m:f>
                      <m:fPr>
                        <m:ctrlPr>
                          <a:rPr kumimoji="0" lang="en-US" altLang="zh-CN" sz="3200" i="1" smtClean="0">
                            <a:latin typeface="Cambria Math" panose="02040503050406030204" pitchFamily="18" charset="0"/>
                            <a:cs typeface="Times New Roman" pitchFamily="18" charset="0"/>
                          </a:rPr>
                        </m:ctrlPr>
                      </m:fPr>
                      <m:num>
                        <m:r>
                          <a:rPr kumimoji="0" lang="en-US" altLang="zh-CN" sz="3200" b="0" i="1" smtClean="0">
                            <a:latin typeface="Cambria Math" panose="02040503050406030204" pitchFamily="18" charset="0"/>
                            <a:cs typeface="Times New Roman" pitchFamily="18" charset="0"/>
                          </a:rPr>
                          <m:t>9</m:t>
                        </m:r>
                      </m:num>
                      <m:den>
                        <m:r>
                          <a:rPr kumimoji="0" lang="en-US" altLang="zh-CN" sz="3200" b="0" i="1" smtClean="0">
                            <a:latin typeface="Cambria Math" panose="02040503050406030204" pitchFamily="18" charset="0"/>
                            <a:cs typeface="Times New Roman" pitchFamily="18" charset="0"/>
                          </a:rPr>
                          <m:t>21</m:t>
                        </m:r>
                      </m:den>
                    </m:f>
                    <m:r>
                      <a:rPr lang="zh-CN" altLang="en-US" sz="3200" i="1">
                        <a:latin typeface="Cambria Math" panose="02040503050406030204" pitchFamily="18" charset="0"/>
                        <a:cs typeface="Times New Roman" pitchFamily="18" charset="0"/>
                      </a:rPr>
                      <m:t>，</m:t>
                    </m:r>
                    <m:r>
                      <a:rPr kumimoji="0" lang="en-US" altLang="zh-CN" sz="3200" b="0" i="1" smtClean="0">
                        <a:latin typeface="Cambria Math" panose="02040503050406030204" pitchFamily="18" charset="0"/>
                        <a:cs typeface="Times New Roman" pitchFamily="18" charset="0"/>
                      </a:rPr>
                      <m:t> </m:t>
                    </m:r>
                    <m:r>
                      <a:rPr kumimoji="0" lang="en-US" altLang="zh-CN" sz="3200" b="0" i="1" smtClean="0">
                        <a:latin typeface="Cambria Math" panose="02040503050406030204" pitchFamily="18" charset="0"/>
                        <a:cs typeface="Times New Roman" pitchFamily="18" charset="0"/>
                      </a:rPr>
                      <m:t>𝐼</m:t>
                    </m:r>
                    <m:d>
                      <m:dPr>
                        <m:ctrlPr>
                          <a:rPr kumimoji="0" lang="en-US" altLang="zh-CN" sz="3200" i="1" smtClean="0">
                            <a:latin typeface="Cambria Math" panose="02040503050406030204" pitchFamily="18" charset="0"/>
                            <a:cs typeface="Times New Roman" pitchFamily="18" charset="0"/>
                          </a:rPr>
                        </m:ctrlPr>
                      </m:dPr>
                      <m:e>
                        <m:r>
                          <a:rPr kumimoji="0" lang="en-US" altLang="zh-CN" sz="3200" b="0" i="1" smtClean="0">
                            <a:latin typeface="Cambria Math" panose="02040503050406030204" pitchFamily="18" charset="0"/>
                            <a:cs typeface="Times New Roman" pitchFamily="18" charset="0"/>
                          </a:rPr>
                          <m:t>2</m:t>
                        </m:r>
                        <m:r>
                          <a:rPr lang="zh-CN" altLang="en-US" sz="3200" i="1">
                            <a:latin typeface="Cambria Math" panose="02040503050406030204" pitchFamily="18" charset="0"/>
                            <a:cs typeface="Times New Roman" pitchFamily="18" charset="0"/>
                          </a:rPr>
                          <m:t>，</m:t>
                        </m:r>
                        <m:r>
                          <a:rPr kumimoji="0" lang="en-US" altLang="zh-CN" sz="3200" b="0" i="1" smtClean="0">
                            <a:latin typeface="Cambria Math" panose="02040503050406030204" pitchFamily="18" charset="0"/>
                            <a:cs typeface="Times New Roman" pitchFamily="18" charset="0"/>
                          </a:rPr>
                          <m:t>0</m:t>
                        </m:r>
                      </m:e>
                    </m:d>
                    <m:r>
                      <a:rPr kumimoji="0" lang="en-US" altLang="zh-CN" sz="3200" b="0" i="1" smtClean="0">
                        <a:latin typeface="Cambria Math" panose="02040503050406030204" pitchFamily="18" charset="0"/>
                        <a:cs typeface="Times New Roman" pitchFamily="18" charset="0"/>
                      </a:rPr>
                      <m:t>=−</m:t>
                    </m:r>
                    <m:r>
                      <m:rPr>
                        <m:sty m:val="p"/>
                      </m:rPr>
                      <a:rPr kumimoji="0" lang="en-US" altLang="zh-CN" sz="3200" b="0" i="0" smtClean="0">
                        <a:latin typeface="Cambria Math" panose="02040503050406030204" pitchFamily="18" charset="0"/>
                        <a:cs typeface="Times New Roman" pitchFamily="18" charset="0"/>
                      </a:rPr>
                      <m:t>log</m:t>
                    </m:r>
                    <m:f>
                      <m:fPr>
                        <m:ctrlPr>
                          <a:rPr kumimoji="0" lang="en-US" altLang="zh-CN" sz="3200" i="1">
                            <a:latin typeface="Cambria Math" panose="02040503050406030204" pitchFamily="18" charset="0"/>
                            <a:cs typeface="Times New Roman" pitchFamily="18" charset="0"/>
                          </a:rPr>
                        </m:ctrlPr>
                      </m:fPr>
                      <m:num>
                        <m:r>
                          <a:rPr kumimoji="0" lang="en-US" altLang="zh-CN" sz="3200" b="0" i="1" smtClean="0">
                            <a:latin typeface="Cambria Math" panose="02040503050406030204" pitchFamily="18" charset="0"/>
                            <a:cs typeface="Times New Roman" pitchFamily="18" charset="0"/>
                          </a:rPr>
                          <m:t>9</m:t>
                        </m:r>
                      </m:num>
                      <m:den>
                        <m:r>
                          <a:rPr kumimoji="0" lang="en-US" altLang="zh-CN" sz="3200" b="0" i="1" smtClean="0">
                            <a:latin typeface="Cambria Math" panose="02040503050406030204" pitchFamily="18" charset="0"/>
                            <a:cs typeface="Times New Roman" pitchFamily="18" charset="0"/>
                          </a:rPr>
                          <m:t>21</m:t>
                        </m:r>
                      </m:den>
                    </m:f>
                    <m:r>
                      <a:rPr kumimoji="0" lang="en-US" altLang="zh-CN" sz="3200" b="0" i="1" smtClean="0">
                        <a:latin typeface="Cambria Math" panose="02040503050406030204" pitchFamily="18" charset="0"/>
                        <a:cs typeface="Times New Roman" pitchFamily="18" charset="0"/>
                      </a:rPr>
                      <m:t>=1.22 </m:t>
                    </m:r>
                    <m:r>
                      <m:rPr>
                        <m:sty m:val="p"/>
                      </m:rPr>
                      <a:rPr kumimoji="0" lang="en-US" altLang="zh-CN" sz="3200" b="0" i="0" smtClean="0">
                        <a:latin typeface="Cambria Math" panose="02040503050406030204" pitchFamily="18" charset="0"/>
                        <a:cs typeface="Times New Roman" pitchFamily="18" charset="0"/>
                      </a:rPr>
                      <m:t>bit</m:t>
                    </m:r>
                    <m:r>
                      <a:rPr lang="zh-CN" altLang="en-US" sz="3200" i="1">
                        <a:latin typeface="Cambria Math" panose="02040503050406030204" pitchFamily="18" charset="0"/>
                        <a:cs typeface="Times New Roman" pitchFamily="18" charset="0"/>
                      </a:rPr>
                      <m:t>。</m:t>
                    </m:r>
                    <m:r>
                      <a:rPr kumimoji="0" lang="en-US" altLang="zh-CN" sz="3200" b="0" i="0" smtClean="0">
                        <a:latin typeface="Cambria Math" panose="02040503050406030204" pitchFamily="18" charset="0"/>
                        <a:cs typeface="Times New Roman" pitchFamily="18" charset="0"/>
                      </a:rPr>
                      <m:t> </m:t>
                    </m:r>
                  </m:oMath>
                </a14:m>
                <a:endParaRPr kumimoji="0" lang="en-US" altLang="zh-CN" sz="3200" dirty="0">
                  <a:latin typeface="Cambria Math" panose="02040503050406030204" pitchFamily="18" charset="0"/>
                  <a:cs typeface="Times New Roman" pitchFamily="18" charset="0"/>
                </a:endParaRPr>
              </a:p>
              <a:p>
                <a:pPr eaLnBrk="1">
                  <a:lnSpc>
                    <a:spcPct val="150000"/>
                  </a:lnSpc>
                  <a:defRPr/>
                </a:pPr>
                <a:r>
                  <a:rPr kumimoji="0" lang="zh-CN" altLang="en-US" sz="3200" dirty="0">
                    <a:latin typeface="Cambria Math" panose="02040503050406030204" pitchFamily="18" charset="0"/>
                    <a:cs typeface="Times New Roman" pitchFamily="18" charset="0"/>
                  </a:rPr>
                  <a:t>因此，两个球都是白球更难猜测。</a:t>
                </a:r>
                <a:endParaRPr kumimoji="0" lang="en-US" altLang="zh-CN" sz="3200" dirty="0">
                  <a:latin typeface="Cambria Math" panose="02040503050406030204" pitchFamily="18" charset="0"/>
                  <a:cs typeface="Times New Roman" pitchFamily="18" charset="0"/>
                </a:endParaRPr>
              </a:p>
            </p:txBody>
          </p:sp>
        </mc:Choice>
        <mc:Fallback xmlns="">
          <p:sp>
            <p:nvSpPr>
              <p:cNvPr id="3" name="Rectangle 2">
                <a:hlinkClick r:id="rId4" action="ppaction://hlinksldjump"/>
                <a:extLst>
                  <a:ext uri="{FF2B5EF4-FFF2-40B4-BE49-F238E27FC236}">
                    <a16:creationId xmlns:a16="http://schemas.microsoft.com/office/drawing/2014/main" id="{285FA1E5-B41B-0109-E2B5-7AE42621C0D4}"/>
                  </a:ext>
                </a:extLst>
              </p:cNvPr>
              <p:cNvSpPr>
                <a:spLocks noRot="1" noChangeAspect="1" noMove="1" noResize="1" noEditPoints="1" noAdjustHandles="1" noChangeArrowheads="1" noChangeShapeType="1" noTextEdit="1"/>
              </p:cNvSpPr>
              <p:nvPr/>
            </p:nvSpPr>
            <p:spPr bwMode="auto">
              <a:xfrm>
                <a:off x="201386" y="723900"/>
                <a:ext cx="8391305" cy="5291833"/>
              </a:xfrm>
              <a:prstGeom prst="rect">
                <a:avLst/>
              </a:prstGeom>
              <a:blipFill>
                <a:blip r:embed="rId5"/>
                <a:stretch>
                  <a:fillRect l="-1816" r="-1089" b="-2419"/>
                </a:stretch>
              </a:blipFill>
              <a:ln w="9525">
                <a:noFill/>
                <a:miter lim="800000"/>
                <a:headEnd/>
                <a:tailEnd/>
              </a:ln>
              <a:effectLst/>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FF1DFA7D-43D3-B6C6-2DA6-E628E7727C29}"/>
              </a:ext>
            </a:extLst>
          </p:cNvPr>
          <p:cNvSpPr>
            <a:spLocks noGrp="1" noChangeArrowheads="1"/>
          </p:cNvSpPr>
          <p:nvPr>
            <p:ph type="ctrTitle"/>
          </p:nvPr>
        </p:nvSpPr>
        <p:spPr>
          <a:xfrm>
            <a:off x="685800" y="2286000"/>
            <a:ext cx="7772400" cy="1143000"/>
          </a:xfrm>
        </p:spPr>
        <p:txBody>
          <a:bodyPr/>
          <a:lstStyle/>
          <a:p>
            <a:pPr eaLnBrk="1" hangingPunct="1"/>
            <a:r>
              <a:rPr lang="zh-CN" altLang="en-US" sz="6000"/>
              <a:t>谢谢！</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9767</TotalTime>
  <Words>2109</Words>
  <Application>Microsoft Office PowerPoint</Application>
  <PresentationFormat>全屏显示(4:3)</PresentationFormat>
  <Paragraphs>242</Paragraphs>
  <Slides>36</Slides>
  <Notes>33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36</vt:i4>
      </vt:variant>
    </vt:vector>
  </HeadingPairs>
  <TitlesOfParts>
    <vt:vector size="45" baseType="lpstr">
      <vt:lpstr>굴림</vt:lpstr>
      <vt:lpstr>黑体</vt:lpstr>
      <vt:lpstr>宋体</vt:lpstr>
      <vt:lpstr>Arial</vt:lpstr>
      <vt:lpstr>Calibri</vt:lpstr>
      <vt:lpstr>Cambria Math</vt:lpstr>
      <vt:lpstr>Times New Roman</vt:lpstr>
      <vt:lpstr>Wingdings</vt:lpstr>
      <vt:lpstr>默认设计模板</vt:lpstr>
      <vt:lpstr>第十二讲 信息论基础  上</vt:lpstr>
      <vt:lpstr>本讲提要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sundazhi</dc:creator>
  <cp:lastModifiedBy>dazhi sun</cp:lastModifiedBy>
  <cp:revision>479</cp:revision>
  <cp:lastPrinted>2026-04-19T13:17:05Z</cp:lastPrinted>
  <dcterms:created xsi:type="dcterms:W3CDTF">1601-01-01T00:00:00Z</dcterms:created>
  <dcterms:modified xsi:type="dcterms:W3CDTF">2026-04-20T02:36:29Z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