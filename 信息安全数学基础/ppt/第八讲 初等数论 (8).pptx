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64" r:id="rId4"/>
    <p:sldId id="271" r:id="rId5"/>
    <p:sldId id="265" r:id="rId6"/>
    <p:sldId id="275" r:id="rId7"/>
    <p:sldId id="320" r:id="rId8"/>
    <p:sldId id="276" r:id="rId9"/>
    <p:sldId id="266" r:id="rId10"/>
    <p:sldId id="286" r:id="rId11"/>
    <p:sldId id="277" r:id="rId12"/>
    <p:sldId id="287" r:id="rId13"/>
    <p:sldId id="280" r:id="rId14"/>
    <p:sldId id="267" r:id="rId15"/>
    <p:sldId id="281" r:id="rId16"/>
    <p:sldId id="282" r:id="rId17"/>
    <p:sldId id="269" r:id="rId18"/>
    <p:sldId id="279" r:id="rId19"/>
    <p:sldId id="263" r:id="rId20"/>
    <p:sldId id="288" r:id="rId2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9" autoAdjust="0"/>
    <p:restoredTop sz="94660"/>
  </p:normalViewPr>
  <p:slideViewPr>
    <p:cSldViewPr>
      <p:cViewPr varScale="1">
        <p:scale>
          <a:sx n="64" d="100"/>
          <a:sy n="64" d="100"/>
        </p:scale>
        <p:origin x="12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226314D-5E14-9DA3-B5FF-B297398DE0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D43871-88AB-66E4-7FE3-66A57BB92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DA418-D548-470A-83BA-A5E81AFB3613}" type="datetime1">
              <a:rPr lang="en-US" altLang="zh-CN" smtClean="0"/>
              <a:t>4/1/2026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84FE45-D5B2-C549-65E2-80D6D51600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CCFA69-9E34-9E7E-97B8-6FAA6436B7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0BE15-00C4-4BC0-9DA3-BF1D5CAF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77510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ED4FD87-D30A-17EE-1303-F95091F140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D5EEDA-6AF3-299D-F003-2785844DDED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1F466E85-F75D-400D-A361-3DB2947BB357}" type="datetime1">
              <a:rPr lang="en-US" altLang="zh-CN" smtClean="0"/>
              <a:t>4/1/2026</a:t>
            </a:fld>
            <a:endParaRPr 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4A89171-BB2C-CF7C-AA69-99CF9B36C5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3AC0A3AD-3585-6544-BC2A-C5ADAF42D5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E3D1F7-1248-D7D3-B5E2-67FFE2CDE0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60438D-2F2B-CD40-77B4-C5B8027FB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050AC29-A045-4DA2-A55B-243E77BEA6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0BFE797B-42A5-A74C-ADC5-70538F9DC7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384D67C5-4D71-E44E-72E7-09A35E7111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ECFFCF77-2BDC-4010-DFBD-5F3B35927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20F4337-B681-4646-B3DE-1FCFD1C20D2F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F181C4-1D02-8182-B584-8E6B176ECA3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B6F84BC1-6F6B-4007-A4DD-EC716AE33B43}" type="datetime1">
              <a:rPr lang="en-US" altLang="zh-CN" smtClean="0"/>
              <a:t>4/1/2026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B84404-8B5A-AB83-2903-4EB5A175AD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3E0719-6CD5-F933-4CEC-421582EC5A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4E0932-89B2-9A3B-2494-6EBC5AD87A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4DC911-8DBE-4480-AAC8-2FA8C779B8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714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EBA0F0-A99B-E598-15EC-E45FE1D3E2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A0E4D1-A1D9-CD80-D72F-00D47AFBBF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B47B1F-D65E-1A14-A7E2-8AD2439998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3FA934-769A-42E7-8208-4829BFDA34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0582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294093-7132-2CB1-CFA0-22D2FB7766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E59FE8-CE27-2806-5ED0-D7560FA697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141F1C-CB36-8DD4-39AA-3C9F44714D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76A54-BDAF-4FF3-B106-90421B9C10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761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621034-11D1-0EC9-B6FB-2D4CCFBADE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F5874D-9AD4-6394-3C77-F40FDA62D9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DC9E25-4AD5-59A9-B66F-EFE7F9A282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44EBE9-7455-45BB-B754-185DB5F54E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2584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A70DC58-850F-43CA-890F-D53C4EB76C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7F1F254-CB04-A0DB-F5F0-5C426DD558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C631A4-904C-7E9E-3B92-536F279E17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BAF82-22F1-4FAE-81B2-F633E93121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53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9F327E7-69AE-4ED7-7EED-D4498084B1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84C1B8F-961F-E65B-752C-0B13C79D6C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6F17C56-63ED-0FE5-0417-70CE0E6689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C740F-05C4-45DF-8B03-592C5EE223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3121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02FE9A1-F6F2-2AC0-A661-CA6BC8728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5011FDB-55B5-4C0A-E81B-5779772008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1FC5D82-F8C0-87A1-B518-B94AE5CB80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40783-5EFB-4975-9398-DCA244BA0D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68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50922E-8389-D489-2182-A480F1918C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372758-632F-6197-8BCC-CADD8C8AE7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9A2B26-72D8-64FE-BFBA-5DF552D5E9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E77C6-A931-4E23-80C1-C9BDDFF9D6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76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24707A-4DC3-BFBB-E869-55997632DD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F19486-E280-DF7D-02C7-8F2A211EC0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A92594-3DA9-ACC5-EF94-74B22E1FA4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7435F-96E1-47C3-BDA2-AD56349BE1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591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5C69E7-C32A-6244-00FF-177EA5BF07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5EA121-A0DE-6346-C4AD-76AF0A4B1F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E0DADF-8296-2B46-4EE9-AF63608627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788-3E6A-44A5-BA82-57831FDC15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6646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336EC6-9924-5DFD-A616-7E6B6D3B8E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945A28-0D53-AFF4-2D65-85DDBD13B7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FD7544-D810-65A1-8356-EAEBA0BD38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6D517B-AC23-4033-9BB6-C630B08C71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812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49B7EDD-F521-5697-2E79-2C759DE5F3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EFBFFD-F822-CF76-26AA-C2A6D3A56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127C32E-75EA-608A-CC00-7FBA05CBCAC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AE0027D-5FD6-E564-404C-432A03C44A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EB4A194-7BAD-3DCF-0050-4516BD8FE0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1D441EA-BE0B-4AEF-83DB-ECC7EE98D7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97A4FAA-9825-2E62-E12C-33AB2745F1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第八讲 初等数论</a:t>
            </a:r>
            <a:br>
              <a:rPr lang="zh-CN" altLang="en-US" dirty="0">
                <a:latin typeface="宋体" panose="02010600030101010101" pitchFamily="2" charset="-122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A33E7AA-E31A-AD1B-86BE-1B9293C69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990600"/>
          </a:xfrm>
        </p:spPr>
        <p:txBody>
          <a:bodyPr/>
          <a:lstStyle/>
          <a:p>
            <a:pPr eaLnBrk="1" hangingPunct="1"/>
            <a:r>
              <a:rPr lang="zh-CN" altLang="en-US" sz="4000"/>
              <a:t>本讲提要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8667DB4-1ABF-AB01-CECA-423EEF839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5105400" cy="838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zh-CN" altLang="en-US" sz="3600" dirty="0">
                <a:latin typeface="+mn-ea"/>
              </a:rPr>
              <a:t> 原根</a:t>
            </a:r>
            <a:endParaRPr lang="en-US" altLang="zh-CN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>
            <a:extLst>
              <a:ext uri="{FF2B5EF4-FFF2-40B4-BE49-F238E27FC236}">
                <a16:creationId xmlns:a16="http://schemas.microsoft.com/office/drawing/2014/main" id="{EE1E05D5-DAAA-1C69-4379-0D6542893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38100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整数的次数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44F227A-3613-A32F-F329-A99A0D0CAAE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10473" y="685800"/>
                <a:ext cx="8523053" cy="6019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2800" b="1" dirty="0">
                    <a:latin typeface="+mn-ea"/>
                  </a:rPr>
                  <a:t>定义</a:t>
                </a:r>
                <a:r>
                  <a:rPr lang="en-US" altLang="zh-CN" sz="2800" b="1" dirty="0">
                    <a:latin typeface="+mn-ea"/>
                  </a:rPr>
                  <a:t>1 </a:t>
                </a:r>
                <a:r>
                  <a:rPr lang="zh-CN" altLang="zh-CN" sz="28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zh-CN" altLang="zh-CN" sz="2800">
                        <a:latin typeface="Cambria Math" panose="02040503050406030204" pitchFamily="18" charset="0"/>
                      </a:rPr>
                      <m:t>，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是使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1(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成立的最小正整数，则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叫做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的次数。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endParaRPr lang="zh-CN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1 </a:t>
                </a:r>
                <a:r>
                  <a:rPr lang="zh-CN" altLang="zh-CN" sz="28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的次数为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，如有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1(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1</a:t>
                </a:r>
                <a:r>
                  <a:rPr lang="zh-CN" altLang="zh-CN" sz="2800" b="1" dirty="0">
                    <a:latin typeface="+mn-ea"/>
                  </a:rPr>
                  <a:t>证明</a:t>
                </a:r>
                <a:r>
                  <a:rPr lang="en-US" altLang="zh-CN" sz="2800" b="1" dirty="0">
                    <a:latin typeface="+mn-ea"/>
                  </a:rPr>
                  <a:t>.</a:t>
                </a:r>
                <a:endParaRPr lang="zh-CN" altLang="zh-CN" sz="2800" b="1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不成立，有：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𝑞𝑙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1≡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𝑞𝑙</m:t>
                        </m:r>
                      </m:sup>
                    </m:sSup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。这违反了定义</a:t>
                </a:r>
                <a:r>
                  <a:rPr lang="en-US" altLang="zh-CN" sz="2800" dirty="0">
                    <a:latin typeface="+mn-ea"/>
                  </a:rPr>
                  <a:t>1</a:t>
                </a:r>
                <a:r>
                  <a:rPr lang="zh-CN" altLang="zh-CN" sz="2800" dirty="0">
                    <a:latin typeface="+mn-ea"/>
                  </a:rPr>
                  <a:t>。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endParaRPr lang="zh-CN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推论</a:t>
                </a:r>
                <a:r>
                  <a:rPr lang="en-US" altLang="zh-CN" sz="2800" b="1" dirty="0">
                    <a:latin typeface="+mn-ea"/>
                  </a:rPr>
                  <a:t>1 </a:t>
                </a:r>
                <a:r>
                  <a:rPr lang="zh-CN" altLang="zh-CN" sz="28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的次数为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2800" dirty="0">
                    <a:latin typeface="+mn-ea"/>
                  </a:rPr>
                  <a:t>。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dirty="0">
                    <a:latin typeface="+mn-ea"/>
                  </a:rPr>
                  <a:t>根据第三讲的欧拉定理，推论</a:t>
                </a:r>
                <a:r>
                  <a:rPr lang="en-US" altLang="zh-CN" sz="2800" dirty="0">
                    <a:latin typeface="+mn-ea"/>
                  </a:rPr>
                  <a:t>1</a:t>
                </a:r>
                <a:r>
                  <a:rPr lang="zh-CN" altLang="zh-CN" sz="2800" dirty="0">
                    <a:latin typeface="+mn-ea"/>
                  </a:rPr>
                  <a:t>是显然的。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44F227A-3613-A32F-F329-A99A0D0CA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473" y="685800"/>
                <a:ext cx="8523053" cy="6019800"/>
              </a:xfrm>
              <a:prstGeom prst="rect">
                <a:avLst/>
              </a:prstGeom>
              <a:blipFill>
                <a:blip r:embed="rId2"/>
                <a:stretch>
                  <a:fillRect l="-1502" t="-1216" b="-10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1E81A50-E1E7-9DB9-1A63-F65EC8B1E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81000"/>
            <a:ext cx="312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2 </a:t>
            </a:r>
            <a:r>
              <a:rPr lang="zh-CN" altLang="en-US" dirty="0">
                <a:solidFill>
                  <a:srgbClr val="0070C0"/>
                </a:solidFill>
              </a:rPr>
              <a:t>缩系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续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6135101-0252-B0F4-8834-6919C83AB49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1300" y="956733"/>
                <a:ext cx="8661400" cy="5520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zh-CN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b="1" dirty="0">
                    <a:solidFill>
                      <a:srgbClr val="0070C0"/>
                    </a:solidFill>
                    <a:latin typeface="+mn-ea"/>
                  </a:rPr>
                  <a:t>9(</a:t>
                </a:r>
                <a:r>
                  <a:rPr lang="zh-CN" altLang="zh-CN" b="1" dirty="0">
                    <a:solidFill>
                      <a:srgbClr val="0070C0"/>
                    </a:solidFill>
                    <a:latin typeface="+mn-ea"/>
                  </a:rPr>
                  <a:t>欧拉定理</a:t>
                </a:r>
                <a:r>
                  <a:rPr lang="en-US" altLang="zh-CN" b="1" dirty="0">
                    <a:solidFill>
                      <a:srgbClr val="0070C0"/>
                    </a:solidFill>
                    <a:latin typeface="+mn-ea"/>
                  </a:rPr>
                  <a:t>) </a:t>
                </a:r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                        </m:t>
                        </m:r>
                        <m:r>
                          <a:rPr lang="en-US" altLang="zh-CN" b="0" i="1" kern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。</a:t>
                </a:r>
                <a:endParaRPr lang="en-US" altLang="zh-CN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b="1" dirty="0">
                    <a:solidFill>
                      <a:srgbClr val="0070C0"/>
                    </a:solidFill>
                    <a:latin typeface="+mn-ea"/>
                  </a:rPr>
                  <a:t>9</a:t>
                </a:r>
                <a:r>
                  <a:rPr lang="zh-CN" altLang="zh-CN" b="1" dirty="0">
                    <a:solidFill>
                      <a:srgbClr val="0070C0"/>
                    </a:solidFill>
                    <a:latin typeface="+mn-ea"/>
                  </a:rPr>
                  <a:t>证明</a:t>
                </a:r>
                <a:r>
                  <a:rPr lang="en-US" altLang="zh-CN" b="1" dirty="0">
                    <a:solidFill>
                      <a:srgbClr val="0070C0"/>
                    </a:solidFill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的一组缩系，由定理</a:t>
                </a:r>
                <a:r>
                  <a:rPr lang="en-US" altLang="zh-CN" dirty="0">
                    <a:solidFill>
                      <a:srgbClr val="0070C0"/>
                    </a:solidFill>
                    <a:latin typeface="+mn-ea"/>
                  </a:rPr>
                  <a:t>8</a:t>
                </a:r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亦是模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的缩系。因此，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𝑎𝑟</m:t>
                        </m:r>
                      </m:e>
                      <m:sub>
                        <m:r>
                          <a:rPr lang="el-GR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b>
                    </m:sSub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CN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l-GR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l-GR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CN" kern="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。因为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的</a:t>
                </a:r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一组</a:t>
                </a:r>
                <a:r>
                  <a:rPr lang="zh-CN" altLang="zh-CN" dirty="0">
                    <a:solidFill>
                      <a:srgbClr val="0070C0"/>
                    </a:solidFill>
                    <a:latin typeface="+mn-ea"/>
                  </a:rPr>
                  <a:t>缩系</a:t>
                </a:r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l-GR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b>
                    </m:sSub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，由上讲定理</a:t>
                </a:r>
                <a:r>
                  <a:rPr lang="en-US" altLang="zh-CN" dirty="0">
                    <a:solidFill>
                      <a:srgbClr val="0070C0"/>
                    </a:solidFill>
                    <a:latin typeface="+mn-ea"/>
                  </a:rPr>
                  <a:t>12</a:t>
                </a:r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1(</m:t>
                    </m:r>
                    <m:r>
                      <m:rPr>
                        <m:sty m:val="p"/>
                      </m:rPr>
                      <a:rPr lang="en-US" altLang="zh-CN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solidFill>
                      <a:srgbClr val="0070C0"/>
                    </a:solidFill>
                    <a:latin typeface="+mn-ea"/>
                  </a:rPr>
                  <a:t>。</a:t>
                </a:r>
                <a:endParaRPr lang="zh-CN" altLang="zh-CN" dirty="0">
                  <a:solidFill>
                    <a:srgbClr val="0070C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6135101-0252-B0F4-8834-6919C83AB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300" y="956733"/>
                <a:ext cx="8661400" cy="5520267"/>
              </a:xfrm>
              <a:prstGeom prst="rect">
                <a:avLst/>
              </a:prstGeom>
              <a:blipFill>
                <a:blip r:embed="rId2"/>
                <a:stretch>
                  <a:fillRect l="-1831" t="-1766" r="-1831" b="-34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1243020-574E-4D86-C696-DFDB82389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整数的次数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F84A754-9678-E66A-3E1C-A19CFE75000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834452"/>
                <a:ext cx="8523053" cy="3962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2 </a:t>
                </a:r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zh-CN" dirty="0"/>
                  <a:t>对模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/>
                  <a:t>的次数为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/>
                  <a:t>，则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对模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/>
                  <a:t>两两互不同余。</a:t>
                </a:r>
              </a:p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2</a:t>
                </a:r>
                <a:r>
                  <a:rPr lang="zh-CN" altLang="zh-CN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  <a:endParaRPr lang="zh-CN" altLang="zh-CN" b="1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/>
                  <a:t>若结论不</a:t>
                </a:r>
                <a:r>
                  <a:rPr lang="zh-CN" altLang="en-US" dirty="0"/>
                  <a:t>成立</a:t>
                </a:r>
                <a:r>
                  <a:rPr lang="zh-CN" altLang="zh-CN" dirty="0"/>
                  <a:t>，有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zh-CN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dirty="0"/>
                  <a:t>，使的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≡1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 而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dirty="0"/>
                  <a:t>，这与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/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zh-CN" dirty="0"/>
                  <a:t>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/>
                  <a:t>的次数矛盾。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F84A754-9678-E66A-3E1C-A19CFE750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834452"/>
                <a:ext cx="8523053" cy="3962400"/>
              </a:xfrm>
              <a:prstGeom prst="rect">
                <a:avLst/>
              </a:prstGeom>
              <a:blipFill>
                <a:blip r:embed="rId3"/>
                <a:stretch>
                  <a:fillRect l="-1860" t="-2462" r="-1788" b="-12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27076BD-E119-9B0B-FF43-C9EA5FD769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整数的次数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03A1F1F-2ED7-FA13-13D2-46855AE507E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774492"/>
                <a:ext cx="8763000" cy="60835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3 </a:t>
                </a:r>
                <a:r>
                  <a:rPr lang="zh-CN" altLang="zh-CN" sz="28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的次数为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zh-CN" altLang="zh-CN" sz="2800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的次数为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8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zh-CN" sz="2800" dirty="0">
                    <a:latin typeface="+mn-ea"/>
                  </a:rPr>
                  <a:t>。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3</a:t>
                </a:r>
                <a:r>
                  <a:rPr lang="zh-CN" altLang="zh-CN" sz="2800" b="1" dirty="0">
                    <a:latin typeface="+mn-ea"/>
                  </a:rPr>
                  <a:t>证明</a:t>
                </a:r>
                <a:r>
                  <a:rPr lang="en-US" altLang="zh-CN" sz="2800" b="1" dirty="0">
                    <a:latin typeface="+mn-ea"/>
                  </a:rPr>
                  <a:t>.</a:t>
                </a:r>
                <a:endParaRPr lang="zh-CN" altLang="zh-CN" sz="2800" b="1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dirty="0"/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800" dirty="0"/>
                  <a:t>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zh-CN" altLang="en-US" sz="2800" dirty="0"/>
                  <a:t>的次数，有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</m:t>
                    </m:r>
                    <m:box>
                      <m:box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groupChr>
                          <m:groupChrPr>
                            <m:chr m:val="⇒"/>
                            <m:vertJc m:val="bot"/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zh-CN" altLang="zh-CN" sz="2800">
                                <a:latin typeface="Cambria Math" panose="02040503050406030204" pitchFamily="18" charset="0"/>
                              </a:rPr>
                              <m:t>定理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groupChr>
                      </m:e>
                    </m:box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800" dirty="0"/>
                  <a:t>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den>
                    </m:f>
                    <m:d>
                      <m:dPr>
                        <m:begChr m:val="|"/>
                        <m:endChr m:val="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d>
                              <m:d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den>
                        </m:f>
                        <m:sSub>
                          <m:sSub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800" dirty="0"/>
                  <a:t>， 由于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d>
                              <m:d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den>
                        </m:f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，</m:t>
                        </m:r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d>
                              <m:d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sz="2800" dirty="0"/>
                  <a:t>，</a:t>
                </a:r>
                <a:r>
                  <a:rPr lang="zh-CN" altLang="en-US" sz="2800" dirty="0"/>
                  <a:t>根据第一讲定理</a:t>
                </a:r>
                <a:r>
                  <a:rPr lang="en-US" altLang="zh-CN" sz="2800" dirty="0"/>
                  <a:t>5</a:t>
                </a:r>
                <a:r>
                  <a:rPr lang="zh-CN" altLang="zh-CN" sz="2800" dirty="0"/>
                  <a:t>得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d>
                              <m:d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den>
                        </m:f>
                      </m:e>
                    </m:d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800" dirty="0"/>
                  <a:t>。</a:t>
                </a:r>
              </a:p>
              <a:p>
                <a:pPr marL="0" indent="0">
                  <a:buNone/>
                </a:pPr>
                <a:r>
                  <a:rPr lang="zh-CN" altLang="zh-CN" sz="2800" dirty="0"/>
                  <a:t>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d>
                              <m:d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den>
                        </m:f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d>
                              <m:d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den>
                        </m:f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800" dirty="0"/>
                  <a:t>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d>
                              <m:d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，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zh-CN" altLang="zh-CN" sz="2800" dirty="0"/>
                  <a:t>，因此，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CN" sz="2800" dirty="0"/>
                  <a:t> </a:t>
                </a:r>
                <a:r>
                  <a:rPr lang="zh-CN" altLang="zh-CN" sz="2800" dirty="0"/>
                  <a:t>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03A1F1F-2ED7-FA13-13D2-46855AE50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774492"/>
                <a:ext cx="8763000" cy="6083508"/>
              </a:xfrm>
              <a:prstGeom prst="rect">
                <a:avLst/>
              </a:prstGeom>
              <a:blipFill>
                <a:blip r:embed="rId2"/>
                <a:stretch>
                  <a:fillRect l="-1461" t="-1002" r="-118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D773009E-C073-1DBA-D844-CC4355114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53340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600" dirty="0">
                <a:solidFill>
                  <a:srgbClr val="0070C0"/>
                </a:solidFill>
                <a:latin typeface="宋体" panose="02010600030101010101" pitchFamily="2" charset="-122"/>
              </a:rPr>
              <a:t>2 </a:t>
            </a:r>
            <a:r>
              <a:rPr lang="zh-CN" altLang="en-US" sz="3600" dirty="0">
                <a:solidFill>
                  <a:srgbClr val="0070C0"/>
                </a:solidFill>
                <a:latin typeface="宋体" panose="02010600030101010101" pitchFamily="2" charset="-122"/>
              </a:rPr>
              <a:t>最大公约数</a:t>
            </a:r>
            <a:r>
              <a:rPr lang="en-US" altLang="zh-CN" sz="3600" dirty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600" dirty="0">
                <a:solidFill>
                  <a:srgbClr val="0070C0"/>
                </a:solidFill>
                <a:latin typeface="宋体" panose="02010600030101010101" pitchFamily="2" charset="-122"/>
              </a:rPr>
              <a:t>续</a:t>
            </a:r>
            <a:r>
              <a:rPr lang="en-US" altLang="zh-CN" sz="3600" dirty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E292E67-2882-EC0B-1BAE-6F72F849F6D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914400"/>
                <a:ext cx="8458200" cy="5486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en-US" sz="3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:r>
                  <a:rPr lang="zh-CN" alt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𝑏𝑐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zh-CN" altLang="en-US" sz="30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)=1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3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3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zh-CN" altLang="en-US" sz="3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zh-CN" alt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根据定理</a:t>
                </a:r>
                <a:r>
                  <a:rPr lang="en-US" altLang="zh-CN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zh-CN" alt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，我们有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</m:t>
                    </m:r>
                    <m:r>
                      <a:rPr lang="en-US" altLang="zh-CN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𝑛𝑏</m:t>
                    </m:r>
                    <m:r>
                      <a:rPr lang="en-US" altLang="zh-CN" sz="3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n-US" altLang="zh-CN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</m:t>
                    </m:r>
                    <m:r>
                      <a:rPr lang="en-US" altLang="zh-CN" sz="3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𝑛𝑏𝑐</m:t>
                    </m:r>
                    <m:r>
                      <a:rPr lang="en-US" altLang="zh-CN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3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3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</m:oMath>
                </a14:m>
                <a:r>
                  <a:rPr lang="en-US" altLang="zh-CN" sz="3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</m:oMath>
                </a14:m>
                <a:r>
                  <a:rPr lang="en-US" altLang="zh-CN" sz="3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zh-CN" altLang="zh-CN" sz="3000" dirty="0">
                        <a:solidFill>
                          <a:srgbClr val="0070C0"/>
                        </a:solidFill>
                        <a:latin typeface="+mn-ea"/>
                      </a:rPr>
                      <m:t>，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m:rPr>
                        <m:nor/>
                      </m:rPr>
                      <a:rPr lang="zh-CN" altLang="zh-CN" sz="3000" dirty="0">
                        <a:solidFill>
                          <a:srgbClr val="0070C0"/>
                        </a:solidFill>
                        <a:latin typeface="+mn-ea"/>
                      </a:rPr>
                      <m:t>，</m:t>
                    </m:r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</m:oMath>
                </a14:m>
                <a:r>
                  <a:rPr lang="en-US" altLang="zh-CN" sz="3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</m:oMath>
                </a14:m>
                <a:r>
                  <a:rPr lang="en-US" altLang="zh-CN" sz="3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，那么有下面的定理。</a:t>
                </a:r>
              </a:p>
              <a:p>
                <a:pPr marL="0" indent="0">
                  <a:buNone/>
                </a:pPr>
                <a:r>
                  <a:rPr lang="zh-CN" altLang="zh-CN" sz="3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 </a:t>
                </a:r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:r>
                  <a:rPr lang="en-US" altLang="zh-CN" sz="3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&gt;2</m:t>
                    </m:r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个正整数，则</a:t>
                </a:r>
                <a:r>
                  <a:rPr lang="en-US" altLang="zh-CN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3000" dirty="0">
                    <a:solidFill>
                      <a:srgbClr val="0070C0"/>
                    </a:solidFill>
                    <a:latin typeface="+mn-ea"/>
                  </a:rPr>
                  <a:t>。</a:t>
                </a:r>
                <a:endParaRPr lang="zh-CN" altLang="en-US" sz="3000" dirty="0">
                  <a:solidFill>
                    <a:srgbClr val="0070C0"/>
                  </a:solidFill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E292E67-2882-EC0B-1BAE-6F72F849F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914400"/>
                <a:ext cx="8458200" cy="5486400"/>
              </a:xfrm>
              <a:prstGeom prst="rect">
                <a:avLst/>
              </a:prstGeom>
              <a:blipFill>
                <a:blip r:embed="rId2"/>
                <a:stretch>
                  <a:fillRect l="-1730" t="-17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0F2868-D05F-F077-4A32-9FEE03D3A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整数的次数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B10A610-8EB0-F18A-26E0-A0E335C00E2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774492"/>
                <a:ext cx="8763000" cy="34927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推论</a:t>
                </a:r>
                <a:r>
                  <a:rPr lang="en-US" altLang="zh-CN" b="1" dirty="0">
                    <a:latin typeface="+mn-ea"/>
                  </a:rPr>
                  <a:t>2 </a:t>
                </a: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zh-CN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的次数为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个数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>
                    <a:latin typeface="+mn-ea"/>
                  </a:rPr>
                  <a:t>， 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的次数为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由定理</a:t>
                </a:r>
                <a:r>
                  <a:rPr lang="en-US" altLang="zh-CN" dirty="0">
                    <a:latin typeface="+mn-ea"/>
                  </a:rPr>
                  <a:t>2</a:t>
                </a:r>
                <a:r>
                  <a:rPr lang="zh-CN" altLang="zh-CN" dirty="0">
                    <a:latin typeface="+mn-ea"/>
                  </a:rPr>
                  <a:t>、</a:t>
                </a:r>
                <a:r>
                  <a:rPr lang="en-US" altLang="zh-CN" dirty="0">
                    <a:latin typeface="+mn-ea"/>
                  </a:rPr>
                  <a:t>3</a:t>
                </a:r>
                <a:r>
                  <a:rPr lang="zh-CN" altLang="zh-CN" dirty="0">
                    <a:latin typeface="+mn-ea"/>
                  </a:rPr>
                  <a:t>知推论</a:t>
                </a:r>
                <a:r>
                  <a:rPr lang="en-US" altLang="zh-CN" dirty="0">
                    <a:latin typeface="+mn-ea"/>
                  </a:rPr>
                  <a:t>2</a:t>
                </a:r>
                <a:r>
                  <a:rPr lang="zh-CN" altLang="zh-CN" dirty="0">
                    <a:latin typeface="+mn-ea"/>
                  </a:rPr>
                  <a:t>显然成立。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B10A610-8EB0-F18A-26E0-A0E335C00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774492"/>
                <a:ext cx="8763000" cy="3492708"/>
              </a:xfrm>
              <a:prstGeom prst="rect">
                <a:avLst/>
              </a:prstGeom>
              <a:blipFill>
                <a:blip r:embed="rId2"/>
                <a:stretch>
                  <a:fillRect l="-1809" t="-27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3127458-447D-8D34-58EF-4312C71B6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4038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整数的次数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F7AA6A1-9C68-449F-9759-FBC58B57E36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06608" y="682052"/>
                <a:ext cx="8330784" cy="60235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4 </a:t>
                </a: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是一个素数，如果存在整数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zh-CN" dirty="0">
                    <a:latin typeface="+mn-ea"/>
                  </a:rPr>
                  <a:t>，它对模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的次数为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>
                    <a:latin typeface="+mn-ea"/>
                  </a:rPr>
                  <a:t>，则恰有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个对模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两两不同余的整数</a:t>
                </a:r>
                <a:r>
                  <a:rPr lang="zh-CN" altLang="en-US" dirty="0">
                    <a:latin typeface="+mn-ea"/>
                  </a:rPr>
                  <a:t>，</a:t>
                </a:r>
                <a:r>
                  <a:rPr lang="zh-CN" altLang="zh-CN" dirty="0">
                    <a:latin typeface="+mn-ea"/>
                  </a:rPr>
                  <a:t>它们对模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的次数都为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4</a:t>
                </a:r>
                <a:r>
                  <a:rPr lang="zh-CN" altLang="zh-CN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  <a:endParaRPr lang="zh-CN" altLang="zh-CN" b="1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zh-CN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的次数为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>
                    <a:latin typeface="+mn-ea"/>
                  </a:rPr>
                  <a:t>。定理</a:t>
                </a:r>
                <a:r>
                  <a:rPr lang="en-US" altLang="zh-CN" dirty="0">
                    <a:latin typeface="+mn-ea"/>
                  </a:rPr>
                  <a:t>2</a:t>
                </a:r>
                <a:r>
                  <a:rPr lang="zh-CN" altLang="zh-CN" dirty="0">
                    <a:latin typeface="+mn-ea"/>
                  </a:rPr>
                  <a:t>说明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zh-CN" altLang="zh-CN" dirty="0">
                    <a:latin typeface="+mn-ea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两两互不同余，因此，根据第</a:t>
                </a:r>
                <a:r>
                  <a:rPr lang="zh-CN" altLang="en-US" dirty="0">
                    <a:latin typeface="+mn-ea"/>
                  </a:rPr>
                  <a:t>四</a:t>
                </a:r>
                <a:r>
                  <a:rPr lang="zh-CN" altLang="zh-CN" dirty="0">
                    <a:latin typeface="+mn-ea"/>
                  </a:rPr>
                  <a:t>讲的定理</a:t>
                </a:r>
                <a:r>
                  <a:rPr lang="en-US" altLang="zh-CN" dirty="0">
                    <a:latin typeface="+mn-ea"/>
                  </a:rPr>
                  <a:t>2</a:t>
                </a:r>
                <a:r>
                  <a:rPr lang="zh-CN" altLang="zh-CN" dirty="0">
                    <a:latin typeface="+mn-ea"/>
                  </a:rPr>
                  <a:t>，其是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的全部解。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而次数为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>
                    <a:latin typeface="+mn-ea"/>
                  </a:rPr>
                  <a:t>的整数必包含于其中。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由推论</a:t>
                </a:r>
                <a:r>
                  <a:rPr lang="en-US" altLang="zh-CN" dirty="0">
                    <a:latin typeface="+mn-ea"/>
                  </a:rPr>
                  <a:t>2</a:t>
                </a:r>
                <a:r>
                  <a:rPr lang="zh-CN" altLang="zh-CN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>
                    <a:latin typeface="+mn-ea"/>
                  </a:rPr>
                  <a:t>的次数为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>
                    <a:latin typeface="+mn-ea"/>
                  </a:rPr>
                  <a:t>。因此，恰有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个。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F7AA6A1-9C68-449F-9759-FBC58B57E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608" y="682052"/>
                <a:ext cx="8330784" cy="6023548"/>
              </a:xfrm>
              <a:prstGeom prst="rect">
                <a:avLst/>
              </a:prstGeom>
              <a:blipFill>
                <a:blip r:embed="rId2"/>
                <a:stretch>
                  <a:fillRect l="-1903" t="-1619" b="-25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981DD0C-EAE1-31FD-6DEE-6368C5FF87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04800"/>
            <a:ext cx="5486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2 </a:t>
            </a:r>
            <a:r>
              <a:rPr lang="zh-CN" altLang="en-US" dirty="0">
                <a:solidFill>
                  <a:srgbClr val="0070C0"/>
                </a:solidFill>
              </a:rPr>
              <a:t>模是素数的同余式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D2A4DA70-8AD6-D2F5-39B1-CEFEDEBA692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9764" y="834452"/>
                <a:ext cx="8403236" cy="5718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3000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2(</a:t>
                </a:r>
                <a:r>
                  <a:rPr lang="zh-CN" altLang="en-US" sz="3000" b="1" dirty="0">
                    <a:solidFill>
                      <a:srgbClr val="0070C0"/>
                    </a:solidFill>
                    <a:latin typeface="+mn-ea"/>
                  </a:rPr>
                  <a:t>拉格朗日定理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) </a:t>
                </a: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1" kern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是素数，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3000" kern="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，是一个整系数多项式，则同余式</a:t>
                </a:r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000" b="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000" i="1" ker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000" b="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3000" i="1" ker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CN" sz="3000" b="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3000" i="1" ker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3000" ker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000" ker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000" b="0" i="1" kern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3000" i="1" ker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最多有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个解。</a:t>
                </a:r>
                <a:endParaRPr lang="en-US" altLang="zh-CN" sz="3000" b="1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2</a:t>
                </a:r>
                <a:r>
                  <a:rPr lang="zh-CN" altLang="en-US" sz="3000" b="1" dirty="0">
                    <a:solidFill>
                      <a:srgbClr val="0070C0"/>
                    </a:solidFill>
                    <a:latin typeface="+mn-ea"/>
                  </a:rPr>
                  <a:t>证明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归纳法。</a:t>
                </a:r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∤</m:t>
                        </m:r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，恰有一解。</a:t>
                </a:r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假定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时为真，即最多有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个解，需证明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时最多只有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个解。如果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000" b="0" i="1" kern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000" dirty="0">
                    <a:solidFill>
                      <a:srgbClr val="0070C0"/>
                    </a:solidFill>
                    <a:latin typeface="+mn-ea"/>
                  </a:rPr>
                  <a:t>结论立即成立。</a:t>
                </a:r>
                <a:endParaRPr lang="en-US" altLang="zh-CN" sz="3000" dirty="0">
                  <a:solidFill>
                    <a:srgbClr val="0070C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D2A4DA70-8AD6-D2F5-39B1-CEFEDEBA6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764" y="834452"/>
                <a:ext cx="8403236" cy="5718748"/>
              </a:xfrm>
              <a:prstGeom prst="rect">
                <a:avLst/>
              </a:prstGeom>
              <a:blipFill>
                <a:blip r:embed="rId2"/>
                <a:stretch>
                  <a:fillRect l="-1668" t="-1599" r="-508" b="-6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D00825A-8E53-1B02-529E-C019437859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4038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整数的次数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B4C87C82-F7E1-7082-3F6D-75044DF3CFE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1084" y="682052"/>
                <a:ext cx="8511915" cy="5718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5 </a:t>
                </a: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dirty="0">
                    <a:latin typeface="+mn-ea"/>
                  </a:rPr>
                  <a:t>，则次数是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>
                    <a:latin typeface="+mn-ea"/>
                  </a:rPr>
                  <a:t>的，模素数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互不同余的整数的个数是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个。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5</a:t>
                </a:r>
                <a:r>
                  <a:rPr lang="zh-CN" altLang="zh-CN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  <a:endParaRPr lang="zh-CN" altLang="zh-CN" b="1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代表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dirty="0">
                    <a:latin typeface="+mn-ea"/>
                  </a:rPr>
                  <a:t>中对</a:t>
                </a:r>
                <a:r>
                  <a:rPr lang="zh-CN" altLang="en-US" dirty="0">
                    <a:latin typeface="+mn-ea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次数为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>
                    <a:latin typeface="+mn-ea"/>
                  </a:rPr>
                  <a:t>的个数。因为次数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>
                    <a:latin typeface="+mn-ea"/>
                  </a:rPr>
                  <a:t>只能为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dirty="0">
                    <a:latin typeface="+mn-ea"/>
                  </a:rPr>
                  <a:t>的因数</a:t>
                </a:r>
                <a:r>
                  <a:rPr lang="zh-CN" altLang="en-US" dirty="0">
                    <a:latin typeface="+mn-ea"/>
                  </a:rPr>
                  <a:t>（定理</a:t>
                </a:r>
                <a:r>
                  <a:rPr lang="en-US" altLang="zh-CN" dirty="0">
                    <a:latin typeface="+mn-ea"/>
                  </a:rPr>
                  <a:t>1</a:t>
                </a:r>
                <a:r>
                  <a:rPr lang="zh-CN" altLang="en-US" dirty="0">
                    <a:latin typeface="+mn-ea"/>
                  </a:rPr>
                  <a:t>）</a:t>
                </a:r>
                <a:r>
                  <a:rPr lang="zh-CN" altLang="zh-CN" dirty="0">
                    <a:latin typeface="+mn-ea"/>
                  </a:rPr>
                  <a:t>，故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</m:nary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dirty="0">
                    <a:latin typeface="+mn-ea"/>
                  </a:rPr>
                  <a:t>，另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</m:nary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定理</a:t>
                </a:r>
                <a:r>
                  <a:rPr lang="en-US" altLang="zh-CN" dirty="0">
                    <a:latin typeface="+mn-ea"/>
                  </a:rPr>
                  <a:t>4</a:t>
                </a:r>
                <a:r>
                  <a:rPr lang="zh-CN" altLang="zh-CN" dirty="0">
                    <a:latin typeface="+mn-ea"/>
                  </a:rPr>
                  <a:t>说明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dirty="0">
                    <a:latin typeface="+mn-ea"/>
                  </a:rPr>
                  <a:t>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上两式做差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/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因此，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B4C87C82-F7E1-7082-3F6D-75044DF3C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084" y="682052"/>
                <a:ext cx="8511915" cy="5718748"/>
              </a:xfrm>
              <a:prstGeom prst="rect">
                <a:avLst/>
              </a:prstGeom>
              <a:blipFill>
                <a:blip r:embed="rId2"/>
                <a:stretch>
                  <a:fillRect l="-1791" t="-1706" r="-1791" b="-28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E9A7A-CC37-9E43-B6AF-4274A972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18988B9-4435-182E-E40B-97E2151FBC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0"/>
            <a:ext cx="4038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整数的次数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5F21D8C-93F0-F9C8-68CD-01084AA0D2A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13610" y="533400"/>
                <a:ext cx="8549390" cy="6324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5</a:t>
                </a:r>
                <a:r>
                  <a:rPr lang="zh-CN" altLang="zh-CN" sz="2800" b="1" dirty="0">
                    <a:latin typeface="+mn-ea"/>
                  </a:rPr>
                  <a:t>证明</a:t>
                </a:r>
                <a:r>
                  <a:rPr lang="en-US" altLang="zh-CN" sz="2800" b="1" dirty="0">
                    <a:latin typeface="+mn-ea"/>
                  </a:rPr>
                  <a:t>.</a:t>
                </a:r>
                <a:r>
                  <a:rPr lang="en-US" altLang="zh-CN" sz="2800" dirty="0">
                    <a:latin typeface="+mn-ea"/>
                  </a:rPr>
                  <a:t>(</a:t>
                </a:r>
                <a:r>
                  <a:rPr lang="zh-CN" altLang="en-US" sz="2800" dirty="0">
                    <a:latin typeface="+mn-ea"/>
                  </a:rPr>
                  <a:t>续</a:t>
                </a:r>
                <a:r>
                  <a:rPr lang="en-US" altLang="zh-CN" sz="2800" dirty="0">
                    <a:latin typeface="+mn-ea"/>
                  </a:rPr>
                  <a:t>)</a:t>
                </a:r>
                <a:endParaRPr lang="zh-CN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dirty="0">
                    <a:latin typeface="+mn-ea"/>
                  </a:rPr>
                  <a:t>把正整数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按其与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的最大公约数分类，即相同分一类。</a:t>
                </a:r>
              </a:p>
              <a:p>
                <a:pPr marL="0" indent="0">
                  <a:buNone/>
                </a:pPr>
                <a:r>
                  <a:rPr lang="zh-CN" altLang="zh-CN" sz="2800" dirty="0">
                    <a:latin typeface="+mn-ea"/>
                  </a:rPr>
                  <a:t>这种子集为：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800" dirty="0">
                    <a:latin typeface="+mn-ea"/>
                  </a:rPr>
                  <a:t> (</a:t>
                </a:r>
                <a:r>
                  <a:rPr lang="zh-CN" altLang="zh-CN" sz="2800" dirty="0">
                    <a:latin typeface="+mn-ea"/>
                  </a:rPr>
                  <a:t>为对全体数的一个不相交划分</a:t>
                </a:r>
                <a:r>
                  <a:rPr lang="en-US" altLang="zh-CN" sz="2800" dirty="0">
                    <a:latin typeface="+mn-ea"/>
                  </a:rPr>
                  <a:t>)</a:t>
                </a:r>
                <a:r>
                  <a:rPr lang="zh-CN" altLang="zh-CN" sz="280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sz="28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𝑑h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，有</a:t>
                </a:r>
              </a:p>
              <a:p>
                <a:pPr marL="0" indent="0">
                  <a:buNone/>
                </a:pPr>
                <a:r>
                  <a:rPr lang="en-US" altLang="zh-CN" sz="28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，</m:t>
                        </m:r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zh-CN" sz="2800" dirty="0">
                    <a:latin typeface="+mn-ea"/>
                  </a:rPr>
                  <a:t>，</a:t>
                </a:r>
              </a:p>
              <a:p>
                <a:pPr marL="0" indent="0">
                  <a:buNone/>
                </a:pPr>
                <a:r>
                  <a:rPr lang="zh-CN" altLang="zh-CN" sz="2800" dirty="0">
                    <a:latin typeface="+mn-ea"/>
                  </a:rPr>
                  <a:t>因此，这样的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的个数为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2800" dirty="0">
                    <a:latin typeface="+mn-ea"/>
                  </a:rPr>
                  <a:t>，即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e>
                    </m:nary>
                  </m:oMath>
                </a14:m>
                <a:r>
                  <a:rPr lang="zh-CN" altLang="zh-CN" sz="2800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5F21D8C-93F0-F9C8-68CD-01084AA0D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610" y="533400"/>
                <a:ext cx="8549390" cy="6324600"/>
              </a:xfrm>
              <a:prstGeom prst="rect">
                <a:avLst/>
              </a:prstGeom>
              <a:blipFill>
                <a:blip r:embed="rId2"/>
                <a:stretch>
                  <a:fillRect l="-1426" t="-1061" r="-4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2640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7374209-C313-0942-1725-C1ED3BBF8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7620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原根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7DAC586-DB6A-9F55-B0A3-4BBFE32ECFF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81000" y="874426"/>
                <a:ext cx="8203992" cy="51091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定义</a:t>
                </a:r>
                <a:r>
                  <a:rPr lang="en-US" altLang="zh-CN" b="1" dirty="0">
                    <a:latin typeface="+mn-ea"/>
                  </a:rPr>
                  <a:t>2 </a:t>
                </a:r>
                <a:r>
                  <a:rPr lang="zh-CN" altLang="zh-CN" dirty="0"/>
                  <a:t>设整数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/>
                  <a:t>，如果整数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zh-CN" dirty="0"/>
                  <a:t>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/>
                  <a:t>的次数为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dirty="0"/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zh-CN" dirty="0"/>
                  <a:t>叫模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/>
                  <a:t>的一个原根。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6 </a:t>
                </a:r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dirty="0"/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zh-CN" dirty="0"/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/>
                  <a:t>的一个原根的充分必要条件是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，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sSup>
                        <m:sSupPr>
                          <m:ctrlPr>
                            <a:rPr lang="zh-CN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组成模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/>
                  <a:t>的一组缩系。</a:t>
                </a:r>
              </a:p>
              <a:p>
                <a:pPr marL="0" indent="0">
                  <a:buNone/>
                </a:pPr>
                <a:endParaRPr lang="zh-CN" altLang="zh-CN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7DAC586-DB6A-9F55-B0A3-4BBFE32EC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874426"/>
                <a:ext cx="8203992" cy="5109148"/>
              </a:xfrm>
              <a:prstGeom prst="rect">
                <a:avLst/>
              </a:prstGeom>
              <a:blipFill>
                <a:blip r:embed="rId2"/>
                <a:stretch>
                  <a:fillRect l="-1933" t="-1907" r="-2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C2C8EDE-4238-BA30-896D-5C23BBB39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4038600" cy="6096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原根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522C701-5726-BB7C-1541-8ED68842BE6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6102" y="785734"/>
                <a:ext cx="8549390" cy="4929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6</a:t>
                </a:r>
                <a:r>
                  <a:rPr lang="zh-CN" altLang="zh-CN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  <a:endParaRPr lang="zh-CN" altLang="zh-CN" dirty="0">
                  <a:latin typeface="+mn-ea"/>
                </a:endParaRPr>
              </a:p>
              <a:p>
                <a:pPr marL="0" indent="0" eaLnBrk="1">
                  <a:buNone/>
                </a:pPr>
                <a:r>
                  <a:rPr lang="zh-CN" altLang="zh-CN" dirty="0">
                    <a:latin typeface="+mn-ea"/>
                  </a:rPr>
                  <a:t>→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zh-CN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的一个原根，次数为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。根据定理</a:t>
                </a:r>
                <a:r>
                  <a:rPr lang="en-US" altLang="zh-CN" dirty="0">
                    <a:latin typeface="+mn-ea"/>
                  </a:rPr>
                  <a:t>2</a:t>
                </a:r>
                <a:r>
                  <a:rPr lang="zh-CN" altLang="zh-CN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zh-CN" dirty="0">
                    <a:latin typeface="+mn-ea"/>
                  </a:rPr>
                  <a:t>中任意两个互不同余。又因为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zh-CN" dirty="0">
                    <a:latin typeface="+mn-ea"/>
                  </a:rPr>
                  <a:t>都与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互素，因此，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zh-CN" dirty="0">
                    <a:latin typeface="+mn-ea"/>
                  </a:rPr>
                  <a:t>构成模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的一组缩系。</a:t>
                </a:r>
                <a:endParaRPr lang="en-US" altLang="zh-CN" dirty="0">
                  <a:latin typeface="+mn-ea"/>
                </a:endParaRPr>
              </a:p>
              <a:p>
                <a:pPr marL="0" indent="0" eaLnBrk="1">
                  <a:buNone/>
                </a:pPr>
                <a:r>
                  <a:rPr lang="zh-CN" altLang="zh-CN" dirty="0">
                    <a:latin typeface="+mn-ea"/>
                  </a:rPr>
                  <a:t>←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>
                    <a:latin typeface="+mn-ea"/>
                  </a:rPr>
                  <a:t>，由欧拉定理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。所以任意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zh-CN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的一个原根。</a:t>
                </a: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522C701-5726-BB7C-1541-8ED68842B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102" y="785734"/>
                <a:ext cx="8549390" cy="4929266"/>
              </a:xfrm>
              <a:prstGeom prst="rect">
                <a:avLst/>
              </a:prstGeom>
              <a:blipFill>
                <a:blip r:embed="rId2"/>
                <a:stretch>
                  <a:fillRect l="-1782" t="-1607" r="-641" b="-136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7B782BD-65CB-221F-1C7B-C59CFD8435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原根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6595743-3FC1-360C-60DB-35BD976A914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791980"/>
                <a:ext cx="8763000" cy="43896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7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为奇素数</a:t>
                </a:r>
                <a:r>
                  <a:rPr lang="en-US" altLang="zh-CN" dirty="0">
                    <a:latin typeface="+mn-ea"/>
                  </a:rPr>
                  <a:t>)</a:t>
                </a:r>
                <a:r>
                  <a:rPr lang="zh-CN" altLang="zh-CN" dirty="0"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有原根，其他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zh-CN" dirty="0">
                    <a:latin typeface="+mn-ea"/>
                  </a:rPr>
                  <a:t>情况无原根。</a:t>
                </a:r>
              </a:p>
              <a:p>
                <a:pPr marL="0" indent="0">
                  <a:buNone/>
                </a:pP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8 </a:t>
                </a: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的所有不同素因子是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zh-CN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的一个原根的充分必要条件是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zh-CN" dirty="0"/>
                  <a:t>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6595743-3FC1-360C-60DB-35BD976A9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791980"/>
                <a:ext cx="8763000" cy="4389620"/>
              </a:xfrm>
              <a:prstGeom prst="rect">
                <a:avLst/>
              </a:prstGeom>
              <a:blipFill>
                <a:blip r:embed="rId2"/>
                <a:stretch>
                  <a:fillRect l="-1809" t="-2083" r="-2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FD3643-9A53-03F0-5B0D-85714B770B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76200"/>
            <a:ext cx="4343400" cy="6096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原根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39F6C4D-BF7E-AEAE-1291-471D290E333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04800" y="533400"/>
                <a:ext cx="8077200" cy="62946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8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→</a:t>
                </a:r>
                <a:r>
                  <a:rPr lang="en-US" altLang="zh-CN" sz="3000" dirty="0">
                    <a:latin typeface="+mn-ea"/>
                  </a:rPr>
                  <a:t> </a:t>
                </a:r>
                <a:r>
                  <a:rPr lang="zh-CN" altLang="zh-CN" sz="3000" dirty="0"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是原根，次数为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，而任意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</a:rPr>
                      <m:t>0&lt;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。因此，不等同余式成立。</a:t>
                </a:r>
              </a:p>
              <a:p>
                <a:pPr marL="0" indent="0" eaLnBrk="1">
                  <a:buNone/>
                </a:pPr>
                <a:r>
                  <a:rPr lang="zh-CN" altLang="zh-CN" sz="3000" dirty="0">
                    <a:latin typeface="+mn-ea"/>
                  </a:rPr>
                  <a:t>←</a:t>
                </a:r>
                <a:r>
                  <a:rPr lang="en-US" altLang="zh-CN" sz="3000" dirty="0">
                    <a:latin typeface="+mn-ea"/>
                  </a:rPr>
                  <a:t> </a:t>
                </a:r>
                <a:r>
                  <a:rPr lang="zh-CN" altLang="zh-CN" sz="3000" dirty="0">
                    <a:latin typeface="+mn-ea"/>
                  </a:rPr>
                  <a:t>若不等同余式</a:t>
                </a:r>
                <a:r>
                  <a:rPr lang="zh-CN" altLang="en-US" sz="3000" dirty="0">
                    <a:latin typeface="+mn-ea"/>
                  </a:rPr>
                  <a:t>全都</a:t>
                </a:r>
                <a:r>
                  <a:rPr lang="zh-CN" altLang="zh-CN" sz="3000" dirty="0">
                    <a:latin typeface="+mn-ea"/>
                  </a:rPr>
                  <a:t>成立，假设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3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次数为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，因根据推论</a:t>
                </a:r>
                <a:r>
                  <a:rPr lang="en-US" altLang="zh-CN" sz="3000" dirty="0">
                    <a:latin typeface="+mn-ea"/>
                  </a:rPr>
                  <a:t>1</a:t>
                </a:r>
                <a:r>
                  <a:rPr lang="zh-CN" altLang="zh-CN" sz="3000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lang="zh-CN" altLang="zh-CN" sz="3000" dirty="0">
                    <a:latin typeface="+mn-ea"/>
                  </a:rPr>
                  <a:t>为大于</a:t>
                </a:r>
                <a:r>
                  <a:rPr lang="en-US" altLang="zh-CN" sz="3000" dirty="0">
                    <a:latin typeface="+mn-ea"/>
                  </a:rPr>
                  <a:t>1</a:t>
                </a:r>
                <a:r>
                  <a:rPr lang="zh-CN" altLang="zh-CN" sz="3000" dirty="0">
                    <a:latin typeface="+mn-ea"/>
                  </a:rPr>
                  <a:t>的整数，故有某个素数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</a:rPr>
                      <m:t>|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lang="zh-CN" altLang="zh-CN" sz="3000" dirty="0">
                    <a:latin typeface="+mn-ea"/>
                  </a:rPr>
                  <a:t>，即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𝑓𝑢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𝑓𝑢</m:t>
                        </m:r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，这与式</a:t>
                </a:r>
                <a:r>
                  <a:rPr lang="en-US" altLang="zh-CN" sz="30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</a:rPr>
                      <m:t>≢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矛盾。故只能有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  <a:endParaRPr lang="zh-CN" altLang="zh-CN" sz="30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39F6C4D-BF7E-AEAE-1291-471D290E3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533400"/>
                <a:ext cx="8077200" cy="6294620"/>
              </a:xfrm>
              <a:prstGeom prst="rect">
                <a:avLst/>
              </a:prstGeom>
              <a:blipFill>
                <a:blip r:embed="rId2"/>
                <a:stretch>
                  <a:fillRect l="-1736" t="-1260" r="-1208" b="-20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B9852B8B-DD8E-758D-FA09-6E3AD1CAC9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9980"/>
            <a:ext cx="2514600" cy="6096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dirty="0"/>
              <a:t>2 </a:t>
            </a:r>
            <a:r>
              <a:rPr lang="zh-CN" altLang="en-US" sz="2800" dirty="0"/>
              <a:t>原根</a:t>
            </a:r>
            <a:r>
              <a:rPr lang="en-US" altLang="zh-CN" sz="2800" dirty="0"/>
              <a:t>(</a:t>
            </a:r>
            <a:r>
              <a:rPr lang="zh-CN" altLang="en-US" sz="2800" dirty="0"/>
              <a:t>续</a:t>
            </a:r>
            <a:r>
              <a:rPr lang="en-US" altLang="zh-CN" sz="2800" dirty="0"/>
              <a:t>)</a:t>
            </a:r>
          </a:p>
          <a:p>
            <a:pPr eaLnBrk="1" hangingPunct="1">
              <a:buFontTx/>
              <a:buNone/>
            </a:pPr>
            <a:endParaRPr lang="en-US" altLang="zh-C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C4F29DD-1F40-3CE0-0F8D-AF3E04851AF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04800" y="632085"/>
                <a:ext cx="8077200" cy="5562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例子</a:t>
                </a:r>
                <a:r>
                  <a:rPr lang="en-US" altLang="zh-CN" b="1" dirty="0">
                    <a:latin typeface="+mn-ea"/>
                  </a:rPr>
                  <a:t>1 </a:t>
                </a:r>
                <a:r>
                  <a:rPr lang="zh-CN" altLang="en-US" dirty="0">
                    <a:latin typeface="+mn-ea"/>
                  </a:rPr>
                  <a:t>验证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zh-CN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lang="zh-CN" altLang="zh-CN" dirty="0">
                    <a:latin typeface="+mn-ea"/>
                  </a:rPr>
                  <a:t>的一个原根。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=41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41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=40=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≡40≢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41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≡18≢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41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，故由定理</a:t>
                </a:r>
                <a:r>
                  <a:rPr lang="en-US" altLang="zh-CN" dirty="0">
                    <a:latin typeface="+mn-ea"/>
                  </a:rPr>
                  <a:t>8</a:t>
                </a:r>
                <a:r>
                  <a:rPr lang="zh-CN" altLang="zh-CN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zh-CN" altLang="zh-CN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lang="zh-CN" altLang="zh-CN" dirty="0">
                    <a:latin typeface="+mn-ea"/>
                  </a:rPr>
                  <a:t>的一个原根。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9 </a:t>
                </a: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zh-CN" dirty="0">
                    <a:latin typeface="+mn-ea"/>
                  </a:rPr>
                  <a:t>对模奇素数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的次数是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dirty="0">
                    <a:latin typeface="+mn-ea"/>
                  </a:rPr>
                  <a:t>则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都不是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的原根。</a:t>
                </a:r>
                <a:endParaRPr lang="zh-CN" altLang="zh-CN" sz="30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C4F29DD-1F40-3CE0-0F8D-AF3E04851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632085"/>
                <a:ext cx="8077200" cy="5562600"/>
              </a:xfrm>
              <a:prstGeom prst="rect">
                <a:avLst/>
              </a:prstGeom>
              <a:blipFill>
                <a:blip r:embed="rId2"/>
                <a:stretch>
                  <a:fillRect l="-1887" t="-1754" b="-186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67BC65F-5BB7-DC45-4259-93B6C8CFA7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2514600" cy="6096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dirty="0"/>
              <a:t>2 </a:t>
            </a:r>
            <a:r>
              <a:rPr lang="zh-CN" altLang="en-US" sz="2800" dirty="0"/>
              <a:t>原根</a:t>
            </a:r>
            <a:r>
              <a:rPr lang="en-US" altLang="zh-CN" sz="2800" dirty="0"/>
              <a:t>(</a:t>
            </a:r>
            <a:r>
              <a:rPr lang="zh-CN" altLang="en-US" sz="2800" dirty="0"/>
              <a:t>续</a:t>
            </a:r>
            <a:r>
              <a:rPr lang="en-US" altLang="zh-CN" sz="2800" dirty="0"/>
              <a:t>)</a:t>
            </a:r>
          </a:p>
          <a:p>
            <a:pPr eaLnBrk="1" hangingPunct="1">
              <a:buFontTx/>
              <a:buNone/>
            </a:pPr>
            <a:endParaRPr lang="en-US" altLang="zh-C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FB5DA47-18D7-050C-26A1-5F4B15A126D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14859" y="742013"/>
                <a:ext cx="8534400" cy="5963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例子</a:t>
                </a:r>
                <a:r>
                  <a:rPr lang="en-US" altLang="zh-CN" b="1" dirty="0">
                    <a:latin typeface="+mn-ea"/>
                  </a:rPr>
                  <a:t>2 </a:t>
                </a:r>
                <a:r>
                  <a:rPr lang="zh-CN" altLang="en-US" dirty="0">
                    <a:latin typeface="+mn-ea"/>
                  </a:rPr>
                  <a:t>求</a:t>
                </a:r>
                <a:r>
                  <a:rPr lang="zh-CN" altLang="zh-CN" dirty="0">
                    <a:latin typeface="+mn-ea"/>
                  </a:rPr>
                  <a:t>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lang="zh-CN" altLang="zh-CN" dirty="0">
                    <a:latin typeface="+mn-ea"/>
                  </a:rPr>
                  <a:t>的</a:t>
                </a:r>
                <a:r>
                  <a:rPr lang="zh-CN" altLang="en-US" dirty="0">
                    <a:latin typeface="+mn-ea"/>
                  </a:rPr>
                  <a:t>所有</a:t>
                </a:r>
                <a:r>
                  <a:rPr lang="zh-CN" altLang="zh-CN" dirty="0">
                    <a:latin typeface="+mn-ea"/>
                  </a:rPr>
                  <a:t>原根。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列出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zh-CN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lang="zh-CN" altLang="zh-CN" dirty="0">
                    <a:latin typeface="+mn-ea"/>
                  </a:rPr>
                  <a:t>的次数小于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dirty="0">
                    <a:latin typeface="+mn-ea"/>
                  </a:rPr>
                  <a:t>，故在以上序列去除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16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32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23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40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i="1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39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37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33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31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21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其次取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zh-CN" dirty="0">
                    <a:latin typeface="+mn-ea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zh-CN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lang="zh-CN" altLang="zh-CN" dirty="0">
                    <a:latin typeface="+mn-ea"/>
                  </a:rPr>
                  <a:t>的次数小于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40 </m:t>
                    </m:r>
                  </m:oMath>
                </a14:m>
                <a:r>
                  <a:rPr lang="zh-CN" altLang="zh-CN" dirty="0">
                    <a:latin typeface="+mn-ea"/>
                  </a:rPr>
                  <a:t>，所以在序列中去除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3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9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27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40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38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32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14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zh-CN" dirty="0">
                    <a:latin typeface="+mn-ea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32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zh-CN" altLang="zh-CN" dirty="0">
                    <a:latin typeface="+mn-ea"/>
                  </a:rPr>
                  <a:t>已经去除，剩下的数的个数刚好是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个，因此，全是原根。它们是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13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17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19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22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26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28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29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34</m:t>
                    </m:r>
                    <m:r>
                      <m:rPr>
                        <m:nor/>
                      </m:rP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FB5DA47-18D7-050C-26A1-5F4B15A12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859" y="742013"/>
                <a:ext cx="8534400" cy="5963587"/>
              </a:xfrm>
              <a:prstGeom prst="rect">
                <a:avLst/>
              </a:prstGeom>
              <a:blipFill>
                <a:blip r:embed="rId2"/>
                <a:stretch>
                  <a:fillRect l="-1786" t="-1636" r="-1857" b="-11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FEA94CE-F28B-F12F-8919-8C741737F64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332656"/>
            <a:ext cx="8229600" cy="2471936"/>
          </a:xfrm>
        </p:spPr>
        <p:txBody>
          <a:bodyPr>
            <a:normAutofit fontScale="92500"/>
          </a:bodyPr>
          <a:lstStyle/>
          <a:p>
            <a:pPr eaLnBrk="1" hangingPunct="1">
              <a:buFontTx/>
              <a:buNone/>
            </a:pPr>
            <a:r>
              <a:rPr lang="zh-CN" altLang="en-US" sz="4400" b="1" dirty="0"/>
              <a:t>  习题</a:t>
            </a:r>
            <a:endParaRPr lang="en-US" altLang="zh-CN" sz="4400" b="1" dirty="0"/>
          </a:p>
          <a:p>
            <a:pPr>
              <a:buNone/>
            </a:pPr>
            <a:r>
              <a:rPr lang="zh-CN" altLang="en-US" sz="4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zh-CN" altLang="en-US" sz="4400" dirty="0">
                <a:latin typeface="Times New Roman" pitchFamily="18" charset="0"/>
                <a:cs typeface="Times New Roman" pitchFamily="18" charset="0"/>
              </a:rPr>
              <a:t>确定</a:t>
            </a:r>
            <a:r>
              <a:rPr lang="en-US" altLang="zh-CN" sz="44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4400" dirty="0">
                <a:latin typeface="Times New Roman" pitchFamily="18" charset="0"/>
                <a:cs typeface="Times New Roman" pitchFamily="18" charset="0"/>
              </a:rPr>
              <a:t>模奇素数</a:t>
            </a:r>
            <a:r>
              <a:rPr lang="en-US" altLang="zh-CN" sz="44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4400" dirty="0">
                <a:latin typeface="Times New Roman" pitchFamily="18" charset="0"/>
                <a:cs typeface="Times New Roman" pitchFamily="18" charset="0"/>
              </a:rPr>
              <a:t>的二次剩余和二次非剩余应该有的</a:t>
            </a:r>
            <a:r>
              <a:rPr lang="en-US" altLang="zh-CN" sz="44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4400" dirty="0">
                <a:latin typeface="Times New Roman" pitchFamily="18" charset="0"/>
                <a:cs typeface="Times New Roman" pitchFamily="18" charset="0"/>
              </a:rPr>
              <a:t>的模数值。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5333</TotalTime>
  <Words>1942</Words>
  <Application>Microsoft Office PowerPoint</Application>
  <PresentationFormat>全屏显示(4:3)</PresentationFormat>
  <Paragraphs>111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宋体</vt:lpstr>
      <vt:lpstr>Arial</vt:lpstr>
      <vt:lpstr>Calibri</vt:lpstr>
      <vt:lpstr>Cambria Math</vt:lpstr>
      <vt:lpstr>Times New Roman</vt:lpstr>
      <vt:lpstr>Wingdings</vt:lpstr>
      <vt:lpstr>默认设计模板</vt:lpstr>
      <vt:lpstr>第八讲 初等数论 8</vt:lpstr>
      <vt:lpstr>本讲提要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sundazhi</dc:creator>
  <cp:lastModifiedBy>dazhi sun</cp:lastModifiedBy>
  <cp:revision>285</cp:revision>
  <cp:lastPrinted>2026-03-31T09:40:22Z</cp:lastPrinted>
  <dcterms:created xsi:type="dcterms:W3CDTF">1601-01-01T00:00:00Z</dcterms:created>
  <dcterms:modified xsi:type="dcterms:W3CDTF">2026-04-01T09:33:19Z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