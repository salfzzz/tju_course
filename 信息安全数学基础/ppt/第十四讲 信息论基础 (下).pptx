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304" r:id="rId3"/>
    <p:sldId id="390" r:id="rId4"/>
    <p:sldId id="391" r:id="rId5"/>
    <p:sldId id="392" r:id="rId6"/>
    <p:sldId id="393" r:id="rId7"/>
    <p:sldId id="394" r:id="rId8"/>
    <p:sldId id="395" r:id="rId9"/>
    <p:sldId id="397" r:id="rId10"/>
    <p:sldId id="396" r:id="rId11"/>
    <p:sldId id="398" r:id="rId12"/>
    <p:sldId id="373" r:id="rId13"/>
    <p:sldId id="374" r:id="rId14"/>
    <p:sldId id="375" r:id="rId15"/>
    <p:sldId id="376" r:id="rId16"/>
    <p:sldId id="382" r:id="rId17"/>
    <p:sldId id="381" r:id="rId18"/>
    <p:sldId id="380" r:id="rId19"/>
    <p:sldId id="383" r:id="rId20"/>
    <p:sldId id="379" r:id="rId21"/>
    <p:sldId id="378" r:id="rId22"/>
    <p:sldId id="377" r:id="rId23"/>
    <p:sldId id="387" r:id="rId24"/>
    <p:sldId id="386" r:id="rId25"/>
    <p:sldId id="385" r:id="rId26"/>
    <p:sldId id="384" r:id="rId27"/>
    <p:sldId id="389" r:id="rId28"/>
    <p:sldId id="388" r:id="rId29"/>
    <p:sldId id="263" r:id="rId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33" autoAdjust="0"/>
  </p:normalViewPr>
  <p:slideViewPr>
    <p:cSldViewPr>
      <p:cViewPr varScale="1">
        <p:scale>
          <a:sx n="59" d="100"/>
          <a:sy n="59" d="100"/>
        </p:scale>
        <p:origin x="149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71C3046-1E3F-19D0-D321-1B9DAFEEE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B25E776-3925-FA40-EC9F-7A3ED0FF6B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7216BB1-3831-4F9D-AD41-295EECE2A03F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F7BE7A-EB42-49C7-C62C-D92ADC7D2B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12BD0B-C7C3-65E6-8356-0D2349CD1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7EF4FC0-AD3B-4B76-8BA3-88BB1461B4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DD4D455-3A46-4A88-EF1B-4A05D91596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245E0E-80A4-898E-AC4C-1C394EC36A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00BA322B-6ACB-42E6-A6FE-4114D90A75FD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25DD181-7B7E-3F96-825B-23E6B0B99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F9DA9F4C-1DC2-4BD9-75E3-8C23BCB102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D859F2-8AD8-4AF7-6792-7A881123E1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592387-E3F3-51AB-9F08-482E0DDAD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BAC10B-C52E-48E1-9F0F-22674229B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9F7DC-BDDA-D7A0-6A2D-4DDF7BC3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1EC95CDD-D935-3417-B4AD-B3FB7D6EAF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9FC1C38F-734B-9E41-4469-87EC2949F0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0B966AEE-B2FF-5E05-3EC6-F3AB0B0003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203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C6062-33F6-1D24-AB69-4B5AD51D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52E4F373-FE64-03A6-713B-6607AB02AB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739717A7-5438-FC6F-4966-FDF45F6E0B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D7FD42AF-1147-9EA0-D44C-2B9C21410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12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227D-6919-4732-A24D-D12703D4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E361F8C4-E3E9-BC5D-B3A9-048D70A6A9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EF176743-96EF-6651-B3B7-8FEC550894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440CE8D4-D5AA-FA52-4157-84869FF52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061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F197-AD23-AABF-C976-4773CAB3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F274325E-C8E2-9A46-4CBB-76FF705E6A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D557CE35-DC79-2D1B-A89E-65F43C891E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F2E536BC-F3DF-4B84-F548-87134163D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584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6EAD4-12EF-24CE-FA28-CB85EF23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ABA71B3B-5F38-D0C8-AA4C-B8241CAAAE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9E25509F-5A69-D9E6-8FA1-D7FA1E3392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929D8C7D-236E-55C0-85DC-B00B1EB40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9603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84F1-45ED-69C9-2412-BC92B96B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9A6B4AD3-6FE6-2133-AC12-E861E07B43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71DD4475-043F-4BAF-9049-A27212C231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A543392F-CE03-2432-7BD0-1E47E8D49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213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3075-A99F-2EDB-D234-580BE4CDB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2984E5E5-0123-2428-BA04-69EA5AD7C0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169A5FBB-4BD5-F6F3-314E-13CA41D123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CEE6A28F-FCAE-BDF3-7F0F-71885B6B5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04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E1A5-F20D-FE7F-8DFD-90973BC4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BFAA83A6-55AE-AF90-DFDB-713D17AACB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F7BF80EE-047D-9573-E0E2-15EC1391C1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DC64CC59-2587-16A8-CFC8-756FDF362F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997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2B7D-B82F-BD35-6DE5-AD3361BAE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F9BAC572-F385-D953-75BA-9D5889301E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3117656F-A253-9A24-D053-F2232E1D23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AACC68D2-4D54-3801-49A9-FC1B9C956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946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>
            <a:extLst>
              <a:ext uri="{FF2B5EF4-FFF2-40B4-BE49-F238E27FC236}">
                <a16:creationId xmlns:a16="http://schemas.microsoft.com/office/drawing/2014/main" id="{D15344A1-4914-9855-528F-50F37DD96C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备注占位符 2">
            <a:extLst>
              <a:ext uri="{FF2B5EF4-FFF2-40B4-BE49-F238E27FC236}">
                <a16:creationId xmlns:a16="http://schemas.microsoft.com/office/drawing/2014/main" id="{2EB95431-922B-2CA3-EB7C-C4F9C82667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6324" name="灯片编号占位符 3">
            <a:extLst>
              <a:ext uri="{FF2B5EF4-FFF2-40B4-BE49-F238E27FC236}">
                <a16:creationId xmlns:a16="http://schemas.microsoft.com/office/drawing/2014/main" id="{87250157-BAAB-05BB-AB61-4D07819C1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5B946E-ECC4-4845-8A81-6E1B8B73BBCD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243DF052-FF4E-E054-A27E-77C7D41090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7B0F9968-B943-D6A8-BDBC-824756EDEB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DDDBA5D5-C15E-E33F-BC45-7D6C149BE7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76C9AC6-E302-44B8-8D43-D1B24A81C4B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>
            <a:extLst>
              <a:ext uri="{FF2B5EF4-FFF2-40B4-BE49-F238E27FC236}">
                <a16:creationId xmlns:a16="http://schemas.microsoft.com/office/drawing/2014/main" id="{90310AC4-3A43-B8C9-7042-6FB1F3037A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备注占位符 2">
            <a:extLst>
              <a:ext uri="{FF2B5EF4-FFF2-40B4-BE49-F238E27FC236}">
                <a16:creationId xmlns:a16="http://schemas.microsoft.com/office/drawing/2014/main" id="{A96C7BCC-2923-C35C-B692-C08D7238D6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0420" name="灯片编号占位符 3">
            <a:extLst>
              <a:ext uri="{FF2B5EF4-FFF2-40B4-BE49-F238E27FC236}">
                <a16:creationId xmlns:a16="http://schemas.microsoft.com/office/drawing/2014/main" id="{D052E2B8-87BF-C0DA-0848-313910F8B0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BF0577E-64FC-4302-8497-7C8E9387FE0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>
            <a:extLst>
              <a:ext uri="{FF2B5EF4-FFF2-40B4-BE49-F238E27FC236}">
                <a16:creationId xmlns:a16="http://schemas.microsoft.com/office/drawing/2014/main" id="{EFCB27E7-3E6B-3F55-D542-F57D416B85D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备注占位符 2">
            <a:extLst>
              <a:ext uri="{FF2B5EF4-FFF2-40B4-BE49-F238E27FC236}">
                <a16:creationId xmlns:a16="http://schemas.microsoft.com/office/drawing/2014/main" id="{7511B7DE-5E72-BF90-4560-92743D4DA7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2468" name="灯片编号占位符 3">
            <a:extLst>
              <a:ext uri="{FF2B5EF4-FFF2-40B4-BE49-F238E27FC236}">
                <a16:creationId xmlns:a16="http://schemas.microsoft.com/office/drawing/2014/main" id="{003EBD34-B9EE-06F5-FA22-90603A5FF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6AE0355-5A4B-4AFB-B12C-D0ED1D79F5EC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>
            <a:extLst>
              <a:ext uri="{FF2B5EF4-FFF2-40B4-BE49-F238E27FC236}">
                <a16:creationId xmlns:a16="http://schemas.microsoft.com/office/drawing/2014/main" id="{A722C907-420F-3F23-656A-D929C56BA1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备注占位符 2">
            <a:extLst>
              <a:ext uri="{FF2B5EF4-FFF2-40B4-BE49-F238E27FC236}">
                <a16:creationId xmlns:a16="http://schemas.microsoft.com/office/drawing/2014/main" id="{0F20B39B-1735-C086-ED85-A9F5238932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4516" name="灯片编号占位符 3">
            <a:extLst>
              <a:ext uri="{FF2B5EF4-FFF2-40B4-BE49-F238E27FC236}">
                <a16:creationId xmlns:a16="http://schemas.microsoft.com/office/drawing/2014/main" id="{9FFE8D5E-4E68-4600-0B66-293C3E9DB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42F3D1-1DA3-4550-9F9B-7F2983B3CB9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幻灯片图像占位符 1">
            <a:extLst>
              <a:ext uri="{FF2B5EF4-FFF2-40B4-BE49-F238E27FC236}">
                <a16:creationId xmlns:a16="http://schemas.microsoft.com/office/drawing/2014/main" id="{91A97258-2A69-47D2-5AF9-42E2587246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备注占位符 2">
            <a:extLst>
              <a:ext uri="{FF2B5EF4-FFF2-40B4-BE49-F238E27FC236}">
                <a16:creationId xmlns:a16="http://schemas.microsoft.com/office/drawing/2014/main" id="{A0FA563B-0E03-1A99-CF72-F7472527D0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6564" name="灯片编号占位符 3">
            <a:extLst>
              <a:ext uri="{FF2B5EF4-FFF2-40B4-BE49-F238E27FC236}">
                <a16:creationId xmlns:a16="http://schemas.microsoft.com/office/drawing/2014/main" id="{5F500B88-E1BE-4BAC-206E-117BCBDE5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F6C123D-92D3-4E59-B194-D9740E32942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幻灯片图像占位符 1">
            <a:extLst>
              <a:ext uri="{FF2B5EF4-FFF2-40B4-BE49-F238E27FC236}">
                <a16:creationId xmlns:a16="http://schemas.microsoft.com/office/drawing/2014/main" id="{09F97D3F-6B57-5766-ED50-C8FF40BDB9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备注占位符 2">
            <a:extLst>
              <a:ext uri="{FF2B5EF4-FFF2-40B4-BE49-F238E27FC236}">
                <a16:creationId xmlns:a16="http://schemas.microsoft.com/office/drawing/2014/main" id="{752619DF-4E65-68CB-3FF2-08A992C8573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68612" name="灯片编号占位符 3">
            <a:extLst>
              <a:ext uri="{FF2B5EF4-FFF2-40B4-BE49-F238E27FC236}">
                <a16:creationId xmlns:a16="http://schemas.microsoft.com/office/drawing/2014/main" id="{56D1C3DE-DB03-61D1-4367-31D1AD78E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1D9519-86A3-4FBD-9107-A15DEC11BEB9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幻灯片图像占位符 1">
            <a:extLst>
              <a:ext uri="{FF2B5EF4-FFF2-40B4-BE49-F238E27FC236}">
                <a16:creationId xmlns:a16="http://schemas.microsoft.com/office/drawing/2014/main" id="{3C1840E1-82FF-80C4-E2DB-E3631B115C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备注占位符 2">
            <a:extLst>
              <a:ext uri="{FF2B5EF4-FFF2-40B4-BE49-F238E27FC236}">
                <a16:creationId xmlns:a16="http://schemas.microsoft.com/office/drawing/2014/main" id="{5E61E02B-B3E4-B5F9-6CB1-171AADA366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0660" name="灯片编号占位符 3">
            <a:extLst>
              <a:ext uri="{FF2B5EF4-FFF2-40B4-BE49-F238E27FC236}">
                <a16:creationId xmlns:a16="http://schemas.microsoft.com/office/drawing/2014/main" id="{E41ACE0D-52CB-F6B8-9E88-ADBA7549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EA2C02-3CBA-4EC6-A213-4BFCF53DB908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幻灯片图像占位符 1">
            <a:extLst>
              <a:ext uri="{FF2B5EF4-FFF2-40B4-BE49-F238E27FC236}">
                <a16:creationId xmlns:a16="http://schemas.microsoft.com/office/drawing/2014/main" id="{E7CF83E6-D1E7-7FD1-1F8D-84AE0C0229E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备注占位符 2">
            <a:extLst>
              <a:ext uri="{FF2B5EF4-FFF2-40B4-BE49-F238E27FC236}">
                <a16:creationId xmlns:a16="http://schemas.microsoft.com/office/drawing/2014/main" id="{C648FA52-9B58-C815-6A89-BE36F190A8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2708" name="灯片编号占位符 3">
            <a:extLst>
              <a:ext uri="{FF2B5EF4-FFF2-40B4-BE49-F238E27FC236}">
                <a16:creationId xmlns:a16="http://schemas.microsoft.com/office/drawing/2014/main" id="{CDA4A5AE-5D42-AE76-DEF0-5D54AA209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27798A-54A1-4556-AB69-7D703D51B07A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1494A543-A3CA-2B9B-D6AC-574B0B64A6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BE669C1C-9723-0DF0-F858-CCDF5B5E22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F777F36C-323E-B1B1-2B79-06C4FD919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ED052E-8491-4997-98D1-2FCA86CFD2F6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>
            <a:extLst>
              <a:ext uri="{FF2B5EF4-FFF2-40B4-BE49-F238E27FC236}">
                <a16:creationId xmlns:a16="http://schemas.microsoft.com/office/drawing/2014/main" id="{E9A83E64-825E-78A2-1B2E-600AE07AB7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备注占位符 2">
            <a:extLst>
              <a:ext uri="{FF2B5EF4-FFF2-40B4-BE49-F238E27FC236}">
                <a16:creationId xmlns:a16="http://schemas.microsoft.com/office/drawing/2014/main" id="{515D8AF2-3B35-0EE7-E5C1-C56DD7E908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6804" name="灯片编号占位符 3">
            <a:extLst>
              <a:ext uri="{FF2B5EF4-FFF2-40B4-BE49-F238E27FC236}">
                <a16:creationId xmlns:a16="http://schemas.microsoft.com/office/drawing/2014/main" id="{3842C594-85BB-CABB-5840-A7F1BD021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65EE25-4012-4B09-B4D7-82D7A7BBC9C7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>
            <a:extLst>
              <a:ext uri="{FF2B5EF4-FFF2-40B4-BE49-F238E27FC236}">
                <a16:creationId xmlns:a16="http://schemas.microsoft.com/office/drawing/2014/main" id="{F9286520-D543-EFFA-1010-FBC98F3889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备注占位符 2">
            <a:extLst>
              <a:ext uri="{FF2B5EF4-FFF2-40B4-BE49-F238E27FC236}">
                <a16:creationId xmlns:a16="http://schemas.microsoft.com/office/drawing/2014/main" id="{0D6E0213-A637-77D8-600B-950F5059A6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78852" name="灯片编号占位符 3">
            <a:extLst>
              <a:ext uri="{FF2B5EF4-FFF2-40B4-BE49-F238E27FC236}">
                <a16:creationId xmlns:a16="http://schemas.microsoft.com/office/drawing/2014/main" id="{C125AE8E-7442-71CA-42E8-8315922BF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81214B-E92F-4DE2-AC40-8AE8D1773761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>
            <a:extLst>
              <a:ext uri="{FF2B5EF4-FFF2-40B4-BE49-F238E27FC236}">
                <a16:creationId xmlns:a16="http://schemas.microsoft.com/office/drawing/2014/main" id="{B6618B5F-E200-D892-C191-51C1C11DE7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备注占位符 2">
            <a:extLst>
              <a:ext uri="{FF2B5EF4-FFF2-40B4-BE49-F238E27FC236}">
                <a16:creationId xmlns:a16="http://schemas.microsoft.com/office/drawing/2014/main" id="{708D9F9A-7D35-3537-979E-AF2A68F63B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0900" name="灯片编号占位符 3">
            <a:extLst>
              <a:ext uri="{FF2B5EF4-FFF2-40B4-BE49-F238E27FC236}">
                <a16:creationId xmlns:a16="http://schemas.microsoft.com/office/drawing/2014/main" id="{AC9BBAE5-1976-8E50-A7F8-8FB98C40F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DEC32D-5E18-4A19-82B6-0E6B292F875B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82982354-1F3C-26E3-D7C4-E6CD8C04A2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9749306C-4BE3-AC52-F094-998E3F5214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CB4EEDF1-7DB0-EE41-B7B2-99F5676D9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69D852-B09C-455F-BA14-297F4FC68B02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D88AEB57-11E6-D776-7618-E77087E909C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A9C0FAB8-0A14-5CF3-7DF2-8CBC989C29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A6AB7E42-B565-FDC0-309B-B09FD2884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F8C40D-F2D1-4E72-AE48-355F15A94A04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>
            <a:extLst>
              <a:ext uri="{FF2B5EF4-FFF2-40B4-BE49-F238E27FC236}">
                <a16:creationId xmlns:a16="http://schemas.microsoft.com/office/drawing/2014/main" id="{4F670347-0640-A47B-06FB-796F31ECF7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备注占位符 2">
            <a:extLst>
              <a:ext uri="{FF2B5EF4-FFF2-40B4-BE49-F238E27FC236}">
                <a16:creationId xmlns:a16="http://schemas.microsoft.com/office/drawing/2014/main" id="{532DC1E8-1ABC-F2B1-9CA1-C2867C5261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845CF449-5977-B7D5-BA1A-3B67D6C89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0B40099-A29F-4667-964A-2BA605A78F1F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FAAD1D9A-96A0-3E2D-8936-A62C432F73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75101D9D-2986-AB39-4890-C68223B4B3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EFFE2DDD-47F8-78FE-654C-0A9823B73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523927-062A-47C0-9597-D67BB3F6A480}" type="slidenum">
              <a:rPr lang="en-US" altLang="zh-CN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7288B8-C9A9-5C98-68C7-5587A53AF8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579978-5702-5664-8E7C-31FB2B5E91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80D8305-B5CC-9ECE-E0F0-71ED1AF6E2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BF3E1-D664-4187-A711-C48FFE8BB1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546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569E97-C156-E5DF-773E-60DFFE5BC5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70A9D1-36F1-648B-BE68-0CA25C6480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E3F47D-DBD5-B923-665F-034F47E9A7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79777-14C0-44DE-8C89-FB3469281D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576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3359A2-8E6D-F187-44C0-D8F257A0F0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AEF9D8-2B32-6C8F-3B05-D14B59E14D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155A77-7F67-6478-F46C-BAA46B9F12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5D2E25-7748-4465-8618-CBE7D82B8D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22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28B1C-6BD4-57B8-3220-316D102CBC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FD919-39D0-D562-FB09-C2A3FCF2F6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A59FA-B15E-7C56-B02D-FD2696277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C1DD6-501F-4F71-B716-353199E7D7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49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C3A20E9-74CF-0109-5FD9-3820FDA00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54C7AD5-42D6-3F29-0B21-7D7284793E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D05095-6606-9187-FC75-C8122DDDF2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0384D5-C0C3-4304-94C1-66E4A1BA1B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189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78CCD2-4738-DB8C-66A9-C7C686C6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8FEFA6-BD05-4FC5-2445-370DA7F70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07E09B6-CCE5-E024-42E4-062DFDC611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2F688-9048-4279-903B-57A6D3EFB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695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E36ED83-7E3D-5FB7-3339-C6A90ED595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33E5198-C3C3-2089-2864-38957C1F87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234FDBB-22BF-76C3-D73D-B283C0267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8210B-18B7-4CC0-A7FC-543B445998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454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9BF053-BA49-56A1-60D6-4B0458CA3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E52872-7BC5-03F6-50B9-0FF0DCF34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6566A-19BA-0027-521A-BA0685C157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0DEDF-F398-4762-A489-03EDB1FA5C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794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CB9370-4973-42F1-9A78-E8796F08E9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651FA9-F0D8-9667-399F-4E3B735616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3AD81D-3525-5883-5CF9-03ACF36BE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07E77-8582-43EE-AD92-3158F6C5BF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475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95ACAE-8798-6CDD-A3F4-80D1A836E3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BF85B2-BFAA-520B-84DF-AE33831FB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13E12C-AF8B-ADD4-EF18-08B566F1C0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236EA2-7441-4603-8224-CF253EF6F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171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247C8E-E3E0-D9C9-3C42-8344406974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30D9E3-491A-5FC3-3CB5-AFD9EEC3C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85666D-4BAE-8B58-3193-921A13FF9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E94FE-36DE-4416-8399-AE9545908B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1172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3771C4-D424-A054-7C5C-29AB5D43A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91A18F-6CFC-F87D-4705-87FB8B91D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AD56632-5A12-F641-69BA-1F1A629FD5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D2497A7-30DA-C34A-D51B-89A35F5353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D66E7BE-7E2E-F487-0856-D08972EDF1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B7132F3-9C41-4363-9A44-C9AE95295D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slide" Target="slide1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slide" Target="slide1.xml"/><Relationship Id="rId7" Type="http://schemas.openxmlformats.org/officeDocument/2006/relationships/image" Target="../media/image12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4.png"/><Relationship Id="rId10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23BA913-041C-46DE-DB07-4459F6491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990600"/>
            <a:ext cx="7772400" cy="147002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第十四讲 信息论基础 </a:t>
            </a:r>
            <a:br>
              <a:rPr lang="en-US" altLang="zh-CN" b="1" dirty="0">
                <a:latin typeface="宋体" panose="02010600030101010101" pitchFamily="2" charset="-122"/>
              </a:rPr>
            </a:br>
            <a:r>
              <a:rPr lang="zh-CN" altLang="en-US" b="1" dirty="0">
                <a:latin typeface="宋体" panose="02010600030101010101" pitchFamily="2" charset="-122"/>
              </a:rPr>
              <a:t>下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612C3F3-CB4B-CD19-654A-6228A8ABB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90600"/>
          </a:xfrm>
        </p:spPr>
        <p:txBody>
          <a:bodyPr/>
          <a:lstStyle/>
          <a:p>
            <a:pPr eaLnBrk="1" hangingPunct="1"/>
            <a:r>
              <a:rPr lang="zh-CN" altLang="en-US" sz="4000"/>
              <a:t>本讲提要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015E06E-FADB-0D93-32A9-B8EDDE453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162800" cy="266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zh-CN" altLang="en-US" sz="3600" dirty="0"/>
              <a:t> 信息论的应用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AE00-635C-72EC-D707-C0689357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8EF1C2B-BEC9-6589-D06D-7B68E938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</a:t>
            </a:r>
            <a:endParaRPr lang="en-US" altLang="zh-CN" b="1" dirty="0"/>
          </a:p>
        </p:txBody>
      </p:sp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16F0D66D-40D7-8509-B1BA-87482DE30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93" y="762000"/>
            <a:ext cx="8692014" cy="647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>
              <a:lnSpc>
                <a:spcPct val="130000"/>
              </a:lnSpc>
              <a:defRPr/>
            </a:pP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根据信源输出消息的不同随机性质，信源可分为如下两类：</a:t>
            </a:r>
            <a:endParaRPr kumimoji="0" lang="en-US" altLang="zh-CN" sz="32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457200" indent="-457200" eaLnBrk="1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离散信源</a:t>
            </a:r>
            <a:endParaRPr kumimoji="0" lang="en-US" altLang="zh-CN" sz="32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eaLnBrk="1">
              <a:lnSpc>
                <a:spcPct val="130000"/>
              </a:lnSpc>
              <a:defRPr/>
            </a:pP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      信源输出的消息数是有限的或可数的，每次只输出一个消息。</a:t>
            </a:r>
            <a:endParaRPr kumimoji="0" lang="en-US" altLang="zh-CN" sz="32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如果信源符号集为</a:t>
            </a:r>
            <a:r>
              <a:rPr kumimoji="0" lang="zh-CN" altLang="en-US" sz="32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有限集</a:t>
            </a: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，则称为</a:t>
            </a:r>
            <a:r>
              <a:rPr kumimoji="0" lang="zh-CN" altLang="en-US" sz="32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有限离散信源</a:t>
            </a: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。</a:t>
            </a:r>
            <a:endParaRPr kumimoji="0" lang="en-US" altLang="zh-CN" sz="32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如果信源符号集为</a:t>
            </a:r>
            <a:r>
              <a:rPr kumimoji="0" lang="zh-CN" altLang="en-US" sz="32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无限集</a:t>
            </a: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，则称为</a:t>
            </a:r>
            <a:r>
              <a:rPr kumimoji="0" lang="zh-CN" altLang="en-US" sz="32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无限离散信源</a:t>
            </a:r>
            <a:r>
              <a:rPr kumimoji="0" lang="zh-CN" altLang="en-US" sz="3200" dirty="0">
                <a:latin typeface="Cambria Math" panose="02040503050406030204" pitchFamily="18" charset="0"/>
                <a:cs typeface="Times New Roman" pitchFamily="18" charset="0"/>
              </a:rPr>
              <a:t>。</a:t>
            </a:r>
            <a:endParaRPr kumimoji="0" lang="en-US" altLang="zh-CN" sz="32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>
              <a:lnSpc>
                <a:spcPct val="130000"/>
              </a:lnSpc>
              <a:defRPr/>
            </a:pPr>
            <a:r>
              <a:rPr kumimoji="0" lang="en-US" altLang="zh-CN" sz="2600" b="1" dirty="0">
                <a:latin typeface="Cambria Math" panose="02040503050406030204" pitchFamily="18" charset="0"/>
                <a:cs typeface="Times New Roman" pitchFamily="18" charset="0"/>
              </a:rPr>
              <a:t>       </a:t>
            </a:r>
          </a:p>
        </p:txBody>
      </p:sp>
    </p:spTree>
    <p:extLst>
      <p:ext uri="{BB962C8B-B14F-4D97-AF65-F5344CB8AC3E}">
        <p14:creationId xmlns:p14="http://schemas.microsoft.com/office/powerpoint/2010/main" val="146719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76E5-2BDC-9CB1-37DB-0532A03D9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F881E92-450B-538F-2279-065A10692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p:sp>
        <p:nvSpPr>
          <p:cNvPr id="2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28A6FBED-CC84-FBF2-4EF6-2F22D78AC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609600"/>
            <a:ext cx="8692014" cy="6719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 eaLnBrk="1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连续信源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eaLnBrk="1">
              <a:lnSpc>
                <a:spcPct val="130000"/>
              </a:lnSpc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      信源输出的消息数是无限的或不可数的，每次只输出一个消息。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如果一个信源输出仅发生在离散时间间隔而取值是连续的，称为</a:t>
            </a: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离散时间连续信源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。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如果一个信源输出是时间和取值都是连续的波形，称为</a:t>
            </a: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连续时间信源，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简称</a:t>
            </a: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波形信源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或</a:t>
            </a: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模拟信源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。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eaLnBrk="1">
              <a:lnSpc>
                <a:spcPct val="130000"/>
              </a:lnSpc>
              <a:defRPr/>
            </a:pPr>
            <a:r>
              <a:rPr kumimoji="0" lang="en-US" altLang="zh-CN" sz="2800" dirty="0">
                <a:latin typeface="Cambria Math" panose="02040503050406030204" pitchFamily="18" charset="0"/>
                <a:cs typeface="Times New Roman" pitchFamily="18" charset="0"/>
              </a:rPr>
              <a:t>      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把波形信源在时间上离散化就可以得到离散时间连续信源。连续信源的熵可以通过在信源取值上的离散化（变成离散信源）实现。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kumimoji="0" lang="en-US" altLang="zh-CN" sz="2600" b="1" dirty="0">
              <a:latin typeface="Cambria Math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472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434AE-C9BD-6C4D-35DF-7A4DDA5C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52813AC-E0C5-B798-43FF-7956F84DB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533E406-7705-2EB9-51CE-03F251836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789214"/>
                <a:ext cx="8692014" cy="53903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离散信源的概率空间表示：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⋯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𝑞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   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en-US" altLang="zh-CN" sz="28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8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𝑞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,  </m:t>
                      </m:r>
                      <m:nary>
                        <m:naryPr>
                          <m:chr m:val="∑"/>
                          <m:limLoc m:val="subSup"/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𝑞</m:t>
                          </m:r>
                        </m:sup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=1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。</m:t>
                          </m:r>
                        </m:e>
                      </m:nary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连续信源的概率空间表示：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𝑋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(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,</m:t>
                                    </m:r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kumimoji="0" lang="en-US" altLang="zh-CN" sz="28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28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mr>
                          </m:m>
                        </m:e>
                      </m:d>
                      <m:r>
                        <a:rPr lang="zh-CN" altLang="en-US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，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 </m:t>
                      </m:r>
                      <m:nary>
                        <m:nary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𝑎</m:t>
                          </m:r>
                        </m:sub>
                        <m:sup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𝑏</m:t>
                          </m:r>
                        </m:sup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kumimoji="0" lang="en-US" altLang="zh-CN" sz="2800" b="0" i="0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d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𝑥</m:t>
                          </m:r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=1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。</m:t>
                          </m:r>
                        </m:e>
                      </m:nary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D533E406-7705-2EB9-51CE-03F2518361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789214"/>
                <a:ext cx="8692014" cy="5390386"/>
              </a:xfrm>
              <a:prstGeom prst="rect">
                <a:avLst/>
              </a:prstGeom>
              <a:blipFill>
                <a:blip r:embed="rId4"/>
                <a:stretch>
                  <a:fillRect l="-1262" t="-22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370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D78D-5429-2969-7F3B-63663E83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46CE09A-5B0B-EC0B-184A-99D9C9576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p:sp>
        <p:nvSpPr>
          <p:cNvPr id="2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8D30C77E-98B2-62D1-64AE-1FED7A77F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93" y="914400"/>
            <a:ext cx="8692014" cy="543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>
              <a:lnSpc>
                <a:spcPct val="130000"/>
              </a:lnSpc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根据信源输出消息的平稳与否，信源可分为如下两类：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457200" indent="-457200" eaLnBrk="1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非平稳信源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eaLnBrk="1">
              <a:lnSpc>
                <a:spcPct val="130000"/>
              </a:lnSpc>
              <a:spcBef>
                <a:spcPts val="1200"/>
              </a:spcBef>
              <a:defRPr/>
            </a:pPr>
            <a:r>
              <a:rPr kumimoji="0" lang="en-US" altLang="zh-CN" sz="2800" dirty="0">
                <a:latin typeface="Cambria Math" panose="02040503050406030204" pitchFamily="18" charset="0"/>
                <a:cs typeface="Times New Roman" pitchFamily="18" charset="0"/>
              </a:rPr>
              <a:t>       </a:t>
            </a: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输出随机序列的统计特征比较复杂，分析困难。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457200" indent="-457200" eaLnBrk="1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2800" dirty="0">
                <a:latin typeface="Cambria Math" panose="02040503050406030204" pitchFamily="18" charset="0"/>
                <a:cs typeface="Times New Roman" pitchFamily="18" charset="0"/>
              </a:rPr>
              <a:t>平稳信源</a:t>
            </a:r>
            <a:endParaRPr kumimoji="0" lang="en-US" altLang="zh-CN" sz="2800" dirty="0"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连续平稳信源</a:t>
            </a:r>
            <a:endParaRPr kumimoji="0" lang="en-US" altLang="zh-CN" sz="2800" dirty="0">
              <a:solidFill>
                <a:srgbClr val="FF0000"/>
              </a:solidFill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离散无记忆平稳信源</a:t>
            </a:r>
            <a:endParaRPr kumimoji="0" lang="en-US" altLang="zh-CN" sz="2800" dirty="0">
              <a:solidFill>
                <a:srgbClr val="FF0000"/>
              </a:solidFill>
              <a:latin typeface="Cambria Math" panose="02040503050406030204" pitchFamily="18" charset="0"/>
              <a:cs typeface="Times New Roman" pitchFamily="18" charset="0"/>
            </a:endParaRPr>
          </a:p>
          <a:p>
            <a:pPr marL="914400" lvl="1" indent="-457200" eaLnBrk="1">
              <a:lnSpc>
                <a:spcPct val="130000"/>
              </a:lnSpc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离散无记忆扩展信源</a:t>
            </a:r>
            <a:endParaRPr kumimoji="0" lang="en-US" altLang="zh-CN" sz="2800" dirty="0">
              <a:solidFill>
                <a:srgbClr val="FF0000"/>
              </a:solidFill>
              <a:latin typeface="Cambria Math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90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1DFF3-9694-2BE6-25F9-CEB005A4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DC9C248C-B952-4EB1-7B1E-D296BCCF4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A8941B9-C077-605E-ECC1-CAC3DE5AE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41" y="914400"/>
                <a:ext cx="8655859" cy="4819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 eaLnBrk="1">
                  <a:lnSpc>
                    <a:spcPct val="13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连续平稳信源：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信源输出的随机序列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中的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为取值连续的随机变量，任意两个不同时刻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的各维概率密度函数都相同。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3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离散无记忆平稳信源：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信源输出的随机序列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中的随机变量</a:t>
                </a:r>
                <a14:m>
                  <m:oMath xmlns:m="http://schemas.openxmlformats.org/officeDocument/2006/math">
                    <m:r>
                      <a:rPr kumimoji="0" lang="en-US" altLang="zh-CN" sz="28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b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是同一概率空间上统计独立的。</a:t>
                </a:r>
              </a:p>
              <a:p>
                <a:pPr marL="457200" indent="-457200">
                  <a:lnSpc>
                    <a:spcPct val="13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离散无记忆扩展信源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A8941B9-C077-605E-ECC1-CAC3DE5AE1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141" y="914400"/>
                <a:ext cx="8655859" cy="4819140"/>
              </a:xfrm>
              <a:prstGeom prst="rect">
                <a:avLst/>
              </a:prstGeom>
              <a:blipFill>
                <a:blip r:embed="rId4"/>
                <a:stretch>
                  <a:fillRect l="-1268" t="-253" r="-775" b="-214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191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5FDB-9687-2602-F2B5-47F07C93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2537F792-A5BA-34D4-203E-E628E4A02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BDA46E-D654-C27B-8ACF-3C6923B17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52" y="914400"/>
                <a:ext cx="9036496" cy="57759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itchFamily="18" charset="0"/>
                  </a:rPr>
                  <a:t>离散无记忆扩展信源：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是一个离散无记忆平稳信源，</a:t>
                </a:r>
                <a:r>
                  <a:rPr kumimoji="0" lang="en-US" altLang="zh-CN" sz="26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的符号集为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𝐴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altLang="zh-CN" sz="260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60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600" b="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6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6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 …</m:t>
                        </m:r>
                        <m:r>
                          <a:rPr lang="zh-CN" altLang="en-US" sz="26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60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600" b="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𝑞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，信源每次发一个符号，符号间统计独立，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的概率空间为</a:t>
                </a:r>
                <a:endParaRPr kumimoji="0" lang="en-US" altLang="zh-CN" sz="26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 algn="ctr"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6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6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(</m:t>
                              </m:r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6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6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6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𝑞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   </m:t>
                              </m:r>
                              <m:r>
                                <a:rPr kumimoji="0" lang="en-US" altLang="zh-CN" sz="26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6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6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kumimoji="0" lang="en-US" altLang="zh-CN" sz="26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𝑞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zh-CN" altLang="en-US" sz="260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，</m:t>
                    </m:r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26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2600" b="0" i="1">
                            <a:latin typeface="+mn-ea"/>
                            <a:ea typeface="+mn-ea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600" b="0" i="1">
                            <a:latin typeface="+mn-ea"/>
                            <a:ea typeface="+mn-ea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600" b="0" i="1">
                            <a:latin typeface="+mn-ea"/>
                            <a:ea typeface="+mn-ea"/>
                            <a:cs typeface="Times New Roman" pitchFamily="18" charset="0"/>
                          </a:rPr>
                          <m:t>𝑞</m:t>
                        </m:r>
                      </m:sup>
                      <m:e>
                        <m:r>
                          <a:rPr kumimoji="0" lang="en-US" altLang="zh-CN" sz="2600" b="0" i="1">
                            <a:latin typeface="+mn-ea"/>
                            <a:ea typeface="+mn-ea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60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600" b="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0" lang="en-US" altLang="zh-CN" sz="2600" b="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kumimoji="0" lang="en-US" altLang="zh-CN" sz="2600" b="0" i="1">
                            <a:latin typeface="+mn-ea"/>
                            <a:ea typeface="+mn-ea"/>
                            <a:cs typeface="Times New Roman" pitchFamily="18" charset="0"/>
                          </a:rPr>
                          <m:t>=1</m:t>
                        </m:r>
                        <m:r>
                          <a:rPr lang="zh-CN" altLang="en-US" sz="2600" i="1">
                            <a:latin typeface="Cambria Math" panose="02040503050406030204" pitchFamily="18" charset="0"/>
                            <a:ea typeface="+mn-ea"/>
                            <a:cs typeface="Times New Roman" pitchFamily="18" charset="0"/>
                          </a:rPr>
                          <m:t>。</m:t>
                        </m:r>
                      </m:e>
                    </m:nary>
                  </m:oMath>
                </a14:m>
                <a:endParaRPr kumimoji="0" lang="en-US" altLang="zh-CN" sz="26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 lvl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kumimoji="0" lang="en-US" altLang="zh-CN" sz="2600" dirty="0">
                    <a:latin typeface="+mn-ea"/>
                    <a:ea typeface="+mn-ea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kumimoji="0" lang="en-US" altLang="zh-CN" sz="2600" b="0" i="0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次</a:t>
                </a:r>
                <a:r>
                  <a:rPr kumimoji="0" lang="zh-CN" altLang="en-US" sz="2600" dirty="0">
                    <a:solidFill>
                      <a:srgbClr val="FF0000"/>
                    </a:solidFill>
                    <a:latin typeface="+mn-ea"/>
                    <a:ea typeface="+mn-ea"/>
                    <a:cs typeface="Times New Roman" pitchFamily="18" charset="0"/>
                  </a:rPr>
                  <a:t>扩展信源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solidFill>
                          <a:srgbClr val="FF0000"/>
                        </a:solidFill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60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6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6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𝑁</m:t>
                        </m:r>
                      </m:sup>
                    </m:sSup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是具有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60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6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𝑞</m:t>
                        </m:r>
                      </m:e>
                      <m:sup>
                        <m:r>
                          <a:rPr kumimoji="0" lang="en-US" altLang="zh-CN" sz="26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𝑁</m:t>
                        </m:r>
                      </m:sup>
                    </m:sSup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个符号的离散信源，其</a:t>
                </a:r>
                <a14:m>
                  <m:oMath xmlns:m="http://schemas.openxmlformats.org/officeDocument/2006/math">
                    <m:r>
                      <a:rPr kumimoji="0" lang="en-US" altLang="zh-CN" sz="2600" b="0" i="0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>
                        <a:latin typeface="+mn-ea"/>
                        <a:ea typeface="+mn-ea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600" b="0" i="1" smtClean="0">
                        <a:latin typeface="+mn-ea"/>
                        <a:ea typeface="+mn-ea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+mn-ea"/>
                    <a:ea typeface="+mn-ea"/>
                    <a:cs typeface="Times New Roman" pitchFamily="18" charset="0"/>
                  </a:rPr>
                  <a:t>重概率空间为</a:t>
                </a:r>
                <a:endParaRPr kumimoji="0" lang="en-US" altLang="zh-CN" sz="2600" dirty="0">
                  <a:latin typeface="+mn-ea"/>
                  <a:ea typeface="+mn-ea"/>
                  <a:cs typeface="Times New Roman" pitchFamily="18" charset="0"/>
                </a:endParaRPr>
              </a:p>
              <a:p>
                <a:pPr eaLnBrk="1"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400" dirty="0">
                    <a:latin typeface="+mn-ea"/>
                    <a:ea typeface="+mn-ea"/>
                    <a:cs typeface="Times New Roman" pitchFamily="18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4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kumimoji="0" lang="en-US" altLang="zh-CN" sz="2400" i="1" smtClean="0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0" lang="en-US" altLang="zh-CN" sz="2400" i="1" smtClean="0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4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0" lang="en-US" altLang="zh-CN" sz="2400" b="0" i="1" smtClean="0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altLang="zh-CN" sz="2400" b="0" i="1">
                        <a:latin typeface="+mn-ea"/>
                        <a:ea typeface="+mn-ea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4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400" i="1" smtClean="0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4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4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40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400" b="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4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4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40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400" b="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en-US" altLang="zh-CN" sz="2400" b="0" i="1" smtClean="0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4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sSup>
                                    <m:sSupPr>
                                      <m:ctrlPr>
                                        <a:rPr kumimoji="0" lang="en-US" altLang="zh-CN" sz="2400" i="1" smtClean="0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2400" b="0" i="1" smtClean="0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kumimoji="0" lang="en-US" altLang="zh-CN" sz="2400" b="0" i="1" smtClean="0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   </m:t>
                              </m:r>
                              <m:r>
                                <a:rPr kumimoji="0" lang="en-US" altLang="zh-CN" sz="2400" b="0" i="1">
                                  <a:latin typeface="+mn-ea"/>
                                  <a:ea typeface="+mn-ea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400" i="1">
                                      <a:latin typeface="+mn-ea"/>
                                      <a:ea typeface="+mn-ea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400" i="1">
                                          <a:latin typeface="+mn-ea"/>
                                          <a:ea typeface="+mn-ea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40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400" b="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kumimoji="0" lang="en-US" altLang="zh-CN" sz="240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2400" b="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kumimoji="0" lang="en-US" altLang="zh-CN" sz="2400" b="0" i="1">
                                              <a:latin typeface="+mn-ea"/>
                                              <a:ea typeface="+mn-ea"/>
                                              <a:cs typeface="Times New Roman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kumimoji="0" lang="en-US" altLang="zh-CN" sz="2400" i="1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4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zh-CN" sz="2400" b="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kumimoji="0" lang="en-US" altLang="zh-CN" sz="24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400" b="0" i="1" smtClean="0">
                        <a:latin typeface="+mn-ea"/>
                        <a:ea typeface="+mn-ea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400" b="0" i="1" smtClean="0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          </m:t>
                    </m:r>
                    <m:d>
                      <m:dPr>
                        <m:ctrlPr>
                          <a:rPr kumimoji="0" lang="en-US" altLang="zh-CN" sz="240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smtClean="0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400" i="1" smtClean="0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smtClean="0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400" b="0" i="1" smtClean="0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0" lang="en-US" altLang="zh-CN" sz="24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40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400" b="0" i="1" smtClean="0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kumimoji="0" lang="en-US" altLang="zh-CN" sz="2400" b="0" i="1" smtClean="0">
                            <a:latin typeface="+mn-ea"/>
                            <a:ea typeface="+mn-ea"/>
                            <a:cs typeface="Times New Roman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>
                                <a:latin typeface="+mn-ea"/>
                                <a:ea typeface="+mn-ea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40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400" b="0" i="1" smtClean="0">
                                    <a:latin typeface="+mn-ea"/>
                                    <a:ea typeface="+mn-ea"/>
                                    <a:cs typeface="Times New Roman" pitchFamily="18" charset="0"/>
                                  </a:rPr>
                                  <m:t>𝑁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+mn-ea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600" dirty="0">
                  <a:latin typeface="+mn-ea"/>
                  <a:ea typeface="+mn-ea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BDA46E-D654-C27B-8ACF-3C6923B175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52" y="914400"/>
                <a:ext cx="9036496" cy="5775940"/>
              </a:xfrm>
              <a:prstGeom prst="rect">
                <a:avLst/>
              </a:prstGeom>
              <a:blipFill>
                <a:blip r:embed="rId4"/>
                <a:stretch>
                  <a:fillRect l="-1080" t="-106" r="-47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559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133C-7192-712C-C7D1-CDA48F0B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179F42F-4861-5D35-D5C7-D3AFD14E4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7600630-73AA-C606-8EDD-17948C641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9341"/>
                <a:ext cx="9036496" cy="61480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spcBef>
                    <a:spcPts val="1200"/>
                  </a:spcBef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离散无记忆扩展信源（续）：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sup>
                    </m:sSup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的概率空间为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8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80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8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8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8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8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8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8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800" b="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kumimoji="0" lang="en-US" altLang="zh-CN" sz="28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8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8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800" b="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en-US" altLang="zh-CN" sz="28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⋯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kumimoji="0" lang="en-US" altLang="zh-CN" sz="28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800" b="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𝛼</m:t>
                                      </m:r>
                                    </m:e>
                                  </m:acc>
                                </m:e>
                                <m:sub>
                                  <m:sSup>
                                    <m:sSupPr>
                                      <m:ctrlPr>
                                        <a:rPr kumimoji="0" lang="en-US" altLang="zh-CN" sz="280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0" lang="en-US" altLang="zh-CN" sz="28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kumimoji="0" lang="en-US" altLang="zh-CN" sz="2800" b="0" i="1" smtClean="0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  <m:t>𝑁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   </m:t>
                              </m:r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kumimoji="0" lang="en-US" altLang="zh-CN" sz="28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CN" sz="2800" i="1">
                                          <a:latin typeface="Cambria Math" panose="02040503050406030204" pitchFamily="18" charset="0"/>
                                          <a:cs typeface="Times New Roman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en-US" altLang="zh-CN" sz="28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en-US" altLang="zh-CN" sz="2800" b="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</m:acc>
                                    </m:e>
                                    <m:sub>
                                      <m:sSup>
                                        <m:sSupPr>
                                          <m:ctrlPr>
                                            <a:rPr kumimoji="0" lang="en-US" altLang="zh-CN" sz="280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0" lang="en-US" altLang="zh-CN" sz="2800" b="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kumimoji="0" lang="en-US" altLang="zh-CN" sz="2800" b="0" i="1">
                                              <a:latin typeface="Cambria Math" panose="02040503050406030204" pitchFamily="18" charset="0"/>
                                              <a:cs typeface="Times New Roman" pitchFamily="18" charset="0"/>
                                            </a:rPr>
                                            <m:t>𝑁</m:t>
                                          </m:r>
                                        </m:sup>
                                      </m:sSup>
                                    </m:sub>
                                  </m:sSub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</m:t>
                        </m:r>
                        <m:acc>
                          <m:accPr>
                            <m:chr m:val="̅"/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𝛼</m:t>
                            </m:r>
                          </m:e>
                        </m:acc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     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𝑁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lnSpc>
                    <a:spcPct val="130000"/>
                  </a:lnSpc>
                  <a:spcBef>
                    <a:spcPts val="0"/>
                  </a:spcBef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此时，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𝛼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⋯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𝑁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，且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sup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。利用熵的定义，可得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次扩展信源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sup>
                    </m:sSup>
                    <m:r>
                      <a:rPr kumimoji="0" lang="en-US" altLang="zh-CN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的熵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为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lnSpc>
                    <a:spcPct val="130000"/>
                  </a:lnSpc>
                  <a:spcBef>
                    <a:spcPts val="1200"/>
                  </a:spcBef>
                  <a:defRPr/>
                </a:pPr>
                <a:r>
                  <a:rPr kumimoji="0" lang="en-US" altLang="zh-CN" sz="28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m:rPr>
                                <m:brk m:alnAt="7"/>
                              </m:rP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sub>
                      <m:sup/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altLang="zh-CN" sz="28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US" altLang="zh-CN" sz="28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kumimoji="0" lang="en-US" altLang="zh-CN" sz="28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sup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800" b="0" i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8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US" altLang="zh-CN" sz="28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8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8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37600630-73AA-C606-8EDD-17948C6414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579341"/>
                <a:ext cx="9036496" cy="6148030"/>
              </a:xfrm>
              <a:prstGeom prst="rect">
                <a:avLst/>
              </a:prstGeom>
              <a:blipFill>
                <a:blip r:embed="rId4"/>
                <a:stretch>
                  <a:fillRect l="-1147" t="-19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2967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65AD-EB10-5707-E2CE-E2F0C222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1AD301B-1FDF-01DC-23C7-2F3D15F52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84CA839-B4B2-0355-10D6-466904C77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207" y="609600"/>
                <a:ext cx="8692014" cy="56870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b="1" dirty="0">
                    <a:latin typeface="Cambria Math" panose="02040503050406030204" pitchFamily="18" charset="0"/>
                    <a:cs typeface="Times New Roman" pitchFamily="18" charset="0"/>
                  </a:rPr>
                  <a:t>例子</a:t>
                </a:r>
                <a:r>
                  <a:rPr kumimoji="0" lang="en-US" altLang="zh-CN" sz="2600" b="1" dirty="0">
                    <a:latin typeface="Cambria Math" panose="02040503050406030204" pitchFamily="18" charset="0"/>
                    <a:cs typeface="Times New Roman" pitchFamily="18" charset="0"/>
                  </a:rPr>
                  <a:t>1 </a:t>
                </a:r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设信源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的概率空间为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(</m:t>
                              </m:r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𝑥</m:t>
                              </m:r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6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6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1/2</m:t>
                              </m:r>
                            </m:e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1/4</m:t>
                              </m:r>
                            </m:e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试求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6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60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6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6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p>
                      <m:e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kumimoji="0" lang="en-US" altLang="zh-CN" sz="26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1</m:t>
                    </m:r>
                    <m:r>
                      <a:rPr kumimoji="0" lang="en-US" altLang="zh-CN" sz="2600" b="0">
                        <a:latin typeface="Cambria Math" panose="02040503050406030204" pitchFamily="18" charset="0"/>
                        <a:cs typeface="Times New Roman" pitchFamily="18" charset="0"/>
                      </a:rPr>
                      <m:t>.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5</m:t>
                    </m:r>
                    <m:r>
                      <a:rPr kumimoji="0" lang="en-US" altLang="zh-CN" sz="26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  <m:r>
                      <a:rPr lang="zh-CN" altLang="en-US" sz="26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600" dirty="0"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6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6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6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CN" sz="26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的概率空间为</a:t>
                </a:r>
                <a14:m>
                  <m:oMath xmlns:m="http://schemas.openxmlformats.org/officeDocument/2006/math">
                    <m:r>
                      <a:rPr kumimoji="0" lang="en-US" altLang="zh-CN" sz="24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kumimoji="0" lang="en-US" altLang="zh-CN" sz="24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kumimoji="0" lang="en-US" altLang="zh-CN" sz="24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kumimoji="0" lang="en-US" altLang="zh-CN" sz="24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kumimoji="0" lang="en-US" altLang="zh-CN" sz="24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0" lang="en-US" altLang="zh-CN" sz="24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kumimoji="0" lang="en-US" altLang="zh-CN" sz="24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kumimoji="0" lang="en-US" altLang="zh-CN" sz="24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1/4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1/8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1/8</m:t>
                              </m:r>
                            </m:e>
                          </m:mr>
                        </m:m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1/8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1/16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1/16</m:t>
                              </m:r>
                            </m:e>
                          </m:mr>
                        </m:m>
                        <m:r>
                          <a:rPr kumimoji="0" lang="en-US" altLang="zh-CN" sz="24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   </m:t>
                        </m:r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kumimoji="0" lang="en-US" altLang="zh-CN" sz="24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altLang="zh-CN" sz="240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kumimoji="0" lang="en-US" altLang="zh-CN" sz="2400" b="0" i="1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kumimoji="0" lang="en-US" altLang="zh-CN" sz="24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1/8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1/16</m:t>
                              </m:r>
                            </m:e>
                            <m:e>
                              <m:r>
                                <a:rPr kumimoji="0" lang="en-US" altLang="zh-CN" sz="24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1/16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6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6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6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6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0" lang="en-US" altLang="zh-CN" sz="26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=1</m:t>
                        </m:r>
                      </m:sub>
                      <m:sup>
                        <m:sSup>
                          <m:sSup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kumimoji="0" lang="en-US" altLang="zh-CN" sz="2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sup>
                      <m:e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6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US" altLang="zh-CN" sz="26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6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6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6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kumimoji="0" lang="en-US" altLang="zh-CN" sz="260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600" b="0" i="1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𝛼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US" altLang="zh-CN" sz="2600" i="1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en-US" altLang="zh-CN" sz="26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limLoc m:val="subSup"/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5"/>
                              </m:rP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brk m:alnAt="25"/>
                              </m:rP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25"/>
                          </m:rP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=</m:t>
                        </m:r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25"/>
                                  </m:rP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m:rPr>
                                    <m:brk m:alnAt="25"/>
                                  </m:rPr>
                                  <a:rPr kumimoji="0" lang="en-US" altLang="zh-CN" sz="2600" b="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brk m:alnAt="25"/>
                              </m:rP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=</m:t>
                            </m:r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6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kumimoji="0" lang="en-US" altLang="zh-CN" sz="26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6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6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0" lang="en-US" altLang="zh-CN" sz="2600" i="1" smtClean="0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60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600" b="0" i="1" smtClean="0">
                                        <a:latin typeface="Cambria Math" panose="02040503050406030204" pitchFamily="18" charset="0"/>
                                        <a:cs typeface="Times New Roman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kumimoji="0" lang="en-US" altLang="zh-CN" sz="260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26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2600" b="0" i="1" smtClean="0">
                                            <a:latin typeface="Cambria Math" panose="02040503050406030204" pitchFamily="18" charset="0"/>
                                            <a:cs typeface="Times New Roman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a:rPr kumimoji="0" lang="en-US" altLang="zh-CN" sz="26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log</m:t>
                            </m:r>
                            <m:r>
                              <a:rPr kumimoji="0" lang="en-US" altLang="zh-CN" sz="2600" b="0" i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6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6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6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kumimoji="0" lang="en-US" altLang="zh-CN" sz="260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kumimoji="0" lang="en-US" altLang="zh-CN" sz="2600" b="0" i="1"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=3</m:t>
                    </m:r>
                    <m: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注意到，</a:t>
                </a:r>
                <a14:m>
                  <m:oMath xmlns:m="http://schemas.openxmlformats.org/officeDocument/2006/math">
                    <m:r>
                      <a:rPr kumimoji="0" lang="en-US" altLang="zh-CN" sz="26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6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600" b="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600" b="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0" lang="en-US" altLang="zh-CN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</m:t>
                    </m:r>
                    <m:r>
                      <a:rPr kumimoji="0" lang="en-US" altLang="zh-CN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kumimoji="0" lang="zh-CN" altLang="en-US" sz="26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84CA839-B4B2-0355-10D6-466904C77D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207" y="609600"/>
                <a:ext cx="8692014" cy="5687006"/>
              </a:xfrm>
              <a:prstGeom prst="rect">
                <a:avLst/>
              </a:prstGeom>
              <a:blipFill>
                <a:blip r:embed="rId4"/>
                <a:stretch>
                  <a:fillRect l="-1263" r="-772" b="-150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8221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513A-D4A6-8FF3-83AB-0281F06F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EA59B8F-BCCC-1DA8-62FF-531FC1025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993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1.1</a:t>
            </a:r>
            <a:r>
              <a:rPr lang="zh-CN" altLang="en-US" dirty="0"/>
              <a:t> 离散信源（续）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5E953CA-1BFC-F280-E3C3-25C502901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652" y="762000"/>
                <a:ext cx="8722695" cy="11326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b="1" dirty="0">
                    <a:latin typeface="+mn-ea"/>
                    <a:ea typeface="+mn-ea"/>
                    <a:cs typeface="Times New Roman" pitchFamily="18" charset="0"/>
                  </a:rPr>
                  <a:t>定理 </a:t>
                </a:r>
                <a:r>
                  <a:rPr kumimoji="0" lang="en-US" altLang="zh-CN" sz="2600" b="1" dirty="0">
                    <a:latin typeface="+mn-ea"/>
                    <a:ea typeface="+mn-ea"/>
                    <a:cs typeface="Times New Roman" pitchFamily="18" charset="0"/>
                  </a:rPr>
                  <a:t>1 </a:t>
                </a:r>
                <a:r>
                  <a:rPr kumimoji="0" lang="zh-CN" altLang="en-US" sz="26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离散无记忆信源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次扩展信源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sup>
                    </m:sSup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的熵满足：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6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6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6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6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6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𝑁</m:t>
                      </m:r>
                      <m:r>
                        <a:rPr kumimoji="0" lang="en-US" altLang="zh-CN" sz="26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×</m:t>
                      </m:r>
                      <m:r>
                        <a:rPr kumimoji="0" lang="en-US" altLang="zh-CN" sz="26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6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5E953CA-1BFC-F280-E3C3-25C502901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652" y="762000"/>
                <a:ext cx="8722695" cy="1132618"/>
              </a:xfrm>
              <a:prstGeom prst="rect">
                <a:avLst/>
              </a:prstGeom>
              <a:blipFill>
                <a:blip r:embed="rId4"/>
                <a:stretch>
                  <a:fillRect l="-1259" t="-538" r="-7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4B8173F-CCA3-88B2-D099-B40B619B9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993" y="2682424"/>
                <a:ext cx="8606190" cy="33610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b="1" dirty="0">
                    <a:latin typeface="+mn-ea"/>
                    <a:ea typeface="+mn-ea"/>
                    <a:cs typeface="Times New Roman" pitchFamily="18" charset="0"/>
                  </a:rPr>
                  <a:t>定义</a:t>
                </a:r>
                <a:r>
                  <a:rPr kumimoji="0" lang="en-US" altLang="zh-CN" sz="2600" b="1" dirty="0">
                    <a:latin typeface="+mn-ea"/>
                    <a:ea typeface="+mn-ea"/>
                    <a:cs typeface="Times New Roman" pitchFamily="18" charset="0"/>
                  </a:rPr>
                  <a:t>1 </a:t>
                </a:r>
                <a:r>
                  <a:rPr kumimoji="0" lang="zh-CN" altLang="en-US" sz="26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长度为</a:t>
                </a:r>
                <a14:m>
                  <m:oMath xmlns:m="http://schemas.openxmlformats.org/officeDocument/2006/math"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的信源符号序列中平均每个信源符号所携带的信息量为：</a:t>
                </a:r>
                <a14:m>
                  <m:oMath xmlns:m="http://schemas.openxmlformats.org/officeDocument/2006/math"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p>
                        </m:sSup>
                      </m:e>
                    </m:d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den>
                    </m:f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6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6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⋯</m:t>
                        </m:r>
                        <m:sSub>
                          <m:sSubPr>
                            <m:ctrlPr>
                              <a:rPr kumimoji="0" lang="en-US" altLang="zh-CN" sz="26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6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，称为</a:t>
                </a:r>
                <a:r>
                  <a:rPr kumimoji="0" lang="zh-CN" altLang="en-US" sz="26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平均符号熵</a:t>
                </a:r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600" b="1" dirty="0">
                    <a:latin typeface="+mn-ea"/>
                    <a:ea typeface="+mn-ea"/>
                    <a:cs typeface="Times New Roman" pitchFamily="18" charset="0"/>
                  </a:rPr>
                  <a:t>定义</a:t>
                </a:r>
                <a:r>
                  <a:rPr kumimoji="0" lang="en-US" altLang="zh-CN" sz="2600" b="1" dirty="0">
                    <a:latin typeface="+mn-ea"/>
                    <a:ea typeface="+mn-ea"/>
                    <a:cs typeface="Times New Roman" pitchFamily="18" charset="0"/>
                  </a:rPr>
                  <a:t>2  </a:t>
                </a:r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信源</a:t>
                </a:r>
                <a14:m>
                  <m:oMath xmlns:m="http://schemas.openxmlformats.org/officeDocument/2006/math">
                    <m:r>
                      <a:rPr kumimoji="0" lang="en-US" altLang="zh-CN" sz="26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6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𝑋</m:t>
                    </m:r>
                    <m:r>
                      <a:rPr kumimoji="0" lang="en-US" altLang="zh-CN" sz="26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600" dirty="0">
                    <a:latin typeface="Cambria Math" panose="02040503050406030204" pitchFamily="18" charset="0"/>
                    <a:cs typeface="Times New Roman" pitchFamily="18" charset="0"/>
                  </a:rPr>
                  <a:t>的极限符号熵定义为：</a:t>
                </a:r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6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∞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26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𝑋</m:t>
                          </m:r>
                        </m:e>
                      </m:d>
                      <m:r>
                        <a:rPr kumimoji="0" lang="en-US" altLang="zh-CN" sz="26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0" lang="en-US" altLang="zh-CN" sz="26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zh-CN" sz="26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CN" sz="26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0" lang="en-US" altLang="zh-CN" sz="26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altLang="zh-CN" sz="26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6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kumimoji="0" lang="en-US" altLang="zh-CN" sz="26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=</m:t>
                          </m:r>
                        </m:e>
                      </m:func>
                      <m:limLow>
                        <m:limLowPr>
                          <m:ctrlPr>
                            <a:rPr kumimoji="0" lang="en-US" altLang="zh-CN" sz="26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kumimoji="0" lang="en-US" altLang="zh-CN" sz="2600" b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lim</m:t>
                          </m:r>
                        </m:e>
                        <m:lim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𝑁</m:t>
                          </m:r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kumimoji="0" lang="en-US" altLang="zh-CN" sz="26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𝑁</m:t>
                          </m:r>
                        </m:den>
                      </m:f>
                      <m:r>
                        <a:rPr kumimoji="0" lang="en-US" altLang="zh-CN" sz="26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6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6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altLang="zh-CN" sz="26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6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⋯</m:t>
                          </m:r>
                          <m:sSub>
                            <m:sSubPr>
                              <m:ctrlPr>
                                <a:rPr kumimoji="0" lang="en-US" altLang="zh-CN" sz="26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6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</m:d>
                      <m:r>
                        <a:rPr lang="zh-CN" altLang="en-US" sz="260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kumimoji="0" lang="en-US" altLang="zh-CN" sz="26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4B8173F-CCA3-88B2-D099-B40B619B9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993" y="2682424"/>
                <a:ext cx="8606190" cy="3361048"/>
              </a:xfrm>
              <a:prstGeom prst="rect">
                <a:avLst/>
              </a:prstGeom>
              <a:blipFill>
                <a:blip r:embed="rId5"/>
                <a:stretch>
                  <a:fillRect l="-1275" t="-18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18EB884A-4DF1-CCE3-F1FA-E411B0357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05" y="1806463"/>
            <a:ext cx="8606190" cy="55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2600" dirty="0">
                <a:solidFill>
                  <a:schemeClr val="tx1"/>
                </a:solidFill>
                <a:latin typeface="Cambria Math" panose="02040503050406030204" pitchFamily="18" charset="0"/>
                <a:cs typeface="Times New Roman" pitchFamily="18" charset="0"/>
              </a:rPr>
              <a:t>对于</a:t>
            </a:r>
            <a:r>
              <a:rPr kumimoji="0" lang="zh-CN" altLang="en-US" sz="26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itchFamily="18" charset="0"/>
              </a:rPr>
              <a:t>离散平稳有记忆信源</a:t>
            </a:r>
            <a:r>
              <a:rPr kumimoji="0" lang="zh-CN" altLang="en-US" sz="2600" dirty="0">
                <a:solidFill>
                  <a:schemeClr val="tx1"/>
                </a:solidFill>
                <a:latin typeface="Cambria Math" panose="02040503050406030204" pitchFamily="18" charset="0"/>
                <a:cs typeface="Times New Roman" pitchFamily="18" charset="0"/>
              </a:rPr>
              <a:t>，我们有如下定义</a:t>
            </a:r>
            <a:r>
              <a:rPr kumimoji="0" lang="zh-CN" altLang="en-US" sz="2600" b="1" dirty="0">
                <a:solidFill>
                  <a:schemeClr val="tx1"/>
                </a:solidFill>
                <a:latin typeface="Cambria Math" panose="02040503050406030204" pitchFamily="18" charset="0"/>
                <a:cs typeface="Times New Roman" pitchFamily="18" charset="0"/>
              </a:rPr>
              <a:t>：</a:t>
            </a:r>
            <a:endParaRPr kumimoji="0" lang="en-US" altLang="zh-CN" sz="2600" b="1" dirty="0">
              <a:latin typeface="Cambria Math" panose="02040503050406030204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745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1CC1003-4EC6-D9F8-F612-53A6A0FE6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E9C2A2D-DBA2-6C2E-FF1D-8F3B5181F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1071485"/>
                <a:ext cx="8678198" cy="55938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1948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年，香农用概率论的观点对信息源、密钥源、接收和截获的密文进行数学描述和定量分析，提出了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通用密码系统模型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: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信源的明文空间，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: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密文空间，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: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密钥空间。给定密钥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，加密编码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→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的一一映射，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𝐷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𝐸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的逆变换，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zh-CN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表示一个密码系统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密码系统的两种安全性标准：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914400" lvl="1" indent="-457200">
                  <a:lnSpc>
                    <a:spcPct val="13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理论安全性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：破译者具有</a:t>
                </a:r>
                <a:r>
                  <a:rPr kumimoji="0" lang="zh-CN" altLang="en-US" sz="2500" u="sng" dirty="0">
                    <a:latin typeface="Cambria Math" panose="02040503050406030204" pitchFamily="18" charset="0"/>
                    <a:cs typeface="Times New Roman" pitchFamily="18" charset="0"/>
                  </a:rPr>
                  <a:t>无限时间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和</a:t>
                </a:r>
                <a:r>
                  <a:rPr kumimoji="0" lang="zh-CN" altLang="en-US" sz="2500" u="sng" dirty="0">
                    <a:latin typeface="Cambria Math" panose="02040503050406030204" pitchFamily="18" charset="0"/>
                    <a:cs typeface="Times New Roman" pitchFamily="18" charset="0"/>
                  </a:rPr>
                  <a:t>无限计算资源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下的抗破译能力。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914400" lvl="1" indent="-457200">
                  <a:lnSpc>
                    <a:spcPct val="13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实用安全性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：破译者仅有</a:t>
                </a:r>
                <a:r>
                  <a:rPr kumimoji="0" lang="zh-CN" altLang="en-US" sz="2500" u="sng" dirty="0">
                    <a:latin typeface="Cambria Math" panose="02040503050406030204" pitchFamily="18" charset="0"/>
                    <a:cs typeface="Times New Roman" pitchFamily="18" charset="0"/>
                  </a:rPr>
                  <a:t>一定计算资源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及其他</a:t>
                </a:r>
                <a:r>
                  <a:rPr kumimoji="0" lang="zh-CN" altLang="en-US" sz="2500" u="sng" dirty="0">
                    <a:latin typeface="Cambria Math" panose="02040503050406030204" pitchFamily="18" charset="0"/>
                    <a:cs typeface="Times New Roman" pitchFamily="18" charset="0"/>
                  </a:rPr>
                  <a:t>实际限制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下的抗破译能力。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E9C2A2D-DBA2-6C2E-FF1D-8F3B5181F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1071485"/>
                <a:ext cx="8678198" cy="5593839"/>
              </a:xfrm>
              <a:prstGeom prst="rect">
                <a:avLst/>
              </a:prstGeom>
              <a:blipFill>
                <a:blip r:embed="rId4"/>
                <a:stretch>
                  <a:fillRect l="-983" t="-218" r="-702" b="-32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72879C07-02E6-B61D-312A-A4B99B1AA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p:sp>
        <p:nvSpPr>
          <p:cNvPr id="57347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C863450C-E781-4919-F56F-EAA6B0CBE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5178425"/>
            <a:ext cx="86788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2500" b="1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通用密码系统模型</a:t>
            </a:r>
            <a:endParaRPr lang="en-US" altLang="zh-CN" sz="2500" b="1">
              <a:solidFill>
                <a:srgbClr val="00000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8890D8-5045-695A-3052-BCB5E1BEF3F4}"/>
              </a:ext>
            </a:extLst>
          </p:cNvPr>
          <p:cNvSpPr txBox="1"/>
          <p:nvPr/>
        </p:nvSpPr>
        <p:spPr>
          <a:xfrm>
            <a:off x="212725" y="2763838"/>
            <a:ext cx="1223963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信源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57E48-6255-A606-4060-59EE0719426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21832" y="2578939"/>
            <a:ext cx="1224136" cy="830997"/>
          </a:xfrm>
          <a:prstGeom prst="rect">
            <a:avLst/>
          </a:prstGeom>
          <a:blipFill>
            <a:blip r:embed="rId4"/>
            <a:stretch>
              <a:fillRect l="-2956" t="-5072" r="-2463" b="-13043"/>
            </a:stretch>
          </a:blip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49D294-AE8F-D78C-D99A-8DBC808183EB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77293" y="2591898"/>
            <a:ext cx="1224136" cy="830997"/>
          </a:xfrm>
          <a:prstGeom prst="rect">
            <a:avLst/>
          </a:prstGeom>
          <a:blipFill>
            <a:blip r:embed="rId5"/>
            <a:stretch>
              <a:fillRect l="-2463" t="-5072" r="-2956" b="-13043"/>
            </a:stretch>
          </a:blip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B36BD6-6519-8A34-5B8E-8FA1B6F1C164}"/>
              </a:ext>
            </a:extLst>
          </p:cNvPr>
          <p:cNvSpPr txBox="1"/>
          <p:nvPr/>
        </p:nvSpPr>
        <p:spPr>
          <a:xfrm>
            <a:off x="7793038" y="2779713"/>
            <a:ext cx="1223962" cy="4603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接收者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cxnSp>
        <p:nvCxnSpPr>
          <p:cNvPr id="57352" name="直接箭头连接符 6">
            <a:extLst>
              <a:ext uri="{FF2B5EF4-FFF2-40B4-BE49-F238E27FC236}">
                <a16:creationId xmlns:a16="http://schemas.microsoft.com/office/drawing/2014/main" id="{3EC51492-0C56-B45D-37D3-3B59EEBCE755}"/>
              </a:ext>
            </a:extLst>
          </p:cNvPr>
          <p:cNvCxnSpPr>
            <a:cxnSpLocks noChangeShapeType="1"/>
            <a:stCxn id="3" idx="3"/>
            <a:endCxn id="4" idx="1"/>
          </p:cNvCxnSpPr>
          <p:nvPr/>
        </p:nvCxnSpPr>
        <p:spPr bwMode="auto">
          <a:xfrm flipV="1">
            <a:off x="1436688" y="2994025"/>
            <a:ext cx="885825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8387BAC-FD1F-EF97-7935-EB268C226BD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3573" y="2299511"/>
            <a:ext cx="1622835" cy="707886"/>
          </a:xfrm>
          <a:prstGeom prst="rect">
            <a:avLst/>
          </a:prstGeom>
          <a:blipFill>
            <a:blip r:embed="rId6"/>
            <a:stretch>
              <a:fillRect t="-603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cxnSp>
        <p:nvCxnSpPr>
          <p:cNvPr id="57354" name="直接箭头连接符 8">
            <a:extLst>
              <a:ext uri="{FF2B5EF4-FFF2-40B4-BE49-F238E27FC236}">
                <a16:creationId xmlns:a16="http://schemas.microsoft.com/office/drawing/2014/main" id="{594C25D6-0EBB-B957-5311-7AFCEFDF35C7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6800850" y="3006725"/>
            <a:ext cx="992188" cy="3175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2C6A297-986D-ADAF-5D6F-07F5999A689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85739" y="2582909"/>
            <a:ext cx="1622835" cy="400110"/>
          </a:xfrm>
          <a:prstGeom prst="rect">
            <a:avLst/>
          </a:prstGeom>
          <a:blipFill>
            <a:blip r:embed="rId7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AE3755-CCFD-3A38-F669-A41ED00287A3}"/>
              </a:ext>
            </a:extLst>
          </p:cNvPr>
          <p:cNvSpPr txBox="1"/>
          <p:nvPr/>
        </p:nvSpPr>
        <p:spPr>
          <a:xfrm>
            <a:off x="2316163" y="4557713"/>
            <a:ext cx="1225550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密钥源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cxnSp>
        <p:nvCxnSpPr>
          <p:cNvPr id="57357" name="直接箭头连接符 11">
            <a:extLst>
              <a:ext uri="{FF2B5EF4-FFF2-40B4-BE49-F238E27FC236}">
                <a16:creationId xmlns:a16="http://schemas.microsoft.com/office/drawing/2014/main" id="{39A5D8A1-9E06-7609-5D23-32D4A1F0D290}"/>
              </a:ext>
            </a:extLst>
          </p:cNvPr>
          <p:cNvCxnSpPr>
            <a:cxnSpLocks noChangeShapeType="1"/>
            <a:stCxn id="4" idx="3"/>
            <a:endCxn id="5" idx="1"/>
          </p:cNvCxnSpPr>
          <p:nvPr/>
        </p:nvCxnSpPr>
        <p:spPr bwMode="auto">
          <a:xfrm>
            <a:off x="3546475" y="2994025"/>
            <a:ext cx="2030413" cy="1270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3DD2354-08BB-C99F-221A-1FC80D42951C}"/>
              </a:ext>
            </a:extLst>
          </p:cNvPr>
          <p:cNvSpPr txBox="1"/>
          <p:nvPr/>
        </p:nvSpPr>
        <p:spPr>
          <a:xfrm>
            <a:off x="5080000" y="1055688"/>
            <a:ext cx="1720850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密码分析者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cxnSp>
        <p:nvCxnSpPr>
          <p:cNvPr id="57359" name="肘形连接符 22">
            <a:extLst>
              <a:ext uri="{FF2B5EF4-FFF2-40B4-BE49-F238E27FC236}">
                <a16:creationId xmlns:a16="http://schemas.microsoft.com/office/drawing/2014/main" id="{50C04711-C8C7-F364-92CD-01FD62230C04}"/>
              </a:ext>
            </a:extLst>
          </p:cNvPr>
          <p:cNvCxnSpPr>
            <a:cxnSpLocks noChangeShapeType="1"/>
            <a:endCxn id="13" idx="1"/>
          </p:cNvCxnSpPr>
          <p:nvPr/>
        </p:nvCxnSpPr>
        <p:spPr bwMode="auto">
          <a:xfrm rot="5400000" flipH="1" flipV="1">
            <a:off x="3960019" y="1862931"/>
            <a:ext cx="1697038" cy="542925"/>
          </a:xfrm>
          <a:prstGeom prst="bentConnector2">
            <a:avLst/>
          </a:prstGeom>
          <a:noFill/>
          <a:ln w="38100" algn="ctr">
            <a:solidFill>
              <a:srgbClr val="00B050"/>
            </a:solidFill>
            <a:round/>
            <a:headEnd/>
            <a:tailEnd type="triangle" w="med" len="med"/>
          </a:ln>
        </p:spPr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1590BDB-F941-671B-DA0B-0CEB15584C01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49979" y="880947"/>
            <a:ext cx="1622835" cy="400110"/>
          </a:xfrm>
          <a:prstGeom prst="rect">
            <a:avLst/>
          </a:prstGeom>
          <a:blipFill>
            <a:blip r:embed="rId8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9F43C0-12B1-3499-8794-74D59E97307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87425" y="2273593"/>
            <a:ext cx="1622835" cy="707886"/>
          </a:xfrm>
          <a:prstGeom prst="rect">
            <a:avLst/>
          </a:prstGeom>
          <a:blipFill>
            <a:blip r:embed="rId9"/>
            <a:stretch>
              <a:fillRect t="-689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cxnSp>
        <p:nvCxnSpPr>
          <p:cNvPr id="57362" name="肘形连接符 33">
            <a:extLst>
              <a:ext uri="{FF2B5EF4-FFF2-40B4-BE49-F238E27FC236}">
                <a16:creationId xmlns:a16="http://schemas.microsoft.com/office/drawing/2014/main" id="{0929C6D6-1D4C-6829-BB45-159003592057}"/>
              </a:ext>
            </a:extLst>
          </p:cNvPr>
          <p:cNvCxnSpPr>
            <a:cxnSpLocks noChangeShapeType="1"/>
            <a:stCxn id="13" idx="2"/>
          </p:cNvCxnSpPr>
          <p:nvPr/>
        </p:nvCxnSpPr>
        <p:spPr bwMode="auto">
          <a:xfrm rot="5400000">
            <a:off x="4578350" y="1620838"/>
            <a:ext cx="1465263" cy="1258887"/>
          </a:xfrm>
          <a:prstGeom prst="bentConnector3">
            <a:avLst>
              <a:gd name="adj1" fmla="val 50000"/>
            </a:avLst>
          </a:prstGeom>
          <a:noFill/>
          <a:ln w="38100" algn="ctr">
            <a:solidFill>
              <a:srgbClr val="00B050"/>
            </a:solidFill>
            <a:round/>
            <a:headEnd/>
            <a:tailEnd type="triangle" w="med" len="med"/>
          </a:ln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A9FA607-17D4-132D-0611-F62D9522E3C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447401" y="1849264"/>
            <a:ext cx="1622835" cy="400110"/>
          </a:xfrm>
          <a:prstGeom prst="rect">
            <a:avLst/>
          </a:prstGeom>
          <a:blipFill>
            <a:blip r:embed="rId10"/>
            <a:stretch>
              <a:fillRect t="-10606" b="-2272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0B635C-FBC8-D9B4-A90D-515FA3DAD6D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17317" y="2582909"/>
            <a:ext cx="1622835" cy="400110"/>
          </a:xfrm>
          <a:prstGeom prst="rect">
            <a:avLst/>
          </a:prstGeom>
          <a:blipFill>
            <a:blip r:embed="rId11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57365" name="文本框 19">
            <a:extLst>
              <a:ext uri="{FF2B5EF4-FFF2-40B4-BE49-F238E27FC236}">
                <a16:creationId xmlns:a16="http://schemas.microsoft.com/office/drawing/2014/main" id="{08D7D7FA-0B88-A944-26BA-A62C09967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3078163"/>
            <a:ext cx="16224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公开信道</a:t>
            </a:r>
          </a:p>
        </p:txBody>
      </p:sp>
      <p:cxnSp>
        <p:nvCxnSpPr>
          <p:cNvPr id="57366" name="直接箭头连接符 20">
            <a:extLst>
              <a:ext uri="{FF2B5EF4-FFF2-40B4-BE49-F238E27FC236}">
                <a16:creationId xmlns:a16="http://schemas.microsoft.com/office/drawing/2014/main" id="{DE0570F9-F11F-BD6E-96D1-C0D6F381B057}"/>
              </a:ext>
            </a:extLst>
          </p:cNvPr>
          <p:cNvCxnSpPr>
            <a:cxnSpLocks noChangeShapeType="1"/>
            <a:stCxn id="11" idx="0"/>
            <a:endCxn id="4" idx="2"/>
          </p:cNvCxnSpPr>
          <p:nvPr/>
        </p:nvCxnSpPr>
        <p:spPr bwMode="auto">
          <a:xfrm flipV="1">
            <a:off x="2928938" y="3409950"/>
            <a:ext cx="4762" cy="114776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E9774AB-5C06-07B5-011B-05442581A44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75656" y="3801570"/>
            <a:ext cx="1622835" cy="400110"/>
          </a:xfrm>
          <a:prstGeom prst="rect">
            <a:avLst/>
          </a:prstGeom>
          <a:blipFill>
            <a:blip r:embed="rId12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cxnSp>
        <p:nvCxnSpPr>
          <p:cNvPr id="57368" name="肘形连接符 49">
            <a:extLst>
              <a:ext uri="{FF2B5EF4-FFF2-40B4-BE49-F238E27FC236}">
                <a16:creationId xmlns:a16="http://schemas.microsoft.com/office/drawing/2014/main" id="{5922437C-B2DF-E145-513C-3A00FEAA5C24}"/>
              </a:ext>
            </a:extLst>
          </p:cNvPr>
          <p:cNvCxnSpPr>
            <a:cxnSpLocks noChangeShapeType="1"/>
            <a:endCxn id="5" idx="2"/>
          </p:cNvCxnSpPr>
          <p:nvPr/>
        </p:nvCxnSpPr>
        <p:spPr bwMode="auto">
          <a:xfrm flipV="1">
            <a:off x="2928938" y="3422650"/>
            <a:ext cx="3260725" cy="561975"/>
          </a:xfrm>
          <a:prstGeom prst="bentConnector2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A27D87D-7F26-2424-E8E4-833A8EA1B62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98066" y="3633612"/>
            <a:ext cx="1622835" cy="400110"/>
          </a:xfrm>
          <a:prstGeom prst="rect">
            <a:avLst/>
          </a:prstGeom>
          <a:blipFill>
            <a:blip r:embed="rId13"/>
            <a:stretch>
              <a:fillRect t="-10606" b="-2272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57370" name="文本框 24">
            <a:extLst>
              <a:ext uri="{FF2B5EF4-FFF2-40B4-BE49-F238E27FC236}">
                <a16:creationId xmlns:a16="http://schemas.microsoft.com/office/drawing/2014/main" id="{3EE8EF8D-8133-B4F1-8E03-2E6A90332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033838"/>
            <a:ext cx="1624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秘密信道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FE7270A-8A72-7E0F-F689-40C9FFA87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p:sp>
        <p:nvSpPr>
          <p:cNvPr id="59395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96315DC0-36A0-192F-B13F-9DAE95B77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3" y="5483225"/>
            <a:ext cx="86788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sz="2500" b="1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通用密码系统模型</a:t>
            </a:r>
            <a:endParaRPr lang="en-US" altLang="zh-CN" sz="2500" b="1" dirty="0">
              <a:solidFill>
                <a:srgbClr val="00000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19EABA-9FA1-0B85-D088-C3090F00CCE5}"/>
              </a:ext>
            </a:extLst>
          </p:cNvPr>
          <p:cNvSpPr txBox="1"/>
          <p:nvPr/>
        </p:nvSpPr>
        <p:spPr>
          <a:xfrm>
            <a:off x="212725" y="3068638"/>
            <a:ext cx="1223963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信源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EBC0C9-6BDB-4D2D-00BF-8217CEF1EE6E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21832" y="2883739"/>
            <a:ext cx="1224136" cy="830997"/>
          </a:xfrm>
          <a:prstGeom prst="rect">
            <a:avLst/>
          </a:prstGeom>
          <a:blipFill>
            <a:blip r:embed="rId4"/>
            <a:stretch>
              <a:fillRect l="-2956" t="-5072" r="-2463" b="-13043"/>
            </a:stretch>
          </a:blip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0A14A4-2419-B81B-D233-274F3016BB5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577293" y="2896698"/>
            <a:ext cx="1224136" cy="830997"/>
          </a:xfrm>
          <a:prstGeom prst="rect">
            <a:avLst/>
          </a:prstGeom>
          <a:blipFill>
            <a:blip r:embed="rId5"/>
            <a:stretch>
              <a:fillRect l="-2463" t="-5072" r="-2956" b="-13043"/>
            </a:stretch>
          </a:blipFill>
          <a:ln>
            <a:solidFill>
              <a:srgbClr val="000000"/>
            </a:solidFill>
          </a:ln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FC2768-3066-7687-87AC-F6949ECBBBA3}"/>
              </a:ext>
            </a:extLst>
          </p:cNvPr>
          <p:cNvSpPr txBox="1"/>
          <p:nvPr/>
        </p:nvSpPr>
        <p:spPr>
          <a:xfrm>
            <a:off x="7793038" y="3084513"/>
            <a:ext cx="1223962" cy="46037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接收者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7C331E5-1F21-A988-59CF-786CA59536D3}"/>
              </a:ext>
            </a:extLst>
          </p:cNvPr>
          <p:cNvCxnSpPr>
            <a:cxnSpLocks noChangeShapeType="1"/>
            <a:stCxn id="3" idx="3"/>
            <a:endCxn id="4" idx="1"/>
          </p:cNvCxnSpPr>
          <p:nvPr/>
        </p:nvCxnSpPr>
        <p:spPr bwMode="auto">
          <a:xfrm flipV="1">
            <a:off x="1436688" y="3298825"/>
            <a:ext cx="885825" cy="0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D4590E6-4FAB-CF9B-C72A-5328848F02E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63573" y="2604311"/>
            <a:ext cx="1622835" cy="707886"/>
          </a:xfrm>
          <a:prstGeom prst="rect">
            <a:avLst/>
          </a:prstGeom>
          <a:blipFill>
            <a:blip r:embed="rId6"/>
            <a:stretch>
              <a:fillRect t="-6034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24DF79D-C87F-0FDE-B49C-84E7957FFE2B}"/>
              </a:ext>
            </a:extLst>
          </p:cNvPr>
          <p:cNvCxnSpPr>
            <a:cxnSpLocks noChangeShapeType="1"/>
            <a:stCxn id="5" idx="3"/>
            <a:endCxn id="6" idx="1"/>
          </p:cNvCxnSpPr>
          <p:nvPr/>
        </p:nvCxnSpPr>
        <p:spPr bwMode="auto">
          <a:xfrm>
            <a:off x="6800850" y="3311525"/>
            <a:ext cx="992188" cy="3175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EB3A2CD-F910-09B4-9682-4A94AF6EACE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85739" y="2887709"/>
            <a:ext cx="1622835" cy="400110"/>
          </a:xfrm>
          <a:prstGeom prst="rect">
            <a:avLst/>
          </a:prstGeom>
          <a:blipFill>
            <a:blip r:embed="rId7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186638-FC53-CE58-C263-A4C86D8F6BB4}"/>
              </a:ext>
            </a:extLst>
          </p:cNvPr>
          <p:cNvSpPr txBox="1"/>
          <p:nvPr/>
        </p:nvSpPr>
        <p:spPr>
          <a:xfrm>
            <a:off x="2316163" y="4862513"/>
            <a:ext cx="1225550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密钥源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1FBF72-9C8E-DB8C-72B2-55751875CBB1}"/>
              </a:ext>
            </a:extLst>
          </p:cNvPr>
          <p:cNvSpPr txBox="1"/>
          <p:nvPr/>
        </p:nvSpPr>
        <p:spPr>
          <a:xfrm>
            <a:off x="5080000" y="1360488"/>
            <a:ext cx="1720850" cy="461962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kern="0" dirty="0">
                <a:solidFill>
                  <a:srgbClr val="333399"/>
                </a:solidFill>
                <a:latin typeface="Times New Roman" pitchFamily="18" charset="0"/>
                <a:cs typeface="Tahoma"/>
              </a:rPr>
              <a:t>密码分析者</a:t>
            </a:r>
            <a:endParaRPr kumimoji="1" lang="zh-CN" altLang="en-US" sz="2800" b="1" kern="0" dirty="0">
              <a:solidFill>
                <a:srgbClr val="333399"/>
              </a:solidFill>
              <a:latin typeface="Times New Roman" pitchFamily="18" charset="0"/>
              <a:cs typeface="Tahoma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C879AD5-FF63-683D-0CA0-16322F3F6200}"/>
              </a:ext>
            </a:extLst>
          </p:cNvPr>
          <p:cNvGrpSpPr>
            <a:grpSpLocks/>
          </p:cNvGrpSpPr>
          <p:nvPr/>
        </p:nvGrpSpPr>
        <p:grpSpPr bwMode="auto">
          <a:xfrm>
            <a:off x="3622675" y="1230313"/>
            <a:ext cx="1622425" cy="1697037"/>
            <a:chOff x="3623032" y="1591005"/>
            <a:chExt cx="1622835" cy="1696823"/>
          </a:xfrm>
        </p:grpSpPr>
        <p:cxnSp>
          <p:nvCxnSpPr>
            <p:cNvPr id="59426" name="肘形连接符 22">
              <a:extLst>
                <a:ext uri="{FF2B5EF4-FFF2-40B4-BE49-F238E27FC236}">
                  <a16:creationId xmlns:a16="http://schemas.microsoft.com/office/drawing/2014/main" id="{69973970-6257-2507-E86F-BD2F6110B5C9}"/>
                </a:ext>
              </a:extLst>
            </p:cNvPr>
            <p:cNvCxnSpPr>
              <a:cxnSpLocks noChangeShapeType="1"/>
              <a:endCxn id="12" idx="1"/>
            </p:cNvCxnSpPr>
            <p:nvPr/>
          </p:nvCxnSpPr>
          <p:spPr bwMode="auto">
            <a:xfrm rot="5400000" flipH="1" flipV="1">
              <a:off x="3960177" y="2168250"/>
              <a:ext cx="1696823" cy="542333"/>
            </a:xfrm>
            <a:prstGeom prst="bentConnector2">
              <a:avLst/>
            </a:prstGeom>
            <a:noFill/>
            <a:ln w="38100" algn="ctr">
              <a:solidFill>
                <a:srgbClr val="00B050"/>
              </a:solidFill>
              <a:round/>
              <a:headEnd/>
              <a:tailEnd type="triangle" w="med" len="med"/>
            </a:ln>
          </p:spPr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97D79B5-A163-1440-5665-375462129838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623032" y="1676883"/>
              <a:ext cx="1622835" cy="400110"/>
            </a:xfrm>
            <a:prstGeom prst="rect">
              <a:avLst/>
            </a:prstGeom>
            <a:blipFill>
              <a:blip r:embed="rId8"/>
              <a:stretch>
                <a:fillRect t="-12121" b="-22727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7BD6574-0E8E-524A-8AE9-F25BBAF7BA92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187425" y="2578393"/>
            <a:ext cx="1622835" cy="707886"/>
          </a:xfrm>
          <a:prstGeom prst="rect">
            <a:avLst/>
          </a:prstGeom>
          <a:blipFill>
            <a:blip r:embed="rId9"/>
            <a:stretch>
              <a:fillRect t="-689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F83C907-C89E-EF8B-474F-F5E25938DE3A}"/>
              </a:ext>
            </a:extLst>
          </p:cNvPr>
          <p:cNvGrpSpPr>
            <a:grpSpLocks/>
          </p:cNvGrpSpPr>
          <p:nvPr/>
        </p:nvGrpSpPr>
        <p:grpSpPr bwMode="auto">
          <a:xfrm>
            <a:off x="4448175" y="1822450"/>
            <a:ext cx="1622425" cy="1465263"/>
            <a:chOff x="4447401" y="1821836"/>
            <a:chExt cx="1622835" cy="1465983"/>
          </a:xfrm>
        </p:grpSpPr>
        <p:cxnSp>
          <p:nvCxnSpPr>
            <p:cNvPr id="59424" name="肘形连接符 33">
              <a:extLst>
                <a:ext uri="{FF2B5EF4-FFF2-40B4-BE49-F238E27FC236}">
                  <a16:creationId xmlns:a16="http://schemas.microsoft.com/office/drawing/2014/main" id="{DACDDE6B-5B82-6554-4ACD-F18A00F15E42}"/>
                </a:ext>
              </a:extLst>
            </p:cNvPr>
            <p:cNvCxnSpPr>
              <a:cxnSpLocks noChangeShapeType="1"/>
              <a:stCxn id="12" idx="2"/>
            </p:cNvCxnSpPr>
            <p:nvPr/>
          </p:nvCxnSpPr>
          <p:spPr bwMode="auto">
            <a:xfrm rot="5400000">
              <a:off x="4578190" y="1925416"/>
              <a:ext cx="1465983" cy="1258823"/>
            </a:xfrm>
            <a:prstGeom prst="bentConnector3">
              <a:avLst>
                <a:gd name="adj1" fmla="val 50000"/>
              </a:avLst>
            </a:prstGeom>
            <a:noFill/>
            <a:ln w="38100" algn="ctr">
              <a:solidFill>
                <a:srgbClr val="00B050"/>
              </a:solidFill>
              <a:round/>
              <a:headEnd/>
              <a:tailEnd type="triangle" w="med" len="med"/>
            </a:ln>
          </p:spPr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37F025E5-8159-1590-2D17-E937F0BE5D4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4447401" y="2514658"/>
              <a:ext cx="1622835" cy="400110"/>
            </a:xfrm>
            <a:prstGeom prst="rect">
              <a:avLst/>
            </a:prstGeom>
            <a:blipFill>
              <a:blip r:embed="rId10"/>
              <a:stretch>
                <a:fillRect t="-12308" b="-24615"/>
              </a:stretch>
            </a:blipFill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66871144-0868-8F45-B8E6-0173E0BCE5F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317317" y="2887709"/>
            <a:ext cx="1622835" cy="400110"/>
          </a:xfrm>
          <a:prstGeom prst="rect">
            <a:avLst/>
          </a:prstGeom>
          <a:blipFill>
            <a:blip r:embed="rId11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621D32-F811-EC03-3DE4-CFD49272CC17}"/>
              </a:ext>
            </a:extLst>
          </p:cNvPr>
          <p:cNvGrpSpPr>
            <a:grpSpLocks/>
          </p:cNvGrpSpPr>
          <p:nvPr/>
        </p:nvGrpSpPr>
        <p:grpSpPr bwMode="auto">
          <a:xfrm>
            <a:off x="3546475" y="3298825"/>
            <a:ext cx="2030413" cy="1009650"/>
            <a:chOff x="3545968" y="3134743"/>
            <a:chExt cx="2031325" cy="1009710"/>
          </a:xfrm>
        </p:grpSpPr>
        <p:cxnSp>
          <p:nvCxnSpPr>
            <p:cNvPr id="59422" name="直接箭头连接符 21">
              <a:extLst>
                <a:ext uri="{FF2B5EF4-FFF2-40B4-BE49-F238E27FC236}">
                  <a16:creationId xmlns:a16="http://schemas.microsoft.com/office/drawing/2014/main" id="{E175F861-A020-E32D-AA7C-76AFA835003F}"/>
                </a:ext>
              </a:extLst>
            </p:cNvPr>
            <p:cNvCxnSpPr>
              <a:cxnSpLocks noChangeShapeType="1"/>
              <a:stCxn id="4" idx="3"/>
              <a:endCxn id="5" idx="1"/>
            </p:cNvCxnSpPr>
            <p:nvPr/>
          </p:nvCxnSpPr>
          <p:spPr bwMode="auto">
            <a:xfrm>
              <a:off x="3545968" y="3134743"/>
              <a:ext cx="2031325" cy="12959"/>
            </a:xfrm>
            <a:prstGeom prst="straightConnector1">
              <a:avLst/>
            </a:prstGeom>
            <a:noFill/>
            <a:ln w="38100" algn="ctr">
              <a:solidFill>
                <a:srgbClr val="C00000"/>
              </a:solidFill>
              <a:round/>
              <a:headEnd/>
              <a:tailEnd type="triangle" w="med" len="med"/>
            </a:ln>
          </p:spPr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D59A876-ABC7-BEEF-BBE6-49F4B88ADBB0}"/>
                </a:ext>
              </a:extLst>
            </p:cNvPr>
            <p:cNvSpPr txBox="1"/>
            <p:nvPr/>
          </p:nvSpPr>
          <p:spPr>
            <a:xfrm>
              <a:off x="3774671" y="3744379"/>
              <a:ext cx="1623154" cy="4000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zh-CN" altLang="en-US" sz="2000" b="1" kern="0" dirty="0">
                  <a:solidFill>
                    <a:srgbClr val="000000"/>
                  </a:solidFill>
                  <a:latin typeface="Times New Roman" pitchFamily="18" charset="0"/>
                  <a:cs typeface="Tahoma"/>
                </a:rPr>
                <a:t>公开信道</a:t>
              </a:r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7F5C948-7561-26DA-CF1E-7FBE0D53B592}"/>
              </a:ext>
            </a:extLst>
          </p:cNvPr>
          <p:cNvCxnSpPr>
            <a:cxnSpLocks noChangeShapeType="1"/>
            <a:stCxn id="11" idx="0"/>
            <a:endCxn id="4" idx="2"/>
          </p:cNvCxnSpPr>
          <p:nvPr/>
        </p:nvCxnSpPr>
        <p:spPr bwMode="auto">
          <a:xfrm flipV="1">
            <a:off x="2928938" y="3714750"/>
            <a:ext cx="4762" cy="1147763"/>
          </a:xfrm>
          <a:prstGeom prst="straightConnector1">
            <a:avLst/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C81871AE-CBA6-C228-DDF2-76D3A5D6CB6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64827" y="4088916"/>
            <a:ext cx="1622835" cy="400110"/>
          </a:xfrm>
          <a:prstGeom prst="rect">
            <a:avLst/>
          </a:prstGeom>
          <a:blipFill>
            <a:blip r:embed="rId12"/>
            <a:stretch>
              <a:fillRect t="-12308" b="-24615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cxnSp>
        <p:nvCxnSpPr>
          <p:cNvPr id="26" name="肘形连接符 49">
            <a:extLst>
              <a:ext uri="{FF2B5EF4-FFF2-40B4-BE49-F238E27FC236}">
                <a16:creationId xmlns:a16="http://schemas.microsoft.com/office/drawing/2014/main" id="{344CA7E5-9132-FF65-14B2-F3DC8BE7446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928938" y="3754438"/>
            <a:ext cx="2882900" cy="534987"/>
          </a:xfrm>
          <a:prstGeom prst="bentConnector3">
            <a:avLst>
              <a:gd name="adj1" fmla="val 99829"/>
            </a:avLst>
          </a:prstGeom>
          <a:noFill/>
          <a:ln w="38100" algn="ctr">
            <a:solidFill>
              <a:srgbClr val="C00000"/>
            </a:solidFill>
            <a:round/>
            <a:headEnd/>
            <a:tailEnd type="triangle" w="med" len="med"/>
          </a:ln>
        </p:spPr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C5AA18B-A81B-9AFE-B44F-8C6589664FE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37422" y="3574963"/>
            <a:ext cx="1622835" cy="400110"/>
          </a:xfrm>
          <a:prstGeom prst="rect">
            <a:avLst/>
          </a:prstGeom>
          <a:blipFill>
            <a:blip r:embed="rId13"/>
            <a:stretch>
              <a:fillRect t="-10606" b="-22727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DBAD257-842F-2FD5-D4E9-BAEE8F133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6188" y="4338638"/>
            <a:ext cx="16240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ahoma" panose="020B0604030504040204" pitchFamily="34" charset="0"/>
              </a:rPr>
              <a:t>秘密信道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9D8FEF-532D-1416-42FD-2D0914068A96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1873250"/>
            <a:ext cx="1622425" cy="1104900"/>
            <a:chOff x="2123728" y="2233341"/>
            <a:chExt cx="1622835" cy="1105544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4DB7437D-09E9-EB3A-B4D3-E81B5CB727D0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2123728" y="2233341"/>
              <a:ext cx="1622835" cy="707886"/>
            </a:xfrm>
            <a:prstGeom prst="rect">
              <a:avLst/>
            </a:prstGeom>
            <a:blipFill>
              <a:blip r:embed="rId14"/>
              <a:stretch>
                <a:fillRect t="-5085" b="-1695"/>
              </a:stretch>
            </a:blipFill>
            <a:ln>
              <a:solidFill>
                <a:srgbClr val="C00000"/>
              </a:solidFill>
              <a:prstDash val="dash"/>
            </a:ln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31" name="虚尾箭头 4">
              <a:extLst>
                <a:ext uri="{FF2B5EF4-FFF2-40B4-BE49-F238E27FC236}">
                  <a16:creationId xmlns:a16="http://schemas.microsoft.com/office/drawing/2014/main" id="{42E4822F-A4B7-F21F-7FA0-9AC30EADABBA}"/>
                </a:ext>
              </a:extLst>
            </p:cNvPr>
            <p:cNvSpPr/>
            <p:nvPr/>
          </p:nvSpPr>
          <p:spPr bwMode="auto">
            <a:xfrm rot="16200000">
              <a:off x="2728649" y="2983125"/>
              <a:ext cx="424109" cy="287411"/>
            </a:xfrm>
            <a:prstGeom prst="stripedRightArrow">
              <a:avLst/>
            </a:prstGeom>
            <a:solidFill>
              <a:srgbClr val="DCB614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endParaRPr kumimoji="1" lang="zh-CN" altLang="en-US" sz="10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1D8860C-0B99-22C7-E3E7-51748E1CF557}"/>
              </a:ext>
            </a:extLst>
          </p:cNvPr>
          <p:cNvGrpSpPr>
            <a:grpSpLocks/>
          </p:cNvGrpSpPr>
          <p:nvPr/>
        </p:nvGrpSpPr>
        <p:grpSpPr bwMode="auto">
          <a:xfrm>
            <a:off x="5468938" y="3683000"/>
            <a:ext cx="1624012" cy="1173163"/>
            <a:chOff x="5469445" y="4042847"/>
            <a:chExt cx="1622835" cy="1174159"/>
          </a:xfrm>
        </p:grpSpPr>
        <p:sp>
          <p:nvSpPr>
            <p:cNvPr id="33" name="虚尾箭头 31">
              <a:extLst>
                <a:ext uri="{FF2B5EF4-FFF2-40B4-BE49-F238E27FC236}">
                  <a16:creationId xmlns:a16="http://schemas.microsoft.com/office/drawing/2014/main" id="{C0185669-0D32-4906-F316-0FD22C2FCF77}"/>
                </a:ext>
              </a:extLst>
            </p:cNvPr>
            <p:cNvSpPr/>
            <p:nvPr/>
          </p:nvSpPr>
          <p:spPr bwMode="auto">
            <a:xfrm rot="5400000">
              <a:off x="6001330" y="4112187"/>
              <a:ext cx="424223" cy="285543"/>
            </a:xfrm>
            <a:prstGeom prst="stripedRightArrow">
              <a:avLst/>
            </a:prstGeom>
            <a:solidFill>
              <a:srgbClr val="DCB614">
                <a:lumMod val="60000"/>
                <a:lumOff val="40000"/>
              </a:srgb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  <p:txBody>
            <a:bodyPr wrap="none" anchor="ctr"/>
            <a:lstStyle/>
            <a:p>
              <a:pPr algn="ctr" eaLnBrk="1" fontAlgn="auto" latinLnBrk="1" hangingPunct="1">
                <a:lnSpc>
                  <a:spcPct val="80000"/>
                </a:lnSpc>
                <a:spcBef>
                  <a:spcPct val="50000"/>
                </a:spcBef>
                <a:spcAft>
                  <a:spcPts val="0"/>
                </a:spcAft>
                <a:buClr>
                  <a:srgbClr val="FF0000"/>
                </a:buClr>
                <a:buFont typeface="Wingdings" pitchFamily="2" charset="2"/>
                <a:buNone/>
                <a:defRPr/>
              </a:pPr>
              <a:endParaRPr kumimoji="1" lang="zh-CN" altLang="en-US" sz="1000" kern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Tahoma" pitchFamily="34" charset="0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FA4F2FF-F357-634D-E680-9EAFC7BC449B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5469445" y="4509120"/>
              <a:ext cx="1622835" cy="707886"/>
            </a:xfrm>
            <a:prstGeom prst="rect">
              <a:avLst/>
            </a:prstGeom>
            <a:blipFill>
              <a:blip r:embed="rId15"/>
              <a:stretch>
                <a:fillRect t="-5932" b="-847"/>
              </a:stretch>
            </a:blipFill>
            <a:ln>
              <a:solidFill>
                <a:srgbClr val="C00000"/>
              </a:solidFill>
              <a:prstDash val="dash"/>
            </a:ln>
          </p:spPr>
          <p:txBody>
            <a:bodyPr/>
            <a:lstStyle/>
            <a:p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5D69973-21EF-8B3D-8403-6A6106C591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8176211-F7B5-1A14-043E-D1583489E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70" y="751114"/>
                <a:ext cx="8822214" cy="27521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>
                  <a:lnSpc>
                    <a:spcPct val="13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令明文空间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…</m:t>
                        </m:r>
                        <m:r>
                          <a:rPr lang="zh-CN" altLang="en-US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，密文空间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…</m:t>
                        </m:r>
                        <m:r>
                          <a:rPr lang="zh-CN" altLang="en-US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，</m:t>
                        </m:r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，明文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出现的概率为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，密钥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出现的概率为</a:t>
                </a:r>
                <a14:m>
                  <m:oMath xmlns:m="http://schemas.openxmlformats.org/officeDocument/2006/math"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，密文</a:t>
                </a:r>
                <a14:m>
                  <m:oMath xmlns:m="http://schemas.openxmlformats.org/officeDocument/2006/math"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出现的概率为</a:t>
                </a:r>
                <a14:m>
                  <m:oMath xmlns:m="http://schemas.openxmlformats.org/officeDocument/2006/math"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。密钥是独立于明文随机选取的。收到密文</a:t>
                </a:r>
                <a14:m>
                  <m:oMath xmlns:m="http://schemas.openxmlformats.org/officeDocument/2006/math"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后明文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的条件概率为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8176211-F7B5-1A14-043E-D1583489E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270" y="751114"/>
                <a:ext cx="8822214" cy="2752164"/>
              </a:xfrm>
              <a:prstGeom prst="rect">
                <a:avLst/>
              </a:prstGeom>
              <a:blipFill>
                <a:blip r:embed="rId4"/>
                <a:stretch>
                  <a:fillRect l="-1105" t="-221" b="-199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9F3C301-0601-8DD5-E49E-A1AC677C6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3350874"/>
                <a:ext cx="8606190" cy="32928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500" b="1" dirty="0">
                    <a:latin typeface="+mn-ea"/>
                    <a:ea typeface="+mn-ea"/>
                    <a:cs typeface="Times New Roman" pitchFamily="18" charset="0"/>
                  </a:rPr>
                  <a:t>定义</a:t>
                </a:r>
                <a:r>
                  <a:rPr kumimoji="0" lang="en-US" altLang="zh-CN" sz="2500" b="1" dirty="0">
                    <a:latin typeface="+mn-ea"/>
                    <a:ea typeface="+mn-ea"/>
                    <a:cs typeface="Times New Roman" pitchFamily="18" charset="0"/>
                  </a:rPr>
                  <a:t>3 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一个密码系统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称为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完全保密系统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，指对任意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</m:t>
                    </m:r>
                    <m:sSub>
                      <m:sSub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𝑗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, 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&gt;0</m:t>
                    </m:r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有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5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kumimoji="0" lang="en-US" altLang="zh-CN" sz="25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5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5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US" altLang="zh-CN" sz="25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altLang="zh-CN" sz="25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kumimoji="0" lang="en-US" altLang="zh-CN" sz="25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5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0" lang="en-US" altLang="zh-CN" sz="25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5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5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US" altLang="zh-CN" sz="25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即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sepChr m:val="∣"/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𝑀</m:t>
                          </m:r>
                        </m:e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𝐶</m:t>
                          </m:r>
                        </m:e>
                      </m:d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3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也就是敌手截获一个密文不能得到任何明文信息。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9F3C301-0601-8DD5-E49E-A1AC677C60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3350874"/>
                <a:ext cx="8606190" cy="3292824"/>
              </a:xfrm>
              <a:prstGeom prst="rect">
                <a:avLst/>
              </a:prstGeom>
              <a:blipFill>
                <a:blip r:embed="rId5"/>
                <a:stretch>
                  <a:fillRect l="-1133" t="-37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190CEA4-18F9-9187-E24D-243A34A843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9552503-FE9D-74AE-4C0C-A10971CB1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914400"/>
                <a:ext cx="8606190" cy="3914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定理</a:t>
                </a:r>
                <a:r>
                  <a:rPr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2 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一个密码系统是完全保密的</a:t>
                </a:r>
                <a:r>
                  <a:rPr lang="zh-CN" altLang="en-US" sz="2500" u="sng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充分必要条件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为对任意的</a:t>
                </a:r>
                <a14:m>
                  <m:oMath xmlns:m="http://schemas.openxmlformats.org/officeDocument/2006/math">
                    <m:r>
                      <a:rPr lang="en-US" altLang="zh-CN" sz="25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有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5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也即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5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defRPr/>
                </a:pP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也就是</a:t>
                </a:r>
                <a:r>
                  <a:rPr lang="zh-CN" altLang="en-US" sz="2500" u="sng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明文和密文统计独立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defRPr/>
                </a:pPr>
                <a:r>
                  <a:rPr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定理 </a:t>
                </a:r>
                <a:r>
                  <a:rPr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2</a:t>
                </a:r>
                <a:r>
                  <a:rPr lang="zh-CN" altLang="en-US" sz="25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证明</a:t>
                </a:r>
                <a:r>
                  <a:rPr lang="en-US" altLang="zh-CN" sz="2500" b="1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.  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由贝叶斯公式</a:t>
                </a:r>
                <a14:m>
                  <m:oMath xmlns:m="http://schemas.openxmlformats.org/officeDocument/2006/math">
                    <m:r>
                      <a:rPr lang="en-US" altLang="zh-CN" sz="25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en-US" altLang="zh-CN" sz="25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sz="25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5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5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，所以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 hangingPunct="1">
                  <a:spcBef>
                    <a:spcPts val="12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500" b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5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groupChr>
                        <m:groupChrPr>
                          <m:chr m:val="⇔"/>
                          <m:pos m:val="top"/>
                          <m:ctrlPr>
                            <a:rPr lang="en-US" altLang="zh-CN" sz="25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1"/>
                            </m:rPr>
                            <a:rPr lang="en-US" altLang="zh-CN" sz="25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 </m:t>
                          </m:r>
                        </m:e>
                      </m:groupChr>
                      <m:r>
                        <a:rPr lang="en-US" altLang="zh-CN" sz="2500" b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25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5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25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25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9552503-FE9D-74AE-4C0C-A10971CB18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914400"/>
                <a:ext cx="8606190" cy="3914148"/>
              </a:xfrm>
              <a:prstGeom prst="rect">
                <a:avLst/>
              </a:prstGeom>
              <a:blipFill>
                <a:blip r:embed="rId4"/>
                <a:stretch>
                  <a:fillRect l="-1133" t="-171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13CF6C6-3086-5E5D-9DC9-AD95FADDD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5411575"/>
                <a:ext cx="8606190" cy="9697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2500" b="1" dirty="0">
                    <a:latin typeface="+mn-ea"/>
                    <a:ea typeface="+mn-ea"/>
                    <a:cs typeface="Times New Roman" pitchFamily="18" charset="0"/>
                  </a:rPr>
                  <a:t>定理</a:t>
                </a:r>
                <a:r>
                  <a:rPr lang="en-US" altLang="zh-CN" sz="2500" b="1" dirty="0">
                    <a:latin typeface="+mn-ea"/>
                    <a:ea typeface="+mn-ea"/>
                    <a:cs typeface="Times New Roman" pitchFamily="18" charset="0"/>
                  </a:rPr>
                  <a:t>3  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一个密码系统是完全保密的</a:t>
                </a:r>
                <a:r>
                  <a:rPr lang="zh-CN" altLang="en-US" sz="2500" u="sng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充分必要条件</a:t>
                </a:r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为对任意的</a:t>
                </a:r>
                <a14:m>
                  <m:oMath xmlns:m="http://schemas.openxmlformats.org/officeDocument/2006/math">
                    <m:r>
                      <a:rPr lang="en-US" altLang="zh-CN" sz="25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5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lang="zh-CN" altLang="en-US"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𝑐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2500" b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5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5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zh-CN" sz="25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lang="en-US" altLang="zh-CN"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lang="en-US" altLang="zh-CN" sz="25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en-US" altLang="zh-CN"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5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5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500" dirty="0">
                    <a:solidFill>
                      <a:srgbClr val="0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lang="en-US" altLang="zh-CN" sz="2500" dirty="0">
                  <a:solidFill>
                    <a:srgbClr val="0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13CF6C6-3086-5E5D-9DC9-AD95FADDD9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5411575"/>
                <a:ext cx="8606190" cy="969753"/>
              </a:xfrm>
              <a:prstGeom prst="rect">
                <a:avLst/>
              </a:prstGeom>
              <a:blipFill>
                <a:blip r:embed="rId5"/>
                <a:stretch>
                  <a:fillRect l="-1133" t="-4403" r="-1062" b="-1195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48AF097-FEBE-630E-6190-508933548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p:sp>
        <p:nvSpPr>
          <p:cNvPr id="65539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6E58FAA6-82C6-CF60-2CC7-9B153A22A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783771"/>
            <a:ext cx="8872537" cy="96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1917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年，</a:t>
            </a:r>
            <a:r>
              <a:rPr lang="en-US" altLang="zh-CN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Vernam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创造了一种完全保密的加密方法，称为“</a:t>
            </a:r>
            <a:r>
              <a:rPr lang="zh-CN" altLang="en-US" sz="25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一次一密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”，之后香农证明了“一次一密”的完全保密性。</a:t>
            </a:r>
            <a:endParaRPr lang="en-US" altLang="zh-CN" sz="2500" dirty="0">
              <a:solidFill>
                <a:srgbClr val="00000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1C32F64-F5DC-5CF2-7578-CC34182AE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1981200"/>
                <a:ext cx="8727836" cy="4351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“一次一密”加密方案：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设整数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&gt;0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，明文空间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，密钥空间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和密文空间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都等于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（长度为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𝑙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的二进制比特串集合）。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密钥生成算法 </a:t>
                </a:r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Gen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：</a:t>
                </a:r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中依均匀分布选择一个二进制比特串。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加密算法 </a:t>
                </a:r>
                <a:r>
                  <a:rPr kumimoji="0" lang="en-US" altLang="zh-CN" sz="2500" dirty="0" err="1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Enc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：给定一个密钥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，一个明文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，输出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𝑐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≔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⊕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解密算法 </a:t>
                </a:r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Dec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：给定一个密钥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，一个密文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𝑐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  <m:r>
                              <a:rPr lang="zh-CN" altLang="en-US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，</m:t>
                            </m:r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，输出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𝑚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≔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⊕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𝑐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1C32F64-F5DC-5CF2-7578-CC34182AE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981200"/>
                <a:ext cx="8727836" cy="4351576"/>
              </a:xfrm>
              <a:prstGeom prst="rect">
                <a:avLst/>
              </a:prstGeom>
              <a:blipFill>
                <a:blip r:embed="rId4"/>
                <a:stretch>
                  <a:fillRect l="-1117" t="-698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831CA277-E1D3-C045-8572-58A0514890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p:sp>
        <p:nvSpPr>
          <p:cNvPr id="67587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293E5E1D-995F-FB7C-E748-CBE4AB58F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" y="771525"/>
            <a:ext cx="8605837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500" b="1" dirty="0">
                <a:latin typeface="Cambria Math" panose="02040503050406030204" pitchFamily="18" charset="0"/>
                <a:cs typeface="Times New Roman" panose="02020603050405020304" pitchFamily="18" charset="0"/>
              </a:rPr>
              <a:t>定理 </a:t>
            </a:r>
            <a:r>
              <a:rPr lang="en-US" altLang="zh-CN" sz="2500" b="1" dirty="0">
                <a:latin typeface="Cambria Math" panose="020405030504060302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“一次一密”是完全保密的加密体制。</a:t>
            </a:r>
            <a:endParaRPr lang="en-US" altLang="zh-CN" sz="2500" dirty="0">
              <a:solidFill>
                <a:srgbClr val="00000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9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5473A66A-4010-F159-7C8D-63C544E17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081" y="4864924"/>
            <a:ext cx="8605837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500" dirty="0">
                <a:solidFill>
                  <a:srgbClr val="C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注意：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定理 </a:t>
            </a:r>
            <a:r>
              <a:rPr lang="en-US" altLang="zh-CN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5 </a:t>
            </a:r>
            <a:r>
              <a:rPr lang="zh-CN" altLang="en-US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给出了完全保密的完整特征，可以看出，密码体制的完全保密性与明文的概率分布无关。</a:t>
            </a:r>
            <a:r>
              <a:rPr lang="en-US" altLang="zh-CN" sz="2500" dirty="0">
                <a:solidFill>
                  <a:srgbClr val="00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D0B287-4987-D57F-F5A2-D0C08BA7F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1508095"/>
                <a:ext cx="8606190" cy="28623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定理 </a:t>
                </a:r>
                <a:r>
                  <a:rPr kumimoji="0"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5</a:t>
                </a:r>
                <a:r>
                  <a:rPr kumimoji="0"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（香农定理）</a:t>
                </a:r>
                <a:r>
                  <a:rPr kumimoji="0"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 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设一个密码系统的明文数目、密文数目和密钥数目相等，即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，则该密码为完全保密的</a:t>
                </a:r>
                <a:r>
                  <a:rPr kumimoji="0" lang="zh-CN" altLang="en-US" sz="2500" u="sng" dirty="0">
                    <a:latin typeface="Cambria Math" panose="02040503050406030204" pitchFamily="18" charset="0"/>
                    <a:cs typeface="Times New Roman" pitchFamily="18" charset="0"/>
                  </a:rPr>
                  <a:t>充分必要条件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为：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有且仅有一个密钥将每个给定的明文加密为每个给定的密文。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所有的密钥选取是等概率的。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8D0B287-4987-D57F-F5A2-D0C08BA7FE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1508095"/>
                <a:ext cx="8606190" cy="2862322"/>
              </a:xfrm>
              <a:prstGeom prst="rect">
                <a:avLst/>
              </a:prstGeom>
              <a:blipFill>
                <a:blip r:embed="rId4"/>
                <a:stretch>
                  <a:fillRect l="-1205" t="-1277" r="-709" b="-255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166A696-AA94-76BC-6799-1A454654B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304800"/>
            <a:ext cx="7010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A7F0C1D-4B58-1879-F56C-0FAA2AB0F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1295762"/>
                <a:ext cx="8606190" cy="45661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定理</a:t>
                </a:r>
                <a:r>
                  <a:rPr kumimoji="0"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6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对密码系统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明文熵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定义为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5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</m:sub>
                      <m:sup/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500" b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en-US" altLang="zh-CN" sz="2500" i="1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密钥熵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定义为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</m:e>
                    </m:d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5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</m:sub>
                      <m:sup/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500" b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zh-CN" altLang="en-US" sz="25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600"/>
                  </a:spcBef>
                  <a:defRPr/>
                </a:pPr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𝑡</m:t>
                        </m:r>
                      </m:sup>
                    </m:sSup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kumimoji="0" lang="en-US" altLang="zh-CN" sz="25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𝑀</m:t>
                    </m:r>
                    <m:r>
                      <a:rPr kumimoji="0" lang="en-US" altLang="zh-CN" sz="25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中所有长度为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的明文构成的集合，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表示</a:t>
                </a:r>
                <a14:m>
                  <m:oMath xmlns:m="http://schemas.openxmlformats.org/officeDocument/2006/math">
                    <m:r>
                      <a:rPr kumimoji="0" lang="en-US" altLang="zh-CN" sz="25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𝐶</m:t>
                    </m:r>
                    <m:r>
                      <a:rPr kumimoji="0" lang="en-US" altLang="zh-CN" sz="2500" b="0" i="1" dirty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中所有长度为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的密文构成的集合，则在已知密文下对明文和密钥的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疑义度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为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5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0" lang="en-US" altLang="zh-CN" sz="250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0" lang="en-US" altLang="zh-CN" sz="250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dirty="0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500" b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 algn="ctr">
                  <a:lnSpc>
                    <a:spcPct val="120000"/>
                  </a:lnSpc>
                  <a:defRPr/>
                </a:pPr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kumimoji="0" lang="en-US" altLang="zh-CN" sz="250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r>
                          <a:rPr kumimoji="0" lang="en-US" altLang="zh-CN" sz="25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kumimoji="0" lang="en-US" altLang="zh-CN" sz="2500" b="0" i="1" dirty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kumimoji="0" lang="en-US" altLang="zh-CN" sz="250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dirty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𝑐</m:t>
                            </m:r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log</m:t>
                        </m:r>
                        <m:r>
                          <a:rPr kumimoji="0" lang="en-US" altLang="zh-CN" sz="2500" b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𝑝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𝑐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e>
                    </m:nary>
                    <m:r>
                      <a:rPr lang="zh-CN" altLang="en-US" sz="2500" i="1">
                        <a:latin typeface="Cambria Math" panose="02040503050406030204" pitchFamily="18" charset="0"/>
                        <a:cs typeface="Times New Roman" pitchFamily="18" charset="0"/>
                      </a:rPr>
                      <m:t>。</m:t>
                    </m:r>
                  </m:oMath>
                </a14:m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A7F0C1D-4B58-1879-F56C-0FAA2AB0F0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1295762"/>
                <a:ext cx="8606190" cy="4566186"/>
              </a:xfrm>
              <a:prstGeom prst="rect">
                <a:avLst/>
              </a:prstGeom>
              <a:blipFill>
                <a:blip r:embed="rId4"/>
                <a:stretch>
                  <a:fillRect l="-1133" t="-935" b="-1548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B967E2AE-BF2D-3273-C772-6C27B8A37F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232B05E-EB28-9422-D9D0-80D2EDD79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05" y="823222"/>
                <a:ext cx="8606190" cy="5211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cs typeface="Times New Roman" pitchFamily="18" charset="0"/>
                  </a:rPr>
                  <a:t>疑义度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分别给出了截获长度为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的密文后，关于长度为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𝑡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的明文和密钥的不确定度。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𝑁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≥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，则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≥</m:t>
                      </m:r>
                      <m:r>
                        <a:rPr kumimoji="0" lang="en-US" altLang="zh-CN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≥</m:t>
                      </m:r>
                      <m:r>
                        <a:rPr kumimoji="0" lang="en-US" altLang="zh-CN" sz="2800" b="0" i="1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80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800" b="0" i="1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80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800" b="0" i="1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>
                  <a:lnSpc>
                    <a:spcPct val="12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即随着截获密文的增加，获得关于明文或密钥的信息量会增加。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充分大，使得</a:t>
                </a:r>
                <a14:m>
                  <m:oMath xmlns:m="http://schemas.openxmlformats.org/officeDocument/2006/math">
                    <m: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8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，则此时可唯一确定密钥，这时的</a:t>
                </a:r>
                <a14:m>
                  <m:oMath xmlns:m="http://schemas.openxmlformats.org/officeDocument/2006/math">
                    <m:r>
                      <a:rPr kumimoji="0" lang="en-US" altLang="zh-CN" sz="2800" b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在密码学中有重要意义。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232B05E-EB28-9422-D9D0-80D2EDD79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05" y="823222"/>
                <a:ext cx="8606190" cy="5211555"/>
              </a:xfrm>
              <a:prstGeom prst="rect">
                <a:avLst/>
              </a:prstGeom>
              <a:blipFill>
                <a:blip r:embed="rId4"/>
                <a:stretch>
                  <a:fillRect l="-1275" t="-819" b="-198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E40204D-71E1-CAB7-1A11-EC4D27934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30644CA-C3B5-544C-37BA-327AAF582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05" y="772886"/>
                <a:ext cx="8606190" cy="10750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800" b="1" dirty="0">
                    <a:latin typeface="Cambria Math" panose="02040503050406030204" pitchFamily="18" charset="0"/>
                    <a:cs typeface="Times New Roman" pitchFamily="18" charset="0"/>
                  </a:rPr>
                  <a:t>定义</a:t>
                </a:r>
                <a:r>
                  <a:rPr kumimoji="0" lang="en-US" altLang="zh-CN" sz="2800" b="1" dirty="0">
                    <a:latin typeface="Cambria Math" panose="02040503050406030204" pitchFamily="18" charset="0"/>
                    <a:cs typeface="Times New Roman" pitchFamily="18" charset="0"/>
                  </a:rPr>
                  <a:t>4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   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一个密码系统的</a:t>
                </a: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唯一解距离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定义为使</a:t>
                </a:r>
                <a14:m>
                  <m:oMath xmlns:m="http://schemas.openxmlformats.org/officeDocument/2006/math">
                    <m:r>
                      <a:rPr kumimoji="0" lang="en-US" altLang="zh-CN" sz="28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8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8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8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 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的最小正整数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30644CA-C3B5-544C-37BA-327AAF582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05" y="772886"/>
                <a:ext cx="8606190" cy="1075038"/>
              </a:xfrm>
              <a:prstGeom prst="rect">
                <a:avLst/>
              </a:prstGeom>
              <a:blipFill>
                <a:blip r:embed="rId4"/>
                <a:stretch>
                  <a:fillRect l="-1416" t="-4545" b="-136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8AB2850-58DB-AB2A-AEFB-274164640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019" y="1981200"/>
                <a:ext cx="8606190" cy="430540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香农提出利用随机密码模型来给出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的近似估计。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做如下假设。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明文字符表和密文字符表均为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𝐴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，长度为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。令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是有意义的明文集合，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zh-CN" altLang="en-US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是无意义明文集合。当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→∞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0" lang="zh-CN" altLang="en-US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acc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中明文出现的概率可忽略不计。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密钥为等概分布，即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𝑝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−1</m:t>
                        </m:r>
                      </m:sup>
                    </m:sSup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p>
                      <m:sSup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e>
                      <m:sup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</m:t>
                        </m:r>
                      </m:sup>
                    </m:sSup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3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对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∈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的加密变换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→</m:t>
                    </m:r>
                    <m:sSup>
                      <m:sSup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的一一映射，解密变换为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𝜙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Sup>
                      <m:sSubSup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Sup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𝑓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𝑘</m:t>
                        </m:r>
                      </m:sub>
                      <m:sup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+mj-lt"/>
                  <a:buAutoNum type="arabicPeriod" startAt="3"/>
                  <a:defRPr/>
                </a:pPr>
                <a:r>
                  <a:rPr kumimoji="0" lang="en-US" altLang="zh-CN" sz="25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  <m:sup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中每个明文等概出现。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8AB2850-58DB-AB2A-AEFB-2741646404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019" y="1981200"/>
                <a:ext cx="8606190" cy="4305409"/>
              </a:xfrm>
              <a:prstGeom prst="rect">
                <a:avLst/>
              </a:prstGeom>
              <a:blipFill>
                <a:blip r:embed="rId5"/>
                <a:stretch>
                  <a:fillRect l="-1133" t="-850" b="-56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CDFA230-545A-9C9A-9021-7F8A1B018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51F0AAC-7B14-70C3-09FA-2A5F9D3117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943" y="762000"/>
                <a:ext cx="8606190" cy="55273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在唯密文攻击下，我们假定密码分析者具有无穷的计算资源，并且知道明文是哪一种“自然语言”。密码分析者可能分析得到许多可能的密钥，但其中只有一个正确的密钥，其他的密钥都是不正确的，称为“</a:t>
                </a:r>
                <a:r>
                  <a:rPr kumimoji="0" lang="zh-CN" altLang="en-US" sz="27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伪密钥</a:t>
                </a: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”。</a:t>
                </a:r>
                <a:endParaRPr kumimoji="0" lang="en-US" altLang="zh-CN" sz="27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endParaRPr kumimoji="0" lang="en-US" altLang="zh-CN" sz="2700" dirty="0">
                  <a:solidFill>
                    <a:srgbClr val="C0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700" dirty="0">
                    <a:solidFill>
                      <a:srgbClr val="C0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例：</a:t>
                </a:r>
                <a:r>
                  <a:rPr kumimoji="0" lang="zh-CN" altLang="en-US" sz="27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假定密码分析者得到了一个密文字符串</a:t>
                </a:r>
                <a:r>
                  <a:rPr kumimoji="0" lang="en-US" altLang="zh-CN" sz="27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WNAJW</a:t>
                </a:r>
                <a:r>
                  <a:rPr kumimoji="0" lang="zh-CN" altLang="en-US" sz="27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，它是某个明文字符串由</a:t>
                </a:r>
                <a:endParaRPr kumimoji="0" lang="en-US" altLang="zh-CN" sz="27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7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7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27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7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7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7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0" lang="en-US" altLang="zh-CN" sz="27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7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kumimoji="0" lang="en-US" altLang="zh-CN" sz="27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𝑘</m:t>
                      </m:r>
                      <m:r>
                        <a:rPr kumimoji="0" lang="en-US" altLang="zh-CN" sz="27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0" lang="en-US" altLang="zh-CN" sz="2700" b="0" i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mod</m:t>
                      </m:r>
                      <m:r>
                        <a:rPr kumimoji="0" lang="en-US" altLang="zh-CN" sz="2700" b="0" i="0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26</m:t>
                      </m:r>
                    </m:oMath>
                  </m:oMathPara>
                </a14:m>
                <a:endParaRPr kumimoji="0" lang="en-US" altLang="zh-CN" sz="27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得到的密文。容易算出，</a:t>
                </a:r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明文“</a:t>
                </a:r>
                <a:r>
                  <a:rPr kumimoji="0" lang="en-US" altLang="zh-CN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river</a:t>
                </a:r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”（密钥</a:t>
                </a:r>
                <a14:m>
                  <m:oMath xmlns:m="http://schemas.openxmlformats.org/officeDocument/2006/math">
                    <m:r>
                      <a:rPr kumimoji="0" lang="en-US" altLang="zh-CN" sz="2700" b="0" i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7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7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=5</m:t>
                    </m:r>
                  </m:oMath>
                </a14:m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）</a:t>
                </a: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和</a:t>
                </a:r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“</a:t>
                </a:r>
                <a:r>
                  <a:rPr kumimoji="0" lang="en-US" altLang="zh-CN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arena</a:t>
                </a:r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”（密钥</a:t>
                </a:r>
                <a14:m>
                  <m:oMath xmlns:m="http://schemas.openxmlformats.org/officeDocument/2006/math">
                    <m:r>
                      <a:rPr kumimoji="0" lang="en-US" altLang="zh-CN" sz="2700" b="0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7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𝑘</m:t>
                    </m:r>
                    <m:r>
                      <a:rPr kumimoji="0" lang="en-US" altLang="zh-CN" sz="2700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=22</m:t>
                    </m:r>
                  </m:oMath>
                </a14:m>
                <a:r>
                  <a:rPr kumimoji="0" lang="zh-CN" altLang="en-US" sz="2700" dirty="0">
                    <a:solidFill>
                      <a:srgbClr val="0033CC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）</a:t>
                </a: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均对应密文“</a:t>
                </a:r>
                <a:r>
                  <a:rPr kumimoji="0" lang="en-US" altLang="zh-CN" sz="2700" dirty="0">
                    <a:solidFill>
                      <a:srgbClr val="CC0099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WNAJW</a:t>
                </a:r>
                <a:r>
                  <a:rPr kumimoji="0" lang="zh-CN" altLang="en-US" sz="2700" dirty="0">
                    <a:latin typeface="Cambria Math" panose="02040503050406030204" pitchFamily="18" charset="0"/>
                    <a:cs typeface="Times New Roman" pitchFamily="18" charset="0"/>
                  </a:rPr>
                  <a:t>”，但事实上只有一个密钥是正确的，另一个是伪密钥。</a:t>
                </a:r>
                <a:endParaRPr kumimoji="0" lang="en-US" altLang="zh-CN" sz="27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51F0AAC-7B14-70C3-09FA-2A5F9D311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943" y="762000"/>
                <a:ext cx="8606190" cy="5527347"/>
              </a:xfrm>
              <a:prstGeom prst="rect">
                <a:avLst/>
              </a:prstGeom>
              <a:blipFill>
                <a:blip r:embed="rId4"/>
                <a:stretch>
                  <a:fillRect l="-1346" t="-662" r="-425" b="-165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17BB287-2FD2-1AB2-39F6-5E88A59CC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00BD0A5-8EAF-F04C-A04C-84722C935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271" y="932654"/>
                <a:ext cx="8822214" cy="57402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定理 </a:t>
                </a:r>
                <a:r>
                  <a:rPr kumimoji="0" lang="en-US" altLang="zh-CN" sz="25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7 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若密码系统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𝑀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𝐶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将长度为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的明文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加密成长度为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的密文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𝑌</m:t>
                        </m:r>
                      </m:e>
                      <m: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，则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spcBef>
                    <a:spcPts val="1200"/>
                  </a:spcBef>
                  <a:defRPr/>
                </a:pPr>
                <a:r>
                  <a:rPr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定理 </a:t>
                </a:r>
                <a:r>
                  <a:rPr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7</a:t>
                </a:r>
                <a:r>
                  <a:rPr kumimoji="0" lang="zh-CN" altLang="en-US" sz="25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证明</a:t>
                </a:r>
                <a:r>
                  <a:rPr kumimoji="0" lang="en-US" altLang="zh-CN" sz="2500" b="1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.</a:t>
                </a:r>
                <a:r>
                  <a:rPr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zh-CN" altLang="en-US" sz="2500" i="1">
                        <a:latin typeface="Cambria Math" panose="02040503050406030204" pitchFamily="18" charset="0"/>
                        <a:cs typeface="Times New Roman" pitchFamily="18" charset="0"/>
                      </a:rPr>
                      <m:t>，</m:t>
                    </m:r>
                  </m:oMath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所以，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由于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（持密钥者可加解密）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从而，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。又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endParaRPr kumimoji="0" lang="en-US" altLang="zh-CN" sz="2500" i="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5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5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0" lang="en-US" altLang="zh-CN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5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kumimoji="0" lang="en-US" altLang="zh-CN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kumimoji="0" lang="en-US" altLang="zh-CN" sz="25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altLang="zh-CN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en-US" altLang="zh-CN" sz="2500" dirty="0">
                    <a:solidFill>
                      <a:schemeClr val="tx1"/>
                    </a:solidFill>
                    <a:cs typeface="Times New Roman" pitchFamily="18" charset="0"/>
                  </a:rPr>
                  <a:t>                           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)+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5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最后一个等式由于明文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𝑋</m:t>
                        </m:r>
                      </m:e>
                      <m:sup>
                        <m:r>
                          <a:rPr kumimoji="0" lang="en-US" altLang="zh-CN" sz="25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p>
                    </m:sSup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和密钥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𝐾</m:t>
                    </m:r>
                    <m:r>
                      <a:rPr kumimoji="0" lang="en-US" altLang="zh-CN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相互独立。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00BD0A5-8EAF-F04C-A04C-84722C935C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71" y="932654"/>
                <a:ext cx="8822214" cy="5740289"/>
              </a:xfrm>
              <a:prstGeom prst="rect">
                <a:avLst/>
              </a:prstGeom>
              <a:blipFill>
                <a:blip r:embed="rId4"/>
                <a:stretch>
                  <a:fillRect l="-1175" t="-743" r="-691" b="-116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0D2425D0-11AE-8B25-8605-2198FB1D8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038A1DC-D386-9C62-4A3F-525FE4D1A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838200"/>
                <a:ext cx="8606190" cy="2034018"/>
              </a:xfrm>
              <a:prstGeom prst="rect">
                <a:avLst/>
              </a:prstGeom>
              <a:noFill/>
              <a:ln w="9525">
                <a:solidFill>
                  <a:srgbClr val="0033CC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记</a:t>
                </a:r>
                <a14:m>
                  <m:oMath xmlns:m="http://schemas.openxmlformats.org/officeDocument/2006/math"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|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𝐴</m:t>
                    </m:r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|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，称为信源的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绝对信息率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 |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kumimoji="0" lang="en-US" altLang="zh-CN" sz="2500" b="0">
                        <a:latin typeface="Cambria Math" panose="02040503050406030204" pitchFamily="18" charset="0"/>
                        <a:cs typeface="Times New Roman" pitchFamily="18" charset="0"/>
                      </a:rPr>
                      <m:t>|/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</m:oMath>
                </a14:m>
                <a:r>
                  <a:rPr kumimoji="0" lang="en-US" altLang="zh-CN" sz="2500" i="1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，称为信源的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近似信息率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500" dirty="0">
                    <a:cs typeface="Times New Roman" pitchFamily="18" charset="0"/>
                  </a:rPr>
                  <a:t>记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func>
                      <m:func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a:rPr kumimoji="0" lang="en-US" altLang="zh-CN" sz="25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kumimoji="0" lang="en-US" altLang="zh-CN" sz="2500" b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e>
                    </m:func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，称为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信源信息率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i="1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457200" indent="-457200">
                  <a:lnSpc>
                    <a:spcPct val="12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500" dirty="0">
                    <a:cs typeface="Times New Roman" pitchFamily="18" charset="0"/>
                  </a:rPr>
                  <a:t>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𝑑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，称为信源的</a:t>
                </a: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近似剩余度</a:t>
                </a: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B038A1DC-D386-9C62-4A3F-525FE4D1A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838200"/>
                <a:ext cx="8606190" cy="2034018"/>
              </a:xfrm>
              <a:prstGeom prst="rect">
                <a:avLst/>
              </a:prstGeom>
              <a:blipFill>
                <a:blip r:embed="rId4"/>
                <a:stretch>
                  <a:fillRect l="-919" t="-1791" b="-5075"/>
                </a:stretch>
              </a:blipFill>
              <a:ln w="9525">
                <a:solidFill>
                  <a:srgbClr val="0033CC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72FF058-F0F5-D91F-ABBB-560D10C57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2" y="2972236"/>
                <a:ext cx="8606190" cy="34283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由假设条件知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sSub>
                      <m:sSub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，所以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 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∣</m:t>
                          </m:r>
                          <m:sSup>
                            <m:sSupPr>
                              <m:ctrlPr>
                                <a:rPr kumimoji="0" lang="en-US" altLang="zh-CN" sz="25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kumimoji="0" lang="en-US" altLang="zh-CN" sz="25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𝑌</m:t>
                              </m:r>
                            </m:e>
                            <m:sup>
                              <m:r>
                                <a:rPr kumimoji="0" lang="en-US" altLang="zh-CN" sz="25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𝐻</m:t>
                      </m:r>
                      <m:d>
                        <m:d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𝐾</m:t>
                          </m:r>
                        </m:e>
                      </m:d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+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sSub>
                        <m:sSub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𝑛</m:t>
                          </m:r>
                        </m:sub>
                      </m:sSub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−</m:t>
                      </m:r>
                      <m:r>
                        <a:rPr kumimoji="0" lang="en-US" altLang="zh-CN" sz="2500" b="0" i="1" smtClean="0">
                          <a:latin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sSub>
                        <m:sSubPr>
                          <m:ctrlPr>
                            <a:rPr kumimoji="0" lang="en-US" altLang="zh-CN" sz="25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0" lang="en-US" altLang="zh-CN" sz="25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（事实上，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≤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𝐴</m:t>
                        </m:r>
                      </m:e>
                    </m:d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sSub>
                      <m:sSub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）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令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∣</m:t>
                        </m:r>
                        <m:sSup>
                          <m:sSupPr>
                            <m:ctrlPr>
                              <a:rPr kumimoji="0" lang="en-US" altLang="zh-CN" sz="25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kumimoji="0" lang="en-US" altLang="zh-CN" sz="2500" b="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，得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</m:e>
                    </m:d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+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r>
                      <a:rPr kumimoji="0" lang="en-US" altLang="zh-CN" sz="2500" b="0" i="1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=0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，故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algn="ctr">
                  <a:lnSpc>
                    <a:spcPct val="12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5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𝐾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25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5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en-US" altLang="zh-CN" sz="2500" dirty="0"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</a:p>
              <a:p>
                <a:pPr>
                  <a:lnSpc>
                    <a:spcPct val="120000"/>
                  </a:lnSpc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当</a:t>
                </a:r>
                <a14:m>
                  <m:oMath xmlns:m="http://schemas.openxmlformats.org/officeDocument/2006/math"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→∞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时，可用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∞</m:t>
                        </m:r>
                      </m:sub>
                    </m:sSub>
                    <m:r>
                      <a:rPr kumimoji="0" lang="en-US" altLang="zh-CN" sz="25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代替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500" b="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，故</a:t>
                </a:r>
                <a:r>
                  <a:rPr kumimoji="0" lang="en-US" altLang="zh-CN" sz="2500" dirty="0"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5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kumimoji="0" lang="en-US" altLang="zh-CN" sz="2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kumimoji="0" lang="en-US" altLang="zh-CN" sz="2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kumimoji="0" lang="en-US" altLang="zh-CN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𝐾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kumimoji="0" lang="en-US" altLang="zh-CN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25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0" lang="en-US" altLang="zh-CN" sz="25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0" lang="en-US" altLang="zh-CN" sz="25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∞</m:t>
                            </m:r>
                          </m:sub>
                        </m:sSub>
                      </m:den>
                    </m:f>
                  </m:oMath>
                </a14:m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5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72FF058-F0F5-D91F-ABBB-560D10C57A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82" y="2972236"/>
                <a:ext cx="8606190" cy="3428374"/>
              </a:xfrm>
              <a:prstGeom prst="rect">
                <a:avLst/>
              </a:prstGeom>
              <a:blipFill>
                <a:blip r:embed="rId5"/>
                <a:stretch>
                  <a:fillRect l="-1133" t="-124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11A2348F-6D11-A2CF-1687-A9D1D10FA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B1AAE52-5DE6-6FA7-F7CE-CE3132073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210" y="663394"/>
                <a:ext cx="8606190" cy="611840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我们已经证明了唯一解距离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4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0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𝐾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kumimoji="0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 </m:t>
                              </m:r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 eaLnBrk="1">
                  <a:lnSpc>
                    <a:spcPct val="14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−</m:t>
                    </m:r>
                    <m:sSub>
                      <m:sSubPr>
                        <m:ctrlPr>
                          <a:rPr kumimoji="0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kumimoji="0"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称为</a:t>
                </a: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明文冗余度</a:t>
                </a:r>
                <a:r>
                  <a:rPr kumimoji="0"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，上述公式表明明文冗余度是密码分析的基础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，即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lvl="1" algn="ctr" eaLnBrk="1">
                  <a:lnSpc>
                    <a:spcPct val="140000"/>
                  </a:lnSpc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“明文冗余度越大，唯一解距离就越短”。</a:t>
                </a:r>
                <a:endParaRPr kumimoji="0"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提高密码体制的安全性，应该尽量减少明文冗余度。减少明文冗余度的一种方法是在对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40000"/>
                  </a:lnSpc>
                  <a:defRPr/>
                </a:pP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“加密之前先采用哈夫曼编码（</a:t>
                </a:r>
                <a:r>
                  <a:rPr kumimoji="0" lang="en-US" altLang="zh-CN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Huffman</a:t>
                </a: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）对明文进行压缩”</a:t>
                </a:r>
                <a:r>
                  <a:rPr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B1AAE52-5DE6-6FA7-F7CE-CE3132073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210" y="663394"/>
                <a:ext cx="8606190" cy="6118406"/>
              </a:xfrm>
              <a:prstGeom prst="rect">
                <a:avLst/>
              </a:prstGeom>
              <a:blipFill>
                <a:blip r:embed="rId4"/>
                <a:stretch>
                  <a:fillRect l="-1487" b="-149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D52E3436-3C22-8767-98CE-6C48D1FA3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6DC8F6A-3318-78E3-D01D-B59A7D1B1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00" y="800100"/>
                <a:ext cx="8774728" cy="428591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500" b="1" dirty="0">
                    <a:latin typeface="Cambria Math" panose="02040503050406030204" pitchFamily="18" charset="0"/>
                    <a:cs typeface="Times New Roman" pitchFamily="18" charset="0"/>
                  </a:rPr>
                  <a:t>例子</a:t>
                </a:r>
                <a:r>
                  <a:rPr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2</a:t>
                </a:r>
                <a:r>
                  <a:rPr kumimoji="0" lang="en-US" altLang="zh-CN" sz="2500" b="1" dirty="0">
                    <a:latin typeface="Cambria Math" panose="02040503050406030204" pitchFamily="18" charset="0"/>
                    <a:cs typeface="Times New Roman" pitchFamily="18" charset="0"/>
                  </a:rPr>
                  <a:t>  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利用 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DES 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密码体制加密由“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26 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个英文字母加空格”组成的英文文本。明文分组长度是 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64 bit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，密钥长度 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56 bit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，认为 </a:t>
                </a:r>
                <a:r>
                  <a:rPr kumimoji="0" lang="en-US" altLang="zh-CN" sz="2800" dirty="0">
                    <a:latin typeface="Cambria Math" panose="02040503050406030204" pitchFamily="18" charset="0"/>
                    <a:cs typeface="Times New Roman" pitchFamily="18" charset="0"/>
                  </a:rPr>
                  <a:t>DES 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是一种相当接近随机密码的系统。英文文本的信源信息率是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𝐻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∞</m:t>
                        </m:r>
                      </m:sub>
                    </m:sSub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=1.40 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。求唯一解距离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已知</a:t>
                </a:r>
                <a14:m>
                  <m:oMath xmlns:m="http://schemas.openxmlformats.org/officeDocument/2006/math"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𝐻</m:t>
                    </m:r>
                    <m:d>
                      <m:dPr>
                        <m:ctrlPr>
                          <a:rPr kumimoji="0" lang="en-US" altLang="zh-CN" sz="28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kumimoji="0" lang="en-US" altLang="zh-CN" sz="28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𝐾</m:t>
                        </m:r>
                      </m:e>
                    </m:d>
                    <m:r>
                      <a:rPr kumimoji="0" lang="en-US" altLang="zh-CN" sz="28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=56 </m:t>
                    </m:r>
                    <m:r>
                      <m:rPr>
                        <m:sty m:val="p"/>
                      </m:rPr>
                      <a:rPr kumimoji="0" lang="en-US" altLang="zh-CN" sz="2800" b="0" i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altLang="zh-CN" sz="2800" b="0" i="1" dirty="0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  <m:r>
                      <a:rPr kumimoji="0" lang="en-US" altLang="zh-CN" sz="2800" b="0" i="1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0" lang="en-US" altLang="zh-CN" sz="2800" b="0" i="0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log</m:t>
                    </m:r>
                    <m:r>
                      <a:rPr kumimoji="0" lang="en-US" altLang="zh-CN" sz="2800" b="0" i="0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27=4.76 </m:t>
                    </m:r>
                    <m:r>
                      <m:rPr>
                        <m:sty m:val="p"/>
                      </m:rPr>
                      <a:rPr kumimoji="0" lang="en-US" altLang="zh-CN" sz="2800" b="0" i="0" dirty="0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bit</m:t>
                    </m:r>
                  </m:oMath>
                </a14:m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，所以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eaLnBrk="1">
                  <a:lnSpc>
                    <a:spcPct val="12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𝑁</m:t>
                          </m:r>
                        </m:e>
                        <m:sub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≈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𝑛</m:t>
                      </m:r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𝐾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itchFamily="18" charset="0"/>
                                </a:rPr>
                                <m:t>∞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56</m:t>
                          </m:r>
                        </m:num>
                        <m:den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4.76−1.40</m:t>
                          </m:r>
                        </m:den>
                      </m:f>
                      <m:r>
                        <a:rPr kumimoji="0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=16.96=17 </m:t>
                      </m:r>
                      <m:r>
                        <m:rPr>
                          <m:sty m:val="p"/>
                        </m:rPr>
                        <a:rPr kumimoji="0"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bit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。</m:t>
                      </m:r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6DC8F6A-3318-78E3-D01D-B59A7D1B1C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800100"/>
                <a:ext cx="8774728" cy="4285917"/>
              </a:xfrm>
              <a:prstGeom prst="rect">
                <a:avLst/>
              </a:prstGeom>
              <a:blipFill>
                <a:blip r:embed="rId4"/>
                <a:stretch>
                  <a:fillRect l="-1459" t="-996" r="-104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33D705F4-0EA4-E6A7-EA49-53057A9DE3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0157580-D684-B812-B9A1-2817282B3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05" y="685800"/>
                <a:ext cx="8606190" cy="59518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eaLnBrk="1">
                  <a:lnSpc>
                    <a:spcPct val="140000"/>
                  </a:lnSpc>
                  <a:defRPr/>
                </a:pPr>
                <a:r>
                  <a:rPr kumimoji="0" lang="zh-CN" altLang="en-US" sz="25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注意：</a:t>
                </a:r>
                <a:endParaRPr kumimoji="0" lang="en-US" altLang="zh-CN" sz="25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唯一解距离</a:t>
                </a:r>
                <a14:m>
                  <m:oMath xmlns:m="http://schemas.openxmlformats.org/officeDocument/2006/math">
                    <m:r>
                      <a:rPr kumimoji="0" lang="en-US" altLang="zh-CN" sz="25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表明：当截获的密文长度大于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 </m:t>
                        </m:r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𝑁</m:t>
                        </m:r>
                      </m:e>
                      <m:sub>
                        <m:r>
                          <a:rPr kumimoji="0" lang="en-US" altLang="zh-CN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 </a:t>
                </a: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时，原则上可以唯一确定所使用的密钥，从而破译密码。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事实上，上述是在假定破译者拥有无限的计算能力，并充分利用信源的全部统计知识的前提下成立的。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在实际中，破译者收到各种限制，不能做到完全利用资源。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如果破译密码的代价超出破译信息的价值，或者破译成功所花的事件超出了所得的信息时效，则破译是无用的。</a:t>
                </a:r>
                <a:endParaRPr kumimoji="0" lang="en-US" altLang="zh-CN" sz="25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342900" indent="-342900" eaLnBrk="1">
                  <a:lnSpc>
                    <a:spcPct val="140000"/>
                  </a:lnSpc>
                  <a:buFont typeface="Wingdings" panose="05000000000000000000" pitchFamily="2" charset="2"/>
                  <a:buChar char="Ø"/>
                  <a:defRPr/>
                </a:pPr>
                <a:r>
                  <a:rPr kumimoji="0" lang="zh-CN" altLang="en-US" sz="2500" dirty="0">
                    <a:latin typeface="Cambria Math" panose="02040503050406030204" pitchFamily="18" charset="0"/>
                    <a:cs typeface="Times New Roman" pitchFamily="18" charset="0"/>
                  </a:rPr>
                  <a:t>密码系统在时间、人力、物力等限制条件下安全性更有意义，称为实用安全性。</a:t>
                </a:r>
                <a:endParaRPr kumimoji="0" lang="en-US" altLang="zh-CN" sz="25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60157580-D684-B812-B9A1-2817282B3C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905" y="685800"/>
                <a:ext cx="8606190" cy="5951886"/>
              </a:xfrm>
              <a:prstGeom prst="rect">
                <a:avLst/>
              </a:prstGeom>
              <a:blipFill>
                <a:blip r:embed="rId4"/>
                <a:stretch>
                  <a:fillRect l="-1133" b="-112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C69CCA6D-C184-064B-5E9D-F6563D2FDC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52400"/>
            <a:ext cx="7772400" cy="609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1.2 </a:t>
            </a:r>
            <a:r>
              <a:rPr lang="zh-CN" altLang="en-US" dirty="0"/>
              <a:t>信息论在密码学中的应用（续）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C74FCCB-819F-9470-F464-3E3D0AD4A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271" y="814630"/>
                <a:ext cx="8606190" cy="261437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40000"/>
                  </a:lnSpc>
                  <a:defRPr/>
                </a:pPr>
                <a:r>
                  <a:rPr kumimoji="0" lang="zh-CN" altLang="en-US" sz="2800" b="1" dirty="0">
                    <a:latin typeface="Cambria Math" panose="02040503050406030204" pitchFamily="18" charset="0"/>
                    <a:cs typeface="Times New Roman" pitchFamily="18" charset="0"/>
                  </a:rPr>
                  <a:t>定义</a:t>
                </a:r>
                <a:r>
                  <a:rPr kumimoji="0" lang="en-US" altLang="zh-CN" sz="2800" b="1" dirty="0">
                    <a:latin typeface="Cambria Math" panose="02040503050406030204" pitchFamily="18" charset="0"/>
                    <a:cs typeface="Times New Roman" pitchFamily="18" charset="0"/>
                  </a:rPr>
                  <a:t>5</a:t>
                </a:r>
                <a:r>
                  <a:rPr kumimoji="0" lang="zh-CN" altLang="en-US" sz="2800" b="1" dirty="0">
                    <a:latin typeface="Cambria Math" panose="02040503050406030204" pitchFamily="18" charset="0"/>
                    <a:cs typeface="Times New Roman" pitchFamily="18" charset="0"/>
                  </a:rPr>
                  <a:t>  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如果对一个密码系统，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4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0" lang="en-US" altLang="zh-CN" sz="280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0" lang="en-US" altLang="zh-CN" sz="2800" b="0" i="0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kumimoji="0" lang="en-US" altLang="zh-CN" sz="280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𝐾</m:t>
                              </m:r>
                              <m:r>
                                <a:rPr kumimoji="0" lang="en-US" altLang="zh-CN" sz="2800" b="0" i="1" smtClean="0">
                                  <a:latin typeface="Cambria Math" panose="02040503050406030204" pitchFamily="18" charset="0"/>
                                  <a:cs typeface="Times New Roman" pitchFamily="18" charset="0"/>
                                </a:rPr>
                                <m:t>∣</m:t>
                              </m:r>
                              <m:sSup>
                                <m:sSupPr>
                                  <m:ctrlPr>
                                    <a:rPr kumimoji="0" lang="en-US" altLang="zh-CN" sz="280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kumimoji="0" lang="en-US" altLang="zh-CN" sz="28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  <m:r>
                            <a:rPr kumimoji="0" lang="en-US" altLang="zh-CN" sz="2800" b="0" i="1" smtClean="0">
                              <a:latin typeface="Cambria Math" panose="02040503050406030204" pitchFamily="18" charset="0"/>
                              <a:cs typeface="Times New Roman" pitchFamily="18" charset="0"/>
                            </a:rPr>
                            <m:t>≠0</m:t>
                          </m:r>
                        </m:e>
                      </m:func>
                    </m:oMath>
                  </m:oMathPara>
                </a14:m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lnSpc>
                    <a:spcPct val="140000"/>
                  </a:lnSpc>
                  <a:defRPr/>
                </a:pP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则对该系统来说，截获更多的密文并不能消除关于密钥的不确定性，这种密码系统称为</a:t>
                </a:r>
                <a:r>
                  <a:rPr kumimoji="0" lang="zh-CN" altLang="en-US" sz="2800" dirty="0">
                    <a:solidFill>
                      <a:srgbClr val="FF0000"/>
                    </a:solidFill>
                    <a:latin typeface="Cambria Math" panose="02040503050406030204" pitchFamily="18" charset="0"/>
                    <a:cs typeface="Times New Roman" pitchFamily="18" charset="0"/>
                  </a:rPr>
                  <a:t>理想密码系统</a:t>
                </a:r>
                <a:r>
                  <a:rPr kumimoji="0" lang="zh-CN" altLang="en-US" sz="2800" dirty="0">
                    <a:latin typeface="Cambria Math" panose="02040503050406030204" pitchFamily="18" charset="0"/>
                    <a:cs typeface="Times New Roman" pitchFamily="18" charset="0"/>
                  </a:rPr>
                  <a:t>。</a:t>
                </a:r>
                <a:endParaRPr kumimoji="0" lang="en-US" altLang="zh-CN" sz="2800" dirty="0">
                  <a:latin typeface="Cambria Math" panose="02040503050406030204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2" name="Rectangle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C74FCCB-819F-9470-F464-3E3D0AD4A2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71" y="814630"/>
                <a:ext cx="8606190" cy="2614370"/>
              </a:xfrm>
              <a:prstGeom prst="rect">
                <a:avLst/>
              </a:prstGeom>
              <a:blipFill>
                <a:blip r:embed="rId4"/>
                <a:stretch>
                  <a:fillRect l="-1487" b="-489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A2CC32AC-99CF-6F17-0ABA-DEAE3F5087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sz="6000"/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11808</TotalTime>
  <Words>2487</Words>
  <Application>Microsoft Office PowerPoint</Application>
  <PresentationFormat>全屏显示(4:3)</PresentationFormat>
  <Paragraphs>231</Paragraphs>
  <Slides>29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굴림</vt:lpstr>
      <vt:lpstr>宋体</vt:lpstr>
      <vt:lpstr>Arial</vt:lpstr>
      <vt:lpstr>Calibri</vt:lpstr>
      <vt:lpstr>Cambria Math</vt:lpstr>
      <vt:lpstr>Times New Roman</vt:lpstr>
      <vt:lpstr>Wingdings</vt:lpstr>
      <vt:lpstr>默认设计模板</vt:lpstr>
      <vt:lpstr>第十四讲 信息论基础  下</vt:lpstr>
      <vt:lpstr>本讲提要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sundazhi</dc:creator>
  <cp:lastModifiedBy>dazhi sun</cp:lastModifiedBy>
  <cp:revision>497</cp:revision>
  <cp:lastPrinted>2025-04-18T04:18:49Z</cp:lastPrinted>
  <dcterms:created xsi:type="dcterms:W3CDTF">1601-01-01T00:00:00Z</dcterms:created>
  <dcterms:modified xsi:type="dcterms:W3CDTF">2026-04-20T04:21:07Z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