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99" r:id="rId4"/>
    <p:sldId id="295" r:id="rId5"/>
    <p:sldId id="275" r:id="rId6"/>
    <p:sldId id="300" r:id="rId7"/>
    <p:sldId id="297" r:id="rId8"/>
    <p:sldId id="298" r:id="rId9"/>
    <p:sldId id="278" r:id="rId10"/>
    <p:sldId id="288" r:id="rId11"/>
    <p:sldId id="266" r:id="rId12"/>
    <p:sldId id="301" r:id="rId13"/>
    <p:sldId id="279" r:id="rId14"/>
    <p:sldId id="289" r:id="rId15"/>
    <p:sldId id="302" r:id="rId16"/>
    <p:sldId id="303" r:id="rId17"/>
    <p:sldId id="281" r:id="rId18"/>
    <p:sldId id="263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5" autoAdjust="0"/>
    <p:restoredTop sz="93945" autoAdjust="0"/>
  </p:normalViewPr>
  <p:slideViewPr>
    <p:cSldViewPr>
      <p:cViewPr varScale="1">
        <p:scale>
          <a:sx n="64" d="100"/>
          <a:sy n="64" d="100"/>
        </p:scale>
        <p:origin x="11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1D663EE-1EB5-69BE-F939-0D78D09F3C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1EABB3-A7F7-5ECA-9D97-95E91E2E6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80D16-7E77-46BA-A87B-61A54885ADDF}" type="datetime1">
              <a:rPr lang="en-US" altLang="zh-CN" smtClean="0"/>
              <a:t>3/18/2026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531DD-D38B-F527-FC94-F176C0AE24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AF40A5-801F-771C-4CE8-5C4C1EE1C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4A47B-FDBF-4679-B46C-93821AD930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52175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ACA6840-15E7-37C1-3D9A-28605EAB5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E391DD-A218-136A-6EAE-CF595275A1D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2997E9B-4661-4D8E-8CDF-7B6F35F74592}" type="datetime1">
              <a:rPr lang="en-US" altLang="zh-CN" smtClean="0"/>
              <a:t>3/18/2026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1B052C6-5EBB-3AA2-0EDB-68EB22F5AE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C1703537-149E-AE41-5E9E-BBB5EB8A3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15D438-1B1A-BFCD-9EB5-DE140B09E1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264929-C697-37D8-4C87-F1CC33386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5BFB662-69BB-4122-B945-7986EA9019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15E60C-661A-9093-6643-982B812AC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FDE959-59CE-EABE-26B6-F3BF3B91A0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1E5E15-51BA-C170-2247-CEC7604978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ED30BB-EB71-4013-9F62-00768F7910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803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1AB6AC-FE75-3917-5EC6-7DA9AC4615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830CBD-F5BA-B6AB-1D38-40A7B1AFD5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7F8B79-69D5-9790-C4F2-104678282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6D3856-158C-4D34-B417-C3D4EADCBE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1241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969D82-9A1E-79AE-BC6C-B0E21BAC2E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4AD47E-78A0-B99F-74D5-DFF9E55FAB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5C71ED-1AEA-BD53-7F5B-9D746A0559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2D380-BFD9-4473-BC3A-D4C8D29501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7952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31AA30-02C0-9B9A-DBEF-9FBA1D41B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B8922-B255-9FBD-3867-07CC173BAC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14262-CD84-B06F-D310-83391D1D0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3D65F-AAF7-431A-9BD8-39E28E016E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330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8FADAE6-EF3A-2926-8822-4B6DEB256E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AE7400-B2A8-F94A-9097-5D805E5196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F2CB22B-38AB-F89C-44D6-E37DE0E5F5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60B33-3958-4767-9825-3E523F8853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30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93F4BB1-7133-E2F1-C7A6-0DCF9E2CE4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6DFE74-3373-D1C8-0ABE-90DD8A0E11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3EE8CB0-C536-8972-016E-EF012C8F7A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0DD39-0BFF-4082-9B99-269B8951AE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44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25AC2C9-C4A9-557D-D62D-50260022F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F1A1658-FD3D-6356-998F-6295697E60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2399676-B99A-3720-B2C6-CAA8912F49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4C058-42E3-419A-BB1F-F4BF8E65AD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6873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F19683-99DE-6AEA-AAB3-30CC40D1E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34B4A4-B7D1-C540-1873-10BDEBBCBA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01D5B-CEB2-621C-F4E9-F48514024C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B1D1C-2A02-4B43-8ED2-56C4A62F36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75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437438-F766-3515-27A6-B575EC3877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E3BE4-9066-E4BF-C88E-7423879AD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B4501-256C-D65C-2A43-CFE78579E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BCFAB4-6753-42EC-B7ED-EACCA3E3F0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448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DF3CF0-F79F-756E-6E08-1CB134D8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63CBC9-69BA-BED5-CDAA-7FC0A8E648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865FBC8-E30F-94C4-4739-584CDC45EE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4DEA5-8043-4959-897D-FABD7A49FB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277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EB4C32-78A9-6252-D05D-D84C10AE99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B01F4C-F5BD-1C86-0CAB-2DA356B93C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D175EF-A313-50AC-B90D-1826A31109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04AA5-B058-40DB-B577-912D81F122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4011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7D386A2-E253-C447-3EED-AEC9DD1FA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A6FDC87-1F83-FC78-9D76-D9B9D39FB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83F6478-BBA3-4FBC-40D8-A4842E28C4A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949FE1B-7A3F-DAEF-9FEF-85F16CDCE6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B43BB8-30C2-2FC3-21B6-9D7405A851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8EB8346-3687-4848-B7D8-8A05F4DD66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9987E25-E001-029C-DDC9-738FC428FD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第四讲 初等数论</a:t>
            </a:r>
            <a:br>
              <a:rPr lang="zh-CN" altLang="en-US" dirty="0">
                <a:latin typeface="宋体" panose="02010600030101010101" pitchFamily="2" charset="-122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0E4D85F-33CA-C5FF-4F5A-0FAE6FC10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620000" cy="990600"/>
          </a:xfrm>
        </p:spPr>
        <p:txBody>
          <a:bodyPr/>
          <a:lstStyle/>
          <a:p>
            <a:pPr eaLnBrk="1" hangingPunct="1"/>
            <a:r>
              <a:rPr lang="zh-CN" altLang="en-US" sz="4000" dirty="0"/>
              <a:t>本讲提要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DBFE1F1-D2CC-35BC-117B-3B8E7497C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6172200" cy="106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zh-CN" sz="3600" dirty="0"/>
              <a:t> </a:t>
            </a:r>
            <a:r>
              <a:rPr lang="zh-CN" altLang="en-US" sz="3600" dirty="0"/>
              <a:t>同余</a:t>
            </a:r>
            <a:r>
              <a:rPr lang="en-US" altLang="zh-CN" sz="3600" dirty="0"/>
              <a:t>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535B-FDC3-47AA-304C-FD491B467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8361317-C0ED-DF91-C935-77C566EAE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1059" y="152400"/>
            <a:ext cx="60198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一次同余式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D6D62C7-1824-5218-2069-C9A9A43A833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950" y="834452"/>
                <a:ext cx="8680450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1 </a:t>
                </a:r>
                <a:r>
                  <a:rPr lang="zh-CN" altLang="en-US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800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kern="0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，则同余式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ker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800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个解。</a:t>
                </a:r>
                <a:endParaRPr lang="en-US" altLang="zh-CN" sz="28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1</a:t>
                </a:r>
                <a:r>
                  <a:rPr lang="zh-CN" altLang="en-US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如果某整数是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0">
                            <a:latin typeface="Cambria Math" panose="020405030504060302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的解，则同样为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的解，反之亦然。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0">
                            <a:latin typeface="Cambria Math" panose="020405030504060302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有唯一解，假定是</a:t>
                </a:r>
                <a14:m>
                  <m:oMath xmlns:m="http://schemas.openxmlformats.org/officeDocument/2006/math"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。则全体整数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，是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的解。对模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而言，恰有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sz="2800" i="1" kern="0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</a:rPr>
                      <m:t>−1)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sz="2800" dirty="0">
                    <a:latin typeface="+mn-ea"/>
                  </a:rPr>
                  <a:t>个互不同余的整数解。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D6D62C7-1824-5218-2069-C9A9A43A8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50" y="834452"/>
                <a:ext cx="8680450" cy="5638800"/>
              </a:xfrm>
              <a:prstGeom prst="rect">
                <a:avLst/>
              </a:prstGeom>
              <a:blipFill>
                <a:blip r:embed="rId2"/>
                <a:stretch>
                  <a:fillRect l="-1475" t="-1405" b="-29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9501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3209921-837A-D3C4-A18F-A26D6BA89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1059" y="152400"/>
            <a:ext cx="60198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 </a:t>
            </a:r>
            <a:r>
              <a:rPr lang="zh-CN" altLang="en-US" dirty="0"/>
              <a:t>一次同余式（续）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B7D0C59-72DC-2141-FCB5-D2D3DADC893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4950" y="834452"/>
                <a:ext cx="8756650" cy="5638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1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zh-CN" altLang="en-US" dirty="0">
                    <a:latin typeface="+mn-ea"/>
                  </a:rPr>
                  <a:t>（续）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这是因为对于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dirty="0">
                    <a:latin typeface="+mn-ea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+mn-ea"/>
                  </a:rPr>
                  <a:t>，代入得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𝑞𝑚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。又如果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zh-CN" altLang="en-US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+mn-ea"/>
                  </a:rPr>
                  <a:t>，说明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i="1" kern="0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−1)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dirty="0">
                    <a:latin typeface="+mn-ea"/>
                  </a:rPr>
                  <a:t>模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dirty="0">
                    <a:latin typeface="+mn-ea"/>
                  </a:rPr>
                  <a:t>互不同余。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CB7D0C59-72DC-2141-FCB5-D2D3DADC8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950" y="834452"/>
                <a:ext cx="8756650" cy="5638800"/>
              </a:xfrm>
              <a:prstGeom prst="rect">
                <a:avLst/>
              </a:prstGeom>
              <a:blipFill>
                <a:blip r:embed="rId2"/>
                <a:stretch>
                  <a:fillRect l="-1811" t="-1405" r="-27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981DD0C-EAE1-31FD-6DEE-6368C5FF8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模是素数的同余式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2A4DA70-8AD6-D2F5-39B1-CEFEDEBA692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59764" y="834452"/>
                <a:ext cx="8403236" cy="5718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2(</a:t>
                </a:r>
                <a:r>
                  <a:rPr lang="zh-CN" altLang="en-US" sz="3000" b="1" dirty="0">
                    <a:latin typeface="+mn-ea"/>
                  </a:rPr>
                  <a:t>拉格朗日定理</a:t>
                </a:r>
                <a:r>
                  <a:rPr lang="en-US" altLang="zh-CN" sz="3000" b="1" dirty="0">
                    <a:latin typeface="+mn-ea"/>
                  </a:rPr>
                  <a:t>)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3000" b="0" i="1" kern="0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⋯+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sz="3000" kern="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≢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，是一个整系数多项式，则同余式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3000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000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b="0" i="1" kern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最多有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个解。</a:t>
                </a:r>
                <a:endParaRPr lang="en-US" altLang="zh-CN" sz="30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2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归纳法。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≡0(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  <m:t>∤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，恰有一解。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假定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时为真，即最多有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个解，需证明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时最多只有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个解。如果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结论立即成立。</a:t>
                </a:r>
                <a:endParaRPr lang="en-US" altLang="zh-CN" sz="3000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D2A4DA70-8AD6-D2F5-39B1-CEFEDEBA6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9764" y="834452"/>
                <a:ext cx="8403236" cy="5718748"/>
              </a:xfrm>
              <a:prstGeom prst="rect">
                <a:avLst/>
              </a:prstGeom>
              <a:blipFill>
                <a:blip r:embed="rId2"/>
                <a:stretch>
                  <a:fillRect l="-1668" t="-1599" b="-6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E38F5-638D-4A05-334A-B650FA1AB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93A4526-574B-4AE6-93B3-BD979755AE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931" y="277318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模是素数的同余式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C7BC8C7-6C79-5589-B577-DBAC93EA87F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93675" y="974360"/>
                <a:ext cx="8493125" cy="56063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2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续</a:t>
                </a:r>
                <a:r>
                  <a:rPr lang="en-US" altLang="zh-CN" dirty="0">
                    <a:latin typeface="+mn-ea"/>
                  </a:rPr>
                  <a:t>)</a:t>
                </a:r>
                <a:endParaRPr lang="en-US" altLang="zh-CN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否则（反证法），即在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至少有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>
                    <a:latin typeface="+mn-ea"/>
                  </a:rPr>
                  <a:t>个解为：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 dirty="0">
                        <a:latin typeface="Cambria Math" panose="02040503050406030204" pitchFamily="18" charset="0"/>
                      </a:rPr>
                      <m:t>⋯ 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做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 kern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 kern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zh-CN" b="0" i="1" kern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b="0" i="1" kern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d>
                      </m:e>
                    </m:nary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是首项系数为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次整系数多项式。由于当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en-US" dirty="0">
                    <a:latin typeface="+mn-ea"/>
                  </a:rPr>
                  <a:t>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0 </m:t>
                            </m:r>
                          </m:sub>
                        </m:sSub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0 </m:t>
                            </m:r>
                          </m:sub>
                        </m:sSub>
                      </m:e>
                    </m:d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)≡</m:t>
                    </m:r>
                  </m:oMath>
                </a14:m>
                <a:r>
                  <a:rPr lang="en-US" altLang="zh-CN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，说明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+mn-ea"/>
                  </a:rPr>
                  <a:t>个解。这与其有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dirty="0">
                    <a:latin typeface="+mn-ea"/>
                  </a:rPr>
                  <a:t>个解矛盾。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C7BC8C7-6C79-5589-B577-DBAC93EA8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675" y="974360"/>
                <a:ext cx="8493125" cy="5606321"/>
              </a:xfrm>
              <a:prstGeom prst="rect">
                <a:avLst/>
              </a:prstGeom>
              <a:blipFill>
                <a:blip r:embed="rId2"/>
                <a:stretch>
                  <a:fillRect l="-1866" t="-1413" r="-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5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D8CF214-BA4A-4B10-EF62-5540EF78A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模是素数的同余式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DF48535-A5A9-B5B3-F982-E2A34EE779F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6146" y="958121"/>
                <a:ext cx="8446853" cy="5718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3 </a:t>
                </a:r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3000" b="0" i="1" kern="0" dirty="0" smtClean="0">
                        <a:latin typeface="Cambria Math" panose="02040503050406030204" pitchFamily="18" charset="0"/>
                      </a:rPr>
                      <m:t>同余式</m:t>
                    </m:r>
                  </m:oMath>
                </a14:m>
                <a:endParaRPr lang="en-US" altLang="zh-CN" sz="3000" b="0" i="1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000" i="1" kern="0" dirty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0 </m:t>
                          </m:r>
                        </m:sub>
                      </m:sSub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≡0(</m:t>
                      </m:r>
                      <m:r>
                        <m:rPr>
                          <m:sty m:val="p"/>
                        </m:rPr>
                        <a:rPr lang="en-US" altLang="zh-CN" sz="3000" ker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sz="3000" ker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的解的个数大于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，这里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是素数，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是整数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3</a:t>
                </a:r>
                <a:r>
                  <a:rPr lang="zh-CN" altLang="en-US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如果某些系数不能被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整除，设这些系数的脚标最大为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次同余式，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3000" i="1" kern="0" dirty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0 </m:t>
                          </m:r>
                        </m:sub>
                      </m:sSub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≡0</m:t>
                      </m:r>
                      <m:d>
                        <m:d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3000" ker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altLang="zh-CN" sz="3000" ker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zh-CN" altLang="en-US" sz="3000" i="1" kern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en-US" altLang="zh-CN" sz="3000" i="1" ker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30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∤</m:t>
                      </m:r>
                      <m:sSub>
                        <m:sSubPr>
                          <m:ctrlP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000" i="1" ker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000" b="0" i="1" kern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的解的个数大于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，这与定理</a:t>
                </a:r>
                <a:r>
                  <a:rPr lang="en-US" altLang="zh-CN" sz="3000" dirty="0">
                    <a:latin typeface="+mn-ea"/>
                  </a:rPr>
                  <a:t>2</a:t>
                </a:r>
                <a:r>
                  <a:rPr lang="zh-CN" altLang="en-US" sz="3000" dirty="0">
                    <a:latin typeface="+mn-ea"/>
                  </a:rPr>
                  <a:t>矛盾。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DF48535-A5A9-B5B3-F982-E2A34EE77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146" y="958121"/>
                <a:ext cx="8446853" cy="5718748"/>
              </a:xfrm>
              <a:prstGeom prst="rect">
                <a:avLst/>
              </a:prstGeom>
              <a:blipFill>
                <a:blip r:embed="rId2"/>
                <a:stretch>
                  <a:fillRect l="-1733" t="-1599" r="-14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AB263F9-56D2-B8B8-796B-1B090BA8E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304800"/>
            <a:ext cx="5486400" cy="685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模是素数的同余式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365740B-ACB1-1417-FAFA-58A53DCF61B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16146" y="958121"/>
                <a:ext cx="8065854" cy="5595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4 </a:t>
                </a:r>
                <a:r>
                  <a:rPr lang="zh-CN" altLang="zh-CN" sz="2800" dirty="0"/>
                  <a:t>对于任意给的素数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2800" dirty="0"/>
                  <a:t>，多项式</a:t>
                </a:r>
                <a:endParaRPr lang="en-US" altLang="zh-CN" sz="2800" b="0" i="1" kern="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en-US" altLang="zh-CN" sz="28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d>
                          <m:dPr>
                            <m:ctrlP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2800" i="1" ker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的所有系数都被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整除。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4</a:t>
                </a:r>
                <a:r>
                  <a:rPr lang="zh-CN" altLang="en-US" sz="2800" b="1" dirty="0">
                    <a:latin typeface="+mn-ea"/>
                  </a:rPr>
                  <a:t>证明</a:t>
                </a:r>
                <a:r>
                  <a:rPr lang="en-US" altLang="zh-CN" sz="2800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令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≡0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个解。由费马小定理，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也是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altLang="zh-CN" sz="280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≡0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个解，故同余式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800" ker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2800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个解，而考察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+mn-ea"/>
                  </a:rPr>
                  <a:t>为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次多项式。由定理</a:t>
                </a:r>
                <a:r>
                  <a:rPr lang="en-US" altLang="zh-CN" sz="2800" dirty="0">
                    <a:latin typeface="+mn-ea"/>
                  </a:rPr>
                  <a:t>3</a:t>
                </a:r>
                <a:r>
                  <a:rPr lang="zh-CN" altLang="en-US" sz="2800" dirty="0">
                    <a:latin typeface="+mn-ea"/>
                  </a:rPr>
                  <a:t>知其系数均能被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整除。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这里常数项是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b="0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sz="28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2800" i="1" kern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sz="2800" i="1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  <m:r>
                      <a:rPr lang="en-US" altLang="zh-CN" sz="2800" b="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，为上一讲定理</a:t>
                </a:r>
                <a:r>
                  <a:rPr lang="en-US" altLang="zh-CN" sz="2800" dirty="0">
                    <a:latin typeface="+mn-ea"/>
                  </a:rPr>
                  <a:t>5</a:t>
                </a:r>
                <a:r>
                  <a:rPr lang="zh-CN" altLang="en-US" sz="2800" dirty="0">
                    <a:latin typeface="+mn-ea"/>
                  </a:rPr>
                  <a:t>（威尔逊定理）的结论。</a:t>
                </a: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0365740B-ACB1-1417-FAFA-58A53DCF6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146" y="958121"/>
                <a:ext cx="8065854" cy="5595080"/>
              </a:xfrm>
              <a:prstGeom prst="rect">
                <a:avLst/>
              </a:prstGeom>
              <a:blipFill>
                <a:blip r:embed="rId2"/>
                <a:stretch>
                  <a:fillRect l="-1587" t="-1307" r="-831" b="-22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897D93E-D37E-D9EA-6971-FD9296518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7489"/>
            <a:ext cx="4800600" cy="76200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宋体-方正超大字符集" pitchFamily="65" charset="-122"/>
              </a:rPr>
              <a:t>CRT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97CFB39-512A-11B9-CBA1-6CE420E618A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685800"/>
                <a:ext cx="8675454" cy="6112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kern="0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800" i="1" kern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r>
                        <a:rPr lang="en-US" altLang="zh-CN" sz="2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23(</m:t>
                      </m:r>
                      <m:r>
                        <m:rPr>
                          <m:sty m:val="p"/>
                        </m:rPr>
                        <a:rPr lang="en-US" altLang="zh-CN" sz="2800" b="0" i="0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</m:t>
                      </m:r>
                      <m:r>
                        <a:rPr lang="en-US" altLang="zh-CN" sz="28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105)⇒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≡2(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b="0" i="0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b="0" i="0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zh-CN" sz="2800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od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zh-CN" sz="28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CN" sz="28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800" b="1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中国剩余定理揭示这一过程是可逆的。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2800" b="1" dirty="0">
                    <a:latin typeface="+mn-ea"/>
                  </a:rPr>
                  <a:t>定理</a:t>
                </a:r>
                <a:r>
                  <a:rPr lang="en-US" altLang="zh-CN" sz="2800" b="1" dirty="0">
                    <a:latin typeface="+mn-ea"/>
                  </a:rPr>
                  <a:t>5 </a:t>
                </a:r>
                <a:r>
                  <a:rPr lang="zh-CN" altLang="en-US" sz="28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 smtClea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个两两互素的正整数，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，则同余式组</a:t>
                </a:r>
              </a:p>
              <a:p>
                <a:pPr marL="0" indent="0">
                  <a:buNone/>
                </a:pP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r>
                  <a:rPr lang="zh-CN" altLang="en-US" sz="2800" kern="0" dirty="0"/>
                  <a:t> </a:t>
                </a:r>
                <a14:m>
                  <m:oMath xmlns:m="http://schemas.openxmlformats.org/officeDocument/2006/math"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有唯一解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97CFB39-512A-11B9-CBA1-6CE420E61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85800"/>
                <a:ext cx="8675454" cy="6112240"/>
              </a:xfrm>
              <a:prstGeom prst="rect">
                <a:avLst/>
              </a:prstGeom>
              <a:blipFill>
                <a:blip r:embed="rId2"/>
                <a:stretch>
                  <a:fillRect l="-1476" r="-492" b="-109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DB1E500-F567-DA4C-1974-2AEE254C7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5257800" cy="76200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宋体-方正超大字符集" pitchFamily="65" charset="-122"/>
              </a:rPr>
              <a:t>CRT</a:t>
            </a:r>
            <a:r>
              <a:rPr lang="en-US" altLang="zh-CN" sz="3200" dirty="0"/>
              <a:t>) 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A2ED76E-74AD-0603-7102-5FBC5D63E2C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9946" y="874426"/>
                <a:ext cx="8675454" cy="53739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5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，有</a:t>
                </a:r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kern="0" dirty="0"/>
                  <a:t> </a:t>
                </a:r>
                <a:r>
                  <a:rPr lang="zh-CN" altLang="en-US" dirty="0">
                    <a:latin typeface="+mn-ea"/>
                  </a:rPr>
                  <a:t>，且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nary>
                      <m:naryPr>
                        <m:chr m:val="∑"/>
                        <m:ctrlPr>
                          <a:rPr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</m:e>
                    </m:nary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n-ea"/>
                  </a:rPr>
                  <a:t>为同余组的解。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同为同余组的解，则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因为当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zh-CN" altLang="en-US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dirty="0">
                    <a:latin typeface="+mn-ea"/>
                  </a:rPr>
                  <a:t>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kern="0" dirty="0"/>
                  <a:t> </a:t>
                </a:r>
                <a:r>
                  <a:rPr lang="en-US" altLang="zh-CN" dirty="0">
                    <a:latin typeface="+mn-ea"/>
                  </a:rPr>
                  <a:t>(</a:t>
                </a:r>
                <a:r>
                  <a:rPr lang="zh-CN" altLang="en-US" dirty="0">
                    <a:latin typeface="+mn-ea"/>
                  </a:rPr>
                  <a:t>第二讲定理</a:t>
                </a:r>
                <a:r>
                  <a:rPr lang="en-US" altLang="zh-CN" dirty="0">
                    <a:latin typeface="+mn-ea"/>
                  </a:rPr>
                  <a:t>13)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A2ED76E-74AD-0603-7102-5FBC5D63E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946" y="874426"/>
                <a:ext cx="8675454" cy="5373974"/>
              </a:xfrm>
              <a:prstGeom prst="rect">
                <a:avLst/>
              </a:prstGeom>
              <a:blipFill>
                <a:blip r:embed="rId2"/>
                <a:stretch>
                  <a:fillRect l="-1756" t="-1474" b="-56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B275E24-9494-FEDD-8982-7F1CB62AC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408483"/>
            <a:ext cx="46482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2 </a:t>
            </a:r>
            <a:r>
              <a:rPr lang="zh-CN" altLang="en-US" dirty="0"/>
              <a:t>同余定义与概念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169D426-25CB-8138-5568-FB992DAED3F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44475" y="1219200"/>
                <a:ext cx="8594725" cy="4087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</a:rPr>
                  <a:t>13 </a:t>
                </a:r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  <m:r>
                      <a:rPr lang="zh-CN" alt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zh-CN" alt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⋯，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定理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13</a:t>
                </a:r>
                <a:r>
                  <a:rPr lang="zh-CN" altLang="en-US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证明</a:t>
                </a:r>
                <a:r>
                  <a:rPr lang="en-US" altLang="zh-CN" b="1" kern="0" dirty="0">
                    <a:solidFill>
                      <a:srgbClr val="0070C0"/>
                    </a:solidFill>
                    <a:latin typeface="+mn-ea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FontTx/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=1，2，⋯，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按标准分解式展开可知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，⋯，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zh-CN" alt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mod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，⋯，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kern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kern="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2">
                <a:extLst>
                  <a:ext uri="{FF2B5EF4-FFF2-40B4-BE49-F238E27FC236}">
                    <a16:creationId xmlns:a16="http://schemas.microsoft.com/office/drawing/2014/main" id="{E169D426-25CB-8138-5568-FB992DAED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475" y="1219200"/>
                <a:ext cx="8594725" cy="4087317"/>
              </a:xfrm>
              <a:prstGeom prst="rect">
                <a:avLst/>
              </a:prstGeom>
              <a:blipFill>
                <a:blip r:embed="rId2"/>
                <a:stretch>
                  <a:fillRect l="-1773" t="-2388" r="-18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9046-C3DA-845D-CD98-73CB0535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3850203-058B-38CB-C6E1-7BF81D957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6038"/>
            <a:ext cx="6324600" cy="715962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(CRT) 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DC635B8-3B78-58B3-2CDD-1984765507F9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685800"/>
                <a:ext cx="8763000" cy="4648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6 </a:t>
                </a:r>
                <a:r>
                  <a:rPr lang="zh-CN" altLang="en-US" dirty="0">
                    <a:latin typeface="+mn-ea"/>
                  </a:rPr>
                  <a:t>一次同余式组</a:t>
                </a:r>
                <a:endParaRPr lang="en-US" altLang="zh-CN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            </a:t>
                </a:r>
                <a:r>
                  <a:rPr lang="en-US" altLang="zh-CN" dirty="0">
                    <a:latin typeface="+mn-ea"/>
                    <a:cs typeface="Times New Roman" panose="02020603050405020304" pitchFamily="18" charset="0"/>
                  </a:rPr>
                  <a:t>(1)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+mn-ea"/>
                  </a:rPr>
                  <a:t>可解的充分必要条件是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b="0" i="1" kern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，且当式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可解时对模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>
                    <a:latin typeface="+mn-ea"/>
                  </a:rPr>
                  <a:t>有唯一解。           </a:t>
                </a:r>
                <a:r>
                  <a:rPr lang="en-US" altLang="zh-CN" dirty="0">
                    <a:latin typeface="+mn-ea"/>
                  </a:rPr>
                  <a:t>       </a:t>
                </a:r>
              </a:p>
              <a:p>
                <a:pPr marL="0" indent="0">
                  <a:buNone/>
                </a:pPr>
                <a:r>
                  <a:rPr lang="zh-CN" altLang="en-US" b="1" dirty="0">
                    <a:latin typeface="+mn-ea"/>
                  </a:rPr>
                  <a:t>定理</a:t>
                </a:r>
                <a:r>
                  <a:rPr lang="en-US" altLang="zh-CN" b="1" dirty="0">
                    <a:latin typeface="+mn-ea"/>
                  </a:rPr>
                  <a:t>6</a:t>
                </a:r>
                <a:r>
                  <a:rPr lang="zh-CN" altLang="en-US" b="1" dirty="0">
                    <a:latin typeface="+mn-ea"/>
                  </a:rPr>
                  <a:t>证明</a:t>
                </a:r>
                <a:r>
                  <a:rPr lang="en-US" altLang="zh-CN" b="1" dirty="0">
                    <a:latin typeface="+mn-ea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+mn-ea"/>
                  </a:rPr>
                  <a:t> 如果</a:t>
                </a:r>
                <a:r>
                  <a:rPr lang="en-US" altLang="zh-CN" dirty="0">
                    <a:latin typeface="+mn-ea"/>
                  </a:rPr>
                  <a:t>(1)</a:t>
                </a:r>
                <a:r>
                  <a:rPr lang="zh-CN" altLang="en-US" dirty="0">
                    <a:latin typeface="+mn-ea"/>
                  </a:rPr>
                  <a:t>有公解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。令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dirty="0">
                    <a:latin typeface="+mn-ea"/>
                  </a:rPr>
                  <a:t>，显然有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b="0" i="0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kern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+mn-ea"/>
                  </a:rPr>
                  <a:t>，因此，</a:t>
                </a:r>
                <a14:m>
                  <m:oMath xmlns:m="http://schemas.openxmlformats.org/officeDocument/2006/math">
                    <m:r>
                      <a:rPr lang="en-US" altLang="zh-CN" i="1" ker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kern="0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DC635B8-3B78-58B3-2CDD-198476550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685800"/>
                <a:ext cx="8763000" cy="4648200"/>
              </a:xfrm>
              <a:prstGeom prst="rect">
                <a:avLst/>
              </a:prstGeom>
              <a:blipFill>
                <a:blip r:embed="rId2"/>
                <a:stretch>
                  <a:fillRect l="-1809" t="-1706" r="-7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61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EBA764E-1D16-BC54-CFDF-A45E8CD402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6038"/>
            <a:ext cx="6324600" cy="715962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(CRT) 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3E4CD2-C884-86E6-9839-F5C236CA455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757003"/>
                <a:ext cx="8839200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900" b="1" dirty="0">
                    <a:latin typeface="+mn-ea"/>
                  </a:rPr>
                  <a:t>定理</a:t>
                </a:r>
                <a:r>
                  <a:rPr lang="en-US" altLang="zh-CN" sz="2900" b="1" dirty="0">
                    <a:latin typeface="+mn-ea"/>
                  </a:rPr>
                  <a:t>6</a:t>
                </a:r>
                <a:r>
                  <a:rPr lang="zh-CN" altLang="en-US" sz="2900" b="1" dirty="0">
                    <a:latin typeface="+mn-ea"/>
                  </a:rPr>
                  <a:t>证明</a:t>
                </a:r>
                <a:r>
                  <a:rPr lang="en-US" altLang="zh-CN" sz="2900" b="1" dirty="0">
                    <a:latin typeface="+mn-ea"/>
                  </a:rPr>
                  <a:t>.</a:t>
                </a:r>
                <a:r>
                  <a:rPr lang="zh-CN" altLang="en-US" sz="2900" dirty="0">
                    <a:latin typeface="+mn-ea"/>
                  </a:rPr>
                  <a:t>（续）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9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 因为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的解可写为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9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b="0" i="1" kern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b="0" i="1" kern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为任意整数</a:t>
                </a:r>
                <a14:m>
                  <m:oMath xmlns:m="http://schemas.openxmlformats.org/officeDocument/2006/math">
                    <m:r>
                      <a:rPr lang="en-US" altLang="zh-CN" sz="290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，代入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b="0" i="1" kern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。因为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900" i="1" kern="0">
                                <a:latin typeface="Cambria Math" panose="02040503050406030204" pitchFamily="18" charset="0"/>
                              </a:rPr>
                              <m:t>，</m:t>
                            </m:r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</a:t>
                </a:r>
                <a:r>
                  <a:rPr lang="en-US" altLang="zh-CN" sz="29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 |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900" dirty="0">
                    <a:latin typeface="+mn-ea"/>
                  </a:rPr>
                  <a:t>， 所以根据定理</a:t>
                </a:r>
                <a:r>
                  <a:rPr lang="en-US" altLang="zh-CN" sz="2900" dirty="0">
                    <a:latin typeface="+mn-ea"/>
                  </a:rPr>
                  <a:t>1</a:t>
                </a:r>
                <a:r>
                  <a:rPr lang="zh-CN" altLang="en-US" sz="2900" dirty="0">
                    <a:latin typeface="+mn-ea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90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有解，且对模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9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zh-CN" altLang="en-US" sz="2900" dirty="0">
                    <a:latin typeface="+mn-ea"/>
                  </a:rPr>
                  <a:t>有唯一解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900" b="0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9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900" kern="0">
                            <a:latin typeface="Cambria Math" panose="02040503050406030204" pitchFamily="18" charset="0"/>
                          </a:rPr>
                          <m:t>mod</m:t>
                        </m:r>
                        <m:f>
                          <m:fPr>
                            <m:ctrlP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9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sz="29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9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zh-CN" altLang="en-US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±1</m:t>
                    </m:r>
                    <m:r>
                      <a:rPr lang="zh-CN" altLang="en-US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±2</m:t>
                    </m:r>
                    <m:r>
                      <a:rPr lang="zh-CN" altLang="en-US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，⋯</m:t>
                    </m:r>
                    <m:r>
                      <a:rPr lang="en-US" altLang="zh-CN" sz="29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。所以</a:t>
                </a:r>
                <a:r>
                  <a:rPr lang="en-US" altLang="zh-CN" sz="2900" dirty="0">
                    <a:latin typeface="+mn-ea"/>
                  </a:rPr>
                  <a:t>(1)</a:t>
                </a:r>
                <a:r>
                  <a:rPr lang="zh-CN" altLang="en-US" sz="2900" dirty="0">
                    <a:latin typeface="+mn-ea"/>
                  </a:rPr>
                  <a:t>的全部解为：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9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9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9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2900" dirty="0">
                    <a:latin typeface="+mn-ea"/>
                  </a:rPr>
                  <a:t>=</a:t>
                </a:r>
                <a:r>
                  <a:rPr lang="en-US" altLang="zh-CN" sz="29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9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9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den>
                    </m:f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sz="29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900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9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=0，±1，±2，⋯) 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。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900" dirty="0">
                    <a:latin typeface="+mn-ea"/>
                  </a:rPr>
                  <a:t>这些解对模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9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都同余，故对模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9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9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9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900" i="1" ker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900" dirty="0">
                    <a:latin typeface="+mn-ea"/>
                  </a:rPr>
                  <a:t>是唯一的。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8F3E4CD2-C884-86E6-9839-F5C236CA4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757003"/>
                <a:ext cx="8839200" cy="5867400"/>
              </a:xfrm>
              <a:prstGeom prst="rect">
                <a:avLst/>
              </a:prstGeom>
              <a:blipFill>
                <a:blip r:embed="rId2"/>
                <a:stretch>
                  <a:fillRect l="-1517" t="-1142" r="-1172" b="-1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27E10B-34DE-BA55-C5A9-D93F44AEF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6324600" cy="41116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(CRT) 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44D9C99-ACF3-B2A2-1C4F-8050D74A2A1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763000" cy="586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3000" b="1" dirty="0">
                    <a:latin typeface="+mn-ea"/>
                  </a:rPr>
                  <a:t>例子</a:t>
                </a:r>
                <a:r>
                  <a:rPr lang="en-US" altLang="zh-CN" sz="3000" b="1" dirty="0">
                    <a:latin typeface="+mn-ea"/>
                  </a:rPr>
                  <a:t>1 </a:t>
                </a:r>
                <a:r>
                  <a:rPr lang="zh-CN" altLang="en-US" sz="3000" dirty="0">
                    <a:latin typeface="+mn-ea"/>
                  </a:rPr>
                  <a:t>解</a:t>
                </a: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3(</m:t>
                    </m:r>
                    <m:r>
                      <m:rPr>
                        <m:sty m:val="p"/>
                      </m:rP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i="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5)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由于</a:t>
                </a:r>
                <a14:m>
                  <m:oMath xmlns:m="http://schemas.openxmlformats.org/officeDocument/2006/math">
                    <m:r>
                      <a:rPr lang="en-US" altLang="zh-CN" sz="3000" i="1" kern="0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7)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3(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7)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3000" i="1" kern="0" dirty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15)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15)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，所以同余组的解为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≡80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7 </a:t>
                </a:r>
                <a:r>
                  <a:rPr lang="zh-CN" altLang="en-US" sz="3000" dirty="0">
                    <a:latin typeface="+mn-ea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个两两互素的正整数，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3000" dirty="0">
                    <a:latin typeface="+mn-ea"/>
                  </a:rPr>
                  <a:t>,</a:t>
                </a:r>
                <a:r>
                  <a:rPr lang="zh-CN" altLang="en-US" sz="3000" dirty="0">
                    <a:latin typeface="+mn-ea"/>
                  </a:rPr>
                  <a:t>同余式</a:t>
                </a:r>
              </a:p>
              <a:p>
                <a:pPr marL="0" indent="0">
                  <a:buNone/>
                </a:pPr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                 </a:t>
                </a:r>
                <a:r>
                  <a:rPr lang="en-US" altLang="zh-CN" sz="3000" dirty="0">
                    <a:latin typeface="+mn-ea"/>
                  </a:rPr>
                  <a:t>(2)</a:t>
                </a:r>
                <a:endParaRPr lang="zh-CN" altLang="en-US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有解的充分必要条件是每一个同余式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     </a:t>
                </a:r>
                <a:r>
                  <a:rPr lang="en-US" altLang="zh-CN" sz="3000" dirty="0">
                    <a:latin typeface="+mn-ea"/>
                  </a:rPr>
                  <a:t>(3)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有解。并且，若用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表示式</a:t>
                </a:r>
                <a:r>
                  <a:rPr lang="en-US" altLang="zh-CN" sz="3000" dirty="0">
                    <a:latin typeface="+mn-ea"/>
                  </a:rPr>
                  <a:t>(3)</a:t>
                </a:r>
                <a:r>
                  <a:rPr lang="zh-CN" altLang="en-US" sz="3000" dirty="0">
                    <a:latin typeface="+mn-ea"/>
                  </a:rPr>
                  <a:t>的解数，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表示式</a:t>
                </a:r>
                <a:r>
                  <a:rPr lang="en-US" altLang="zh-CN" sz="3000" dirty="0">
                    <a:latin typeface="+mn-ea"/>
                  </a:rPr>
                  <a:t>(2) </a:t>
                </a:r>
                <a:r>
                  <a:rPr lang="zh-CN" altLang="en-US" sz="3000" dirty="0">
                    <a:latin typeface="+mn-ea"/>
                  </a:rPr>
                  <a:t>的解数，则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D44D9C99-ACF3-B2A2-1C4F-8050D74A2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763000" cy="5867400"/>
              </a:xfrm>
              <a:prstGeom prst="rect">
                <a:avLst/>
              </a:prstGeom>
              <a:blipFill>
                <a:blip r:embed="rId2"/>
                <a:stretch>
                  <a:fillRect l="-1670" t="-1661" r="-3479" b="-11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7A8B1-E9D7-82A2-E7F3-6AACFE59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4AA379E-C134-E0BD-7CD6-FCFBCFFC9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6324600" cy="41116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(CRT) 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DC6F1D3-6D98-F85C-80F2-A450C85460B6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876300"/>
                <a:ext cx="8915400" cy="56769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7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是适合</a:t>
                </a:r>
                <a:r>
                  <a:rPr lang="en-US" altLang="zh-CN" sz="3000" dirty="0">
                    <a:latin typeface="+mn-ea"/>
                  </a:rPr>
                  <a:t>(2)</a:t>
                </a:r>
                <a:r>
                  <a:rPr lang="zh-CN" altLang="en-US" sz="3000" dirty="0">
                    <a:latin typeface="+mn-ea"/>
                  </a:rPr>
                  <a:t>的整数，则由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，可得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反之，如果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适合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，因为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m:rPr>
                        <m:nor/>
                      </m:rPr>
                      <a:rPr lang="zh-CN" altLang="en-US" sz="3000" dirty="0">
                        <a:latin typeface="+mn-ea"/>
                      </a:rPr>
                      <m:t>时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，由定理</a:t>
                </a:r>
                <a:r>
                  <a:rPr lang="en-US" altLang="zh-CN" sz="3000" dirty="0">
                    <a:latin typeface="+mn-ea"/>
                  </a:rPr>
                  <a:t>5</a:t>
                </a:r>
                <a:r>
                  <a:rPr lang="zh-CN" altLang="en-US" sz="3000" dirty="0">
                    <a:latin typeface="+mn-ea"/>
                  </a:rPr>
                  <a:t>，知有唯一的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r>
                  <a:rPr lang="en-US" altLang="zh-CN" sz="3000" kern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，适合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。这就证明了充要条件</a:t>
                </a:r>
                <a:r>
                  <a:rPr lang="zh-CN" altLang="en-US" dirty="0">
                    <a:latin typeface="+mn-ea"/>
                  </a:rPr>
                  <a:t>。</a:t>
                </a: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9DC6F1D3-6D98-F85C-80F2-A450C8546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76300"/>
                <a:ext cx="8915400" cy="5676900"/>
              </a:xfrm>
              <a:prstGeom prst="rect">
                <a:avLst/>
              </a:prstGeom>
              <a:blipFill>
                <a:blip r:embed="rId2"/>
                <a:stretch>
                  <a:fillRect l="-1642" t="-1396" r="-6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9973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E518-8F13-8391-4262-30C56B73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5FF437A-27C8-A33B-8A15-5454D9215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520" y="76200"/>
            <a:ext cx="6324600" cy="411163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200" dirty="0"/>
              <a:t>3 </a:t>
            </a:r>
            <a:r>
              <a:rPr lang="zh-CN" altLang="en-US" sz="3200" dirty="0"/>
              <a:t>中国剩余定理</a:t>
            </a:r>
            <a:r>
              <a:rPr lang="en-US" altLang="zh-CN" sz="3200" dirty="0"/>
              <a:t>(CRT) 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ECDA936-434B-2887-04A0-DB20EE67271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6200" y="533400"/>
                <a:ext cx="9105900" cy="6248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zh-CN" sz="3000" b="1" dirty="0">
                    <a:latin typeface="+mn-ea"/>
                  </a:rPr>
                  <a:t>定理</a:t>
                </a:r>
                <a:r>
                  <a:rPr lang="en-US" altLang="zh-CN" sz="3000" b="1" dirty="0">
                    <a:latin typeface="+mn-ea"/>
                  </a:rPr>
                  <a:t>7</a:t>
                </a:r>
                <a:r>
                  <a:rPr lang="zh-CN" altLang="zh-CN" sz="3000" b="1" dirty="0">
                    <a:latin typeface="+mn-ea"/>
                  </a:rPr>
                  <a:t>证明</a:t>
                </a:r>
                <a:r>
                  <a:rPr lang="en-US" altLang="zh-CN" sz="3000" b="1" dirty="0">
                    <a:latin typeface="+mn-ea"/>
                  </a:rPr>
                  <a:t>.</a:t>
                </a:r>
                <a:r>
                  <a:rPr lang="zh-CN" altLang="en-US" sz="3000" dirty="0">
                    <a:latin typeface="+mn-ea"/>
                  </a:rPr>
                  <a:t>（续）</a:t>
                </a:r>
                <a:endParaRPr lang="en-US" altLang="zh-CN" sz="30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现设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300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个不同解是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altLang="zh-CN" sz="30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300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3000" kern="0">
                            <a:latin typeface="Cambria Math" panose="02040503050406030204" pitchFamily="18" charset="0"/>
                          </a:rPr>
                          <m:t>mod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en-US" sz="3000" dirty="0">
                    <a:latin typeface="+mn-ea"/>
                  </a:rPr>
                  <a:t>对其中任一组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3000" b="0" i="1" kern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000" b="0" i="1" kern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，应用定理</a:t>
                </a:r>
                <a:r>
                  <a:rPr lang="en-US" altLang="zh-CN" sz="3000" dirty="0">
                    <a:latin typeface="+mn-ea"/>
                  </a:rPr>
                  <a:t>5</a:t>
                </a:r>
                <a:r>
                  <a:rPr lang="zh-CN" altLang="en-US" sz="3000" dirty="0">
                    <a:latin typeface="+mn-ea"/>
                  </a:rPr>
                  <a:t>可得唯一的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3000" i="1" kern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</a:t>
                </a:r>
                <a:r>
                  <a:rPr lang="en-US" altLang="zh-CN" sz="3000" dirty="0">
                    <a:latin typeface="+mn-ea"/>
                  </a:rPr>
                  <a:t>(2)</a:t>
                </a:r>
                <a:r>
                  <a:rPr lang="zh-CN" altLang="en-US" sz="3000" dirty="0">
                    <a:latin typeface="+mn-ea"/>
                  </a:rPr>
                  <a:t>的解。不同组，得到的解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也不同，故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。反之，令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3000" dirty="0">
                        <a:latin typeface="+mn-ea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是</a:t>
                </a:r>
                <a:r>
                  <a:rPr lang="en-US" altLang="zh-CN" sz="3000" dirty="0">
                    <a:latin typeface="+mn-ea"/>
                  </a:rPr>
                  <a:t>(2)</a:t>
                </a:r>
                <a:r>
                  <a:rPr lang="zh-CN" altLang="en-US" sz="300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个解，则对某个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(0≤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3000" ker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3000" dirty="0">
                    <a:latin typeface="+mn-ea"/>
                  </a:rPr>
                  <a:t>,</a:t>
                </a:r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b="0" i="0" kern="0" smtClea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:r>
                  <a:rPr lang="en-US" altLang="zh-CN" sz="3000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i="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3000" i="0" kern="0">
                        <a:latin typeface="Cambria Math" panose="02040503050406030204" pitchFamily="18" charset="0"/>
                      </a:rPr>
                      <m:t>mod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3000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30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应是某个一组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，</m:t>
                            </m:r>
                            <m:sSub>
                              <m:sSubPr>
                                <m:ctrlP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altLang="zh-CN" sz="3000" i="1" ker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zh-CN" sz="3000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CN" sz="3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3000" dirty="0">
                    <a:latin typeface="+mn-ea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。这就证明了</a:t>
                </a:r>
                <a14:m>
                  <m:oMath xmlns:m="http://schemas.openxmlformats.org/officeDocument/2006/math"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3000" i="1" ker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3000" i="1" ker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sz="30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000" i="1" ker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5ECDA936-434B-2887-04A0-DB20EE672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" y="533400"/>
                <a:ext cx="9105900" cy="6248400"/>
              </a:xfrm>
              <a:prstGeom prst="rect">
                <a:avLst/>
              </a:prstGeom>
              <a:blipFill>
                <a:blip r:embed="rId2"/>
                <a:stretch>
                  <a:fillRect l="-1608" t="-1268" r="-5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418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79BD062-0389-B662-AACE-C15A692A2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5943600" cy="762000"/>
          </a:xfrm>
        </p:spPr>
        <p:txBody>
          <a:bodyPr/>
          <a:lstStyle/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3600" dirty="0"/>
              <a:t>3 </a:t>
            </a:r>
            <a:r>
              <a:rPr lang="zh-CN" altLang="en-US" sz="3600" dirty="0"/>
              <a:t>中国剩余定理</a:t>
            </a:r>
            <a:r>
              <a:rPr lang="en-US" altLang="zh-CN" sz="3600" dirty="0"/>
              <a:t>(</a:t>
            </a:r>
            <a:r>
              <a:rPr lang="en-US" altLang="zh-CN" sz="3600" dirty="0">
                <a:latin typeface="Times New Roman" panose="02020603050405020304" pitchFamily="18" charset="0"/>
                <a:ea typeface="宋体-方正超大字符集" pitchFamily="65" charset="-122"/>
              </a:rPr>
              <a:t>CRT</a:t>
            </a:r>
            <a:r>
              <a:rPr lang="en-US" altLang="zh-CN" sz="3600" dirty="0"/>
              <a:t>) (</a:t>
            </a:r>
            <a:r>
              <a:rPr lang="zh-CN" altLang="en-US" sz="3600" dirty="0"/>
              <a:t>续</a:t>
            </a:r>
            <a:r>
              <a:rPr lang="en-US" altLang="zh-CN" sz="36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D064CCA-B4BC-86C0-A91B-619A6A84DBF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8600" y="914400"/>
                <a:ext cx="8763000" cy="5410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:r>
                  <a:rPr lang="zh-CN" altLang="en-US" sz="2800" b="1" dirty="0">
                    <a:latin typeface="+mn-ea"/>
                  </a:rPr>
                  <a:t>例子</a:t>
                </a:r>
                <a:r>
                  <a:rPr lang="en-US" altLang="zh-CN" sz="2800" b="1" dirty="0">
                    <a:latin typeface="+mn-ea"/>
                  </a:rPr>
                  <a:t>2 </a:t>
                </a:r>
                <a:r>
                  <a:rPr lang="zh-CN" altLang="en-US" sz="2800" dirty="0">
                    <a:latin typeface="+mn-ea"/>
                  </a:rPr>
                  <a:t>解同余式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27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0(</m:t>
                    </m:r>
                    <m:r>
                      <m:rPr>
                        <m:sty m:val="p"/>
                      </m:rPr>
                      <a:rPr lang="en-US" altLang="zh-CN" sz="2800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30)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。由定理</a:t>
                </a:r>
                <a:r>
                  <a:rPr lang="en-US" altLang="zh-CN" sz="2800" dirty="0">
                    <a:latin typeface="+mn-ea"/>
                  </a:rPr>
                  <a:t>7</a:t>
                </a:r>
                <a:r>
                  <a:rPr lang="zh-CN" altLang="en-US" sz="2800" dirty="0">
                    <a:latin typeface="+mn-ea"/>
                  </a:rPr>
                  <a:t>解同余式可先分别解以下两个同余式：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27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+17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+20≡0(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和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27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+17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+20≡0(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</a:t>
                </a: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第一个同余式有解：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5)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第二个同余式有解：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 6)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r>
                  <a:rPr lang="zh-CN" altLang="en-US" sz="2800" dirty="0">
                    <a:latin typeface="+mn-ea"/>
                  </a:rPr>
                  <a:t>由定理</a:t>
                </a:r>
                <a:r>
                  <a:rPr lang="en-US" altLang="zh-CN" sz="2800" dirty="0">
                    <a:latin typeface="+mn-ea"/>
                  </a:rPr>
                  <a:t>5</a:t>
                </a:r>
                <a:r>
                  <a:rPr lang="zh-CN" altLang="en-US" sz="2800" dirty="0">
                    <a:latin typeface="+mn-ea"/>
                  </a:rPr>
                  <a:t>，当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kern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a:rPr lang="en-US" altLang="zh-CN" sz="2800" b="0" i="1" kern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(0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，</a:t>
                </a:r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ker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时，得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2800" kern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27</m:t>
                    </m:r>
                    <m:sSup>
                      <m:sSup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+17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+20≡0(</m:t>
                    </m:r>
                    <m:r>
                      <m:rPr>
                        <m:sty m:val="p"/>
                      </m:rPr>
                      <a:rPr lang="en-US" altLang="zh-CN" sz="2800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30)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个解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≡6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+25</m:t>
                    </m:r>
                    <m:sSub>
                      <m:sSubPr>
                        <m:ctrlPr>
                          <a:rPr lang="en-US" altLang="zh-CN" sz="28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800" i="1" ker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zh-CN" altLang="en-US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zh-CN" altLang="en-US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800" b="0" i="0" kern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ker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sz="2800" i="1" kern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800" b="0" i="1" kern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。</a:t>
                </a:r>
                <a:endParaRPr lang="en-US" altLang="zh-CN" sz="28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CN" sz="29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FD064CCA-B4BC-86C0-A91B-619A6A84D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914400"/>
                <a:ext cx="8763000" cy="5410200"/>
              </a:xfrm>
              <a:prstGeom prst="rect">
                <a:avLst/>
              </a:prstGeom>
              <a:blipFill>
                <a:blip r:embed="rId2"/>
                <a:stretch>
                  <a:fillRect l="-1461" t="-1464" r="-1322" b="-23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530D3312-ECDC-8BE5-D614-88154CEF958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4903</TotalTime>
  <Words>2232</Words>
  <Application>Microsoft Office PowerPoint</Application>
  <PresentationFormat>全屏显示(4:3)</PresentationFormat>
  <Paragraphs>102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第四讲 初等数论 4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中国剩余定理(CRT)</vt:lpstr>
      <vt:lpstr>3 中国剩余定理(CRT) (续)</vt:lpstr>
      <vt:lpstr>PowerPoint 演示文稿</vt:lpstr>
      <vt:lpstr>3 中国剩余定理(CRT) (续)</vt:lpstr>
      <vt:lpstr>3 中国剩余定理(CRT) (续)</vt:lpstr>
      <vt:lpstr>3 中国剩余定理(CRT) (续)</vt:lpstr>
      <vt:lpstr>3 中国剩余定理(CRT) (续)</vt:lpstr>
      <vt:lpstr>3 中国剩余定理(CRT) (续)</vt:lpstr>
      <vt:lpstr>3 中国剩余定理(CRT) (续)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182</cp:revision>
  <cp:lastPrinted>2026-03-17T15:07:55Z</cp:lastPrinted>
  <dcterms:created xsi:type="dcterms:W3CDTF">1601-01-01T00:00:00Z</dcterms:created>
  <dcterms:modified xsi:type="dcterms:W3CDTF">2026-03-18T05:30:41Z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