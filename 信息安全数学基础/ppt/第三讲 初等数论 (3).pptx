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93" r:id="rId4"/>
    <p:sldId id="294" r:id="rId5"/>
    <p:sldId id="290" r:id="rId6"/>
    <p:sldId id="268" r:id="rId7"/>
    <p:sldId id="292" r:id="rId8"/>
    <p:sldId id="279" r:id="rId9"/>
    <p:sldId id="258" r:id="rId10"/>
    <p:sldId id="270" r:id="rId11"/>
    <p:sldId id="280" r:id="rId12"/>
    <p:sldId id="295" r:id="rId13"/>
    <p:sldId id="271" r:id="rId14"/>
    <p:sldId id="281" r:id="rId15"/>
    <p:sldId id="282" r:id="rId16"/>
    <p:sldId id="272" r:id="rId17"/>
    <p:sldId id="273" r:id="rId18"/>
    <p:sldId id="277" r:id="rId19"/>
    <p:sldId id="283" r:id="rId20"/>
    <p:sldId id="274" r:id="rId21"/>
    <p:sldId id="263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3945" autoAdjust="0"/>
  </p:normalViewPr>
  <p:slideViewPr>
    <p:cSldViewPr>
      <p:cViewPr varScale="1">
        <p:scale>
          <a:sx n="64" d="100"/>
          <a:sy n="64" d="100"/>
        </p:scale>
        <p:origin x="11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EA1B5-E829-48FC-8E44-E8725674D58A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8FB756-8A86-46CA-9C9D-84415CA4FF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448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050179-8C6B-8DFA-0612-B097D67D36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4EBD26-4635-33CA-05B8-3D3E0D19D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80EABA-308D-1691-2EB5-1C482D51A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F4AB7-4115-4B46-A074-42D51AF09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131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8DC360-3092-26C1-616E-48D82D93A9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E7DDEA-1CDF-F8EE-CF32-C0AED85928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08F138-18D8-37B4-6004-3183572613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4CAC9-8F40-4888-BB92-48428D0882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14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AC4CC8-B55E-61C4-2F57-C4543892E8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0D2701-815B-62FE-313D-C9278C0249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B47810-3C57-5422-70B8-1CD2F48578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D2EC9-9728-47EA-ADF1-B781F7DB3F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7012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F8035-206E-0C5C-4875-89865E8B40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04DEB9-6DC8-2337-38DB-E8BB7A9F09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0E8F55-FBEB-60E6-4F97-B4FFE7D009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4DBE8-B506-46E0-93F1-F8FF7F298F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5F6374-56C9-D539-FC52-8D5808CA84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A36F0F-98F1-239D-956D-D12CBC5C26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045A0D7-59F8-5423-8687-C60F047DCF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29410-289E-46EC-8E64-D22ABE5FEB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020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B329F14-7577-24AB-E614-F7CB837DC5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5617620-F758-DAB1-FEFB-DBC1AFFAC4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0017CF-3A86-1344-B51B-BBDEC135C3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6E525-7E29-4666-BB15-D5881757C4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060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2D9FA58-F462-B84E-D6FC-36D337E26E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DF16DAF-2D99-CC76-DD31-087334F971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E9ED7C9-C817-FA96-C14C-DE0F545FC4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98D96-8B47-40E7-AFBD-FAEE4E9EA6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53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4B9C71-32B2-5B9C-89D6-D7C74DE3AB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26B6-20DD-F349-81F6-46E7E5E738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210DB1-5331-D154-C1B6-8C2F9EC557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95E86-5363-4D05-A567-560D81E9B8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40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D8B7B9-5155-9720-4220-67F23FE28D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ECE135-EA3C-E56E-C9D8-D21A50EA5A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2BA9B-31F3-E9A9-FD28-E25ADFCE7D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4148F5-A6A9-42D0-A55E-3D92297EF0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763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655BB0-508A-0F30-0438-D16DEB4863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901D04-A8B8-1175-5FF1-F21EBC6BCE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8E9C48-03E4-8E1A-B6AE-47DCE85768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92EDB-460A-4652-B291-956CE76AA6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207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B22DCC-31C1-E332-CBD6-581A7BED4E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B59AF4-D5AF-80F9-6189-B40573EBEB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D07A47-B6FB-E14A-8B61-D891913EEA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0DB9E-6E5F-4809-A010-3E86ACCA5F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1505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9B1746-CBFD-3F34-B6C0-E8F047E8DC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E138E2-3132-C293-A0BA-637798D71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C4AF3-25D8-16EC-D7E1-9BDDC1E37E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B90811-AEB0-427D-80D8-31B2602A46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656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A7B4FC-BED9-3CAB-D79F-72B8EF5D3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1F66786-952A-1F7D-D652-EBF0B2727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89F3CC-ADC5-06F5-C9A6-7A62C9BAC1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BDCE1A-35BD-D52B-84A7-479DF8B8CF4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EECBCA-E594-EC42-F315-D802395424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426D081-7DEB-4788-ACA7-EE64A5C8F8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4596C45-C106-2B72-6005-3A9B7C7221A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288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第三讲 初等数论</a:t>
            </a:r>
            <a:br>
              <a:rPr lang="zh-CN" altLang="en-US">
                <a:latin typeface="宋体" panose="02010600030101010101" pitchFamily="2" charset="-122"/>
              </a:rPr>
            </a:br>
            <a:r>
              <a:rPr lang="en-US" altLang="zh-CN" b="1"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9717C0F-658E-1993-4B8E-0447B33DA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547D16-AADF-5E3D-C226-8B451687A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6172200" cy="1905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3600"/>
              <a:t> </a:t>
            </a:r>
            <a:r>
              <a:rPr lang="zh-CN" altLang="en-US" sz="3600"/>
              <a:t>同余</a:t>
            </a:r>
            <a:r>
              <a:rPr lang="en-US" altLang="zh-CN" sz="3600"/>
              <a:t>(</a:t>
            </a:r>
            <a:r>
              <a:rPr lang="zh-CN" altLang="en-US" sz="3600"/>
              <a:t>续</a:t>
            </a:r>
            <a:r>
              <a:rPr lang="en-US" altLang="zh-CN" sz="360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9041-BDB8-A791-F88E-AAF42DC72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B4B0033-A9AA-67D5-DF1D-3950DEDAA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0013"/>
            <a:ext cx="48768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剩余类和完全剩余系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6F91BC4-BA1E-C155-2326-F0137B94E23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77800" y="753254"/>
                <a:ext cx="8204200" cy="59777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定义</a:t>
                </a:r>
                <a:r>
                  <a:rPr lang="en-US" altLang="zh-CN" b="1" kern="0" dirty="0">
                    <a:latin typeface="+mn-ea"/>
                  </a:rPr>
                  <a:t>1 </a:t>
                </a:r>
                <a:r>
                  <a:rPr lang="zh-CN" altLang="en-US" kern="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是一个给定整数，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表示所有形如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𝑞𝑚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的整数组成的集合，其中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:r>
                  <a:rPr lang="zh-CN" altLang="en-US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</a:t>
                </a:r>
                <a:r>
                  <a:rPr lang="zh-CN" altLang="zh-CN" dirty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dirty="0"/>
                  <a:t>叫做模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的剩余类</a:t>
                </a:r>
                <a:r>
                  <a:rPr lang="zh-CN" altLang="en-US" kern="0" dirty="0">
                    <a:latin typeface="+mn-ea"/>
                  </a:rPr>
                  <a:t>。</a:t>
                </a:r>
                <a:endParaRPr lang="en-US" altLang="zh-CN" dirty="0"/>
              </a:p>
              <a:p>
                <a:pPr marL="0" indent="0">
                  <a:buFontTx/>
                  <a:buNone/>
                </a:pPr>
                <a:endParaRPr lang="en-US" altLang="zh-CN" sz="3000" kern="0" dirty="0"/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剩余类，则有</a:t>
                </a:r>
              </a:p>
              <a:p>
                <a:pPr marL="0" lv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:r>
                  <a:rPr lang="zh-CN" altLang="zh-CN" dirty="0">
                    <a:latin typeface="+mn-ea"/>
                  </a:rPr>
                  <a:t>每个整数都包含在某一个</a:t>
                </a:r>
                <a:r>
                  <a:rPr lang="zh-CN" altLang="en-US" dirty="0">
                    <a:latin typeface="+mn-ea"/>
                  </a:rPr>
                  <a:t>且仅一个</a:t>
                </a:r>
                <a:r>
                  <a:rPr lang="zh-CN" altLang="zh-CN" dirty="0">
                    <a:latin typeface="+mn-ea"/>
                  </a:rPr>
                  <a:t>剩余类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中，这里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>
                    <a:latin typeface="+mn-ea"/>
                  </a:rPr>
                  <a:t>；</a:t>
                </a:r>
                <a:r>
                  <a:rPr lang="en-US" altLang="zh-CN" dirty="0">
                    <a:latin typeface="+mn-ea"/>
                  </a:rPr>
                  <a:t> </a:t>
                </a:r>
                <a:endParaRPr lang="zh-CN" altLang="zh-CN" dirty="0">
                  <a:latin typeface="+mn-ea"/>
                </a:endParaRPr>
              </a:p>
              <a:p>
                <a:pPr marL="0" lv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:r>
                  <a:rPr lang="zh-CN" altLang="zh-CN" dirty="0">
                    <a:latin typeface="+mn-ea"/>
                  </a:rPr>
                  <a:t>两个整数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dirty="0">
                    <a:latin typeface="+mn-ea"/>
                  </a:rPr>
                  <a:t>属于同一类的充分必要条件是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6F91BC4-BA1E-C155-2326-F0137B94E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800" y="753254"/>
                <a:ext cx="8204200" cy="5977746"/>
              </a:xfrm>
              <a:prstGeom prst="rect">
                <a:avLst/>
              </a:prstGeom>
              <a:blipFill>
                <a:blip r:embed="rId2"/>
                <a:stretch>
                  <a:fillRect l="-1857" t="-1633" r="-1189" b="-9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51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61A4-259F-6074-5327-FAB83BC3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F4EC6A3-D119-2F71-710E-8B5B902B3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0012"/>
            <a:ext cx="5715000" cy="653241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dirty="0"/>
              <a:t>1 </a:t>
            </a:r>
            <a:r>
              <a:rPr lang="zh-CN" altLang="en-US" dirty="0"/>
              <a:t>剩余类和完全剩余系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8BD0D2D-986C-AB5F-5920-F605A410B1B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4000" y="753254"/>
                <a:ext cx="8280400" cy="4885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kern="0" dirty="0">
                    <a:latin typeface="+mn-ea"/>
                  </a:rPr>
                  <a:t>定理</a:t>
                </a:r>
                <a:r>
                  <a:rPr lang="en-US" altLang="zh-CN" b="1" kern="0" dirty="0">
                    <a:latin typeface="+mn-ea"/>
                  </a:rPr>
                  <a:t>1</a:t>
                </a:r>
                <a:r>
                  <a:rPr lang="zh-CN" altLang="en-US" b="1" kern="0" dirty="0">
                    <a:latin typeface="+mn-ea"/>
                  </a:rPr>
                  <a:t>证明</a:t>
                </a:r>
                <a:r>
                  <a:rPr lang="en-US" altLang="zh-CN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en-US" altLang="zh-C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</a:t>
                </a: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是任一整数，则有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𝑞𝑚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是唯一的。故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buFontTx/>
                  <a:buNone/>
                </a:pPr>
                <a:endParaRPr lang="zh-CN" altLang="en-US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/>
                  <a:t>因为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为同一剩余类，所以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。因此，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。因此，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。 </a:t>
                </a:r>
                <a:endParaRPr lang="en-US" altLang="zh-CN" kern="0" dirty="0">
                  <a:latin typeface="+mn-ea"/>
                  <a:cs typeface="Times New Roman" panose="02020603050405020304" pitchFamily="18" charset="0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 由第二讲同余定义</a:t>
                </a:r>
                <a:r>
                  <a:rPr lang="en-US" altLang="zh-CN" kern="0" dirty="0">
                    <a:latin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同在某一个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kern="0" dirty="0">
                    <a:latin typeface="+mn-ea"/>
                    <a:cs typeface="Times New Roman" panose="02020603050405020304" pitchFamily="18" charset="0"/>
                  </a:rPr>
                  <a:t>中。</a:t>
                </a:r>
                <a:endParaRPr lang="zh-CN" altLang="zh-CN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8BD0D2D-986C-AB5F-5920-F605A410B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000" y="753254"/>
                <a:ext cx="8280400" cy="4885546"/>
              </a:xfrm>
              <a:prstGeom prst="rect">
                <a:avLst/>
              </a:prstGeom>
              <a:blipFill>
                <a:blip r:embed="rId2"/>
                <a:stretch>
                  <a:fillRect l="-1915" t="-1623" b="-38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41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899A4AC-08ED-DE1C-59A6-E87252A8E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0013"/>
            <a:ext cx="4876800" cy="5334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dirty="0"/>
              <a:t>1 </a:t>
            </a:r>
            <a:r>
              <a:rPr lang="zh-CN" altLang="en-US" dirty="0"/>
              <a:t>剩余类和完全剩余系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2BFB66F-D94E-4403-02AB-5534CEAFC58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0867" y="762000"/>
                <a:ext cx="8830733" cy="5749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定义</a:t>
                </a:r>
                <a:r>
                  <a:rPr lang="en-US" altLang="zh-CN" sz="3000" b="1" kern="0" dirty="0">
                    <a:latin typeface="+mn-ea"/>
                  </a:rPr>
                  <a:t>2 </a:t>
                </a:r>
                <a:r>
                  <a:rPr lang="zh-CN" altLang="en-US" sz="3000" kern="0" dirty="0">
                    <a:latin typeface="+mn-ea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sz="3000" b="0" i="1" kern="0" dirty="0" smtClean="0">
                        <a:latin typeface="Cambria Math" panose="02040503050406030204" pitchFamily="18" charset="0"/>
                      </a:rPr>
                      <m:t>模</m:t>
                    </m:r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的</a:t>
                </a:r>
                <a:r>
                  <a:rPr lang="zh-CN" altLang="zh-CN" sz="3000" dirty="0"/>
                  <a:t>剩余类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sz="3000" dirty="0"/>
                  <a:t>中各取一个数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:r>
                  <a:rPr lang="en-US" altLang="zh-CN" sz="3000" i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:r>
                  <a:rPr lang="zh-CN" altLang="zh-CN" sz="3000" dirty="0"/>
                  <a:t>此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/>
                  <a:t>个数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 </m:t>
                    </m:r>
                  </m:oMath>
                </a14:m>
                <a:r>
                  <a:rPr lang="zh-CN" altLang="zh-CN" sz="30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zh-CN" sz="3000" dirty="0"/>
                  <a:t>称为模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/>
                  <a:t>的一组完</a:t>
                </a:r>
                <a:r>
                  <a:rPr lang="zh-CN" altLang="en-US" sz="3000" dirty="0"/>
                  <a:t>全剩余系</a:t>
                </a:r>
                <a:r>
                  <a:rPr lang="zh-CN" altLang="en-US" sz="3000" kern="0" dirty="0">
                    <a:latin typeface="+mn-ea"/>
                  </a:rPr>
                  <a:t>。</a:t>
                </a:r>
                <a:endParaRPr lang="en-US" altLang="zh-CN" sz="3000" kern="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sz="3000" dirty="0"/>
                  <a:t>由定义立即得到：</a:t>
                </a:r>
                <a:endParaRPr lang="en-US" altLang="zh-CN" sz="3000" dirty="0"/>
              </a:p>
              <a:p>
                <a:pPr marL="0" indent="0">
                  <a:buFontTx/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 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个整数成为模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的完系</a:t>
                </a:r>
                <a:r>
                  <a:rPr lang="zh-CN" altLang="en-US" sz="3000" dirty="0">
                    <a:latin typeface="+mn-ea"/>
                  </a:rPr>
                  <a:t>（</a:t>
                </a:r>
                <a:r>
                  <a:rPr lang="zh-CN" altLang="zh-CN" sz="3000" dirty="0"/>
                  <a:t>完</a:t>
                </a:r>
                <a:r>
                  <a:rPr lang="zh-CN" altLang="en-US" sz="3000" dirty="0"/>
                  <a:t>全剩余系</a:t>
                </a:r>
                <a:r>
                  <a:rPr lang="zh-CN" altLang="en-US" sz="3000" dirty="0">
                    <a:latin typeface="+mn-ea"/>
                  </a:rPr>
                  <a:t>）</a:t>
                </a:r>
                <a:r>
                  <a:rPr lang="zh-CN" altLang="zh-CN" sz="3000" dirty="0">
                    <a:latin typeface="+mn-ea"/>
                  </a:rPr>
                  <a:t>的充要条件为两两对模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>
                    <a:latin typeface="+mn-ea"/>
                  </a:rPr>
                  <a:t>不同余。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</a:t>
                </a:r>
                <a:r>
                  <a:rPr lang="zh-CN" altLang="en-US" sz="3000" b="1" kern="0" dirty="0">
                    <a:latin typeface="+mn-ea"/>
                  </a:rPr>
                  <a:t>证明</a:t>
                </a:r>
                <a:r>
                  <a:rPr lang="en-US" altLang="zh-CN" sz="3000" b="1" kern="0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sz="3000" dirty="0"/>
                  <a:t>根据定义显然成立。</a:t>
                </a:r>
                <a:endParaRPr lang="en-US" altLang="zh-CN" sz="3000" dirty="0"/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marL="0" indent="0">
                  <a:buNone/>
                </a:pPr>
                <a:r>
                  <a:rPr lang="en-US" altLang="zh-CN" sz="3000" dirty="0"/>
                  <a:t>#</a:t>
                </a:r>
                <a:r>
                  <a:rPr lang="zh-CN" altLang="zh-CN" sz="3000" dirty="0"/>
                  <a:t>常用的完全剩余系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zh-CN" altLang="zh-CN" sz="3000" dirty="0"/>
                  <a:t>，称为模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3000" dirty="0"/>
                  <a:t>的非负最小完全剩余。</a:t>
                </a:r>
              </a:p>
              <a:p>
                <a:pPr marL="0" indent="0">
                  <a:buFontTx/>
                  <a:buNone/>
                </a:pPr>
                <a:endParaRPr lang="zh-CN" altLang="en-US" sz="3000" kern="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2BFB66F-D94E-4403-02AB-5534CEAFC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867" y="762000"/>
                <a:ext cx="8830733" cy="5749145"/>
              </a:xfrm>
              <a:prstGeom prst="rect">
                <a:avLst/>
              </a:prstGeom>
              <a:blipFill>
                <a:blip r:embed="rId2"/>
                <a:stretch>
                  <a:fillRect l="-1587" t="-1591" r="-1587" b="-22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5C69134-2750-540D-BB5C-BA2796999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867" y="304521"/>
            <a:ext cx="8229600" cy="76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剩余类和完全剩余系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6662428-326E-21EC-EE8E-5FB1875B591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1045494"/>
                <a:ext cx="8678333" cy="4767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3 </a:t>
                </a: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 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是</a:t>
                </a:r>
                <a:r>
                  <a:rPr lang="zh-CN" altLang="zh-CN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</a:t>
                </a:r>
                <a:r>
                  <a:rPr lang="zh-CN" altLang="en-US" dirty="0">
                    <a:latin typeface="+mn-ea"/>
                  </a:rPr>
                  <a:t>一组</a:t>
                </a:r>
                <a:r>
                  <a:rPr lang="zh-CN" altLang="zh-CN" dirty="0">
                    <a:latin typeface="+mn-ea"/>
                  </a:rPr>
                  <a:t>完系</a:t>
                </a:r>
                <a:r>
                  <a:rPr lang="zh-CN" altLang="en-US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𝑘𝑎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𝑘𝑎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 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也是</a:t>
                </a:r>
                <a:r>
                  <a:rPr lang="zh-CN" altLang="zh-CN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</a:t>
                </a:r>
                <a:r>
                  <a:rPr lang="zh-CN" altLang="en-US" dirty="0">
                    <a:latin typeface="+mn-ea"/>
                  </a:rPr>
                  <a:t>一组</a:t>
                </a:r>
                <a:r>
                  <a:rPr lang="zh-CN" altLang="zh-CN" dirty="0">
                    <a:latin typeface="+mn-ea"/>
                  </a:rPr>
                  <a:t>完系。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3</a:t>
                </a:r>
                <a:r>
                  <a:rPr lang="zh-CN" altLang="en-US" b="1" kern="0" dirty="0">
                    <a:latin typeface="+mn-ea"/>
                  </a:rPr>
                  <a:t>证明</a:t>
                </a:r>
                <a:r>
                  <a:rPr lang="en-US" altLang="zh-CN" b="1" kern="0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（反证法）</a:t>
                </a:r>
                <a:r>
                  <a:rPr lang="zh-CN" altLang="zh-CN" dirty="0">
                    <a:latin typeface="+mn-ea"/>
                  </a:rPr>
                  <a:t>如果不是完系，则由定理</a:t>
                </a:r>
                <a:r>
                  <a:rPr lang="en-US" altLang="zh-CN" dirty="0">
                    <a:latin typeface="+mn-ea"/>
                  </a:rPr>
                  <a:t>2</a:t>
                </a:r>
                <a:r>
                  <a:rPr lang="zh-CN" altLang="zh-CN" dirty="0">
                    <a:latin typeface="+mn-ea"/>
                  </a:rPr>
                  <a:t>存在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𝑘𝑎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𝑘𝑎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0" kern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kern="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0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r>
                  <a:rPr lang="zh-CN" altLang="en-US" dirty="0">
                    <a:latin typeface="+mn-ea"/>
                  </a:rPr>
                  <a:t>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zh-CN" altLang="zh-CN" dirty="0">
                    <a:latin typeface="+mn-ea"/>
                  </a:rPr>
                  <a:t>由</a:t>
                </a:r>
                <a:r>
                  <a:rPr lang="zh-CN" altLang="en-US" dirty="0">
                    <a:latin typeface="+mn-ea"/>
                  </a:rPr>
                  <a:t>第一</a:t>
                </a:r>
                <a:r>
                  <a:rPr lang="zh-CN" altLang="zh-CN" dirty="0">
                    <a:latin typeface="+mn-ea"/>
                  </a:rPr>
                  <a:t>讲定理</a:t>
                </a:r>
                <a:r>
                  <a:rPr lang="en-US" altLang="zh-CN" dirty="0">
                    <a:latin typeface="+mn-ea"/>
                  </a:rPr>
                  <a:t>5</a:t>
                </a:r>
                <a:r>
                  <a:rPr lang="zh-CN" altLang="zh-CN" dirty="0">
                    <a:latin typeface="+mn-ea"/>
                  </a:rPr>
                  <a:t>，知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。矛盾。</a:t>
                </a:r>
                <a:endParaRPr lang="zh-CN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zh-CN" altLang="en-US" sz="3000" kern="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6662428-326E-21EC-EE8E-5FB1875B5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045494"/>
                <a:ext cx="8678333" cy="4767012"/>
              </a:xfrm>
              <a:prstGeom prst="rect">
                <a:avLst/>
              </a:prstGeom>
              <a:blipFill>
                <a:blip r:embed="rId2"/>
                <a:stretch>
                  <a:fillRect l="-1756" t="-2049" r="-16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649DC15-8809-015F-6A98-9A2D6A0CF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52400"/>
            <a:ext cx="8229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剩余类和完全剩余系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14F6043-5C3F-EFCA-A8C7-D4EDE91ABE4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762000"/>
                <a:ext cx="8839200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zh-CN" sz="2700" b="1" dirty="0">
                    <a:latin typeface="+mn-ea"/>
                  </a:rPr>
                  <a:t>定理</a:t>
                </a:r>
                <a:r>
                  <a:rPr lang="en-US" altLang="zh-CN" sz="2700" b="1" dirty="0">
                    <a:latin typeface="+mn-ea"/>
                  </a:rPr>
                  <a:t>4 </a:t>
                </a:r>
                <a:r>
                  <a:rPr lang="zh-CN" altLang="en-US" sz="27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27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2700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7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700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700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7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700" dirty="0">
                    <a:latin typeface="+mn-ea"/>
                  </a:rPr>
                  <a:t>是分</a:t>
                </a:r>
                <a:r>
                  <a:rPr lang="zh-CN" altLang="zh-CN" sz="2700" dirty="0"/>
                  <a:t>别通过模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7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700" dirty="0"/>
                  <a:t>的完系，则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zh-CN" sz="2700" dirty="0"/>
                  <a:t>通过模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700" dirty="0"/>
                  <a:t>的完系</a:t>
                </a:r>
                <a:r>
                  <a:rPr lang="zh-CN" altLang="zh-CN" sz="2700" dirty="0">
                    <a:latin typeface="+mn-ea"/>
                  </a:rPr>
                  <a:t>。</a:t>
                </a:r>
                <a:endParaRPr lang="en-US" altLang="zh-CN" sz="27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sz="2700" b="1" dirty="0">
                    <a:latin typeface="+mn-ea"/>
                  </a:rPr>
                  <a:t>定理</a:t>
                </a:r>
                <a:r>
                  <a:rPr lang="en-US" altLang="zh-CN" sz="2700" b="1" dirty="0">
                    <a:latin typeface="+mn-ea"/>
                  </a:rPr>
                  <a:t>4</a:t>
                </a:r>
                <a:r>
                  <a:rPr lang="zh-CN" altLang="en-US" sz="2700" b="1" kern="0" dirty="0">
                    <a:latin typeface="+mn-ea"/>
                  </a:rPr>
                  <a:t>证明</a:t>
                </a:r>
                <a:r>
                  <a:rPr lang="en-US" altLang="zh-CN" sz="2700" b="1" kern="0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7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700" dirty="0">
                    <a:latin typeface="+mn-ea"/>
                  </a:rPr>
                  <a:t>分</a:t>
                </a:r>
                <a:r>
                  <a:rPr lang="zh-CN" altLang="zh-CN" sz="2700" dirty="0"/>
                  <a:t>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7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700" dirty="0"/>
                  <a:t>个整数，因此，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700" dirty="0"/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700" dirty="0"/>
                  <a:t>个整数。剩下只需</a:t>
                </a:r>
                <a:r>
                  <a:rPr lang="zh-CN" altLang="zh-CN" sz="2700" dirty="0"/>
                  <a:t>证明它们对模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700" dirty="0"/>
                  <a:t>两两不同余即可</a:t>
                </a:r>
                <a:r>
                  <a:rPr lang="zh-CN" altLang="en-US" sz="2700" dirty="0"/>
                  <a:t>。</a:t>
                </a:r>
                <a:r>
                  <a:rPr lang="zh-CN" altLang="zh-CN" sz="2700" dirty="0"/>
                  <a:t>假定</a:t>
                </a:r>
                <a:r>
                  <a:rPr lang="zh-CN" altLang="en-US" sz="2700" dirty="0"/>
                  <a:t>：</a:t>
                </a:r>
                <a:endParaRPr lang="en-US" altLang="zh-CN" sz="27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7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700" b="0" i="0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b="0" i="1" kern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700" dirty="0"/>
                  <a:t>，</a:t>
                </a:r>
                <a:r>
                  <a:rPr lang="en-US" altLang="zh-CN" sz="2700" dirty="0"/>
                  <a:t>        </a:t>
                </a:r>
                <a:r>
                  <a:rPr lang="en-US" altLang="zh-CN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</a:p>
              <a:p>
                <a:pPr marL="0" indent="0">
                  <a:buNone/>
                </a:pPr>
                <a:r>
                  <a:rPr lang="zh-CN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700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700" kern="0" dirty="0"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700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。由于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7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700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70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700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700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700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。又由于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700" dirty="0">
                        <a:latin typeface="+mn-ea"/>
                      </a:rPr>
                      <m:t>，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700" dirty="0"/>
                  <a:t>同取自模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2700" dirty="0"/>
                  <a:t>的完系</a:t>
                </a:r>
                <a:r>
                  <a:rPr lang="zh-CN" altLang="en-US" sz="2700" dirty="0"/>
                  <a:t>，</a:t>
                </a:r>
                <a:r>
                  <a:rPr lang="zh-CN" altLang="zh-CN" sz="2700" dirty="0"/>
                  <a:t>由此可得：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。同理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。因此，若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zh-CN" altLang="en-US" sz="27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与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7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zh-CN" sz="27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7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不同，则</a:t>
                </a:r>
                <a:r>
                  <a:rPr lang="en-US" altLang="zh-CN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700" dirty="0"/>
                  <a:t>式不能成立。</a:t>
                </a:r>
                <a:endParaRPr lang="en-US" altLang="zh-CN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FontTx/>
                  <a:buNone/>
                </a:pPr>
                <a:endParaRPr lang="zh-CN" altLang="en-US" sz="3000" kern="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14F6043-5C3F-EFCA-A8C7-D4EDE91AB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762000"/>
                <a:ext cx="8839200" cy="5943600"/>
              </a:xfrm>
              <a:prstGeom prst="rect">
                <a:avLst/>
              </a:prstGeom>
              <a:blipFill>
                <a:blip r:embed="rId2"/>
                <a:stretch>
                  <a:fillRect l="-1310" t="-11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AE1A619-7AAA-B721-08A9-E7A4C01455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76200"/>
            <a:ext cx="5943600" cy="838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</a:rPr>
              <a:t>1 </a:t>
            </a:r>
            <a:r>
              <a:rPr lang="zh-CN" altLang="en-US" sz="3600" dirty="0"/>
              <a:t>剩余类和完全剩余系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DE0AF94-D9EE-168B-366D-5665313EBFA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685800"/>
                <a:ext cx="8534400" cy="5943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5(</a:t>
                </a:r>
                <a:r>
                  <a:rPr lang="zh-CN" altLang="en-US" b="1" dirty="0">
                    <a:latin typeface="+mn-ea"/>
                  </a:rPr>
                  <a:t>威尔逊定理</a:t>
                </a:r>
                <a:r>
                  <a:rPr lang="en-US" altLang="zh-CN" b="1" dirty="0">
                    <a:latin typeface="+mn-ea"/>
                  </a:rPr>
                  <a:t>) </a:t>
                </a: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是一个素数，则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!+1≡0(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5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zh-CN" altLang="en-US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dirty="0">
                    <a:latin typeface="+mn-ea"/>
                  </a:rPr>
                  <a:t>时，同余式成立。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zh-CN" altLang="en-US" dirty="0">
                    <a:latin typeface="+mn-ea"/>
                  </a:rPr>
                  <a:t>是奇素数，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dirty="0">
                        <a:latin typeface="+mn-ea"/>
                      </a:rPr>
                      <m:t>2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>
                    <a:latin typeface="+mn-ea"/>
                  </a:rPr>
                  <a:t>。因为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，所以有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𝑝𝑛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=1⇒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𝑎𝑚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，知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+mn-ea"/>
                  </a:rPr>
                  <a:t>，否则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)⇒</m:t>
                    </m:r>
                  </m:oMath>
                </a14:m>
                <a:r>
                  <a:rPr lang="en-US" altLang="zh-CN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−1)(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+1)≡0(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+mn-ea"/>
                  </a:rPr>
                  <a:t>，故不成立</a:t>
                </a:r>
                <a:r>
                  <a:rPr lang="zh-CN" altLang="zh-CN" dirty="0"/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FontTx/>
                  <a:buNone/>
                </a:pPr>
                <a:endParaRPr lang="zh-CN" altLang="en-US" sz="3000" kern="0" dirty="0"/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DE0AF94-D9EE-168B-366D-5665313EB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685800"/>
                <a:ext cx="8534400" cy="5943600"/>
              </a:xfrm>
              <a:prstGeom prst="rect">
                <a:avLst/>
              </a:prstGeom>
              <a:blipFill>
                <a:blip r:embed="rId2"/>
                <a:stretch>
                  <a:fillRect l="-1786" t="-1641" b="-1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989486-80FA-EEDA-8BB3-07B8C60D1E8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4938" y="76200"/>
            <a:ext cx="5943600" cy="533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3600" dirty="0">
                <a:latin typeface="Times New Roman" panose="02020603050405020304" pitchFamily="18" charset="0"/>
              </a:rPr>
              <a:t>1 </a:t>
            </a:r>
            <a:r>
              <a:rPr lang="zh-CN" altLang="en-US" sz="3600" dirty="0"/>
              <a:t>剩余类和完全剩余系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D6A974F-3C79-4440-0E71-8901203B08D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609600"/>
                <a:ext cx="8856662" cy="6172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2900" b="1" dirty="0">
                    <a:latin typeface="+mn-ea"/>
                  </a:rPr>
                  <a:t>定理</a:t>
                </a:r>
                <a:r>
                  <a:rPr lang="en-US" altLang="zh-CN" sz="2900" b="1" dirty="0">
                    <a:latin typeface="+mn-ea"/>
                  </a:rPr>
                  <a:t>5</a:t>
                </a:r>
                <a:r>
                  <a:rPr lang="zh-CN" altLang="en-US" sz="2900" b="1" dirty="0">
                    <a:latin typeface="+mn-ea"/>
                  </a:rPr>
                  <a:t>证明</a:t>
                </a:r>
                <a:r>
                  <a:rPr lang="en-US" altLang="zh-CN" sz="2900" b="1" dirty="0">
                    <a:latin typeface="+mn-ea"/>
                  </a:rPr>
                  <a:t>.</a:t>
                </a:r>
                <a:r>
                  <a:rPr lang="zh-CN" altLang="en-US" sz="2900" dirty="0">
                    <a:latin typeface="+mn-ea"/>
                  </a:rPr>
                  <a:t>（续）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sz="2900" dirty="0"/>
                  <a:t>现取</a:t>
                </a:r>
                <a14:m>
                  <m:oMath xmlns:m="http://schemas.openxmlformats.org/officeDocument/2006/math"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′∈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9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′≠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′≠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zh-CN" sz="2900" dirty="0"/>
                  <a:t>则类似有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9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‘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9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’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sz="29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′≠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</a:t>
                </a:r>
                <a:r>
                  <a:rPr lang="zh-CN" altLang="zh-CN" sz="2900" dirty="0"/>
                  <a:t>这是因为若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，则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US" altLang="zh-CN" sz="29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9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zh-CN" altLang="en-US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‘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’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zh-CN" altLang="en-US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‘</m:t>
                              </m:r>
                              <m:r>
                                <a:rPr lang="en-US" altLang="zh-CN" sz="29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900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900" b="0" i="1" kern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≡1(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900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900" i="1" kern="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9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9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9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9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9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9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2900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900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9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ea typeface="Cambria Math" panose="02040503050406030204" pitchFamily="18" charset="0"/>
                  </a:rPr>
                  <a:t>，</a:t>
                </a:r>
                <a:r>
                  <a:rPr lang="en-US" altLang="zh-CN" sz="2900" dirty="0">
                    <a:ea typeface="Cambria Math" panose="02040503050406030204" pitchFamily="18" charset="0"/>
                  </a:rPr>
                  <a:t> 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sz="2900" dirty="0"/>
                  <a:t>故不可能。</a:t>
                </a:r>
                <a:endParaRPr lang="en-US" altLang="zh-CN" sz="2900" dirty="0"/>
              </a:p>
              <a:p>
                <a:pPr marL="0" indent="0">
                  <a:buFontTx/>
                  <a:buNone/>
                </a:pPr>
                <a:r>
                  <a:rPr lang="zh-CN" altLang="zh-CN" sz="2900" dirty="0"/>
                  <a:t>同理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′≠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zh-CN" sz="2900" dirty="0"/>
                  <a:t>。</a:t>
                </a:r>
                <a:endParaRPr lang="en-US" altLang="zh-CN" sz="2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900" dirty="0">
                    <a:latin typeface="+mn-ea"/>
                  </a:rPr>
                  <a:t>如此下去知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中数可成为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90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9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9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en-US" altLang="zh-CN" sz="29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900" dirty="0">
                    <a:latin typeface="+mn-ea"/>
                  </a:rPr>
                  <a:t>对，且每对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sz="29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900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∙3∙⋯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−2)≡1(</m:t>
                    </m:r>
                    <m:r>
                      <m:rPr>
                        <m:sty m:val="p"/>
                      </m:rPr>
                      <a:rPr lang="en-US" altLang="zh-CN" sz="29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，即得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9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!≡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900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。</a:t>
                </a:r>
                <a:endParaRPr lang="zh-CN" altLang="zh-CN" sz="29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endParaRPr lang="zh-CN" altLang="en-US" sz="3000" kern="0" dirty="0"/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D6A974F-3C79-4440-0E71-8901203B0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609600"/>
                <a:ext cx="8856662" cy="6172200"/>
              </a:xfrm>
              <a:prstGeom prst="rect">
                <a:avLst/>
              </a:prstGeom>
              <a:blipFill>
                <a:blip r:embed="rId2"/>
                <a:stretch>
                  <a:fillRect l="-1445" t="-1086" r="-3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4486C74-704A-12D6-BA42-BDB8F4313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0133"/>
            <a:ext cx="2514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缩系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BF86DFB-3FCC-6681-9B96-6CC29EAAAB1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1300" y="829733"/>
                <a:ext cx="8661400" cy="5808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2800" b="1" kern="0" dirty="0">
                    <a:latin typeface="+mn-ea"/>
                  </a:rPr>
                  <a:t>定义</a:t>
                </a:r>
                <a:r>
                  <a:rPr lang="en-US" altLang="zh-CN" sz="2800" b="1" kern="0" dirty="0">
                    <a:latin typeface="+mn-ea"/>
                  </a:rPr>
                  <a:t>3 </a:t>
                </a:r>
                <a:r>
                  <a:rPr lang="zh-CN" altLang="en-US" sz="2800" kern="0" dirty="0">
                    <a:latin typeface="+mn-ea"/>
                  </a:rPr>
                  <a:t>如果一个模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的剩余类里的数与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互素</a:t>
                </a:r>
                <a:r>
                  <a:rPr lang="en-US" altLang="zh-CN" sz="2800" kern="0" dirty="0">
                    <a:latin typeface="+mn-ea"/>
                  </a:rPr>
                  <a:t>(</a:t>
                </a:r>
                <a:r>
                  <a:rPr lang="zh-CN" altLang="en-US" sz="2800" kern="0" dirty="0">
                    <a:latin typeface="+mn-ea"/>
                  </a:rPr>
                  <a:t>显然一个互素全部互素</a:t>
                </a:r>
                <a:r>
                  <a:rPr lang="en-US" altLang="zh-CN" sz="2800" kern="0" dirty="0">
                    <a:latin typeface="+mn-ea"/>
                  </a:rPr>
                  <a:t>)</a:t>
                </a:r>
                <a:r>
                  <a:rPr lang="zh-CN" altLang="en-US" sz="2800" kern="0" dirty="0">
                    <a:latin typeface="+mn-ea"/>
                  </a:rPr>
                  <a:t>，就把它叫做一个与模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互素的剩余类，在其中各取一个数组成的集叫模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的一组缩系。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b="1" kern="0" dirty="0">
                    <a:latin typeface="+mn-ea"/>
                  </a:rPr>
                  <a:t>定义</a:t>
                </a:r>
                <a:r>
                  <a:rPr lang="en-US" altLang="zh-CN" sz="2800" b="1" kern="0" dirty="0">
                    <a:latin typeface="+mn-ea"/>
                  </a:rPr>
                  <a:t>4 </a:t>
                </a:r>
                <a:r>
                  <a:rPr lang="zh-CN" altLang="en-US" sz="2800" kern="0" dirty="0">
                    <a:latin typeface="+mn-ea"/>
                  </a:rPr>
                  <a:t>欧拉函数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是一个定义在整数上的函数，</a:t>
                </a:r>
                <a:r>
                  <a:rPr lang="el-GR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的值为序列</a:t>
                </a:r>
                <a14:m>
                  <m:oMath xmlns:m="http://schemas.openxmlformats.org/officeDocument/2006/math">
                    <m: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中与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互素的数的个数。显然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是素数时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。</a:t>
                </a:r>
                <a:endParaRPr lang="en-US" altLang="zh-CN" sz="2800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6 </a:t>
                </a:r>
                <a:r>
                  <a:rPr lang="zh-CN" altLang="en-US" sz="2800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的一组缩系含有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个数。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显然。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7 </a:t>
                </a:r>
                <a:r>
                  <a:rPr lang="zh-CN" altLang="en-US" sz="28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个与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互素的整数，则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为缩系的充要条件为它们两两模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不同余。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显然。</a:t>
                </a:r>
                <a:endParaRPr lang="zh-CN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BF86DFB-3FCC-6681-9B96-6CC29EAAA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" y="829733"/>
                <a:ext cx="8661400" cy="5808134"/>
              </a:xfrm>
              <a:prstGeom prst="rect">
                <a:avLst/>
              </a:prstGeom>
              <a:blipFill>
                <a:blip r:embed="rId2"/>
                <a:stretch>
                  <a:fillRect l="-1479" t="-1259" r="-493" b="-15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1DB0BDE-D8EB-56FB-2C25-6BE62E84E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2514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缩系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BF39248-35DD-0078-4EB8-EF477D0407E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0133" y="986366"/>
                <a:ext cx="8661400" cy="4885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8 </a:t>
                </a:r>
                <a:r>
                  <a:rPr lang="zh-CN" altLang="en-US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是通过模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的缩系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zh-CN" altLang="zh-CN" dirty="0"/>
                  <a:t>也是模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/>
                  <a:t>的缩系。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8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zh-CN" altLang="en-US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个整数。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kern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。若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+mn-ea"/>
                  </a:rPr>
                  <a:t>中存在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𝑎𝑥</m:t>
                        </m:r>
                      </m:e>
                      <m:sub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，由于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，由上一讲定理</a:t>
                </a:r>
                <a:r>
                  <a:rPr lang="en-US" altLang="zh-CN" dirty="0">
                    <a:latin typeface="+mn-ea"/>
                  </a:rPr>
                  <a:t>12</a:t>
                </a:r>
                <a:r>
                  <a:rPr lang="zh-CN" altLang="en-US" dirty="0">
                    <a:latin typeface="+mn-ea"/>
                  </a:rPr>
                  <a:t>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，这与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+mn-ea"/>
                  </a:rPr>
                  <a:t>是通过模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+mn-ea"/>
                  </a:rPr>
                  <a:t>的缩系矛盾。故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𝑎𝑥</m:t>
                    </m:r>
                  </m:oMath>
                </a14:m>
                <a:r>
                  <a:rPr lang="zh-CN" altLang="en-US" dirty="0">
                    <a:latin typeface="+mn-ea"/>
                  </a:rPr>
                  <a:t>也为通过模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+mn-ea"/>
                  </a:rPr>
                  <a:t>的缩系。</a:t>
                </a:r>
                <a:endParaRPr lang="zh-CN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BF39248-35DD-0078-4EB8-EF477D040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133" y="986366"/>
                <a:ext cx="8661400" cy="4885267"/>
              </a:xfrm>
              <a:prstGeom prst="rect">
                <a:avLst/>
              </a:prstGeom>
              <a:blipFill>
                <a:blip r:embed="rId2"/>
                <a:stretch>
                  <a:fillRect l="-1759" t="-1998" r="-422" b="-14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1A550DF-995E-DB44-F6BD-6D8D8065F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475" y="337279"/>
            <a:ext cx="4648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0070C0"/>
                </a:solidFill>
              </a:rPr>
              <a:t>2 </a:t>
            </a:r>
            <a:r>
              <a:rPr lang="zh-CN" altLang="en-US" dirty="0">
                <a:solidFill>
                  <a:srgbClr val="0070C0"/>
                </a:solidFill>
              </a:rPr>
              <a:t>同余定义与概念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续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4475" y="1018082"/>
                <a:ext cx="8518525" cy="55026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</a:rPr>
                  <a:t>12 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r>
                      <a:rPr lang="zh-CN" altLang="en-US" i="1" kern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若</m:t>
                    </m:r>
                    <m:d>
                      <m:dPr>
                        <m:ctrlPr>
                          <a:rPr lang="en-US" altLang="zh-CN" i="1" kern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zh-CN" alt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，则</a:t>
                </a:r>
                <a:endParaRPr lang="en-US" altLang="zh-CN" kern="0" dirty="0">
                  <a:solidFill>
                    <a:srgbClr val="0070C0"/>
                  </a:solidFill>
                  <a:latin typeface="+mn-ea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12</a:t>
                </a: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由定理</a:t>
                </a:r>
                <a:r>
                  <a:rPr lang="en-US" altLang="zh-CN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)⇒</m:t>
                    </m:r>
                    <m:d>
                      <m:dPr>
                        <m:begChr m:val=""/>
                        <m:endChr m:val="|"/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又因为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260684AD-5161-73C1-443A-F8CD201B3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475" y="1018082"/>
                <a:ext cx="8518525" cy="5502639"/>
              </a:xfrm>
              <a:prstGeom prst="rect">
                <a:avLst/>
              </a:prstGeom>
              <a:blipFill>
                <a:blip r:embed="rId2"/>
                <a:stretch>
                  <a:fillRect l="-1788" t="-1772" b="-2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1E81A50-E1E7-9DB9-1A63-F65EC8B1E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81000"/>
            <a:ext cx="312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缩系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6135101-0252-B0F4-8834-6919C83AB49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1300" y="956733"/>
                <a:ext cx="8661400" cy="5520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9(</a:t>
                </a:r>
                <a:r>
                  <a:rPr lang="zh-CN" altLang="zh-CN" b="1" dirty="0">
                    <a:latin typeface="+mn-ea"/>
                  </a:rPr>
                  <a:t>欧拉定理</a:t>
                </a:r>
                <a:r>
                  <a:rPr lang="en-US" altLang="zh-CN" b="1" dirty="0">
                    <a:latin typeface="+mn-ea"/>
                  </a:rPr>
                  <a:t>) </a:t>
                </a: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                         </m:t>
                        </m:r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9</a:t>
                </a:r>
                <a:r>
                  <a:rPr lang="zh-CN" altLang="zh-CN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zh-CN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的一组缩系，由定理</a:t>
                </a:r>
                <a:r>
                  <a:rPr lang="en-US" altLang="zh-CN" dirty="0">
                    <a:latin typeface="+mn-ea"/>
                  </a:rPr>
                  <a:t>8</a:t>
                </a:r>
                <a:r>
                  <a:rPr lang="zh-CN" altLang="zh-CN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亦是模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的缩系。因此，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𝑎𝑟</m:t>
                        </m:r>
                      </m:e>
                      <m:sub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dirty="0">
                    <a:latin typeface="+mn-ea"/>
                  </a:rPr>
                  <a:t>，</a:t>
                </a:r>
                <a:r>
                  <a:rPr lang="zh-CN" altLang="en-US" dirty="0">
                    <a:latin typeface="+mn-ea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zh-CN" dirty="0">
                    <a:latin typeface="+mn-ea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dirty="0">
                    <a:latin typeface="+mn-ea"/>
                  </a:rPr>
                  <a:t>的</a:t>
                </a:r>
                <a:r>
                  <a:rPr lang="zh-CN" altLang="en-US" dirty="0">
                    <a:latin typeface="+mn-ea"/>
                  </a:rPr>
                  <a:t>一组</a:t>
                </a:r>
                <a:r>
                  <a:rPr lang="zh-CN" altLang="zh-CN" dirty="0">
                    <a:latin typeface="+mn-ea"/>
                  </a:rPr>
                  <a:t>缩系</a:t>
                </a:r>
                <a:r>
                  <a:rPr lang="zh-CN" altLang="en-US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dirty="0">
                    <a:latin typeface="+mn-ea"/>
                  </a:rPr>
                  <a:t>，由上讲定理</a:t>
                </a:r>
                <a:r>
                  <a:rPr lang="en-US" altLang="zh-CN" dirty="0">
                    <a:latin typeface="+mn-ea"/>
                  </a:rPr>
                  <a:t>12</a:t>
                </a:r>
                <a:r>
                  <a:rPr lang="zh-CN" altLang="en-US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zh-CN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36135101-0252-B0F4-8834-6919C83AB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" y="956733"/>
                <a:ext cx="8661400" cy="5520267"/>
              </a:xfrm>
              <a:prstGeom prst="rect">
                <a:avLst/>
              </a:prstGeom>
              <a:blipFill>
                <a:blip r:embed="rId2"/>
                <a:stretch>
                  <a:fillRect l="-1831" t="-1766" r="-1831" b="-34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4B1E617-9083-26EB-02AA-278663F69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00" y="228600"/>
            <a:ext cx="312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缩系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CED03C9-5BF4-15E1-BE76-7E3A776016F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1300" y="838200"/>
                <a:ext cx="8661400" cy="42248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None/>
                </a:pPr>
                <a:r>
                  <a:rPr lang="zh-CN" altLang="en-US" dirty="0">
                    <a:latin typeface="+mn-ea"/>
                  </a:rPr>
                  <a:t>由定理</a:t>
                </a:r>
                <a:r>
                  <a:rPr lang="en-US" altLang="zh-CN" dirty="0">
                    <a:latin typeface="+mn-ea"/>
                  </a:rPr>
                  <a:t>9</a:t>
                </a:r>
                <a:r>
                  <a:rPr lang="zh-CN" altLang="en-US" dirty="0">
                    <a:latin typeface="+mn-ea"/>
                  </a:rPr>
                  <a:t>立刻可得：</a:t>
                </a:r>
                <a:endParaRPr lang="en-US" altLang="zh-CN" dirty="0">
                  <a:latin typeface="+mn-ea"/>
                </a:endParaRPr>
              </a:p>
              <a:p>
                <a:pPr marL="0" indent="0" algn="just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10(</a:t>
                </a:r>
                <a:r>
                  <a:rPr lang="zh-CN" altLang="en-US" b="1" dirty="0">
                    <a:latin typeface="+mn-ea"/>
                  </a:rPr>
                  <a:t>费马小定理</a:t>
                </a:r>
                <a:r>
                  <a:rPr lang="en-US" altLang="zh-CN" b="1" dirty="0">
                    <a:latin typeface="+mn-ea"/>
                  </a:rPr>
                  <a:t>) </a:t>
                </a:r>
                <a:r>
                  <a:rPr lang="zh-CN" altLang="en-US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是素数</a:t>
                </a:r>
                <a:r>
                  <a:rPr lang="zh-CN" altLang="zh-CN" dirty="0">
                    <a:latin typeface="+mn-ea"/>
                  </a:rPr>
                  <a:t>，</a:t>
                </a:r>
                <a:r>
                  <a:rPr lang="zh-CN" altLang="en-US" dirty="0">
                    <a:latin typeface="+mn-ea"/>
                  </a:rPr>
                  <a:t>则</a:t>
                </a:r>
                <a:endParaRPr lang="en-US" altLang="zh-CN" dirty="0">
                  <a:latin typeface="+mn-ea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                         </m:t>
                        </m:r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kern="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 algn="just">
                  <a:buNone/>
                </a:pPr>
                <a:endParaRPr lang="en-US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11 </a:t>
                </a: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是分</a:t>
                </a:r>
                <a:r>
                  <a:rPr lang="zh-CN" altLang="zh-CN" dirty="0"/>
                  <a:t>别通过模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/>
                  <a:t>的</a:t>
                </a:r>
                <a:r>
                  <a:rPr lang="zh-CN" altLang="en-US" dirty="0"/>
                  <a:t>缩</a:t>
                </a:r>
                <a:r>
                  <a:rPr lang="zh-CN" altLang="zh-CN" dirty="0"/>
                  <a:t>系，则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zh-CN" dirty="0"/>
                  <a:t>通过模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dirty="0"/>
                  <a:t>的</a:t>
                </a:r>
                <a:r>
                  <a:rPr lang="zh-CN" altLang="en-US" dirty="0"/>
                  <a:t>缩</a:t>
                </a:r>
                <a:r>
                  <a:rPr lang="zh-CN" altLang="zh-CN" dirty="0"/>
                  <a:t>系</a:t>
                </a:r>
                <a:r>
                  <a:rPr lang="zh-CN" altLang="zh-CN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5CED03C9-5BF4-15E1-BE76-7E3A7760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" y="838200"/>
                <a:ext cx="8661400" cy="4224867"/>
              </a:xfrm>
              <a:prstGeom prst="rect">
                <a:avLst/>
              </a:prstGeom>
              <a:blipFill>
                <a:blip r:embed="rId2"/>
                <a:stretch>
                  <a:fillRect l="-1831" t="-18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28EDC1B-48AE-1CA0-E993-9B97367B7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867" y="118533"/>
            <a:ext cx="312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缩系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426E54D-F96F-65DF-4D86-5DBC174B523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52400" y="643467"/>
                <a:ext cx="8830733" cy="59097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11</a:t>
                </a:r>
                <a:r>
                  <a:rPr lang="zh-CN" altLang="en-US" sz="2800" b="1" kern="0" dirty="0">
                    <a:latin typeface="+mn-ea"/>
                  </a:rPr>
                  <a:t>证明</a:t>
                </a:r>
                <a:r>
                  <a:rPr lang="en-US" altLang="zh-CN" sz="2800" b="1" kern="0" dirty="0">
                    <a:latin typeface="+mn-ea"/>
                  </a:rPr>
                  <a:t>.</a:t>
                </a:r>
              </a:p>
              <a:p>
                <a:pPr marL="0" indent="0">
                  <a:buFontTx/>
                  <a:buNone/>
                </a:pPr>
                <a:r>
                  <a:rPr lang="zh-CN" altLang="zh-CN" sz="2800" dirty="0">
                    <a:latin typeface="+mn-ea"/>
                  </a:rPr>
                  <a:t>首先，由定理</a:t>
                </a:r>
                <a:r>
                  <a:rPr lang="en-US" altLang="zh-CN" sz="2800" dirty="0">
                    <a:latin typeface="+mn-ea"/>
                  </a:rPr>
                  <a:t>4</a:t>
                </a:r>
                <a:r>
                  <a:rPr lang="zh-CN" altLang="zh-CN" sz="280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kern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800" dirty="0">
                    <a:latin typeface="+mn-ea"/>
                  </a:rPr>
                  <a:t>两两不同余。</a:t>
                </a:r>
                <a:endParaRPr lang="en-US" altLang="zh-CN" sz="2800" b="1" kern="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kern="0" dirty="0">
                    <a:latin typeface="+mn-ea"/>
                  </a:rPr>
                  <a:t>其次</a:t>
                </a:r>
                <a:r>
                  <a:rPr lang="zh-CN" altLang="zh-CN" sz="2800" dirty="0">
                    <a:latin typeface="+mn-ea"/>
                  </a:rPr>
                  <a:t>，</a:t>
                </a:r>
                <a:r>
                  <a:rPr lang="zh-CN" altLang="en-US" sz="2800" dirty="0">
                    <a:latin typeface="+mn-ea"/>
                  </a:rPr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kern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 kern="0" dirty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，否则存在素数</a:t>
                </a:r>
                <a14:m>
                  <m:oMath xmlns:m="http://schemas.openxmlformats.org/officeDocument/2006/math"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kern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。如果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 dirty="0" smtClean="0">
                        <a:latin typeface="Cambria Math" panose="02040503050406030204" pitchFamily="18" charset="0"/>
                      </a:rPr>
                      <m:t>∤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 kern="0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，这与</a:t>
                </a:r>
                <a14:m>
                  <m:oMath xmlns:m="http://schemas.openxmlformats.org/officeDocument/2006/math">
                    <m:r>
                      <a:rPr lang="en-US" altLang="zh-CN" sz="2800" b="0" i="0" kern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 kern="0" dirty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矛盾。如果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，可证同样矛盾。这样两个缩系通过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kern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形成与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互素的</a:t>
                </a:r>
                <a14:m>
                  <m:oMath xmlns:m="http://schemas.openxmlformats.org/officeDocument/2006/math">
                    <m:r>
                      <a:rPr lang="el-GR" altLang="zh-CN" sz="28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l-GR" altLang="zh-CN" sz="28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个整数。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最后，证明凡与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互素的</a:t>
                </a:r>
                <a14:m>
                  <m:oMath xmlns:m="http://schemas.openxmlformats.org/officeDocument/2006/math"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kern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0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 dirty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kern="0" dirty="0">
                    <a:latin typeface="+mn-ea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kern="0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kern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800" dirty="0">
                    <a:latin typeface="+mn-ea"/>
                  </a:rPr>
                  <a:t>由定理</a:t>
                </a:r>
                <a:r>
                  <a:rPr lang="en-US" altLang="zh-CN" sz="2800" dirty="0">
                    <a:latin typeface="+mn-ea"/>
                  </a:rPr>
                  <a:t>4</a:t>
                </a:r>
                <a:r>
                  <a:rPr lang="zh-CN" altLang="zh-CN" sz="2800" dirty="0">
                    <a:latin typeface="+mn-ea"/>
                  </a:rPr>
                  <a:t>知</a:t>
                </a:r>
                <a:r>
                  <a:rPr lang="zh-CN" altLang="en-US" sz="2800" dirty="0">
                    <a:latin typeface="+mn-ea"/>
                  </a:rPr>
                  <a:t>有上式的表示形式，只需要证当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时有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800" i="1" kern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。如果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800" dirty="0">
                    <a:latin typeface="+mn-ea"/>
                  </a:rPr>
                  <a:t>有素数</a:t>
                </a:r>
                <a14:m>
                  <m:oMath xmlns:m="http://schemas.openxmlformats.org/officeDocument/2006/math"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，由此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，这与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800" i="1" kern="0" dirty="0">
                        <a:latin typeface="Cambria Math" panose="02040503050406030204" pitchFamily="18" charset="0"/>
                      </a:rPr>
                      <m:t>矛盾</m:t>
                    </m:r>
                  </m:oMath>
                </a14:m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，故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。同理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8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800" dirty="0">
                        <a:latin typeface="+mn-ea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zh-CN" sz="2800" dirty="0">
                    <a:latin typeface="+mn-ea"/>
                  </a:rPr>
                  <a:t>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426E54D-F96F-65DF-4D86-5DBC174B5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643467"/>
                <a:ext cx="8830733" cy="5909733"/>
              </a:xfrm>
              <a:prstGeom prst="rect">
                <a:avLst/>
              </a:prstGeom>
              <a:blipFill>
                <a:blip r:embed="rId2"/>
                <a:stretch>
                  <a:fillRect l="-1380" t="-1135" r="-1035" b="-23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A2BD821-66B9-9B05-1512-F7A45F55F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950" y="152400"/>
            <a:ext cx="312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缩系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0F35E82-1437-43E6-81E5-7DB261725F3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4950" y="685800"/>
                <a:ext cx="8528050" cy="6057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900" dirty="0">
                    <a:latin typeface="+mn-ea"/>
                  </a:rPr>
                  <a:t>由定理</a:t>
                </a:r>
                <a:r>
                  <a:rPr lang="en-US" altLang="zh-CN" sz="2900" dirty="0">
                    <a:latin typeface="+mn-ea"/>
                  </a:rPr>
                  <a:t>11</a:t>
                </a:r>
                <a:r>
                  <a:rPr lang="zh-CN" altLang="en-US" sz="2900" dirty="0">
                    <a:latin typeface="+mn-ea"/>
                  </a:rPr>
                  <a:t>立得：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900" b="1" dirty="0">
                    <a:latin typeface="+mn-ea"/>
                  </a:rPr>
                  <a:t>推论</a:t>
                </a:r>
                <a:r>
                  <a:rPr lang="en-US" altLang="zh-CN" sz="2900" b="1" dirty="0">
                    <a:latin typeface="+mn-ea"/>
                  </a:rPr>
                  <a:t> </a:t>
                </a:r>
                <a:r>
                  <a:rPr lang="zh-CN" altLang="en-US" sz="29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900" b="0" i="1" kern="0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900" i="1" kern="0" dirty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 dirty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900" dirty="0">
                    <a:latin typeface="+mn-ea"/>
                  </a:rPr>
                  <a:t>。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900" b="1" dirty="0">
                    <a:latin typeface="+mn-ea"/>
                  </a:rPr>
                  <a:t>定理</a:t>
                </a:r>
                <a:r>
                  <a:rPr lang="en-US" altLang="zh-CN" sz="2900" b="1" dirty="0">
                    <a:latin typeface="+mn-ea"/>
                  </a:rPr>
                  <a:t>12 </a:t>
                </a:r>
                <a:r>
                  <a:rPr lang="zh-CN" altLang="en-US" sz="29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的标准分解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9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sSubSup>
                      <m:sSubSup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9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sSub>
                          <m:sSub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9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zh-CN" altLang="en-US" sz="2900" dirty="0">
                    <a:latin typeface="+mn-ea"/>
                  </a:rPr>
                  <a:t>，则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900" b="0" i="1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900" i="1" kern="0" dirty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en-US" altLang="zh-CN" sz="2900" b="0" i="1" kern="0" dirty="0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900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b="0" i="1" kern="0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900" b="0" i="1" kern="0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900" b="0" i="1" kern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900" b="0" i="1" kern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b="0" i="1" kern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900" b="0" i="1" kern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900" b="0" i="1" kern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900" b="0" i="1" kern="0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zh-CN" sz="2900" dirty="0">
                    <a:latin typeface="+mn-ea"/>
                  </a:rPr>
                  <a:t>。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900" b="1" dirty="0">
                    <a:latin typeface="+mn-ea"/>
                  </a:rPr>
                  <a:t>定理</a:t>
                </a:r>
                <a:r>
                  <a:rPr lang="en-US" altLang="zh-CN" sz="2900" b="1" dirty="0">
                    <a:latin typeface="+mn-ea"/>
                  </a:rPr>
                  <a:t>12</a:t>
                </a:r>
                <a:r>
                  <a:rPr lang="zh-CN" altLang="en-US" sz="2900" b="1" dirty="0">
                    <a:latin typeface="+mn-ea"/>
                  </a:rPr>
                  <a:t>证明</a:t>
                </a:r>
                <a:r>
                  <a:rPr lang="en-US" altLang="zh-CN" sz="29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900" i="1" kern="0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</m:e>
                    </m:d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b="0" i="1" kern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bSup>
                      </m:e>
                    </m:d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b="0" i="1" kern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b="0" i="1" kern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</m:e>
                    </m:d>
                  </m:oMath>
                </a14:m>
                <a:r>
                  <a:rPr lang="zh-CN" altLang="en-US" sz="2900" dirty="0">
                    <a:latin typeface="+mn-ea"/>
                  </a:rPr>
                  <a:t>。而由</a:t>
                </a:r>
                <a14:m>
                  <m:oMath xmlns:m="http://schemas.openxmlformats.org/officeDocument/2006/math"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900" i="1" kern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900" b="0" i="1" kern="0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sz="2900" i="1" ker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d>
                    <m:r>
                      <a:rPr lang="en-US" altLang="zh-CN" sz="29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900" i="1" ker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CN" sz="2900" b="0" i="1" kern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900" i="1" ker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900" dirty="0">
                    <a:latin typeface="+mn-ea"/>
                  </a:rPr>
                  <a:t>知，</a:t>
                </a:r>
                <a:r>
                  <a:rPr lang="el-GR" altLang="zh-CN" sz="29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l-GR" altLang="zh-CN" sz="29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900" i="1" kern="0" dirty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900" b="0" i="1" kern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b="0" i="1" kern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bSup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900" i="1" ker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900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2900" b="0" i="1" kern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US" altLang="zh-CN" sz="290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900" i="1" kern="0" dirty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900" i="1" kern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900" i="1" kern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900" i="1" kern="0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zh-CN" altLang="en-US" sz="2900" i="1" kern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900" dirty="0">
                  <a:latin typeface="+mn-ea"/>
                </a:endParaRPr>
              </a:p>
              <a:p>
                <a:pPr marL="0" indent="0" algn="just">
                  <a:buNone/>
                </a:pPr>
                <a:endParaRPr lang="zh-CN" altLang="zh-CN" dirty="0"/>
              </a:p>
              <a:p>
                <a:pPr marL="0" indent="0" algn="just">
                  <a:buNone/>
                </a:pPr>
                <a:endParaRPr lang="en-US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0F35E82-1437-43E6-81E5-7DB261725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950" y="685800"/>
                <a:ext cx="8528050" cy="6057254"/>
              </a:xfrm>
              <a:prstGeom prst="rect">
                <a:avLst/>
              </a:prstGeom>
              <a:blipFill>
                <a:blip r:embed="rId2"/>
                <a:stretch>
                  <a:fillRect l="-1573" t="-1108" b="-80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4149836-9AA4-41CA-626F-CD663A1AC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7318" y="0"/>
            <a:ext cx="3581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一次同余式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86DF37F-5B5F-C334-189B-A2A0351567A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77318" y="576704"/>
                <a:ext cx="8257082" cy="6205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sz="3000" b="1" kern="0" dirty="0">
                    <a:latin typeface="+mn-ea"/>
                  </a:rPr>
                  <a:t>定义</a:t>
                </a:r>
                <a:r>
                  <a:rPr lang="en-US" altLang="zh-CN" sz="3000" b="1" kern="0" dirty="0">
                    <a:latin typeface="+mn-ea"/>
                  </a:rPr>
                  <a:t>5 </a:t>
                </a:r>
                <a:r>
                  <a:rPr lang="zh-CN" altLang="en-US" sz="3000" kern="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latin typeface="+mn-ea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是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整数</a:t>
                </a:r>
                <a:r>
                  <a:rPr lang="zh-CN" altLang="zh-CN" sz="3000" dirty="0">
                    <a:latin typeface="+mn-ea"/>
                  </a:rPr>
                  <a:t>，</a:t>
                </a:r>
                <a:r>
                  <a:rPr lang="zh-CN" altLang="en-US" sz="3000" dirty="0">
                    <a:latin typeface="+mn-ea"/>
                  </a:rPr>
                  <a:t>又</a:t>
                </a:r>
                <a:r>
                  <a:rPr lang="zh-CN" altLang="en-US" sz="3000" kern="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，则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000" i="1" kern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3000" b="0" i="0" kern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000" b="0" i="0" kern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叫模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的同余式。若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叫次数。如果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叫同余式的解。不同的解是指互不同余的解。</a:t>
                </a:r>
                <a:endParaRPr lang="en-US" altLang="zh-CN" sz="3000" dirty="0"/>
              </a:p>
              <a:p>
                <a:pPr marL="0" indent="0">
                  <a:buNone/>
                </a:pPr>
                <a:endParaRPr lang="en-US" altLang="zh-CN" sz="3000" dirty="0"/>
              </a:p>
              <a:p>
                <a:pPr marL="0" indent="0">
                  <a:buFontTx/>
                  <a:buNone/>
                </a:pPr>
                <a:r>
                  <a:rPr lang="zh-CN" altLang="en-US" sz="3000" b="1" dirty="0">
                    <a:latin typeface="+mn-ea"/>
                  </a:rPr>
                  <a:t>例子</a:t>
                </a:r>
                <a:r>
                  <a:rPr lang="en-US" altLang="zh-CN" sz="3000" b="1" dirty="0">
                    <a:latin typeface="+mn-ea"/>
                  </a:rPr>
                  <a:t>1 </a:t>
                </a:r>
                <a:r>
                  <a:rPr lang="zh-CN" altLang="en-US" sz="3000" dirty="0">
                    <a:latin typeface="+mn-ea"/>
                  </a:rPr>
                  <a:t>用验算的方法知同余式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000" b="0" i="1" kern="0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+3≡0</m:t>
                      </m:r>
                      <m:d>
                        <m:d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3000" ker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3000" ker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US" altLang="zh-CN" sz="3000" kern="0" dirty="0"/>
              </a:p>
              <a:p>
                <a:pPr marL="0" indent="0">
                  <a:buFontTx/>
                  <a:buNone/>
                </a:pPr>
                <a:r>
                  <a:rPr lang="zh-CN" altLang="zh-CN" sz="3000" dirty="0"/>
                  <a:t>仅有解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000" dirty="0"/>
                  <a:t>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686DF37F-5B5F-C334-189B-A2A035156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318" y="576704"/>
                <a:ext cx="8257082" cy="6205096"/>
              </a:xfrm>
              <a:prstGeom prst="rect">
                <a:avLst/>
              </a:prstGeom>
              <a:blipFill>
                <a:blip r:embed="rId2"/>
                <a:stretch>
                  <a:fillRect l="-1697" t="-1473" r="-5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26E83D5-22EB-46A4-848C-A094E47E1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3581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一次同余式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269CA9D-F6AE-FFB2-30A8-D468C7C1978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257082" cy="4724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zh-CN" altLang="en-US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2 </a:t>
                </a:r>
                <a:r>
                  <a:rPr lang="zh-CN" altLang="en-US" dirty="0">
                    <a:latin typeface="+mn-ea"/>
                  </a:rPr>
                  <a:t>用验算的方法知同余式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kern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b="0" i="1" kern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kern="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≡0(</m:t>
                      </m:r>
                      <m:r>
                        <m:rPr>
                          <m:sty m:val="p"/>
                        </m:rPr>
                        <a:rPr lang="en-US" altLang="zh-CN" ker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ker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6)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FontTx/>
                  <a:buNone/>
                </a:pPr>
                <a:r>
                  <a:rPr lang="zh-CN" altLang="zh-CN" dirty="0"/>
                  <a:t>有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zh-CN" altLang="en-US" dirty="0"/>
                  <a:t>个</a:t>
                </a:r>
                <a:r>
                  <a:rPr lang="zh-CN" altLang="zh-CN" dirty="0"/>
                  <a:t>解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6)</m:t>
                    </m:r>
                  </m:oMath>
                </a14:m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buFontTx/>
                  <a:buNone/>
                </a:pPr>
                <a:endParaRPr lang="en-US" altLang="zh-CN" dirty="0"/>
              </a:p>
              <a:p>
                <a:pPr marL="0" indent="0">
                  <a:buFontTx/>
                  <a:buNone/>
                </a:pPr>
                <a:r>
                  <a:rPr lang="zh-CN" altLang="en-US" b="1" dirty="0">
                    <a:latin typeface="+mn-ea"/>
                  </a:rPr>
                  <a:t>例子</a:t>
                </a:r>
                <a:r>
                  <a:rPr lang="en-US" altLang="zh-CN" b="1" dirty="0">
                    <a:latin typeface="+mn-ea"/>
                  </a:rPr>
                  <a:t>3 </a:t>
                </a:r>
                <a:r>
                  <a:rPr lang="zh-CN" altLang="en-US" dirty="0">
                    <a:latin typeface="+mn-ea"/>
                  </a:rPr>
                  <a:t>用验算的方法知同余式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ker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kern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kern="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≡0(</m:t>
                      </m:r>
                      <m:r>
                        <m:rPr>
                          <m:sty m:val="p"/>
                        </m:rPr>
                        <a:rPr lang="en-US" altLang="zh-CN" ker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ker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5)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FontTx/>
                  <a:buNone/>
                </a:pPr>
                <a:r>
                  <a:rPr lang="zh-CN" altLang="en-US" dirty="0"/>
                  <a:t>无</a:t>
                </a:r>
                <a:r>
                  <a:rPr lang="zh-CN" altLang="zh-CN" dirty="0"/>
                  <a:t>解。</a:t>
                </a:r>
              </a:p>
              <a:p>
                <a:pPr marL="0" indent="0">
                  <a:buFontTx/>
                  <a:buNone/>
                </a:pPr>
                <a:endParaRPr lang="zh-CN" altLang="zh-CN" sz="3000" dirty="0"/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269CA9D-F6AE-FFB2-30A8-D468C7C19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257082" cy="4724400"/>
              </a:xfrm>
              <a:prstGeom prst="rect">
                <a:avLst/>
              </a:prstGeom>
              <a:blipFill>
                <a:blip r:embed="rId2"/>
                <a:stretch>
                  <a:fillRect l="-1920" t="-16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8A374F7-7430-8B2F-2D8D-02D86FBC2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3581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一次同余式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BF4758D-D665-CA8D-FF7A-CB603A6E527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4950" y="834452"/>
                <a:ext cx="8680450" cy="563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13 </a:t>
                </a:r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0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000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b="0" i="0" kern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，则同余式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3000" ker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000" ker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恰有一个解，这个解就是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l-GR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。特别地，我们将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≡1(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的解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l-GR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+mn-ea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的逆元，记为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zh-CN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13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为模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的完系。因为</a:t>
                </a:r>
                <a14:m>
                  <m:oMath xmlns:m="http://schemas.openxmlformats.org/officeDocument/2006/math">
                    <m:r>
                      <a:rPr lang="en-US" altLang="zh-CN" sz="3000" kern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000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kern="0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，所以由定理</a:t>
                </a:r>
                <a:r>
                  <a:rPr lang="en-US" altLang="zh-CN" sz="3000" kern="0" dirty="0">
                    <a:latin typeface="+mn-ea"/>
                  </a:rPr>
                  <a:t>3</a:t>
                </a:r>
                <a:r>
                  <a:rPr lang="zh-CN" altLang="en-US" sz="3000" kern="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zh-CN" altLang="en-US" sz="3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也是完系，故有且仅有一个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，因此，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为一次同余唯一解。由定理</a:t>
                </a:r>
                <a:r>
                  <a:rPr lang="en-US" altLang="zh-CN" sz="3000" kern="0" dirty="0">
                    <a:latin typeface="+mn-ea"/>
                  </a:rPr>
                  <a:t>9</a:t>
                </a:r>
                <a:r>
                  <a:rPr lang="zh-CN" altLang="en-US" sz="3000" kern="0" dirty="0">
                    <a:latin typeface="+mn-ea"/>
                  </a:rPr>
                  <a:t>可得解为</a:t>
                </a:r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l-GR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zh-CN" dirty="0"/>
              </a:p>
              <a:p>
                <a:pPr marL="0" indent="0" algn="just">
                  <a:buNone/>
                </a:pPr>
                <a:endParaRPr lang="en-US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FBF4758D-D665-CA8D-FF7A-CB603A6E5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950" y="834452"/>
                <a:ext cx="8680450" cy="5638800"/>
              </a:xfrm>
              <a:prstGeom prst="rect">
                <a:avLst/>
              </a:prstGeom>
              <a:blipFill>
                <a:blip r:embed="rId2"/>
                <a:stretch>
                  <a:fillRect l="-1685" t="-17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A46C6F0-B724-8505-1DB3-8FDF9B0A9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950" y="148652"/>
            <a:ext cx="38100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一次同余式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1E33EB18-A1EA-0DFB-76F1-B4EB260E46A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4950" y="834452"/>
                <a:ext cx="8680450" cy="563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14 </a:t>
                </a:r>
                <a:r>
                  <a:rPr lang="zh-CN" altLang="en-US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0" i="0" kern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0" kern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kern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，则同余式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kern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b="0" i="1" kern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ker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ker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有解的充分必要条件是</a:t>
                </a:r>
                <a14:m>
                  <m:oMath xmlns:m="http://schemas.openxmlformats.org/officeDocument/2006/math">
                    <m:r>
                      <a:rPr lang="en-US" altLang="zh-CN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14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。</a:t>
                </a:r>
                <a:endParaRPr lang="en-US" altLang="zh-CN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kern="0" dirty="0">
                    <a:latin typeface="+mn-ea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zh-CN" altLang="en-US" kern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kern="0" dirty="0">
                    <a:latin typeface="+mn-ea"/>
                  </a:rPr>
                  <a:t>所以</a:t>
                </a:r>
                <a:r>
                  <a:rPr lang="zh-CN" altLang="en-US" dirty="0">
                    <a:latin typeface="+mn-ea"/>
                  </a:rPr>
                  <a:t>同余式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kern="0">
                            <a:latin typeface="Cambria Math" panose="020405030504060302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dirty="0">
                    <a:latin typeface="+mn-ea"/>
                  </a:rPr>
                  <a:t>有解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定理</a:t>
                </a:r>
                <a:r>
                  <a:rPr lang="en-US" altLang="zh-CN" dirty="0">
                    <a:latin typeface="+mn-ea"/>
                  </a:rPr>
                  <a:t>13)</a:t>
                </a:r>
                <a:r>
                  <a:rPr lang="zh-CN" altLang="en-US" dirty="0">
                    <a:latin typeface="+mn-ea"/>
                  </a:rPr>
                  <a:t>。即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有解。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1E33EB18-A1EA-0DFB-76F1-B4EB260E4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950" y="834452"/>
                <a:ext cx="8680450" cy="5638800"/>
              </a:xfrm>
              <a:prstGeom prst="rect">
                <a:avLst/>
              </a:prstGeom>
              <a:blipFill>
                <a:blip r:embed="rId2"/>
                <a:stretch>
                  <a:fillRect l="-1826" t="-1730" b="-16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9196390-6E32-5AE8-55C5-7F200D9D16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2936</TotalTime>
  <Words>2447</Words>
  <Application>Microsoft Office PowerPoint</Application>
  <PresentationFormat>全屏显示(4:3)</PresentationFormat>
  <Paragraphs>120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宋体</vt:lpstr>
      <vt:lpstr>Arial</vt:lpstr>
      <vt:lpstr>Cambria Math</vt:lpstr>
      <vt:lpstr>Times New Roman</vt:lpstr>
      <vt:lpstr>Wingdings</vt:lpstr>
      <vt:lpstr>默认设计模板</vt:lpstr>
      <vt:lpstr>第三讲 初等数论 3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157</cp:revision>
  <cp:lastPrinted>2026-03-15T05:29:52Z</cp:lastPrinted>
  <dcterms:created xsi:type="dcterms:W3CDTF">1601-01-01T00:00:00Z</dcterms:created>
  <dcterms:modified xsi:type="dcterms:W3CDTF">2026-03-16T02:33:15Z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