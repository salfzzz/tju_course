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92" r:id="rId4"/>
    <p:sldId id="293" r:id="rId5"/>
    <p:sldId id="283" r:id="rId6"/>
    <p:sldId id="300" r:id="rId7"/>
    <p:sldId id="301" r:id="rId8"/>
    <p:sldId id="295" r:id="rId9"/>
    <p:sldId id="302" r:id="rId10"/>
    <p:sldId id="296" r:id="rId11"/>
    <p:sldId id="297" r:id="rId12"/>
    <p:sldId id="298" r:id="rId13"/>
    <p:sldId id="303" r:id="rId14"/>
    <p:sldId id="299" r:id="rId15"/>
    <p:sldId id="264" r:id="rId16"/>
    <p:sldId id="265" r:id="rId17"/>
    <p:sldId id="275" r:id="rId18"/>
    <p:sldId id="304" r:id="rId19"/>
    <p:sldId id="266" r:id="rId20"/>
    <p:sldId id="276" r:id="rId21"/>
    <p:sldId id="305" r:id="rId22"/>
    <p:sldId id="277" r:id="rId23"/>
    <p:sldId id="306" r:id="rId24"/>
    <p:sldId id="307" r:id="rId25"/>
    <p:sldId id="279" r:id="rId26"/>
    <p:sldId id="308" r:id="rId27"/>
    <p:sldId id="263" r:id="rId28"/>
  </p:sldIdLst>
  <p:sldSz cx="9144000" cy="6858000" type="screen4x3"/>
  <p:notesSz cx="6858000" cy="9144000"/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4" autoAdjust="0"/>
    <p:restoredTop sz="94620" autoAdjust="0"/>
  </p:normalViewPr>
  <p:slideViewPr>
    <p:cSldViewPr>
      <p:cViewPr varScale="1">
        <p:scale>
          <a:sx n="64" d="100"/>
          <a:sy n="64" d="100"/>
        </p:scale>
        <p:origin x="12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9AA9686-B597-629F-CEB5-E508BAD919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5299AA-9AB2-15ED-876F-E40A3639FA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E5906-105C-461F-851E-DE87D90B397B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CAA027-E76A-9CD2-8186-DAF3A5101A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B6F415-F449-9B22-92CD-A13FFC73D4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05EB7-B146-4768-96D2-967D1DA86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4619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24E5E91-8653-0245-CBC7-7DB5EB0C9F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1826D0-27C9-92E6-62B8-91CE883F8C7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49F5BE2-F77F-4E2B-94ED-7435FC5E2D59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F1A659C2-7975-C1BB-E27B-A4604DC9A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45BE49C6-732A-081F-D101-2D2313F6E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50BBC9-20E1-8339-A56E-EA0E0F3958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A3A2ED-E17B-13AF-F1B8-8A41A831C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0C8DF11F-9E37-4BDE-BEE5-E67E097B21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8A3B656F-6149-C723-E246-2ADAE159E5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7D5F98AF-17E3-41F1-8633-6B5E538D03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F896781E-3FDA-5F58-985D-C5DA42DA7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3612A27-A1D0-4B17-B2AD-F6633037A8D4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02A021-B175-8AD7-1D9C-75AE8564E12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3C993AC9-21E8-4A31-B825-6D9D44BC0E55}" type="datetime1">
              <a:rPr lang="zh-CN" altLang="en-US" smtClean="0"/>
              <a:t>2026/3/23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1C16-B2ED-8144-F2DE-923D3EE70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A19A9B90-9B92-6A4D-617D-2B3F317838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0C667BE0-16F5-54B1-D53B-4B508E3950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70BF1AE2-F18F-1871-08AD-55F593883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3612A27-A1D0-4B17-B2AD-F6633037A8D4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CFA792-25B8-A828-23D1-FD8A3410790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CBB21C66-3228-472D-BBE7-E30C5E037009}" type="datetime1">
              <a:rPr lang="zh-CN" altLang="en-US" smtClean="0"/>
              <a:t>2026/3/23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226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AFA14E4E-6984-C424-0EE2-E0A16A39A2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B95C58C0-F49B-49C9-1D00-B4A2D7015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恰恰</a:t>
            </a: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059F1D93-1710-B9BF-8338-1AD9032F38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4E5F3DF-B29C-42D9-8B0A-901210C184F1}" type="slidenum">
              <a:rPr lang="zh-CN" altLang="en-US"/>
              <a:pPr/>
              <a:t>22</a:t>
            </a:fld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D386B6-48A0-6662-9C1F-E66A4857370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D6794FC-64EE-48E0-9A3B-3CAA21F73761}" type="datetime1">
              <a:rPr lang="zh-CN" altLang="en-US" smtClean="0"/>
              <a:t>2026/3/23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FCDA-E2DD-1670-25CF-C6CED9A41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2584F5C3-44B5-BB33-F6E8-720288D759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4966F7BD-68FD-2257-F5A1-FED654B36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恰恰</a:t>
            </a: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E403C490-7BD7-185B-567F-2A87CC5BC4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4E5F3DF-B29C-42D9-8B0A-901210C184F1}" type="slidenum">
              <a:rPr lang="zh-CN" altLang="en-US"/>
              <a:pPr/>
              <a:t>23</a:t>
            </a:fld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46D8F4-E3FE-C102-E9B1-774A80FAED6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358DAB3-F895-481C-B0D2-7A5D49021682}" type="datetime1">
              <a:rPr lang="zh-CN" altLang="en-US" smtClean="0"/>
              <a:t>2026/3/23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268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E3CAD-BF58-E42F-1F52-276513FA3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D2C81810-D7F2-6454-09E3-4776FEF714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88703EFF-79B8-4B89-FE8F-837A02619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恰恰</a:t>
            </a: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C63565D4-53B0-FC10-A1D7-BDC3346206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4E5F3DF-B29C-42D9-8B0A-901210C184F1}" type="slidenum">
              <a:rPr lang="zh-CN" altLang="en-US"/>
              <a:pPr/>
              <a:t>24</a:t>
            </a:fld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EF62FA-CCE5-CAF6-D8BD-EAD7E75BCB3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F593077-03C8-499F-A413-630E44609083}" type="datetime1">
              <a:rPr lang="zh-CN" altLang="en-US" smtClean="0"/>
              <a:t>2026/3/23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818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53F91-2287-3F44-266C-568A37A25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99F1CEA2-F40B-D463-E869-E99FBD0321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E6F8B73C-B995-C356-824C-37D2B7AAB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恰恰</a:t>
            </a: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2A8FEA59-544D-11C6-DCC8-B5C5A25532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4E5F3DF-B29C-42D9-8B0A-901210C184F1}" type="slidenum">
              <a:rPr lang="zh-CN" altLang="en-US"/>
              <a:pPr/>
              <a:t>26</a:t>
            </a:fld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262A6E-9075-FCFD-35AA-1EA05ECBFE6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D57EFB6-1C69-48AB-90D4-B61FB88D8B18}" type="datetime1">
              <a:rPr lang="zh-CN" altLang="en-US" smtClean="0"/>
              <a:t>2026/3/23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205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FA82D7-3C18-4FB6-4BDB-A7E8B8CF2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C4AC1C-454A-4F42-25EE-54DCBBF01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C65A4E-0CEE-AF3A-D921-42689A221E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A4124-B30A-4724-865F-B92D6F0CB0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700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6954CB-6ADD-52F0-A774-C4175B45CE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9F767B-2785-CC99-3D3F-0DAF6E413A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726C14-3F9A-6CFC-9A48-BD5074F6E9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01690-C489-43BC-B129-3F82C4A4D1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123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40447D-E5D8-DC80-4A22-430C46E02A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68A30A-D6A0-9CF4-B37E-3AF443DA66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F013BB-D662-E5DA-E1C7-71362F3C5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6472DA-BE42-4D1E-909C-C82865590A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8225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99EB59-A97A-AE1C-3D96-C18C818825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251E41-2116-8904-F064-83AD62AA4A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70AAF0-A1E0-2622-6D96-067F6B3177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AF541-D058-4454-AC57-6476AD4EC9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0358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D45A6AF-7B04-D77B-16DA-1A2668F8C6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7507820-AD0D-1816-E942-E1CAC36742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B3253EF-561F-9D05-874B-AF898D9E38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828807-08C6-49F4-ADD7-CF98AF25D6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078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76B1CE6-8617-DFFA-A807-18DC8F118C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2A1B5D4-716D-5959-33B1-E107F8747A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B3E8447-D695-FBDA-5EB9-48724D6A01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9B250-021B-4640-90F0-FD40F97C2F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840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E8A4A4A-9825-17DD-0C8E-AC49B1FAC4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FA1EA28-7651-2223-2942-F14FFC7C5D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544E4F4-DE7E-D545-DF4C-97E1AE0CB7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E566A-C0E0-4191-A6F9-931467DB5E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42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2BDE2A-654E-F1E9-FDF0-C07A276154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B195C1-B801-0AE3-AE37-B62219810D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EA102-0634-2D3B-F31A-8556C29D39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6493E-6A3B-4918-B79D-D81B947FCE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3279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9F51C4-4214-915D-0120-E505EFBD3B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F6E08C-9B69-A950-C4DD-B20F9E4D3A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FB9005-CB5F-E610-BECC-C580D0A8AC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85D80-8553-4081-B437-A165AF46C2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743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AEB5A6-61BD-5B57-BDED-FFE840DD94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AAD75D-3A84-5D16-113E-0E09B28692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DCA826-228D-9B08-E0A1-DBB72B5141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EF500-D958-4243-9E4D-21DC67BB3F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17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8B052F-CA68-C598-6D49-FD37CEFE8C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C9780F-919D-048D-6A09-1BD77D3979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17BD96-D481-B5C0-BD27-FF32175A41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778680-9555-42F6-BA9A-BC3B4AD750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558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3D6BC8-4A4B-6716-51EE-6F0575B6B8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89EB58-C052-902B-88BA-612FC4DFFA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F3FD2B-E447-50CB-3161-648E12B9C3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D38DE-B174-458A-A125-900FFE9951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25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37D8B38-4F32-355B-7D50-A9EE5E41E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4F5C917-117D-BDBF-05E7-66045F1B2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68F4B76-43CC-4540-BA91-1E6F572DE0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FB8ACE1-AB1C-D880-4D2B-A087FD63DF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EB12026-3242-C09C-B82E-0C713E1F33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4B56CAC1-B0DA-4B20-B282-0AAC495CCB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5F9E0D2-F73D-8445-D0BF-53460E2CBE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第五讲 初等数论</a:t>
            </a:r>
            <a:br>
              <a:rPr lang="zh-CN" altLang="en-US">
                <a:latin typeface="宋体" panose="02010600030101010101" pitchFamily="2" charset="-122"/>
              </a:rPr>
            </a:br>
            <a:r>
              <a:rPr lang="en-US" altLang="zh-CN" b="1">
                <a:latin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1852F81-F20C-2E7D-3C99-CDAE1DA62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sz="4000" dirty="0"/>
              <a:t>本讲提要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B3A43C0-3A04-8DBD-611E-6CD397014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5105400" cy="1600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zh-CN" altLang="en-US" sz="3600" dirty="0">
                <a:latin typeface="+mn-ea"/>
              </a:rPr>
              <a:t> 同余</a:t>
            </a:r>
            <a:r>
              <a:rPr lang="en-US" altLang="zh-CN" sz="3600" dirty="0">
                <a:latin typeface="+mn-ea"/>
              </a:rPr>
              <a:t>(</a:t>
            </a:r>
            <a:r>
              <a:rPr lang="zh-CN" altLang="en-US" sz="3600" dirty="0">
                <a:latin typeface="+mn-ea"/>
              </a:rPr>
              <a:t>续</a:t>
            </a:r>
            <a:r>
              <a:rPr lang="en-US" altLang="zh-CN" sz="3600" dirty="0">
                <a:latin typeface="+mn-ea"/>
              </a:rPr>
              <a:t>)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zh-CN" altLang="en-US" sz="3600" dirty="0">
                <a:latin typeface="+mn-ea"/>
              </a:rPr>
              <a:t> 二次剩余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C12A358-2733-8ABC-166D-4BF9AB4783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81000"/>
            <a:ext cx="5486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 </a:t>
            </a:r>
            <a:r>
              <a:rPr lang="zh-CN" altLang="en-US" dirty="0"/>
              <a:t>模是素数幂的同余式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D0DEB11-1B0B-134A-BE18-E951949049C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8573" y="1181100"/>
                <a:ext cx="8446853" cy="4495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模是素数幂的同余式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CN" altLang="en-US" b="0" i="1" kern="0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kern="0" dirty="0">
                    <a:latin typeface="+mn-ea"/>
                  </a:rPr>
                  <a:t>                         (1)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∤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+mn-ea"/>
                  </a:rPr>
                  <a:t>是素数，</a:t>
                </a:r>
                <a14:m>
                  <m:oMath xmlns:m="http://schemas.openxmlformats.org/officeDocument/2006/math">
                    <m:r>
                      <a:rPr lang="zh-CN" altLang="en-US" i="1" kern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i="1" kern="0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适合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en-US" dirty="0">
                    <a:latin typeface="+mn-ea"/>
                  </a:rPr>
                  <a:t>式的每个整数都适合同余式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kern="0" dirty="0">
                    <a:latin typeface="+mn-ea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kern="0"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      </a:t>
                </a:r>
                <a:r>
                  <a:rPr lang="en-US" altLang="zh-CN" dirty="0">
                    <a:latin typeface="+mn-ea"/>
                  </a:rPr>
                  <a:t>(2)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如果</a:t>
                </a:r>
                <a:r>
                  <a:rPr lang="en-US" altLang="zh-CN" dirty="0">
                    <a:latin typeface="+mn-ea"/>
                  </a:rPr>
                  <a:t>(2)</a:t>
                </a:r>
                <a:r>
                  <a:rPr lang="zh-CN" altLang="en-US" dirty="0">
                    <a:latin typeface="+mn-ea"/>
                  </a:rPr>
                  <a:t>式无解，自然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en-US" dirty="0">
                    <a:latin typeface="+mn-ea"/>
                  </a:rPr>
                  <a:t>式也无解。 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D0DEB11-1B0B-134A-BE18-E95194904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573" y="1181100"/>
                <a:ext cx="8446853" cy="4495800"/>
              </a:xfrm>
              <a:prstGeom prst="rect">
                <a:avLst/>
              </a:prstGeom>
              <a:blipFill>
                <a:blip r:embed="rId2"/>
                <a:stretch>
                  <a:fillRect l="-1804" t="-176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16C93B4-7182-3DDB-29F9-62F352CFFD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42407"/>
            <a:ext cx="5486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 </a:t>
            </a:r>
            <a:r>
              <a:rPr lang="zh-CN" altLang="en-US" dirty="0"/>
              <a:t>模是素数幂的同余式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65946CCC-9654-1241-B0BE-9AD39700466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682052"/>
                <a:ext cx="8446853" cy="6019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1 </a:t>
                </a:r>
                <a:r>
                  <a:rPr lang="zh-CN" altLang="en-US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kern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即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±1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±2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，⋯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latin typeface="+mn-ea"/>
                  </a:rPr>
                  <a:t>  (3)</a:t>
                </a:r>
                <a:r>
                  <a:rPr lang="zh-CN" altLang="en-US" dirty="0">
                    <a:latin typeface="+mn-ea"/>
                  </a:rPr>
                  <a:t> 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是</a:t>
                </a:r>
                <a:r>
                  <a:rPr lang="en-US" altLang="zh-CN" dirty="0">
                    <a:latin typeface="+mn-ea"/>
                  </a:rPr>
                  <a:t>(2)</a:t>
                </a:r>
                <a:r>
                  <a:rPr lang="zh-CN" altLang="en-US" dirty="0">
                    <a:latin typeface="+mn-ea"/>
                  </a:rPr>
                  <a:t>式的一个解，且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∤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+mn-ea"/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n-ea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的导数，则</a:t>
                </a:r>
                <a:r>
                  <a:rPr lang="en-US" altLang="zh-CN" dirty="0">
                    <a:latin typeface="+mn-ea"/>
                  </a:rPr>
                  <a:t>(3)</a:t>
                </a:r>
                <a:r>
                  <a:rPr lang="zh-CN" altLang="en-US" dirty="0">
                    <a:latin typeface="+mn-ea"/>
                  </a:rPr>
                  <a:t>式恰好给出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en-US" dirty="0">
                    <a:latin typeface="+mn-ea"/>
                  </a:rPr>
                  <a:t>式的一个解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latin typeface="+mn-ea"/>
                  </a:rPr>
                  <a:t>，即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kern="0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i="1" kern="0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±1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±2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，⋯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推论</a:t>
                </a:r>
                <a:r>
                  <a:rPr lang="en-US" altLang="zh-CN" b="1" dirty="0">
                    <a:latin typeface="+mn-ea"/>
                  </a:rPr>
                  <a:t>1 </a:t>
                </a:r>
                <a:r>
                  <a:rPr lang="zh-CN" altLang="en-US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kern="0"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kern="0"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无公解，则同余式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kern="0"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sSup>
                      <m:sSup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kern="0"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的解数相同。</a:t>
                </a:r>
              </a:p>
              <a:p>
                <a:pPr marL="0" indent="0">
                  <a:buNone/>
                </a:pPr>
                <a:endParaRPr lang="zh-CN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65946CCC-9654-1241-B0BE-9AD397004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682052"/>
                <a:ext cx="8446853" cy="6019800"/>
              </a:xfrm>
              <a:prstGeom prst="rect">
                <a:avLst/>
              </a:prstGeom>
              <a:blipFill>
                <a:blip r:embed="rId2"/>
                <a:stretch>
                  <a:fillRect l="-1804" t="-1621" b="-39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4BEA950-8837-A9A9-4702-CB52637AF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9459" y="152400"/>
            <a:ext cx="5486400" cy="65082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 </a:t>
            </a:r>
            <a:r>
              <a:rPr lang="zh-CN" altLang="en-US" dirty="0"/>
              <a:t>模是素数幂的同余式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834A421-9122-1E7E-869B-5B9C31294EA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9016" y="694380"/>
                <a:ext cx="8645968" cy="54778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1</a:t>
                </a:r>
                <a:r>
                  <a:rPr lang="zh-CN" altLang="en-US" sz="2800" b="1" dirty="0">
                    <a:latin typeface="+mn-ea"/>
                  </a:rPr>
                  <a:t>证明</a:t>
                </a:r>
                <a:r>
                  <a:rPr lang="en-US" altLang="zh-CN" sz="28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归纳法。</a:t>
                </a: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时，定理显然成立。现假定定理对</a:t>
                </a:r>
                <a14:m>
                  <m:oMath xmlns:m="http://schemas.openxmlformats.org/officeDocument/2006/math"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−1(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800" i="1" kern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成立，即</a:t>
                </a:r>
                <a:r>
                  <a:rPr lang="en-US" altLang="zh-CN" sz="2800" dirty="0">
                    <a:latin typeface="+mn-ea"/>
                  </a:rPr>
                  <a:t>(3)</a:t>
                </a:r>
                <a:r>
                  <a:rPr lang="zh-CN" altLang="en-US" sz="2800" dirty="0">
                    <a:latin typeface="+mn-ea"/>
                  </a:rPr>
                  <a:t>恰好给出</a:t>
                </a:r>
                <a14:m>
                  <m:oMath xmlns:m="http://schemas.openxmlformats.org/officeDocument/2006/math">
                    <m:r>
                      <a:rPr lang="en-US" altLang="zh-CN" sz="2800" i="1" kern="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)≡0(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的一个解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±1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±2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，⋯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 </a:t>
                </a: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。把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代入</a:t>
                </a:r>
                <a:r>
                  <a:rPr lang="en-US" altLang="zh-CN" sz="2800" dirty="0">
                    <a:latin typeface="+mn-ea"/>
                  </a:rPr>
                  <a:t>(1)</a:t>
                </a:r>
                <a:r>
                  <a:rPr lang="zh-CN" altLang="en-US" sz="2800" dirty="0">
                    <a:latin typeface="+mn-ea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800" b="0" i="0" kern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800" i="1" kern="0" smtClean="0">
                        <a:latin typeface="Cambria Math" panose="02040503050406030204" pitchFamily="18" charset="0"/>
                      </a:rPr>
                      <m:t>可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8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8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sSup>
                      <m:sSup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，但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8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sSup>
                      <m:sSup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，因此，由第二讲定理</a:t>
                </a:r>
                <a:r>
                  <a:rPr lang="en-US" altLang="zh-CN" sz="2800" dirty="0">
                    <a:latin typeface="+mn-ea"/>
                  </a:rPr>
                  <a:t>12</a:t>
                </a:r>
                <a:r>
                  <a:rPr lang="zh-CN" altLang="en-US" sz="2800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8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ker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800" i="1" ker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CN" sz="2800" i="1" ker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。由于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ker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8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，故上式恰有一个解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sz="28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±1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±2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，⋯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zh-CN" altLang="en-US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834A421-9122-1E7E-869B-5B9C31294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016" y="694380"/>
                <a:ext cx="8645968" cy="5477820"/>
              </a:xfrm>
              <a:prstGeom prst="rect">
                <a:avLst/>
              </a:prstGeom>
              <a:blipFill>
                <a:blip r:embed="rId3"/>
                <a:stretch>
                  <a:fillRect l="-1481" t="-1224" r="-6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6F68-D97C-E1E4-6A1C-826B044E1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260A6B5-8861-C56A-5A2B-A0E5072511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9459" y="152400"/>
            <a:ext cx="5486400" cy="65082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 </a:t>
            </a:r>
            <a:r>
              <a:rPr lang="zh-CN" altLang="en-US" dirty="0"/>
              <a:t>模是素数幂的同余式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A90DA59-23F9-A21A-3E09-16856D7FCAD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8573" y="803223"/>
                <a:ext cx="8446853" cy="4530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1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这样就得到了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en-US" dirty="0">
                    <a:latin typeface="+mn-ea"/>
                  </a:rPr>
                  <a:t>的解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zh-CN" altLang="en-US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𝑝𝑡</m:t>
                            </m:r>
                          </m:e>
                          <m:sub>
                            <m:r>
                              <a:rPr lang="zh-CN" altLang="en-US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±1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±2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，⋯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，即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sSup>
                      <m:sSup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是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en-US" dirty="0">
                    <a:latin typeface="+mn-ea"/>
                  </a:rPr>
                  <a:t>的一个解且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A90DA59-23F9-A21A-3E09-16856D7FC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573" y="803223"/>
                <a:ext cx="8446853" cy="4530777"/>
              </a:xfrm>
              <a:prstGeom prst="rect">
                <a:avLst/>
              </a:prstGeom>
              <a:blipFill>
                <a:blip r:embed="rId3"/>
                <a:stretch>
                  <a:fillRect l="-1804" t="-175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481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1A550DF-995E-DB44-F6BD-6D8D8065F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4475" y="337279"/>
            <a:ext cx="4648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2 </a:t>
            </a:r>
            <a:r>
              <a:rPr lang="zh-CN" altLang="en-US" dirty="0">
                <a:solidFill>
                  <a:srgbClr val="0070C0"/>
                </a:solidFill>
              </a:rPr>
              <a:t>同余定义与概念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续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60684AD-5161-73C1-443A-F8CD201B300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4475" y="1018082"/>
                <a:ext cx="8518525" cy="55026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FontTx/>
                  <a:buNone/>
                </a:pPr>
                <a:r>
                  <a:rPr lang="zh-CN" altLang="en-US" b="1" kern="0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b="1" kern="0" dirty="0">
                    <a:solidFill>
                      <a:srgbClr val="0070C0"/>
                    </a:solidFill>
                    <a:latin typeface="+mn-ea"/>
                  </a:rPr>
                  <a:t>12 </a:t>
                </a:r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𝑏𝑐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r>
                      <a:rPr lang="zh-CN" altLang="en-US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若</m:t>
                    </m:r>
                    <m:d>
                      <m:d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zh-CN" alt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，则</a:t>
                </a:r>
                <a:endParaRPr lang="en-US" altLang="zh-CN" kern="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 algn="just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12</a:t>
                </a:r>
                <a:r>
                  <a:rPr lang="zh-CN" altLang="en-US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由定理</a:t>
                </a:r>
                <a:r>
                  <a:rPr lang="en-US" altLang="zh-CN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𝑏𝑐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)⇒</m:t>
                    </m:r>
                    <m:d>
                      <m:dPr>
                        <m:begChr m:val=""/>
                        <m:endChr m:val="|"/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又因为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，所以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kern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因此，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kern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60684AD-5161-73C1-443A-F8CD201B3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475" y="1018082"/>
                <a:ext cx="8518525" cy="5502639"/>
              </a:xfrm>
              <a:prstGeom prst="rect">
                <a:avLst/>
              </a:prstGeom>
              <a:blipFill>
                <a:blip r:embed="rId2"/>
                <a:stretch>
                  <a:fillRect l="-1788" t="-1772" b="-2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9F5F2B4-0164-4DEA-14AD-D81587C06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273" y="304800"/>
            <a:ext cx="3962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整数的剩余表示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1616DB5-2187-1DDF-7C56-7FA0FF6215D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34273" y="990600"/>
                <a:ext cx="8675454" cy="5562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定义</a:t>
                </a:r>
                <a:r>
                  <a:rPr lang="en-US" altLang="zh-CN" sz="3000" b="1" dirty="0">
                    <a:latin typeface="+mn-ea"/>
                  </a:rPr>
                  <a:t>1 </a:t>
                </a:r>
                <a:r>
                  <a:rPr lang="zh-CN" altLang="en-US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&gt;0</m:t>
                        </m:r>
                        <m:r>
                          <a:rPr lang="zh-CN" altLang="en-US" sz="3000" i="1" kern="0" smtClea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zh-CN" altLang="en-US" sz="3000" i="1" kern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3000" i="1" kern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30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)=1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的非负最小剩余，一个整数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对于模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的</a:t>
                </a:r>
                <a:r>
                  <a:rPr lang="zh-CN" altLang="en-US" sz="3000" b="1" dirty="0">
                    <a:latin typeface="+mn-ea"/>
                  </a:rPr>
                  <a:t>剩余表示</a:t>
                </a:r>
                <a:r>
                  <a:rPr lang="zh-CN" altLang="en-US" sz="3000" dirty="0">
                    <a:latin typeface="+mn-ea"/>
                  </a:rPr>
                  <a:t>是指序列</a:t>
                </a:r>
                <a14:m>
                  <m:oMath xmlns:m="http://schemas.openxmlformats.org/officeDocument/2006/math">
                    <m:r>
                      <a:rPr lang="en-US" altLang="zh-CN" sz="3000" b="0" i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altLang="zh-CN" sz="3000" b="0" i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2 </a:t>
                </a:r>
                <a:r>
                  <a:rPr lang="zh-CN" altLang="en-US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&gt;0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30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)=1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，两个整数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30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的剩余表示相同的充分必要条件是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CN" sz="30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0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，这里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1616DB5-2187-1DDF-7C56-7FA0FF621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273" y="990600"/>
                <a:ext cx="8675454" cy="5562600"/>
              </a:xfrm>
              <a:prstGeom prst="rect">
                <a:avLst/>
              </a:prstGeom>
              <a:blipFill>
                <a:blip r:embed="rId2"/>
                <a:stretch>
                  <a:fillRect l="-1615" t="-1754" r="-1053" b="-19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1627-69DD-332F-A3D1-C7F12023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25CDB12-5F05-D7D6-35A0-37FA92BE03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"/>
            <a:ext cx="60198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整数的剩余表示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1673631-BD50-6AC4-4871-B44973D965B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34273" y="838200"/>
                <a:ext cx="8675454" cy="426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2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r>
                  <a:rPr lang="zh-CN" altLang="en-US" dirty="0">
                    <a:latin typeface="+mn-ea"/>
                  </a:rPr>
                  <a:t>对于模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的剩余表示分别为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lang="zh-CN" altLang="en-US" dirty="0">
                        <a:latin typeface="+mn-ea"/>
                      </a:rPr>
                      <m:t>，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lang="zh-CN" altLang="en-US" dirty="0">
                        <a:latin typeface="+mn-ea"/>
                      </a:rPr>
                      <m:t>，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ea"/>
                  </a:rPr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ea"/>
                  </a:rPr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 kern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+mn-ea"/>
                  </a:rPr>
                  <a:t>。如果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|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1673631-BD50-6AC4-4871-B44973D96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273" y="838200"/>
                <a:ext cx="8675454" cy="4267200"/>
              </a:xfrm>
              <a:prstGeom prst="rect">
                <a:avLst/>
              </a:prstGeom>
              <a:blipFill>
                <a:blip r:embed="rId2"/>
                <a:stretch>
                  <a:fillRect l="-1756" t="-1857" r="-70" b="-5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039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9BFBFC7-117A-1EF8-5457-EFDBD6E13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"/>
            <a:ext cx="60198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整数的剩余表示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9AA93A0E-CF83-6FB4-AAF8-7B652A5E1F7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990600"/>
                <a:ext cx="8909727" cy="312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2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r>
                  <a:rPr lang="zh-CN" altLang="en-US" dirty="0">
                    <a:latin typeface="+mn-ea"/>
                  </a:rPr>
                  <a:t>（续）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zh-CN" altLang="en-US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|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r>
                  <a:rPr lang="zh-CN" altLang="en-US" dirty="0">
                    <a:latin typeface="+mn-ea"/>
                  </a:rPr>
                  <a:t>，又因为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′&gt;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|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′&gt;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+mn-ea"/>
                  </a:rPr>
                  <a:t>。由此推出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′&gt;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lang="zh-CN" altLang="en-US" dirty="0">
                        <a:latin typeface="+mn-ea"/>
                      </a:rPr>
                      <m:t>，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9AA93A0E-CF83-6FB4-AAF8-7B652A5E1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990600"/>
                <a:ext cx="8909727" cy="3124200"/>
              </a:xfrm>
              <a:prstGeom prst="rect">
                <a:avLst/>
              </a:prstGeom>
              <a:blipFill>
                <a:blip r:embed="rId2"/>
                <a:stretch>
                  <a:fillRect l="-1710" t="-25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69B5F0E-1627-1835-41C4-69AAAA197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273" y="114300"/>
            <a:ext cx="5486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整数的剩余表示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8B5EEB69-5E5F-DC44-2B98-F724F11163E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06199" y="685800"/>
                <a:ext cx="8703528" cy="5867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2600" b="1" dirty="0">
                    <a:latin typeface="+mn-ea"/>
                  </a:rPr>
                  <a:t>定义</a:t>
                </a:r>
                <a:r>
                  <a:rPr lang="en-US" altLang="zh-CN" sz="2600" b="1" dirty="0">
                    <a:latin typeface="+mn-ea"/>
                  </a:rPr>
                  <a:t>2 </a:t>
                </a:r>
                <a:r>
                  <a:rPr lang="zh-CN" altLang="en-US" sz="26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&gt;0</m:t>
                        </m:r>
                        <m:r>
                          <a:rPr lang="zh-CN" altLang="en-US" sz="2600" i="1" kern="0" smtClea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zh-CN" altLang="en-US" sz="2600" i="1" kern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600" i="1" kern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6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600" i="1" kern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6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)=1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60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600" dirty="0">
                    <a:latin typeface="+mn-ea"/>
                  </a:rPr>
                  <a:t>，此时整数对于模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+mn-ea"/>
                  </a:rPr>
                  <a:t>的剩余表示</a:t>
                </a:r>
                <a14:m>
                  <m:oMath xmlns:m="http://schemas.openxmlformats.org/officeDocument/2006/math">
                    <m:r>
                      <a:rPr lang="en-US" altLang="zh-CN" sz="2600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6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6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+mn-ea"/>
                  </a:rPr>
                  <a:t>也叫的模系数记数法。</a:t>
                </a:r>
                <a:endParaRPr lang="en-US" altLang="zh-CN" sz="26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26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600" b="1" dirty="0">
                    <a:latin typeface="+mn-ea"/>
                  </a:rPr>
                  <a:t>定理</a:t>
                </a:r>
                <a:r>
                  <a:rPr lang="en-US" altLang="zh-CN" sz="2600" b="1" dirty="0">
                    <a:latin typeface="+mn-ea"/>
                  </a:rPr>
                  <a:t>3 </a:t>
                </a:r>
                <a:r>
                  <a:rPr lang="zh-CN" altLang="en-US" sz="26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600" dirty="0">
                    <a:latin typeface="+mn-ea"/>
                  </a:rPr>
                  <a:t>表示整数集，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={0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zh-CN" altLang="en-US" sz="2600" dirty="0">
                    <a:latin typeface="+mn-ea"/>
                  </a:rPr>
                  <a:t>表示最小非负剩余组成的集，设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&gt;0</m:t>
                        </m:r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6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6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)=1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600" dirty="0">
                    <a:latin typeface="+mn-ea"/>
                  </a:rPr>
                  <a:t>，</a:t>
                </a:r>
                <a:r>
                  <a:rPr lang="en-US" altLang="zh-CN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600" b="0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+mn-ea"/>
                  </a:rPr>
                  <a:t>，则集</a:t>
                </a:r>
                <a:endParaRPr lang="en-US" altLang="zh-CN" sz="26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6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6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600" b="0" kern="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600" dirty="0">
                    <a:latin typeface="+mn-ea"/>
                  </a:rPr>
                  <a:t>与集</a:t>
                </a:r>
                <a:endParaRPr lang="en-US" altLang="zh-CN" sz="26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kern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600" b="0" i="1" kern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600" i="1" ker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2600" b="0" i="1" kern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kern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 kern="0">
                              <a:latin typeface="Cambria Math" panose="02040503050406030204" pitchFamily="18" charset="0"/>
                            </a:rPr>
                            <m:t>，</m:t>
                          </m:r>
                          <m:r>
                            <a:rPr lang="en-US" altLang="zh-CN" sz="2600" b="0" i="1" kern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600" i="1" ker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2600" i="1" kern="0"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zh-CN" altLang="en-US" sz="2600" i="1" kern="0"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kern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600" b="0" i="1" kern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600" i="1" ker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600" b="0" i="1" kern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60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zh-CN" sz="260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600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 ker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600" b="0" i="1" kern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sz="2600" i="1" kern="0">
                              <a:latin typeface="Cambria Math" panose="02040503050406030204" pitchFamily="18" charset="0"/>
                            </a:rPr>
                            <m:t>，</m:t>
                          </m:r>
                        </m:sub>
                      </m:sSub>
                      <m:r>
                        <a:rPr lang="en-US" altLang="zh-CN" sz="26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600" i="1" ker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ker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600" i="1" ker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sz="2600" ker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600" i="1" ker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2600" i="1" kern="0"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zh-CN" altLang="en-US" sz="2600" i="1" ker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sz="2600" i="1" ker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600" i="1" ker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6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600" dirty="0">
                    <a:latin typeface="+mn-ea"/>
                  </a:rPr>
                  <a:t>之间存在一一对应关系。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8B5EEB69-5E5F-DC44-2B98-F724F1116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199" y="685800"/>
                <a:ext cx="8703528" cy="5867400"/>
              </a:xfrm>
              <a:prstGeom prst="rect">
                <a:avLst/>
              </a:prstGeom>
              <a:blipFill>
                <a:blip r:embed="rId2"/>
                <a:stretch>
                  <a:fillRect l="-1261" t="-1247" r="-770" b="-18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AD46AD4-812D-7927-FE2F-3FC21AF7D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228600"/>
            <a:ext cx="5486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整数的剩余表示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B118EE56-8B50-4C99-3FC7-62430CEC186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5499" y="790074"/>
                <a:ext cx="8633001" cy="5867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4 </a:t>
                </a:r>
                <a:r>
                  <a:rPr lang="zh-CN" altLang="en-US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3000" i="1" kern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的剩余表示分别为</a:t>
                </a:r>
                <a14:m>
                  <m:oMath xmlns:m="http://schemas.openxmlformats.org/officeDocument/2006/math">
                    <m:r>
                      <a:rPr lang="en-US" altLang="zh-CN" sz="3000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sz="3000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，则有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sz="3000" dirty="0">
                    <a:latin typeface="+mn-ea"/>
                  </a:rPr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的剩余表示分别为</a:t>
                </a:r>
                <a14:m>
                  <m:oMath xmlns:m="http://schemas.openxmlformats.org/officeDocument/2006/math">
                    <m:r>
                      <a:rPr lang="en-US" altLang="zh-CN" sz="3000" b="0" i="0" kern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zh-CN" altLang="en-US" sz="3000" i="1" kern="0" smtClea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b="0" i="1" kern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b="0" i="1" kern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i="1" kern="0" smtClea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b="0" i="1" kern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b="0" i="1" kern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sz="3000" dirty="0">
                    <a:latin typeface="+mn-ea"/>
                  </a:rPr>
                  <a:t>(2)</a:t>
                </a:r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的剩余表示分别为</a:t>
                </a:r>
                <a14:m>
                  <m:oMath xmlns:m="http://schemas.openxmlformats.org/officeDocument/2006/math"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26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B118EE56-8B50-4C99-3FC7-62430CEC1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499" y="790074"/>
                <a:ext cx="8633001" cy="5867400"/>
              </a:xfrm>
              <a:prstGeom prst="rect">
                <a:avLst/>
              </a:prstGeom>
              <a:blipFill>
                <a:blip r:embed="rId2"/>
                <a:stretch>
                  <a:fillRect l="-1695" t="-1663" r="-148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E1142-3DD7-E720-3689-5F03EE9B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02CC09D-AAFA-8BC6-65AE-C85AE4E28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228600"/>
            <a:ext cx="5486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整数的剩余表示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EE4FBA7-38EF-145B-0851-5A7BD4C9F58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5499" y="966536"/>
                <a:ext cx="8633001" cy="56628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4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对于任意设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latin typeface="+mn-ea"/>
                  </a:rPr>
                  <a:t>,</a:t>
                </a:r>
                <a:r>
                  <a:rPr lang="zh-CN" altLang="en-US" dirty="0">
                    <a:latin typeface="+mn-ea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。类似可证明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。因此，定理</a:t>
                </a:r>
                <a:r>
                  <a:rPr lang="en-US" altLang="zh-CN" dirty="0">
                    <a:latin typeface="+mn-ea"/>
                  </a:rPr>
                  <a:t>4</a:t>
                </a:r>
                <a:r>
                  <a:rPr lang="zh-CN" altLang="en-US" dirty="0">
                    <a:latin typeface="+mn-ea"/>
                  </a:rPr>
                  <a:t>成立。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26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EE4FBA7-38EF-145B-0851-5A7BD4C9F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499" y="966536"/>
                <a:ext cx="8633001" cy="5662863"/>
              </a:xfrm>
              <a:prstGeom prst="rect">
                <a:avLst/>
              </a:prstGeom>
              <a:blipFill>
                <a:blip r:embed="rId2"/>
                <a:stretch>
                  <a:fillRect l="-1836" t="-140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9348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1C01508-7148-6723-0DF4-411362040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04800"/>
            <a:ext cx="5486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整数的剩余表示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D4CDFF6-DF95-880C-2C97-D003C7F2F01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5011" y="1066800"/>
                <a:ext cx="8562474" cy="419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例子</a:t>
                </a:r>
                <a:r>
                  <a:rPr lang="en-US" altLang="zh-CN" b="1" dirty="0">
                    <a:latin typeface="+mn-ea"/>
                  </a:rPr>
                  <a:t>1 </a:t>
                </a:r>
                <a:r>
                  <a:rPr lang="zh-CN" altLang="en-US" dirty="0">
                    <a:latin typeface="+mn-ea"/>
                  </a:rPr>
                  <a:t>对于模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=102↔</m:t>
                      </m:r>
                      <m:d>
                        <m:dPr>
                          <m:ctrlP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，</m:t>
                          </m:r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，</m:t>
                          </m:r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，</m:t>
                          </m:r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zh-CN" i="1" kern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211</m:t>
                      </m:r>
                      <m:r>
                        <a:rPr lang="en-US" altLang="zh-CN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zh-CN" altLang="en-US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zh-CN" altLang="en-US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则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CN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US" altLang="zh-CN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kern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i="1" kern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CN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i="1" kern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i="1" kern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i="1" kern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&lt;313&gt;</m:t>
                                    </m:r>
                                  </m:e>
                                  <m:sub>
                                    <m:r>
                                      <a:rPr lang="en-US" altLang="zh-CN" b="0" i="1" kern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660</m:t>
                                    </m:r>
                                  </m:sub>
                                </m:sSub>
                                <m:r>
                                  <a:rPr lang="en-US" altLang="zh-CN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=313</m:t>
                                </m:r>
                              </m:den>
                            </m:f>
                          </m:e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↔</m:t>
                            </m:r>
                          </m:e>
                          <m:e>
                            <m:f>
                              <m:fPr>
                                <m:ctrlPr>
                                  <a:rPr lang="en-US" altLang="zh-CN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kern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 kern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b="0" i="1" kern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(2</m:t>
                                      </m:r>
                                      <m:r>
                                        <a:rPr lang="zh-CN" altLang="en-US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，</m:t>
                                      </m:r>
                                      <m:r>
                                        <a:rPr lang="en-US" altLang="zh-CN" b="0" i="1" kern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zh-CN" altLang="en-US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，</m:t>
                                      </m:r>
                                      <m:r>
                                        <a:rPr lang="en-US" altLang="zh-CN" b="0" i="1" kern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，</m:t>
                                      </m:r>
                                      <m:r>
                                        <a:rPr lang="en-US" altLang="zh-CN" b="0" i="1" kern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3)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b="0" i="1" kern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(3</m:t>
                                      </m:r>
                                      <m:r>
                                        <a:rPr lang="zh-CN" altLang="en-US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，</m:t>
                                      </m:r>
                                      <m:r>
                                        <a:rPr lang="en-US" altLang="zh-CN" b="0" i="1" kern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，</m:t>
                                      </m:r>
                                      <m:r>
                                        <a:rPr lang="en-US" altLang="zh-CN" b="0" i="1" kern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1" ker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，</m:t>
                                      </m:r>
                                      <m:r>
                                        <a:rPr lang="en-US" altLang="zh-CN" b="0" i="1" kern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2)</m:t>
                                      </m:r>
                                    </m:e>
                                  </m:mr>
                                </m:m>
                              </m:num>
                              <m:den>
                                <m:r>
                                  <a:rPr lang="en-US" altLang="zh-CN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(1</m:t>
                                </m:r>
                                <m:r>
                                  <a:rPr lang="zh-CN" altLang="en-US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zh-CN" altLang="en-US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5)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D4CDFF6-DF95-880C-2C97-D003C7F2F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011" y="1066800"/>
                <a:ext cx="8562474" cy="4191000"/>
              </a:xfrm>
              <a:prstGeom prst="rect">
                <a:avLst/>
              </a:prstGeom>
              <a:blipFill>
                <a:blip r:embed="rId2"/>
                <a:stretch>
                  <a:fillRect l="-1779" t="-23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>
            <a:extLst>
              <a:ext uri="{FF2B5EF4-FFF2-40B4-BE49-F238E27FC236}">
                <a16:creationId xmlns:a16="http://schemas.microsoft.com/office/drawing/2014/main" id="{51C04299-1F93-148D-8AAB-986A62BC3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9781" y="457200"/>
            <a:ext cx="4572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二次剩余的基本概念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48D4D5C-2F63-4A88-6435-F4C253FDE7D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27749" y="1219200"/>
                <a:ext cx="8888501" cy="41388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定义</a:t>
                </a:r>
                <a:r>
                  <a:rPr lang="en-US" altLang="zh-CN" b="1" dirty="0">
                    <a:latin typeface="+mn-ea"/>
                  </a:rPr>
                  <a:t>3 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dirty="0">
                    <a:latin typeface="+mn-ea"/>
                  </a:rPr>
                  <a:t>，若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zh-CN" altLang="zh-CN">
                        <a:latin typeface="Cambria Math" panose="02040503050406030204" pitchFamily="18" charset="0"/>
                      </a:rPr>
                      <m:t>，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>
                    <a:latin typeface="+mn-ea"/>
                  </a:rPr>
                  <a:t>有解，则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latin typeface="+mn-ea"/>
                  </a:rPr>
                  <a:t>叫做模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的二次剩余；若无解，则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latin typeface="+mn-ea"/>
                  </a:rPr>
                  <a:t>叫做模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的二次非剩余。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# </a:t>
                </a:r>
                <a:r>
                  <a:rPr lang="zh-CN" altLang="zh-CN" dirty="0">
                    <a:latin typeface="+mn-ea"/>
                  </a:rPr>
                  <a:t>考虑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为素数的情况，因为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latin typeface="+mn-ea"/>
                  </a:rPr>
                  <a:t>2</a:t>
                </a:r>
                <a:r>
                  <a:rPr lang="zh-CN" altLang="zh-CN" dirty="0">
                    <a:latin typeface="+mn-ea"/>
                  </a:rPr>
                  <a:t>时情况简单，我们仅考虑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为奇素数的情况，即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         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zh-CN" altLang="zh-CN">
                        <a:latin typeface="Cambria Math" panose="02040503050406030204" pitchFamily="18" charset="0"/>
                      </a:rPr>
                      <m:t>，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  <a:r>
                  <a:rPr lang="en-US" altLang="zh-CN" dirty="0">
                    <a:latin typeface="+mn-ea"/>
                  </a:rPr>
                  <a:t>    (4)</a:t>
                </a:r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26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48D4D5C-2F63-4A88-6435-F4C253FDE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749" y="1219200"/>
                <a:ext cx="8888501" cy="4138864"/>
              </a:xfrm>
              <a:prstGeom prst="rect">
                <a:avLst/>
              </a:prstGeom>
              <a:blipFill>
                <a:blip r:embed="rId2"/>
                <a:stretch>
                  <a:fillRect l="-1783" t="-2356" r="-10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64FDD73-F2C9-178F-0182-C7521D04F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8495" y="364958"/>
            <a:ext cx="51816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二次剩余的基本概念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DC59BF1-EB04-FA24-B35A-DB31C9CB17C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88495" y="1050758"/>
                <a:ext cx="8633001" cy="3657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5 </a:t>
                </a:r>
                <a:r>
                  <a:rPr lang="zh-CN" altLang="zh-CN" dirty="0"/>
                  <a:t>在模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/>
                  <a:t>的缩系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/>
                  <a:t>中，有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dirty="0"/>
                  <a:t>个模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/>
                  <a:t>的二次剩余和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个模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/>
                  <a:t>的二次非剩余，且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num>
                                      <m:den>
                                        <m: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zh-CN" altLang="zh-CN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+mn-ea"/>
                  </a:rPr>
                  <a:t>         (5)</a:t>
                </a:r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/>
                  <a:t>就是模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/>
                  <a:t>缩系中的全部二次剩余。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DC59BF1-EB04-FA24-B35A-DB31C9CB1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495" y="1050758"/>
                <a:ext cx="8633001" cy="3657600"/>
              </a:xfrm>
              <a:prstGeom prst="rect">
                <a:avLst/>
              </a:prstGeom>
              <a:blipFill>
                <a:blip r:embed="rId2"/>
                <a:stretch>
                  <a:fillRect l="-1836" r="-17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4C263E2-7162-2DFE-BA5C-45C5D1A4E1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76200"/>
            <a:ext cx="51816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二次剩余的基本概念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51A041C-7EDA-E8AE-1DB9-C96AFED758A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08547" y="677779"/>
                <a:ext cx="8706853" cy="58754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5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</a:p>
              <a:p>
                <a:pPr marL="0" indent="0" eaLnBrk="1">
                  <a:buNone/>
                </a:pPr>
                <a:r>
                  <a:rPr lang="zh-CN" altLang="zh-CN" sz="28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的任意一个二次剩余，则</a:t>
                </a:r>
                <a:r>
                  <a:rPr lang="en-US" altLang="zh-CN" sz="2800" dirty="0">
                    <a:latin typeface="+mn-ea"/>
                  </a:rPr>
                  <a:t>(4)</a:t>
                </a:r>
                <a:r>
                  <a:rPr lang="zh-CN" altLang="zh-CN" sz="2800" dirty="0">
                    <a:latin typeface="+mn-ea"/>
                  </a:rPr>
                  <a:t>有解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800" dirty="0">
                    <a:latin typeface="+mn-ea"/>
                  </a:rPr>
                  <a:t>。显然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800" dirty="0">
                    <a:latin typeface="+mn-ea"/>
                  </a:rPr>
                  <a:t>也是一个解。而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≢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，再由第</a:t>
                </a:r>
                <a:r>
                  <a:rPr lang="zh-CN" altLang="en-US" sz="2800" dirty="0">
                    <a:latin typeface="+mn-ea"/>
                  </a:rPr>
                  <a:t>四</a:t>
                </a:r>
                <a:r>
                  <a:rPr lang="zh-CN" altLang="zh-CN" sz="2800" dirty="0">
                    <a:latin typeface="+mn-ea"/>
                  </a:rPr>
                  <a:t>讲的定理</a:t>
                </a:r>
                <a:r>
                  <a:rPr lang="en-US" altLang="zh-CN" sz="2800" dirty="0">
                    <a:latin typeface="+mn-ea"/>
                  </a:rPr>
                  <a:t>2</a:t>
                </a:r>
                <a:r>
                  <a:rPr lang="zh-CN" altLang="zh-CN" sz="2800" dirty="0">
                    <a:latin typeface="+mn-ea"/>
                  </a:rPr>
                  <a:t>知</a:t>
                </a:r>
                <a:r>
                  <a:rPr lang="en-US" altLang="zh-CN" sz="2800" dirty="0">
                    <a:latin typeface="+mn-ea"/>
                  </a:rPr>
                  <a:t>(4)</a:t>
                </a:r>
                <a:r>
                  <a:rPr lang="zh-CN" altLang="zh-CN" sz="2800" dirty="0">
                    <a:latin typeface="+mn-ea"/>
                  </a:rPr>
                  <a:t>最多只有两个解。不失一般，可设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dirty="0">
                    <a:latin typeface="+mn-ea"/>
                  </a:rPr>
                  <a:t>，故由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−1</m:t>
                    </m:r>
                    <m:r>
                      <a:rPr lang="zh-CN" altLang="zh-CN" sz="280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与</a:t>
                </a:r>
                <a:r>
                  <a:rPr lang="en-US" altLang="zh-CN" sz="2800" dirty="0">
                    <a:latin typeface="+mn-ea"/>
                  </a:rPr>
                  <a:t>(5)</a:t>
                </a:r>
                <a:r>
                  <a:rPr lang="zh-CN" altLang="zh-CN" sz="2800" dirty="0">
                    <a:latin typeface="+mn-ea"/>
                  </a:rPr>
                  <a:t>中之一相等。若</a:t>
                </a:r>
                <a:r>
                  <a:rPr lang="en-US" altLang="zh-CN" sz="2800" dirty="0">
                    <a:latin typeface="+mn-ea"/>
                  </a:rPr>
                  <a:t>(5)</a:t>
                </a:r>
                <a:r>
                  <a:rPr lang="zh-CN" altLang="zh-CN" sz="2800" dirty="0">
                    <a:latin typeface="+mn-ea"/>
                  </a:rPr>
                  <a:t>中有两个数同余，设为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zh-CN" sz="280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=&lt;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zh-CN" sz="28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≡&lt;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≡&lt;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。也就有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)≡0(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。由于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，与所设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dirty="0">
                    <a:latin typeface="+mn-ea"/>
                  </a:rPr>
                  <a:t>矛盾。这就证明了</a:t>
                </a:r>
                <a:r>
                  <a:rPr lang="en-US" altLang="zh-CN" sz="2800" dirty="0">
                    <a:latin typeface="+mn-ea"/>
                  </a:rPr>
                  <a:t>(5)</a:t>
                </a:r>
                <a:r>
                  <a:rPr lang="zh-CN" altLang="zh-CN" sz="2800" dirty="0">
                    <a:latin typeface="+mn-ea"/>
                  </a:rPr>
                  <a:t>给出全部二次剩余。因此，剩下的二次非剩余也有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dirty="0">
                    <a:latin typeface="+mn-ea"/>
                  </a:rPr>
                  <a:t>个。</a:t>
                </a: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51A041C-7EDA-E8AE-1DB9-C96AFED75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547" y="677779"/>
                <a:ext cx="8706853" cy="5875422"/>
              </a:xfrm>
              <a:prstGeom prst="rect">
                <a:avLst/>
              </a:prstGeom>
              <a:blipFill>
                <a:blip r:embed="rId2"/>
                <a:stretch>
                  <a:fillRect l="-1610" t="-1349" r="-560" b="-497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981DD0C-EAE1-31FD-6DEE-6368C5FF87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04800"/>
            <a:ext cx="5486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2 </a:t>
            </a:r>
            <a:r>
              <a:rPr lang="zh-CN" altLang="en-US" dirty="0">
                <a:solidFill>
                  <a:srgbClr val="0070C0"/>
                </a:solidFill>
              </a:rPr>
              <a:t>模是素数的同余式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D2A4DA70-8AD6-D2F5-39B1-CEFEDEBA692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7732" y="962526"/>
                <a:ext cx="8403236" cy="5718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2(</a:t>
                </a:r>
                <a:r>
                  <a:rPr lang="zh-CN" altLang="en-US" sz="3000" b="1" dirty="0">
                    <a:solidFill>
                      <a:srgbClr val="0070C0"/>
                    </a:solidFill>
                    <a:latin typeface="+mn-ea"/>
                  </a:rPr>
                  <a:t>拉格朗日定理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) </a:t>
                </a: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是素数，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3000" kern="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，是一个整系数多项式，则同余式</a:t>
                </a:r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0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000" i="1" ker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0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3000" i="1" ker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CN" sz="30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3000" i="1" ker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3000" ker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000" ker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0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3000" i="1" ker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最多有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个解。</a:t>
                </a:r>
                <a:endParaRPr lang="en-US" altLang="zh-CN" sz="3000" b="1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2</a:t>
                </a:r>
                <a:r>
                  <a:rPr lang="zh-CN" altLang="en-US" sz="3000" b="1" dirty="0">
                    <a:solidFill>
                      <a:srgbClr val="0070C0"/>
                    </a:solidFill>
                    <a:latin typeface="+mn-ea"/>
                  </a:rPr>
                  <a:t>证明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归纳法。</a:t>
                </a:r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∤</m:t>
                        </m:r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，恰有一解。</a:t>
                </a:r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假定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时为真，即最多有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个解，需证明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时最多只有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个解。如果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结论立即成立。</a:t>
                </a:r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D2A4DA70-8AD6-D2F5-39B1-CEFEDEBA6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732" y="962526"/>
                <a:ext cx="8403236" cy="5718748"/>
              </a:xfrm>
              <a:prstGeom prst="rect">
                <a:avLst/>
              </a:prstGeom>
              <a:blipFill>
                <a:blip r:embed="rId2"/>
                <a:stretch>
                  <a:fillRect l="-1668" t="-1599" r="-508" b="-6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92F48DC-3A49-2D55-9B8B-CAB694E41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57912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二次剩余的基本概念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73537D2-830C-BAC5-F70E-8F62CE3B45D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88495" y="1050758"/>
                <a:ext cx="8633001" cy="32926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6 </a:t>
                </a:r>
                <a:r>
                  <a:rPr lang="zh-CN" altLang="zh-CN" dirty="0"/>
                  <a:t>如果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/>
                  <a:t>是模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/>
                  <a:t>的二次剩余，则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         </m:t>
                    </m:r>
                    <m:sSup>
                      <m:sSup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dirty="0">
                    <a:latin typeface="+mn-ea"/>
                  </a:rPr>
                  <a:t>             (6) </a:t>
                </a:r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/>
                  <a:t>而如果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/>
                  <a:t>是模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/>
                  <a:t>的二次非剩余，则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。</a:t>
                </a:r>
                <a:r>
                  <a:rPr lang="en-US" altLang="zh-CN" dirty="0">
                    <a:latin typeface="+mn-ea"/>
                  </a:rPr>
                  <a:t>            (7)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73537D2-830C-BAC5-F70E-8F62CE3B4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495" y="1050758"/>
                <a:ext cx="8633001" cy="3292642"/>
              </a:xfrm>
              <a:prstGeom prst="rect">
                <a:avLst/>
              </a:prstGeom>
              <a:blipFill>
                <a:blip r:embed="rId2"/>
                <a:stretch>
                  <a:fillRect l="-1836" t="-2957" r="-12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81F0525-563D-DFAE-F443-A3A0D7A5A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021"/>
            <a:ext cx="57912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二次剩余的基本概念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B6796BC-6224-3B33-5B19-DA4D3F1A977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08547" y="657727"/>
                <a:ext cx="8706853" cy="59716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6</a:t>
                </a:r>
                <a:r>
                  <a:rPr lang="zh-CN" altLang="en-US" sz="2800" b="1" dirty="0">
                    <a:latin typeface="+mn-ea"/>
                  </a:rPr>
                  <a:t>证明</a:t>
                </a:r>
                <a:r>
                  <a:rPr lang="en-US" altLang="zh-CN" sz="28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sz="280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的二次剩余，则</a:t>
                </a:r>
                <a:r>
                  <a:rPr lang="en-US" altLang="zh-CN" sz="2800" dirty="0">
                    <a:latin typeface="+mn-ea"/>
                  </a:rPr>
                  <a:t>(4)</a:t>
                </a:r>
                <a:r>
                  <a:rPr lang="zh-CN" altLang="zh-CN" sz="2800" dirty="0">
                    <a:latin typeface="+mn-ea"/>
                  </a:rPr>
                  <a:t>有解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+mn-ea"/>
                  </a:rPr>
                  <a:t>,</a:t>
                </a:r>
                <a:r>
                  <a:rPr lang="zh-CN" altLang="zh-CN" sz="2800" dirty="0">
                    <a:latin typeface="+mn-ea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，即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，而由第三讲的费马小定理知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1≡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，即</a:t>
                </a:r>
                <a:r>
                  <a:rPr lang="en-US" altLang="zh-CN" sz="2800" dirty="0">
                    <a:latin typeface="+mn-ea"/>
                  </a:rPr>
                  <a:t>(3)</a:t>
                </a:r>
                <a:r>
                  <a:rPr lang="zh-CN" altLang="zh-CN" sz="2800" dirty="0">
                    <a:latin typeface="+mn-ea"/>
                  </a:rPr>
                  <a:t>式成立</a:t>
                </a:r>
                <a:r>
                  <a:rPr lang="zh-CN" altLang="en-US" sz="2800" dirty="0">
                    <a:latin typeface="+mn-ea"/>
                  </a:rPr>
                  <a:t>。</a:t>
                </a:r>
                <a:r>
                  <a:rPr lang="zh-CN" altLang="zh-CN" sz="2800" dirty="0">
                    <a:latin typeface="+mn-ea"/>
                  </a:rPr>
                  <a:t>再由费马小定理：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−1≡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>
                              <m:f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>
                              <m:f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altLang="zh-CN" sz="2800" dirty="0">
                    <a:latin typeface="+mn-ea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为奇素数，因此，</a:t>
                </a:r>
                <a:r>
                  <a:rPr lang="zh-CN" altLang="en-US" sz="2800" dirty="0">
                    <a:latin typeface="+mn-ea"/>
                  </a:rPr>
                  <a:t>（</a:t>
                </a:r>
                <a:r>
                  <a:rPr lang="en-US" altLang="zh-CN" sz="2800" dirty="0">
                    <a:latin typeface="+mn-ea"/>
                  </a:rPr>
                  <a:t>5</a:t>
                </a:r>
                <a:r>
                  <a:rPr lang="zh-CN" altLang="en-US" sz="2800" dirty="0">
                    <a:latin typeface="+mn-ea"/>
                  </a:rPr>
                  <a:t>）、（</a:t>
                </a:r>
                <a:r>
                  <a:rPr lang="en-US" altLang="zh-CN" sz="2800" dirty="0">
                    <a:latin typeface="+mn-ea"/>
                  </a:rPr>
                  <a:t>6</a:t>
                </a:r>
                <a:r>
                  <a:rPr lang="zh-CN" altLang="en-US" sz="2800" dirty="0">
                    <a:latin typeface="+mn-ea"/>
                  </a:rPr>
                  <a:t>）式</a:t>
                </a:r>
                <a:r>
                  <a:rPr lang="zh-CN" altLang="zh-CN" sz="2800" dirty="0">
                    <a:latin typeface="+mn-ea"/>
                  </a:rPr>
                  <a:t>只有一个成立</a:t>
                </a:r>
                <a:r>
                  <a:rPr lang="en-US" altLang="zh-CN" sz="2800" dirty="0">
                    <a:latin typeface="+mn-ea"/>
                  </a:rPr>
                  <a:t>)</a:t>
                </a:r>
                <a:r>
                  <a:rPr lang="zh-CN" altLang="zh-CN" sz="2800" dirty="0">
                    <a:latin typeface="+mn-ea"/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的二次剩余，给出了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sz="2800" dirty="0">
                    <a:latin typeface="+mn-ea"/>
                  </a:rPr>
                  <a:t>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dirty="0">
                    <a:latin typeface="+mn-ea"/>
                  </a:rPr>
                  <a:t>个解，且是全部解。于是由定理</a:t>
                </a:r>
                <a:r>
                  <a:rPr lang="en-US" altLang="zh-CN" sz="2800" dirty="0">
                    <a:latin typeface="+mn-ea"/>
                  </a:rPr>
                  <a:t>5</a:t>
                </a:r>
                <a:r>
                  <a:rPr lang="zh-CN" altLang="zh-CN" sz="2800" dirty="0">
                    <a:latin typeface="+mn-ea"/>
                  </a:rPr>
                  <a:t>知模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的缩系中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dirty="0">
                    <a:latin typeface="+mn-ea"/>
                  </a:rPr>
                  <a:t>个二次非剩余，只能给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sz="2800" dirty="0">
                    <a:latin typeface="+mn-ea"/>
                  </a:rPr>
                  <a:t>的全部解。</a:t>
                </a: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B6796BC-6224-3B33-5B19-DA4D3F1A9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547" y="657727"/>
                <a:ext cx="8706853" cy="5971674"/>
              </a:xfrm>
              <a:prstGeom prst="rect">
                <a:avLst/>
              </a:prstGeom>
              <a:blipFill>
                <a:blip r:embed="rId2"/>
                <a:stretch>
                  <a:fillRect l="-1400" t="-1122" r="-1050" b="-30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4B1E617-9083-26EB-02AA-278663F69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3332" y="381000"/>
            <a:ext cx="312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2 </a:t>
            </a:r>
            <a:r>
              <a:rPr lang="zh-CN" altLang="en-US" dirty="0">
                <a:solidFill>
                  <a:srgbClr val="0070C0"/>
                </a:solidFill>
              </a:rPr>
              <a:t>缩系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续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CED03C9-5BF4-15E1-BE76-7E3A776016F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1300" y="956733"/>
                <a:ext cx="8661400" cy="43010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由定理</a:t>
                </a:r>
                <a:r>
                  <a:rPr lang="en-US" altLang="zh-CN" dirty="0">
                    <a:solidFill>
                      <a:srgbClr val="0070C0"/>
                    </a:solidFill>
                    <a:latin typeface="+mn-ea"/>
                  </a:rPr>
                  <a:t>9</a:t>
                </a:r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立刻可得：</a:t>
                </a:r>
                <a:endParaRPr lang="en-US" altLang="zh-CN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 algn="just">
                  <a:buNone/>
                </a:pPr>
                <a:r>
                  <a:rPr lang="zh-CN" altLang="zh-CN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b="1" dirty="0">
                    <a:solidFill>
                      <a:srgbClr val="0070C0"/>
                    </a:solidFill>
                    <a:latin typeface="+mn-ea"/>
                  </a:rPr>
                  <a:t>10(</a:t>
                </a:r>
                <a:r>
                  <a:rPr lang="zh-CN" altLang="en-US" b="1" dirty="0">
                    <a:solidFill>
                      <a:srgbClr val="0070C0"/>
                    </a:solidFill>
                    <a:latin typeface="+mn-ea"/>
                  </a:rPr>
                  <a:t>费马小定理</a:t>
                </a:r>
                <a:r>
                  <a:rPr lang="en-US" altLang="zh-CN" b="1" dirty="0">
                    <a:solidFill>
                      <a:srgbClr val="0070C0"/>
                    </a:solidFill>
                    <a:latin typeface="+mn-ea"/>
                  </a:rPr>
                  <a:t>) </a:t>
                </a:r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是素数</a:t>
                </a:r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                        </m:t>
                        </m:r>
                        <m: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。</a:t>
                </a:r>
                <a:endParaRPr lang="en-US" altLang="zh-CN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 algn="just">
                  <a:buNone/>
                </a:pPr>
                <a:endParaRPr lang="en-US" altLang="zh-CN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zh-CN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b="1" dirty="0">
                    <a:solidFill>
                      <a:srgbClr val="0070C0"/>
                    </a:solidFill>
                    <a:latin typeface="+mn-ea"/>
                  </a:rPr>
                  <a:t>11 </a:t>
                </a:r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，</a:t>
                </a:r>
                <a:r>
                  <a:rPr lang="en-US" altLang="zh-CN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 kern="0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是分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别通过模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的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缩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系，则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通过模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的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缩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系</a:t>
                </a:r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。</a:t>
                </a:r>
                <a:endParaRPr lang="en-US" altLang="zh-CN" dirty="0">
                  <a:solidFill>
                    <a:srgbClr val="0070C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CED03C9-5BF4-15E1-BE76-7E3A7760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300" y="956733"/>
                <a:ext cx="8661400" cy="4301067"/>
              </a:xfrm>
              <a:prstGeom prst="rect">
                <a:avLst/>
              </a:prstGeom>
              <a:blipFill>
                <a:blip r:embed="rId2"/>
                <a:stretch>
                  <a:fillRect l="-1831" t="-1841" r="-18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043A0A5-A2CF-06FA-7DAC-4E42AC958D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228600"/>
            <a:ext cx="57912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二次剩余的基本概念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2BC9503-8565-1D70-8E0B-04EA1C4A6C9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989597"/>
                <a:ext cx="8446853" cy="4878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推论</a:t>
                </a:r>
                <a:r>
                  <a:rPr lang="en-US" altLang="zh-CN" b="1" dirty="0">
                    <a:latin typeface="+mn-ea"/>
                  </a:rPr>
                  <a:t>2 </a:t>
                </a:r>
                <a:r>
                  <a:rPr lang="zh-CN" altLang="en-US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的二次剩余的充分必要条件是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的二次非剩余的充分必要条件是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推论</a:t>
                </a:r>
                <a:r>
                  <a:rPr lang="en-US" altLang="zh-CN" b="1" dirty="0">
                    <a:latin typeface="+mn-ea"/>
                  </a:rPr>
                  <a:t>2</a:t>
                </a:r>
                <a:r>
                  <a:rPr lang="zh-CN" altLang="zh-CN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endParaRPr lang="zh-CN" altLang="zh-CN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←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dirty="0">
                    <a:latin typeface="+mn-ea"/>
                  </a:rPr>
                  <a:t>个二次剩余给出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的全部解。而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dirty="0">
                    <a:latin typeface="+mn-ea"/>
                  </a:rPr>
                  <a:t>个二次非剩余恰恰给出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的全部解。显然结论成立。</a:t>
                </a: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2BC9503-8565-1D70-8E0B-04EA1C4A6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989597"/>
                <a:ext cx="8446853" cy="4878805"/>
              </a:xfrm>
              <a:prstGeom prst="rect">
                <a:avLst/>
              </a:prstGeom>
              <a:blipFill>
                <a:blip r:embed="rId3"/>
                <a:stretch>
                  <a:fillRect l="-1804" t="-1998" r="-12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105D-3F77-B7F9-CE76-7CC825B3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FA03129-ED13-D349-83A6-70AF49E11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228600"/>
            <a:ext cx="57912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二次剩余的基本概念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B5357F65-2C7B-C632-7599-A4578C3333B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989597"/>
                <a:ext cx="8446853" cy="5487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zh-CN" sz="2800" b="1" dirty="0" smtClean="0">
                        <a:latin typeface="+mn-ea"/>
                      </a:rPr>
                      <m:t>推论</m:t>
                    </m:r>
                    <m:r>
                      <m:rPr>
                        <m:nor/>
                      </m:rPr>
                      <a:rPr lang="en-US" altLang="zh-CN" sz="2800" b="1" i="0" dirty="0" smtClean="0">
                        <a:latin typeface="+mn-ea"/>
                      </a:rPr>
                      <m:t>3 </m:t>
                    </m:r>
                    <m:r>
                      <a:rPr lang="zh-CN" altLang="zh-C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的二次剩余的充要条件是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zh-CN" altLang="zh-CN" sz="2800" dirty="0">
                    <a:latin typeface="+mn-ea"/>
                  </a:rPr>
                  <a:t>；当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zh-CN" altLang="zh-CN" sz="2800" dirty="0">
                    <a:latin typeface="+mn-ea"/>
                  </a:rPr>
                  <a:t>时，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               </m:t>
                        </m:r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smtClean="0">
                                <a:latin typeface="Cambria Math" panose="02040503050406030204" pitchFamily="18" charset="0"/>
                              </a:rPr>
                              <m:t>±</m:t>
                            </m:r>
                            <m:d>
                              <m:d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zh-CN" altLang="zh-C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+mn-ea"/>
                  </a:rPr>
                  <a:t>。</a:t>
                </a:r>
                <a:r>
                  <a:rPr lang="en-US" altLang="zh-CN" sz="2800" dirty="0">
                    <a:latin typeface="+mn-ea"/>
                  </a:rPr>
                  <a:t>      (8)</a:t>
                </a:r>
                <a:endParaRPr lang="zh-CN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推论</a:t>
                </a:r>
                <a:r>
                  <a:rPr lang="en-US" altLang="zh-CN" sz="2800" b="1" dirty="0">
                    <a:latin typeface="+mn-ea"/>
                  </a:rPr>
                  <a:t>3</a:t>
                </a:r>
                <a:r>
                  <a:rPr lang="zh-CN" altLang="zh-CN" sz="2800" b="1" dirty="0">
                    <a:latin typeface="+mn-ea"/>
                  </a:rPr>
                  <a:t>证明</a:t>
                </a:r>
                <a:r>
                  <a:rPr lang="en-US" altLang="zh-CN" sz="28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sz="2800" dirty="0"/>
                  <a:t>推论</a:t>
                </a:r>
                <a:r>
                  <a:rPr lang="en-US" altLang="zh-CN" sz="2800" dirty="0">
                    <a:latin typeface="+mn-ea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/>
                  <a:t>知，</a:t>
                </a:r>
                <a14:m>
                  <m:oMath xmlns:m="http://schemas.openxmlformats.org/officeDocument/2006/math">
                    <m:r>
                      <a:rPr lang="zh-CN" altLang="zh-C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sz="2800" dirty="0"/>
                  <a:t>是模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800" dirty="0"/>
                  <a:t>的二次剩余的充要条件是</a:t>
                </a:r>
              </a:p>
              <a:p>
                <a:pPr marL="0" indent="0">
                  <a:buNone/>
                </a:pPr>
                <a:r>
                  <a:rPr lang="en-US" altLang="zh-CN" sz="2800" dirty="0"/>
                  <a:t>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zh-CN" sz="2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。</a:t>
                </a:r>
                <a:endParaRPr lang="zh-CN" altLang="zh-CN" sz="2800" dirty="0"/>
              </a:p>
              <a:p>
                <a:pPr marL="0" indent="0">
                  <a:buNone/>
                </a:pPr>
                <a:r>
                  <a:rPr lang="zh-CN" altLang="zh-CN" sz="2800" dirty="0"/>
                  <a:t>由此及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zh-CN" altLang="zh-CN" sz="2800" dirty="0"/>
                  <a:t>推出充要条件是</a:t>
                </a:r>
                <a:endParaRPr lang="en-US" altLang="zh-CN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zh-CN" altLang="zh-CN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即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zh-CN" altLang="zh-CN" sz="2800" dirty="0"/>
                  <a:t>。</a:t>
                </a:r>
              </a:p>
              <a:p>
                <a:pPr marL="0" indent="0">
                  <a:buNone/>
                </a:pPr>
                <a:endParaRPr lang="zh-CN" altLang="zh-CN" b="1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B5357F65-2C7B-C632-7599-A4578C333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989597"/>
                <a:ext cx="8446853" cy="5487403"/>
              </a:xfrm>
              <a:prstGeom prst="rect">
                <a:avLst/>
              </a:prstGeom>
              <a:blipFill>
                <a:blip r:embed="rId3"/>
                <a:stretch>
                  <a:fillRect l="-1443" t="-13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963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DE8F5-88CE-50C0-BFF4-CB85FCFA3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B2F0798-1196-61DD-5A29-2CD24BE40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228600"/>
            <a:ext cx="57912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二次剩余的基本概念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60BD8B0D-C4A5-E696-1431-9C92BB3C5D9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989597"/>
                <a:ext cx="8610600" cy="3506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b="1" dirty="0">
                    <a:latin typeface="+mn-ea"/>
                  </a:rPr>
                  <a:t>推论</a:t>
                </a:r>
                <a:r>
                  <a:rPr lang="en-US" altLang="zh-CN" sz="3000" b="1" dirty="0">
                    <a:latin typeface="+mn-ea"/>
                  </a:rPr>
                  <a:t>3</a:t>
                </a:r>
                <a:r>
                  <a:rPr lang="zh-CN" altLang="zh-CN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.(</a:t>
                </a:r>
                <a:r>
                  <a:rPr lang="zh-CN" altLang="en-US" sz="3000" b="1" dirty="0">
                    <a:latin typeface="+mn-ea"/>
                  </a:rPr>
                  <a:t>续</a:t>
                </a:r>
                <a:r>
                  <a:rPr lang="en-US" altLang="zh-CN" sz="3000" b="1" dirty="0">
                    <a:latin typeface="+mn-ea"/>
                  </a:rPr>
                  <a:t>)</a:t>
                </a: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由第三讲定理</a:t>
                </a:r>
                <a:r>
                  <a:rPr lang="en-US" altLang="zh-CN" sz="3000" dirty="0">
                    <a:latin typeface="+mn-ea"/>
                  </a:rPr>
                  <a:t>5</a:t>
                </a:r>
                <a:r>
                  <a:rPr lang="zh-CN" altLang="zh-CN" sz="3000" dirty="0">
                    <a:latin typeface="+mn-ea"/>
                  </a:rPr>
                  <a:t>知</a:t>
                </a:r>
                <a:endParaRPr lang="en-US" altLang="zh-CN" sz="3000" i="1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zh-CN" sz="3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1≡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</a:rPr>
                      <m:t>!≡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1∙2∙⋯∙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∙⋯∙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zh-CN" altLang="zh-CN" sz="3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zh-CN" sz="3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zh-CN" sz="3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:endParaRPr lang="zh-CN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所以，当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时式</a:t>
                </a:r>
                <a:r>
                  <a:rPr lang="en-US" altLang="zh-CN" sz="3000" dirty="0">
                    <a:latin typeface="+mn-ea"/>
                  </a:rPr>
                  <a:t>(8)</a:t>
                </a:r>
                <a:r>
                  <a:rPr lang="zh-CN" altLang="zh-CN" sz="3000" dirty="0">
                    <a:latin typeface="+mn-ea"/>
                  </a:rPr>
                  <a:t>成立。</a:t>
                </a:r>
              </a:p>
              <a:p>
                <a:pPr marL="0" indent="0">
                  <a:buNone/>
                </a:pPr>
                <a:endParaRPr lang="zh-CN" altLang="zh-CN" sz="2800" dirty="0"/>
              </a:p>
              <a:p>
                <a:pPr marL="0" indent="0">
                  <a:buNone/>
                </a:pPr>
                <a:endParaRPr lang="zh-CN" altLang="zh-CN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60BD8B0D-C4A5-E696-1431-9C92BB3C5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989597"/>
                <a:ext cx="8610600" cy="3506203"/>
              </a:xfrm>
              <a:prstGeom prst="rect">
                <a:avLst/>
              </a:prstGeom>
              <a:blipFill>
                <a:blip r:embed="rId3"/>
                <a:stretch>
                  <a:fillRect l="-1628" t="-2257" b="-225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670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AE1A619-7AAA-B721-08A9-E7A4C014555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76200"/>
            <a:ext cx="5943600" cy="838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600" dirty="0">
                <a:solidFill>
                  <a:srgbClr val="0070C0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3600" dirty="0">
                <a:solidFill>
                  <a:srgbClr val="0070C0"/>
                </a:solidFill>
              </a:rPr>
              <a:t>剩余类和完全剩余系</a:t>
            </a:r>
            <a:r>
              <a:rPr lang="en-US" altLang="zh-CN" sz="3600" dirty="0">
                <a:solidFill>
                  <a:srgbClr val="0070C0"/>
                </a:solidFill>
              </a:rPr>
              <a:t>(</a:t>
            </a:r>
            <a:r>
              <a:rPr lang="zh-CN" altLang="en-US" sz="3600" dirty="0">
                <a:solidFill>
                  <a:srgbClr val="0070C0"/>
                </a:solidFill>
              </a:rPr>
              <a:t>续</a:t>
            </a:r>
            <a:r>
              <a:rPr lang="en-US" altLang="zh-CN" sz="3600" dirty="0">
                <a:solidFill>
                  <a:srgbClr val="0070C0"/>
                </a:solidFill>
              </a:rPr>
              <a:t>)</a:t>
            </a:r>
            <a:endParaRPr lang="en-US" altLang="zh-CN" sz="36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DE0AF94-D9EE-168B-366D-5665313EBFA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685800"/>
                <a:ext cx="8534400" cy="5943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zh-CN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b="1" dirty="0">
                    <a:solidFill>
                      <a:srgbClr val="0070C0"/>
                    </a:solidFill>
                    <a:latin typeface="+mn-ea"/>
                  </a:rPr>
                  <a:t>5(</a:t>
                </a:r>
                <a:r>
                  <a:rPr lang="zh-CN" altLang="en-US" b="1" dirty="0">
                    <a:solidFill>
                      <a:srgbClr val="0070C0"/>
                    </a:solidFill>
                    <a:latin typeface="+mn-ea"/>
                  </a:rPr>
                  <a:t>威尔逊定理</a:t>
                </a:r>
                <a:r>
                  <a:rPr lang="en-US" altLang="zh-CN" b="1" dirty="0">
                    <a:solidFill>
                      <a:srgbClr val="0070C0"/>
                    </a:solidFill>
                    <a:latin typeface="+mn-ea"/>
                  </a:rPr>
                  <a:t>) </a:t>
                </a:r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是一个素数，则</a:t>
                </a:r>
                <a:endParaRPr lang="en-US" altLang="zh-CN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!+1≡0(</m:t>
                    </m:r>
                    <m:r>
                      <m:rPr>
                        <m:sty m:val="p"/>
                      </m:rPr>
                      <a:rPr lang="en-US" altLang="zh-CN" b="0" i="0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。</a:t>
                </a:r>
                <a:endParaRPr lang="en-US" altLang="zh-CN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b="1" dirty="0">
                    <a:solidFill>
                      <a:srgbClr val="0070C0"/>
                    </a:solidFill>
                    <a:latin typeface="+mn-ea"/>
                  </a:rPr>
                  <a:t>5</a:t>
                </a:r>
                <a:r>
                  <a:rPr lang="zh-CN" altLang="en-US" b="1" dirty="0">
                    <a:solidFill>
                      <a:srgbClr val="0070C0"/>
                    </a:solidFill>
                    <a:latin typeface="+mn-ea"/>
                  </a:rPr>
                  <a:t>证明</a:t>
                </a:r>
                <a:r>
                  <a:rPr lang="en-US" altLang="zh-CN" b="1" dirty="0">
                    <a:solidFill>
                      <a:srgbClr val="0070C0"/>
                    </a:solidFill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zh-CN" altLang="en-US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b="0" i="0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时，同余式成立。</a:t>
                </a:r>
                <a:endParaRPr lang="en-US" altLang="zh-CN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是奇素数，</a:t>
                </a:r>
                <a:r>
                  <a:rPr lang="en-US" altLang="zh-CN" kern="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b="0" i="0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70C0"/>
                        </a:solidFill>
                        <a:latin typeface="+mn-ea"/>
                      </a:rPr>
                      <m:t>2</m:t>
                    </m:r>
                    <m:r>
                      <a:rPr lang="zh-CN" alt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70C0"/>
                        </a:solidFill>
                        <a:latin typeface="+mn-ea"/>
                      </a:rPr>
                      <m:t>3</m:t>
                    </m:r>
                    <m:r>
                      <a:rPr lang="zh-CN" alt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zh-CN" alt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0070C0"/>
                        </a:solidFill>
                        <a:latin typeface="+mn-ea"/>
                      </a:rPr>
                      <m:t>2</m:t>
                    </m:r>
                    <m:r>
                      <m:rPr>
                        <m:nor/>
                      </m:rPr>
                      <a:rPr lang="en-US" altLang="zh-CN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en-US" altLang="zh-CN" kern="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。因为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，所以有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𝑝𝑛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=1⇒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𝑎𝑚</m:t>
                    </m:r>
                    <m:r>
                      <a:rPr lang="en-US" altLang="zh-CN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，设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en-US" altLang="zh-CN" kern="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，知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≠1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en-US" altLang="zh-CN" kern="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≠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+mn-ea"/>
                  </a:rPr>
                  <a:t>,</a:t>
                </a:r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≠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，否则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)⇒</m:t>
                    </m:r>
                  </m:oMath>
                </a14:m>
                <a:r>
                  <a:rPr lang="en-US" altLang="zh-CN" kern="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−1)(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+1)≡0(</m:t>
                    </m:r>
                    <m:r>
                      <m:rPr>
                        <m:sty m:val="p"/>
                      </m:rPr>
                      <a:rPr lang="en-US" altLang="zh-CN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≠1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en-US" altLang="zh-CN" kern="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≠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，故不成立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。</a:t>
                </a:r>
                <a:endParaRPr lang="en-US" altLang="zh-CN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dirty="0"/>
              </a:p>
              <a:p>
                <a:pPr marL="0" indent="0">
                  <a:buFontTx/>
                  <a:buNone/>
                </a:pPr>
                <a:endParaRPr lang="zh-CN" altLang="en-US" sz="3000" kern="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DE0AF94-D9EE-168B-366D-5665313EB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685800"/>
                <a:ext cx="8534400" cy="5943600"/>
              </a:xfrm>
              <a:prstGeom prst="rect">
                <a:avLst/>
              </a:prstGeom>
              <a:blipFill>
                <a:blip r:embed="rId2"/>
                <a:stretch>
                  <a:fillRect l="-1786" t="-1641" b="-12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84C5-4E4C-8140-C51C-737B1F3B0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82FF2ED-1538-283F-1CA9-C5689C7C3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76200"/>
            <a:ext cx="57912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二次剩余的基本概念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CAE851A-8CD5-74BD-356D-04D3B1BEF5B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838200"/>
                <a:ext cx="8610600" cy="5868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推论</a:t>
                </a:r>
                <a:r>
                  <a:rPr lang="en-US" altLang="zh-CN" b="1" dirty="0">
                    <a:latin typeface="+mn-ea"/>
                  </a:rPr>
                  <a:t>4 </a:t>
                </a:r>
                <a:r>
                  <a:rPr lang="zh-CN" altLang="zh-CN" dirty="0">
                    <a:latin typeface="+mn-ea"/>
                  </a:rPr>
                  <a:t>设素数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∤</m:t>
                    </m:r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zh-CN" dirty="0">
                        <a:latin typeface="+mn-ea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∤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，那么，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(1) </a:t>
                </a:r>
                <a:r>
                  <a:rPr lang="zh-CN" altLang="zh-CN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均为模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的二次剩余，则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也是模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的二次剩余；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(2) </a:t>
                </a:r>
                <a:r>
                  <a:rPr lang="zh-CN" altLang="zh-CN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均为模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的二次非剩余，则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的二次剩余；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(3) </a:t>
                </a:r>
                <a:r>
                  <a:rPr lang="zh-CN" altLang="zh-CN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的二次剩余，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的二次非剩余，则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的二次非剩余。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推论</a:t>
                </a:r>
                <a:r>
                  <a:rPr lang="en-US" altLang="zh-CN" b="1" dirty="0">
                    <a:latin typeface="+mn-ea"/>
                  </a:rPr>
                  <a:t>4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这由</a:t>
                </a:r>
                <a:r>
                  <a:rPr lang="zh-CN" altLang="en-US" dirty="0">
                    <a:latin typeface="+mn-ea"/>
                  </a:rPr>
                  <a:t>推论</a:t>
                </a:r>
                <a:r>
                  <a:rPr lang="en-US" altLang="zh-CN" dirty="0">
                    <a:latin typeface="+mn-ea"/>
                  </a:rPr>
                  <a:t>2</a:t>
                </a:r>
                <a:r>
                  <a:rPr lang="zh-CN" altLang="zh-CN" dirty="0"/>
                  <a:t>及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dirty="0"/>
                  <a:t>，</a:t>
                </a:r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立即推出。</a:t>
                </a:r>
              </a:p>
              <a:p>
                <a:pPr marL="0" indent="0">
                  <a:buNone/>
                </a:pPr>
                <a:endParaRPr lang="zh-CN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CAE851A-8CD5-74BD-356D-04D3B1BEF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838200"/>
                <a:ext cx="8610600" cy="5868403"/>
              </a:xfrm>
              <a:prstGeom prst="rect">
                <a:avLst/>
              </a:prstGeom>
              <a:blipFill>
                <a:blip r:embed="rId3"/>
                <a:stretch>
                  <a:fillRect l="-1769" t="-1663" r="-1699" b="-13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4981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DD1E5C1-8D65-4278-EF6D-1BA6AD39429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5761</TotalTime>
  <Words>2702</Words>
  <Application>Microsoft Office PowerPoint</Application>
  <PresentationFormat>全屏显示(4:3)</PresentationFormat>
  <Paragraphs>149</Paragraphs>
  <Slides>27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等线</vt:lpstr>
      <vt:lpstr>宋体</vt:lpstr>
      <vt:lpstr>Arial</vt:lpstr>
      <vt:lpstr>Cambria Math</vt:lpstr>
      <vt:lpstr>Times New Roman</vt:lpstr>
      <vt:lpstr>Wingdings</vt:lpstr>
      <vt:lpstr>默认设计模板</vt:lpstr>
      <vt:lpstr>第五讲 初等数论 5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259</cp:revision>
  <cp:lastPrinted>2026-03-22T11:55:54Z</cp:lastPrinted>
  <dcterms:created xsi:type="dcterms:W3CDTF">1601-01-01T00:00:00Z</dcterms:created>
  <dcterms:modified xsi:type="dcterms:W3CDTF">2026-03-23T02:35:40Z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