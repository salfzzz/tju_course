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323" r:id="rId4"/>
    <p:sldId id="324" r:id="rId5"/>
    <p:sldId id="327" r:id="rId6"/>
    <p:sldId id="326" r:id="rId7"/>
    <p:sldId id="325" r:id="rId8"/>
    <p:sldId id="258" r:id="rId9"/>
    <p:sldId id="259" r:id="rId10"/>
    <p:sldId id="328" r:id="rId11"/>
    <p:sldId id="264" r:id="rId12"/>
    <p:sldId id="329" r:id="rId13"/>
    <p:sldId id="261" r:id="rId14"/>
    <p:sldId id="269" r:id="rId15"/>
    <p:sldId id="262" r:id="rId16"/>
    <p:sldId id="270" r:id="rId17"/>
    <p:sldId id="271" r:id="rId18"/>
    <p:sldId id="265" r:id="rId19"/>
    <p:sldId id="330" r:id="rId20"/>
    <p:sldId id="272" r:id="rId21"/>
    <p:sldId id="273" r:id="rId22"/>
    <p:sldId id="266" r:id="rId23"/>
    <p:sldId id="263" r:id="rId2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95CE755-2186-4E8E-BD6F-8DB8975D02CE}">
          <p14:sldIdLst>
            <p14:sldId id="256"/>
            <p14:sldId id="257"/>
            <p14:sldId id="323"/>
            <p14:sldId id="324"/>
            <p14:sldId id="327"/>
            <p14:sldId id="326"/>
            <p14:sldId id="325"/>
            <p14:sldId id="258"/>
            <p14:sldId id="259"/>
            <p14:sldId id="328"/>
            <p14:sldId id="264"/>
            <p14:sldId id="329"/>
            <p14:sldId id="261"/>
            <p14:sldId id="269"/>
            <p14:sldId id="262"/>
            <p14:sldId id="270"/>
            <p14:sldId id="271"/>
            <p14:sldId id="265"/>
            <p14:sldId id="330"/>
            <p14:sldId id="272"/>
            <p14:sldId id="273"/>
            <p14:sldId id="266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1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2B9736C-0829-A03A-F696-CF62D88354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8FE489-DF4B-682D-AC6D-E135D82051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C11EAE3-F3D0-4217-B10B-783C71A10265}" type="datetime1">
              <a:rPr lang="zh-CN" altLang="en-US" smtClean="0"/>
              <a:t>2026/3/11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A4752C-5A07-65A2-4AA5-6C9AF60560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F69CE3-3B50-5D04-EABC-58A9D29AF5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53622C8-5B8B-490C-8B4C-5C73BA707A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93A83-EF76-4C90-961F-FAEF112E6212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C4EE2-323C-4C5D-A01C-99E8286A5C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4781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8F5E12-1699-A89B-B52D-1178D3C6A0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5895C-BB4B-4999-8A1F-7E1FCA06B81B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E6CCCE-FA9B-44B1-5837-AF22C2C79C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A85434-76CE-F347-92F8-B003E1894C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E344B-4ACD-4FC3-BC6E-9E69D26F85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31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A93009-8839-E651-5CD1-AA51F38CC4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6C9FB-6D54-4DE0-A909-AF34A0EA2CC3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7782AF-C5BA-9B85-A518-F3BF7C5A18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D2F558-3FC5-402F-9955-068FF6B96C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179868-9DC0-4A20-9256-4F2D33A825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9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D5D50C-9CDE-FEEF-F528-49F324D941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6621B-ECCB-4D01-B423-ADAEDCA259A8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608FD-7DC4-47B6-1F0E-9541422ADB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9FF2A2-9747-0FDF-09B0-88E6815875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1B691-75C3-4E21-8B0A-CB4C849DB6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99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A42F3-773A-B1F9-1C1A-564C07576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72C35-E91E-469D-BB35-F5F12109FDDA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BC73F8-5A75-9A9D-5710-CDB13E8407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D25C25-909E-46FD-C977-C87C01FD62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2A8B9-71F2-4CDD-A5A6-29ABCFC2E3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717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9024D09-FE3B-92E6-F6AE-3F0EEE2B16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49148-A469-41ED-A9C2-4F80538043DE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4385D75-D8BE-60D9-A83D-674F9E4B18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F11D538-5C7A-CDCE-9953-BAD2DBE558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0A9DA-02BB-4A25-B31C-CED1F66E72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98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098E206-A827-3938-E7D6-C73C5C7C2B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C52000-F36B-4006-AB21-D9C59255A9AD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EE66F54-5538-3B0F-9FC4-D36FF3F4BA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4AFB598-C175-EB80-29F0-12C1CA22E9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0F1FA-B984-4457-A0F2-C11A0FD016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415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7AFF71E-E7A1-9A27-BDDA-64A5F4149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38838-69E0-4AC6-A132-2041EB386367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535867-573E-FAA7-6C3F-31130E7BDA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8026FE-95A1-1817-E296-56B0EF08DC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B1072-F1C0-454C-8B62-C7E39BA4DC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974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A962E2-AB7E-C25F-D4BF-948F0DA60F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A0A58-66E8-48AA-8DB3-1FE1A7D0437A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6E21CC-95E5-0442-5BB5-5E16D739B0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063CCB-527C-7FE2-21B3-C404B86359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EB1A9-2429-4B46-AA26-9E880585A2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57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A4FFA-860E-D231-10A6-7065914AEE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70259-745A-48AE-A704-4458559C6103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65798-4E24-AF92-A50C-F2F1E56B61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AED28-D571-0609-B4B2-6DB49D15FB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C41DF-B8DE-4E29-9EC7-97744C7CD8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998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D9D25C-3CB8-AC05-4217-23CE02BD9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0B6EE-1FCD-4E37-A80A-34C6AE2D2B55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35D1E4-F489-53A6-98DF-31EDB78329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FE8E6C-0CC5-5800-3A3C-B8EDE1F023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3D3A8C-11F0-4CDB-9D45-377BBDB311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4381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0F48A5-BE5F-04B2-7E0B-B221361A89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C5E73-D730-42D3-81DB-F96BC00D25EA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D205D5-ECF0-9F41-A088-2F68F11774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73E81B-BAD1-0D4B-BD13-BCA5C2D38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83406-FE76-43FB-99F0-17D48C11CF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5610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06BF8-0965-737E-147D-D32B755C26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96697-39F8-4F81-957F-1F39A27789C3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795C24-ECF0-11FD-4640-96B7EA64E7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B0EBB-D469-D477-70DB-25450C6157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5C66EF-9632-4401-B2B4-493FDA7856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32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8C66C34-809C-59C8-1D9F-4B1DD511A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B29A0E-6D4A-8D4F-08B4-EF12251BE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B1D2F0-010C-F71B-84E5-6C4465B1BA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fld id="{3420C734-3288-488D-B2C7-687C8E8DC4C9}" type="datetime1">
              <a:rPr lang="zh-CN" altLang="en-US" smtClean="0"/>
              <a:t>2026/3/11</a:t>
            </a:fld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25DA1E-1340-BCB7-5331-0B181C9305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D51FDB3-50FE-B29D-097C-6B99E75B89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4F4069B-2D14-484C-B914-1BD925A9BF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C967D24-2128-7C36-2351-7D5A4686B8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47800" y="1676400"/>
            <a:ext cx="65532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第二讲 初等数论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FECB462-6CF6-E2F5-6DB4-17DB5C0FC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962415F-5784-301E-1111-78B5F8446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6172200" cy="1905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3600"/>
              <a:t> </a:t>
            </a:r>
            <a:r>
              <a:rPr lang="zh-CN" altLang="en-US" sz="3600"/>
              <a:t>整数的基本概念</a:t>
            </a:r>
            <a:r>
              <a:rPr lang="en-US" altLang="zh-CN" sz="3600"/>
              <a:t>(</a:t>
            </a:r>
            <a:r>
              <a:rPr lang="zh-CN" altLang="en-US" sz="3600"/>
              <a:t>续</a:t>
            </a:r>
            <a:r>
              <a:rPr lang="en-US" altLang="zh-CN" sz="3600"/>
              <a:t>)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3600"/>
              <a:t> </a:t>
            </a:r>
            <a:r>
              <a:rPr lang="zh-CN" altLang="en-US" sz="3600"/>
              <a:t>同余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A6CD059C-FD70-AA84-9C81-1FADEF9F7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800" y="88900"/>
            <a:ext cx="2514600" cy="685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1.1 </a:t>
            </a:r>
            <a:r>
              <a:rPr lang="zh-CN" altLang="en-US" dirty="0">
                <a:latin typeface="Times New Roman" panose="02020603050405020304" pitchFamily="18" charset="0"/>
              </a:rPr>
              <a:t>素数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3496A35-4366-B14E-594C-43DBEB6C034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7800" y="651655"/>
                <a:ext cx="8204200" cy="55546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定义</a:t>
                </a:r>
                <a:r>
                  <a:rPr lang="en-US" altLang="zh-CN" sz="3000" b="1" kern="0" dirty="0">
                    <a:latin typeface="+mn-ea"/>
                  </a:rPr>
                  <a:t>1 </a:t>
                </a:r>
                <a:r>
                  <a:rPr lang="zh-CN" altLang="zh-CN" sz="3000" dirty="0">
                    <a:latin typeface="+mn-ea"/>
                  </a:rPr>
                  <a:t>一个大于</a:t>
                </a:r>
                <a:r>
                  <a:rPr lang="en-US" altLang="zh-CN" sz="3000" dirty="0">
                    <a:latin typeface="+mn-ea"/>
                  </a:rPr>
                  <a:t>1</a:t>
                </a:r>
                <a:r>
                  <a:rPr lang="zh-CN" altLang="zh-CN" sz="3000" dirty="0">
                    <a:latin typeface="+mn-ea"/>
                  </a:rPr>
                  <a:t>的正整数，如果它的正因数只有</a:t>
                </a:r>
                <a:r>
                  <a:rPr lang="en-US" altLang="zh-CN" sz="3000" dirty="0">
                    <a:latin typeface="+mn-ea"/>
                  </a:rPr>
                  <a:t>1</a:t>
                </a:r>
                <a:r>
                  <a:rPr lang="zh-CN" altLang="zh-CN" sz="3000" dirty="0">
                    <a:latin typeface="+mn-ea"/>
                  </a:rPr>
                  <a:t>和它本身，就叫做素数，否则就叫做合数。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  <a:cs typeface="Times New Roman" panose="02020603050405020304" pitchFamily="18" charset="0"/>
                  </a:rPr>
                  <a:t>性质</a:t>
                </a:r>
                <a:r>
                  <a:rPr lang="en-US" altLang="zh-CN" sz="3000" b="1" kern="0" dirty="0">
                    <a:latin typeface="+mn-ea"/>
                    <a:cs typeface="Times New Roman" panose="02020603050405020304" pitchFamily="18" charset="0"/>
                  </a:rPr>
                  <a:t>1 </a:t>
                </a:r>
                <a:r>
                  <a:rPr lang="zh-CN" altLang="en-US" sz="3000" kern="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 kern="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是任一大于</a:t>
                </a:r>
                <a:r>
                  <a:rPr lang="en-US" altLang="zh-CN" sz="3000" kern="0" dirty="0">
                    <a:latin typeface="+mn-ea"/>
                  </a:rPr>
                  <a:t>1</a:t>
                </a:r>
                <a:r>
                  <a:rPr lang="zh-CN" altLang="en-US" sz="3000" kern="0" dirty="0">
                    <a:latin typeface="+mn-ea"/>
                  </a:rPr>
                  <a:t>的整数，则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的除</a:t>
                </a:r>
                <a:r>
                  <a:rPr lang="en-US" altLang="zh-CN" sz="3000" kern="0" dirty="0">
                    <a:latin typeface="+mn-ea"/>
                  </a:rPr>
                  <a:t>1</a:t>
                </a:r>
                <a:r>
                  <a:rPr lang="zh-CN" altLang="en-US" sz="3000" kern="0" dirty="0">
                    <a:latin typeface="+mn-ea"/>
                  </a:rPr>
                  <a:t>以外的最小正因数</a:t>
                </a:r>
                <a14:m>
                  <m:oMath xmlns:m="http://schemas.openxmlformats.org/officeDocument/2006/math"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是素数，并且当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是合数时，</a:t>
                </a: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                               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000" i="1" kern="0" dirty="0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3000" i="1" kern="0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lang="zh-CN" altLang="en-US" sz="3000" kern="0" dirty="0">
                    <a:latin typeface="+mn-ea"/>
                  </a:rPr>
                  <a:t>。</a:t>
                </a: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性质</a:t>
                </a:r>
                <a:r>
                  <a:rPr lang="en-US" altLang="zh-CN" sz="3000" b="1" kern="0" dirty="0">
                    <a:latin typeface="+mn-ea"/>
                  </a:rPr>
                  <a:t>1</a:t>
                </a:r>
                <a:r>
                  <a:rPr lang="zh-CN" altLang="en-US" sz="3000" b="1" kern="0" dirty="0">
                    <a:latin typeface="+mn-ea"/>
                  </a:rPr>
                  <a:t>证明</a:t>
                </a:r>
                <a:r>
                  <a:rPr lang="en-US" altLang="zh-CN" sz="3000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en-US" sz="3000" kern="0" dirty="0">
                    <a:latin typeface="+mn-ea"/>
                  </a:rPr>
                  <a:t>（反证法）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不是素数，则其还有因子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，这与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是最小因子矛盾。故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是素数。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是合数，则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i="1" kern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000" i="1" kern="0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 ≥</m:t>
                    </m:r>
                    <m:sSup>
                      <m:sSupPr>
                        <m:ctrlPr>
                          <a:rPr lang="en-US" altLang="zh-CN" sz="3000" i="1" kern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 kern="0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3496A35-4366-B14E-594C-43DBEB6C0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800" y="651655"/>
                <a:ext cx="8204200" cy="5554690"/>
              </a:xfrm>
              <a:prstGeom prst="rect">
                <a:avLst/>
              </a:prstGeom>
              <a:blipFill>
                <a:blip r:embed="rId2"/>
                <a:stretch>
                  <a:fillRect l="-1709" t="-1427" b="-3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724B6AE6-D02E-95E0-1B65-99A168F44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800" y="300038"/>
            <a:ext cx="30480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1.1 </a:t>
            </a:r>
            <a:r>
              <a:rPr lang="zh-CN" altLang="en-US" dirty="0">
                <a:latin typeface="Times New Roman" panose="02020603050405020304" pitchFamily="18" charset="0"/>
              </a:rPr>
              <a:t>素数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续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57C4366-BD0F-6F6B-34AC-4E9486E2790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7800" y="985838"/>
                <a:ext cx="8509000" cy="4500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1 </a:t>
                </a:r>
                <a:r>
                  <a:rPr lang="zh-CN" altLang="en-US" kern="0" dirty="0">
                    <a:latin typeface="+mn-ea"/>
                  </a:rPr>
                  <a:t>素数的个数是无穷的。</a:t>
                </a:r>
                <a:endParaRPr lang="en-US" altLang="zh-CN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1</a:t>
                </a:r>
                <a:r>
                  <a:rPr lang="zh-CN" altLang="en-US" b="1" kern="0" dirty="0">
                    <a:latin typeface="+mn-ea"/>
                  </a:rPr>
                  <a:t>证明</a:t>
                </a:r>
                <a:r>
                  <a:rPr lang="en-US" altLang="zh-CN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en-US" kern="0" dirty="0">
                    <a:latin typeface="+mn-ea"/>
                  </a:rPr>
                  <a:t>（反证法）如果素数的个数是有限的，可令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是全体素数。可再令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，知其必为合数，而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不可能为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之中任意一个整除，必然存在其它素数，因此，与素数的个数是有限的假设矛盾。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57C4366-BD0F-6F6B-34AC-4E9486E27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800" y="985838"/>
                <a:ext cx="8509000" cy="4500562"/>
              </a:xfrm>
              <a:prstGeom prst="rect">
                <a:avLst/>
              </a:prstGeom>
              <a:blipFill>
                <a:blip r:embed="rId2"/>
                <a:stretch>
                  <a:fillRect l="-1791" t="-1762" r="-15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3DBA-C4A3-ADD7-2500-605738EC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A5D09633-873A-722B-6D19-9128191CF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800" y="300038"/>
            <a:ext cx="30480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1.1 </a:t>
            </a:r>
            <a:r>
              <a:rPr lang="zh-CN" altLang="en-US" dirty="0">
                <a:latin typeface="Times New Roman" panose="02020603050405020304" pitchFamily="18" charset="0"/>
              </a:rPr>
              <a:t>素数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续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566355D-7135-A69C-3002-47EE6A59E99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7800" y="1057276"/>
                <a:ext cx="8432800" cy="5191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2 </a:t>
                </a:r>
                <a:r>
                  <a:rPr lang="zh-CN" altLang="en-US" kern="0" dirty="0">
                    <a:latin typeface="+mn-ea"/>
                  </a:rPr>
                  <a:t>存在无穷多个形如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的素数。</a:t>
                </a:r>
              </a:p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2</a:t>
                </a:r>
                <a:r>
                  <a:rPr lang="zh-CN" altLang="en-US" b="1" kern="0" dirty="0">
                    <a:latin typeface="+mn-ea"/>
                  </a:rPr>
                  <a:t>证明</a:t>
                </a:r>
                <a:r>
                  <a:rPr lang="en-US" altLang="zh-CN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en-US" kern="0" dirty="0">
                    <a:latin typeface="+mn-ea"/>
                  </a:rPr>
                  <a:t>（反证法）假定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是最大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型素数，令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∙3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7⋯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3∙5∙7⋯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表示所有</a:t>
                </a:r>
                <a14:m>
                  <m:oMath xmlns:m="http://schemas.openxmlformats.org/officeDocument/2006/math"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的奇素数之积。因为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型，所以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为合数。又因为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的素因数全都大于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，而两个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型整数之积还是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型整数，因此，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必有一个大于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型素因子因数（如果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型因子不是素数，其一定也有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型因子，以此类推可知）。</a:t>
                </a:r>
                <a:endParaRPr lang="en-US" altLang="zh-CN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8566355D-7135-A69C-3002-47EE6A59E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800" y="1057276"/>
                <a:ext cx="8432800" cy="5191124"/>
              </a:xfrm>
              <a:prstGeom prst="rect">
                <a:avLst/>
              </a:prstGeom>
              <a:blipFill>
                <a:blip r:embed="rId2"/>
                <a:stretch>
                  <a:fillRect l="-1806" t="-1878" r="-1806" b="-29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50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CD3913C3-573A-D07E-474B-14F4293EB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000" y="152400"/>
            <a:ext cx="30480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1.1 </a:t>
            </a:r>
            <a:r>
              <a:rPr lang="zh-CN" altLang="en-US" dirty="0">
                <a:latin typeface="Times New Roman" panose="02020603050405020304" pitchFamily="18" charset="0"/>
              </a:rPr>
              <a:t>素数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续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6015338-A481-2FA7-64EA-C3DF11588B2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8860" y="685800"/>
                <a:ext cx="8846279" cy="5812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定理</a:t>
                </a:r>
                <a:r>
                  <a:rPr lang="en-US" altLang="zh-CN" sz="3000" b="1" kern="0" dirty="0">
                    <a:latin typeface="+mn-ea"/>
                  </a:rPr>
                  <a:t>3 </a:t>
                </a:r>
                <a:r>
                  <a:rPr lang="zh-CN" altLang="en-US" sz="3000" kern="0" dirty="0">
                    <a:latin typeface="+mn-ea"/>
                  </a:rPr>
                  <a:t>对于任意给定整数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latin typeface="+mn-ea"/>
                  </a:rPr>
                  <a:t>，不存在整系数多项式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取所有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latin typeface="+mn-ea"/>
                  </a:rPr>
                  <a:t>的整数时，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000" kern="0" dirty="0">
                    <a:latin typeface="+mn-ea"/>
                  </a:rPr>
                  <a:t>都表示素数。</a:t>
                </a: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定理</a:t>
                </a:r>
                <a:r>
                  <a:rPr lang="en-US" altLang="zh-CN" sz="3000" b="1" kern="0" dirty="0">
                    <a:latin typeface="+mn-ea"/>
                  </a:rPr>
                  <a:t>3</a:t>
                </a:r>
                <a:r>
                  <a:rPr lang="zh-CN" altLang="en-US" sz="3000" b="1" kern="0" dirty="0">
                    <a:latin typeface="+mn-ea"/>
                  </a:rPr>
                  <a:t>证明</a:t>
                </a:r>
                <a:r>
                  <a:rPr lang="en-US" altLang="zh-CN" sz="3000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en-US" sz="30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/>
                  <a:t>为一素数，对正整数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3000" dirty="0"/>
                  <a:t>，有</a:t>
                </a:r>
                <a:endParaRPr lang="en-US" altLang="zh-CN" sz="3000" dirty="0"/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𝑝𝑦</m:t>
                        </m:r>
                      </m:e>
                    </m:d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𝑝𝑀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3000" kern="0" dirty="0"/>
                  <a:t> </a:t>
                </a:r>
                <a:endParaRPr lang="en-US" altLang="zh-CN" sz="30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3000" i="1" kern="0" dirty="0">
                    <a:latin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𝑝𝑦</m:t>
                        </m:r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+1)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000" dirty="0"/>
              </a:p>
              <a:p>
                <a:pPr marL="0" indent="0">
                  <a:buFontTx/>
                  <a:buNone/>
                </a:pPr>
                <a:r>
                  <a:rPr lang="zh-CN" altLang="en-US" sz="3000" dirty="0"/>
                  <a:t>而至多只有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/>
                  <a:t>个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3000" dirty="0"/>
                  <a:t>使得</a:t>
                </a:r>
                <a:endParaRPr lang="en-US" altLang="zh-CN" sz="3000" dirty="0"/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𝑝𝑦</m:t>
                        </m:r>
                      </m:e>
                    </m:d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/>
                  <a:t>。</a:t>
                </a:r>
                <a:endParaRPr lang="en-US" altLang="zh-CN" sz="3000" dirty="0"/>
              </a:p>
              <a:p>
                <a:pPr marL="0" indent="0">
                  <a:buFontTx/>
                  <a:buNone/>
                </a:pPr>
                <a:r>
                  <a:rPr lang="zh-CN" altLang="en-US" sz="3000" dirty="0"/>
                  <a:t>因此，当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3000" dirty="0"/>
                  <a:t>充分大时，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𝑝𝑦</m:t>
                        </m:r>
                      </m:e>
                    </m:d>
                  </m:oMath>
                </a14:m>
                <a:r>
                  <a:rPr lang="zh-CN" altLang="en-US" sz="3000" dirty="0"/>
                  <a:t>不总是一个素数。</a:t>
                </a:r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6015338-A481-2FA7-64EA-C3DF11588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860" y="685800"/>
                <a:ext cx="8846279" cy="5812201"/>
              </a:xfrm>
              <a:prstGeom prst="rect">
                <a:avLst/>
              </a:prstGeom>
              <a:blipFill>
                <a:blip r:embed="rId2"/>
                <a:stretch>
                  <a:fillRect l="-1584" t="-1574" b="-19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6">
            <a:extLst>
              <a:ext uri="{FF2B5EF4-FFF2-40B4-BE49-F238E27FC236}">
                <a16:creationId xmlns:a16="http://schemas.microsoft.com/office/drawing/2014/main" id="{48C4C49A-EDF8-1401-25A2-58A7774E7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846" y="0"/>
            <a:ext cx="3048000" cy="544643"/>
          </a:xfrm>
          <a:noFill/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1.1 </a:t>
            </a:r>
            <a:r>
              <a:rPr lang="zh-CN" altLang="en-US" dirty="0">
                <a:latin typeface="Times New Roman" panose="02020603050405020304" pitchFamily="18" charset="0"/>
              </a:rPr>
              <a:t>素数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续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0965" name="Rectangle 4">
            <a:extLst>
              <a:ext uri="{FF2B5EF4-FFF2-40B4-BE49-F238E27FC236}">
                <a16:creationId xmlns:a16="http://schemas.microsoft.com/office/drawing/2014/main" id="{18AD1DE4-156B-5053-2A25-8D2770422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" y="544643"/>
            <a:ext cx="9061554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None/>
            </a:pP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   200</a:t>
            </a:r>
            <a:r>
              <a:rPr lang="zh-CN" altLang="en-US" sz="2800" dirty="0"/>
              <a:t>以内的素数：</a:t>
            </a:r>
          </a:p>
          <a:p>
            <a:pPr algn="just" eaLnBrk="1" hangingPunct="1">
              <a:buFontTx/>
              <a:buNone/>
            </a:pPr>
            <a:r>
              <a:rPr lang="zh-CN" altLang="en-US" sz="2800" dirty="0">
                <a:latin typeface="Cambria Math" panose="02040503050406030204" pitchFamily="18" charset="0"/>
              </a:rPr>
              <a:t>    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2 3 5 7 11 13 17 19 23 29 31 37 41 43 47 53 59 61 67 71 73 79 83 89 97 101 103 107 109 113 127 131 137 139 149 151 157 163 167 173 179 181 191 193 197 199</a:t>
            </a:r>
            <a:r>
              <a:rPr lang="zh-CN" alt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。</a:t>
            </a:r>
            <a:r>
              <a:rPr lang="en-US" altLang="zh-CN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869FFBE-661F-D59C-A8C9-B8A9BBD85B8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2335" y="2514600"/>
                <a:ext cx="8656819" cy="419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定理</a:t>
                </a:r>
                <a:r>
                  <a:rPr lang="en-US" altLang="zh-CN" sz="2800" b="1" kern="0" dirty="0">
                    <a:latin typeface="+mn-ea"/>
                  </a:rPr>
                  <a:t>4 (</a:t>
                </a:r>
                <a:r>
                  <a:rPr lang="zh-CN" altLang="en-US" sz="2800" b="1" kern="0" dirty="0">
                    <a:latin typeface="+mn-ea"/>
                  </a:rPr>
                  <a:t>素数数量定理</a:t>
                </a:r>
                <a:r>
                  <a:rPr lang="en-US" altLang="zh-CN" sz="2800" b="1" kern="0" dirty="0">
                    <a:latin typeface="+mn-ea"/>
                  </a:rPr>
                  <a:t>) </a:t>
                </a:r>
                <a:r>
                  <a:rPr lang="zh-CN" altLang="en-US" sz="2800" kern="0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zh-CN" altLang="en-US" sz="2800" i="1" kern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表示小于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的所有素数，则有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 kern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CN" sz="2800" b="0" i="0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，也就是说当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时，比率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kern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800" i="0" ker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kern="0" dirty="0">
                    <a:latin typeface="+mn-ea"/>
                  </a:rPr>
                  <a:t>在各种密码应用中经常要求使用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位左右的十进制素数</a:t>
                </a:r>
                <a:r>
                  <a:rPr lang="en-US" altLang="zh-CN" sz="2800" kern="0" dirty="0">
                    <a:latin typeface="+mn-ea"/>
                  </a:rPr>
                  <a:t>, </a:t>
                </a:r>
                <a:r>
                  <a:rPr lang="zh-CN" altLang="en-US" sz="2800" kern="0" dirty="0">
                    <a:latin typeface="+mn-ea"/>
                  </a:rPr>
                  <a:t>通过定理</a:t>
                </a:r>
                <a:r>
                  <a:rPr lang="en-US" altLang="zh-CN" sz="2800" kern="0" dirty="0">
                    <a:latin typeface="+mn-ea"/>
                  </a:rPr>
                  <a:t>4</a:t>
                </a:r>
                <a:r>
                  <a:rPr lang="zh-CN" altLang="en-US" sz="2800" kern="0" dirty="0">
                    <a:latin typeface="+mn-ea"/>
                  </a:rPr>
                  <a:t>我们可以估计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 kern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800" i="1" kern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800" i="1" kern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299</m:t>
                            </m:r>
                          </m:sup>
                        </m:sSup>
                      </m:e>
                    </m:d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28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300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i="0" kern="0">
                            <a:latin typeface="Cambria Math" panose="02040503050406030204" pitchFamily="18" charset="0"/>
                          </a:rPr>
                          <m:t>ln</m:t>
                        </m:r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300</m:t>
                            </m:r>
                          </m:sup>
                        </m:sSup>
                      </m:den>
                    </m:f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800" b="0" i="1" kern="0" smtClean="0">
                                <a:latin typeface="Cambria Math" panose="02040503050406030204" pitchFamily="18" charset="0"/>
                              </a:rPr>
                              <m:t>299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i="0" kern="0">
                            <a:latin typeface="Cambria Math" panose="02040503050406030204" pitchFamily="18" charset="0"/>
                          </a:rPr>
                          <m:t>ln</m:t>
                        </m:r>
                        <m:sSup>
                          <m:sSup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299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1.3∙</m:t>
                    </m:r>
                    <m:sSup>
                      <m:sSup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297</m:t>
                        </m:r>
                      </m:sup>
                    </m:sSup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kern="0" dirty="0">
                    <a:latin typeface="+mn-ea"/>
                  </a:rPr>
                  <a:t>因此，足够使用。</a:t>
                </a:r>
                <a:endParaRPr lang="en-US" altLang="zh-CN" sz="280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869FFBE-661F-D59C-A8C9-B8A9BBD85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335" y="2514600"/>
                <a:ext cx="8656819" cy="4191000"/>
              </a:xfrm>
              <a:prstGeom prst="rect">
                <a:avLst/>
              </a:prstGeom>
              <a:blipFill>
                <a:blip r:embed="rId2"/>
                <a:stretch>
                  <a:fillRect l="-1408" t="-1892" r="-1408" b="-23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11DC07F-50F2-27C7-622D-3844EF2F4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607" y="152400"/>
            <a:ext cx="4343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1.2 </a:t>
            </a:r>
            <a:r>
              <a:rPr lang="zh-CN" altLang="en-US" dirty="0">
                <a:latin typeface="Times New Roman" panose="02020603050405020304" pitchFamily="18" charset="0"/>
              </a:rPr>
              <a:t>整数唯一分解定理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E2C2AFE-1895-7821-06BA-9AE25E71057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8855" y="762000"/>
                <a:ext cx="8846279" cy="586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引理</a:t>
                </a:r>
                <a:r>
                  <a:rPr lang="en-US" altLang="zh-CN" sz="2800" b="1" kern="0" dirty="0">
                    <a:latin typeface="+mn-ea"/>
                  </a:rPr>
                  <a:t>1 </a:t>
                </a:r>
                <a:r>
                  <a:rPr lang="zh-CN" altLang="en-US" sz="2800" kern="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是一素数，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是任一整数，则有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</a:p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引理</a:t>
                </a:r>
                <a:r>
                  <a:rPr lang="en-US" altLang="zh-CN" sz="2800" b="1" kern="0" dirty="0">
                    <a:latin typeface="+mn-ea"/>
                  </a:rPr>
                  <a:t>1</a:t>
                </a:r>
                <a:r>
                  <a:rPr lang="zh-CN" altLang="en-US" sz="2800" b="1" kern="0" dirty="0">
                    <a:latin typeface="+mn-ea"/>
                  </a:rPr>
                  <a:t>证明</a:t>
                </a:r>
                <a:r>
                  <a:rPr lang="en-US" altLang="zh-CN" sz="2800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)|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sz="28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。其中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引理</a:t>
                </a:r>
                <a:r>
                  <a:rPr lang="en-US" altLang="zh-CN" sz="2800" b="1" kern="0" dirty="0">
                    <a:latin typeface="+mn-ea"/>
                  </a:rPr>
                  <a:t>2 </a:t>
                </a:r>
                <a:r>
                  <a:rPr lang="zh-CN" altLang="en-US" sz="2800" kern="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引理</a:t>
                </a:r>
                <a:r>
                  <a:rPr lang="en-US" altLang="zh-CN" sz="2800" b="1" kern="0" dirty="0">
                    <a:latin typeface="+mn-ea"/>
                  </a:rPr>
                  <a:t>2</a:t>
                </a:r>
                <a:r>
                  <a:rPr lang="zh-CN" altLang="en-US" sz="2800" b="1" kern="0" dirty="0">
                    <a:latin typeface="+mn-ea"/>
                  </a:rPr>
                  <a:t>证明</a:t>
                </a:r>
                <a:r>
                  <a:rPr lang="en-US" altLang="zh-CN" sz="2800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en-US" sz="2800" kern="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∤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，则由引理</a:t>
                </a:r>
                <a:r>
                  <a:rPr lang="en-US" altLang="zh-CN" sz="2800" kern="0" dirty="0">
                    <a:latin typeface="+mn-ea"/>
                  </a:rPr>
                  <a:t>1</a:t>
                </a:r>
                <a:r>
                  <a:rPr lang="zh-CN" altLang="en-US" sz="2800" kern="0" dirty="0">
                    <a:latin typeface="+mn-ea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，由第一讲定理</a:t>
                </a:r>
                <a:r>
                  <a:rPr lang="en-US" altLang="zh-CN" sz="2800" kern="0" dirty="0">
                    <a:latin typeface="+mn-ea"/>
                  </a:rPr>
                  <a:t>5</a:t>
                </a:r>
                <a:r>
                  <a:rPr lang="zh-CN" altLang="en-US" sz="2800" kern="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kern="0" dirty="0">
                    <a:latin typeface="+mn-ea"/>
                  </a:rPr>
                  <a:t>一般形式：若素数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，则必有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2800" kern="0" dirty="0">
                    <a:latin typeface="+mn-ea"/>
                  </a:rPr>
                  <a:t> </a:t>
                </a:r>
                <a:r>
                  <a:rPr lang="zh-CN" altLang="en-US" sz="2800" kern="0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  <a:endParaRPr lang="en-US" altLang="zh-CN" sz="280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E2C2AFE-1895-7821-06BA-9AE25E710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855" y="762000"/>
                <a:ext cx="8846279" cy="5867400"/>
              </a:xfrm>
              <a:prstGeom prst="rect">
                <a:avLst/>
              </a:prstGeom>
              <a:blipFill>
                <a:blip r:embed="rId2"/>
                <a:stretch>
                  <a:fillRect l="-1378" t="-1246" b="-16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6C895ACD-B6A0-26AC-C09A-6C125D955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5738" y="76200"/>
            <a:ext cx="48768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整数唯一分解定理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2A57CE8-001F-CC6A-29F1-B459CD408BE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48860" y="609600"/>
                <a:ext cx="8846279" cy="6172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定理</a:t>
                </a:r>
                <a:r>
                  <a:rPr lang="en-US" altLang="zh-CN" sz="2800" b="1" kern="0" dirty="0">
                    <a:latin typeface="+mn-ea"/>
                  </a:rPr>
                  <a:t>5(</a:t>
                </a:r>
                <a:r>
                  <a:rPr lang="zh-CN" altLang="en-US" sz="2800" b="1" kern="0" dirty="0">
                    <a:latin typeface="+mn-ea"/>
                  </a:rPr>
                  <a:t>整数唯一分解定理</a:t>
                </a:r>
                <a:r>
                  <a:rPr lang="en-US" altLang="zh-CN" sz="2800" b="1" kern="0" dirty="0">
                    <a:latin typeface="+mn-ea"/>
                  </a:rPr>
                  <a:t>) </a:t>
                </a:r>
                <a:r>
                  <a:rPr lang="zh-CN" altLang="en-US" sz="2800" kern="0" dirty="0">
                    <a:latin typeface="+mn-ea"/>
                  </a:rPr>
                  <a:t>任何大于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的正整数都能分解成素数的乘积，即对于整数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CN" sz="2800" kern="0" dirty="0">
                    <a:latin typeface="+mn-ea"/>
                  </a:rPr>
                  <a:t>,</a:t>
                </a:r>
                <a:r>
                  <a:rPr lang="zh-CN" altLang="en-US" sz="2800" kern="0" dirty="0">
                    <a:latin typeface="+mn-ea"/>
                  </a:rPr>
                  <a:t>有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b="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                            (1)</m:t>
                    </m:r>
                  </m:oMath>
                </a14:m>
                <a:endParaRPr lang="en-US" altLang="zh-CN" sz="2800" b="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kern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kern="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都是素数，并且若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                           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kern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kern="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都是素数，则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800" kern="0" dirty="0">
                            <a:latin typeface="+mn-ea"/>
                          </a:rPr>
                          <m:t>，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nor/>
                          </m:rPr>
                          <a:rPr lang="zh-CN" altLang="en-US" sz="2800" kern="0" dirty="0">
                            <a:latin typeface="+mn-ea"/>
                          </a:rPr>
                          <m:t>，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定理</a:t>
                </a:r>
                <a:r>
                  <a:rPr lang="en-US" altLang="zh-CN" sz="2800" b="1" kern="0" dirty="0">
                    <a:latin typeface="+mn-ea"/>
                  </a:rPr>
                  <a:t>5</a:t>
                </a:r>
                <a:r>
                  <a:rPr lang="zh-CN" altLang="en-US" sz="2800" b="1" kern="0" dirty="0">
                    <a:latin typeface="+mn-ea"/>
                  </a:rPr>
                  <a:t>证明</a:t>
                </a:r>
                <a:r>
                  <a:rPr lang="en-US" altLang="zh-CN" sz="2800" b="1" kern="0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2800" kern="0" dirty="0">
                    <a:latin typeface="+mn-ea"/>
                  </a:rPr>
                  <a:t>首先，证明式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成立。数学归纳法，当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时式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显然成立。假定一切小于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的正整数都成立，考虑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如果为素数显然成立，如果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为合数则必有分解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altLang="zh-CN" sz="2800" kern="0" dirty="0">
                    <a:latin typeface="+mn-ea"/>
                  </a:rPr>
                  <a:t>,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800" kern="0" dirty="0">
                    <a:latin typeface="+mn-ea"/>
                  </a:rPr>
                  <a:t>,</a:t>
                </a:r>
                <a:r>
                  <a:rPr lang="zh-CN" altLang="en-US" sz="2800" kern="0" dirty="0">
                    <a:latin typeface="+mn-ea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都能表示为素数乘积，因此，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也能表示为素数乘积，故式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成立。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2A57CE8-001F-CC6A-29F1-B459CD408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860" y="609600"/>
                <a:ext cx="8846279" cy="6172200"/>
              </a:xfrm>
              <a:prstGeom prst="rect">
                <a:avLst/>
              </a:prstGeom>
              <a:blipFill>
                <a:blip r:embed="rId2"/>
                <a:stretch>
                  <a:fillRect l="-1377" t="-1185" r="-413" b="-21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1959-47E4-3AD8-150F-6335DFB3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4E09190E-BFAA-276E-37DF-8B434F67C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5738" y="123825"/>
            <a:ext cx="48768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整数唯一分解定理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1C6A48D-9E37-134E-B01F-E542C636123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5738" y="717186"/>
                <a:ext cx="8653462" cy="43120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5</a:t>
                </a:r>
                <a:r>
                  <a:rPr lang="zh-CN" altLang="en-US" b="1" kern="0" dirty="0">
                    <a:latin typeface="+mn-ea"/>
                  </a:rPr>
                  <a:t>证明</a:t>
                </a:r>
                <a:r>
                  <a:rPr lang="en-US" altLang="zh-CN" b="1" kern="0" dirty="0">
                    <a:latin typeface="+mn-ea"/>
                  </a:rPr>
                  <a:t>.</a:t>
                </a:r>
                <a:r>
                  <a:rPr lang="en-US" altLang="zh-CN" kern="0" dirty="0">
                    <a:latin typeface="+mn-ea"/>
                  </a:rPr>
                  <a:t>(</a:t>
                </a:r>
                <a:r>
                  <a:rPr lang="zh-CN" altLang="en-US" kern="0" dirty="0">
                    <a:latin typeface="+mn-ea"/>
                  </a:rPr>
                  <a:t>续</a:t>
                </a:r>
                <a:r>
                  <a:rPr lang="en-US" altLang="zh-CN" kern="0" dirty="0">
                    <a:latin typeface="+mn-ea"/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zh-CN" altLang="en-US" kern="0" dirty="0">
                    <a:latin typeface="+mn-ea"/>
                  </a:rPr>
                  <a:t>其次</a:t>
                </a:r>
                <a:r>
                  <a:rPr lang="en-US" altLang="zh-CN" kern="0" dirty="0">
                    <a:latin typeface="+mn-ea"/>
                  </a:rPr>
                  <a:t>,</a:t>
                </a:r>
                <a:r>
                  <a:rPr lang="zh-CN" altLang="en-US" kern="0" dirty="0">
                    <a:latin typeface="+mn-ea"/>
                  </a:rPr>
                  <a:t>证明唯一性。由式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和式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，由引理</a:t>
                </a:r>
                <a:r>
                  <a:rPr lang="en-US" altLang="zh-CN" kern="0" dirty="0">
                    <a:latin typeface="+mn-ea"/>
                  </a:rPr>
                  <a:t>2</a:t>
                </a:r>
                <a:r>
                  <a:rPr lang="zh-CN" altLang="en-US" kern="0" dirty="0">
                    <a:latin typeface="+mn-ea"/>
                  </a:rPr>
                  <a:t>的一般形式可知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为素数，所以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。同时有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。进一步，由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可以得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，以此类推，最后可得，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。</a:t>
                </a:r>
                <a:endParaRPr lang="en-US" altLang="zh-CN" dirty="0"/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1C6A48D-9E37-134E-B01F-E542C6361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738" y="717186"/>
                <a:ext cx="8653462" cy="4312014"/>
              </a:xfrm>
              <a:prstGeom prst="rect">
                <a:avLst/>
              </a:prstGeom>
              <a:blipFill>
                <a:blip r:embed="rId2"/>
                <a:stretch>
                  <a:fillRect l="-1761" t="-1839" r="-1761" b="-8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1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946F650F-3167-CB32-3C3A-AE60E3EEF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5738" y="123825"/>
            <a:ext cx="48768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整数唯一分解定理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91E1380B-8E62-FE58-E653-80EAF04A3A0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18217" y="733425"/>
                <a:ext cx="8348662" cy="4343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整数唯一分解定理成立与素数和整数的定义有关。例如，考虑自然数的子集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{3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+1|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dirty="0">
                    <a:latin typeface="+mn-ea"/>
                  </a:rPr>
                  <a:t>，如果定义其素数是恰有两个因子</a:t>
                </a:r>
                <a:r>
                  <a:rPr lang="zh-CN" altLang="en-US" dirty="0">
                    <a:latin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dirty="0">
                    <a:latin typeface="+mn-ea"/>
                  </a:rPr>
                  <a:t>中，例如</a:t>
                </a:r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19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22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⋯ </m:t>
                    </m:r>
                  </m:oMath>
                </a14:m>
                <a:r>
                  <a:rPr lang="zh-CN" altLang="zh-CN" dirty="0">
                    <a:latin typeface="+mn-ea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dirty="0">
                    <a:latin typeface="+mn-ea"/>
                  </a:rPr>
                  <a:t>中的素数，那么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dirty="0">
                    <a:latin typeface="+mn-ea"/>
                  </a:rPr>
                  <a:t>中的数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zh-CN" dirty="0">
                    <a:latin typeface="+mn-ea"/>
                  </a:rPr>
                  <a:t>就有两种分解形式：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00=4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100=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91E1380B-8E62-FE58-E653-80EAF04A3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217" y="733425"/>
                <a:ext cx="8348662" cy="4343400"/>
              </a:xfrm>
              <a:prstGeom prst="rect">
                <a:avLst/>
              </a:prstGeom>
              <a:blipFill>
                <a:blip r:embed="rId2"/>
                <a:stretch>
                  <a:fillRect l="-1899" t="-1823" r="-16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CE3F7-6214-6D47-9A57-1552CD3C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9FEABE11-1C18-45CA-6BC5-35F32DD31C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1990" y="76200"/>
            <a:ext cx="48768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整数唯一分解定理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FAE89C1-DB6D-132E-5926-750C8C584C7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1990" y="609600"/>
                <a:ext cx="8780020" cy="6172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FontTx/>
                  <a:buNone/>
                </a:pPr>
                <a:r>
                  <a:rPr lang="zh-CN" altLang="en-US" sz="2600" kern="0" dirty="0">
                    <a:latin typeface="+mn-ea"/>
                  </a:rPr>
                  <a:t>算术基本定理说明，任意大于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的整数能够唯一写成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b="0" i="1" kern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zh-CN" sz="2600" i="1" kern="0" smtClea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zh-CN" altLang="en-US" sz="26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 kern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&gt;0</m:t>
                    </m:r>
                    <m:d>
                      <m:d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 dirty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b="0" i="1" kern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是素数。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sz="2600" kern="0" dirty="0">
                    <a:latin typeface="+mn-ea"/>
                  </a:rPr>
                  <a:t>因此，对于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，且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zh-CN" altLang="en-US" sz="2600" kern="0" dirty="0">
                    <a:latin typeface="+mn-ea"/>
                  </a:rPr>
                  <a:t>，</a:t>
                </a:r>
                <a:r>
                  <a:rPr lang="en-US" altLang="zh-CN" sz="26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i="1" kern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 dirty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zh-CN" altLang="en-US" sz="2600" kern="0" dirty="0">
                    <a:latin typeface="+mn-ea"/>
                  </a:rPr>
                  <a:t>，</a:t>
                </a:r>
                <a:r>
                  <a:rPr lang="en-US" altLang="zh-CN" sz="26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≥0</m:t>
                    </m:r>
                    <m:d>
                      <m:d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 dirty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None/>
                </a:pPr>
                <a:r>
                  <a:rPr lang="zh-CN" altLang="en-US" sz="2600" kern="0" dirty="0">
                    <a:latin typeface="+mn-ea"/>
                  </a:rPr>
                  <a:t>则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sz="2600" i="1" kern="0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600" b="0" i="0" kern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600" i="0" kern="0"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600" i="0" kern="0"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600" kern="0" dirty="0">
                    <a:latin typeface="+mn-ea"/>
                  </a:rPr>
                  <a:t>，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600" kern="0" dirty="0" smtClean="0">
                        <a:latin typeface="+mn-ea"/>
                      </a:rPr>
                      <m:t>[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altLang="zh-CN" sz="2600" kern="0" dirty="0">
                        <a:latin typeface="+mn-ea"/>
                      </a:rPr>
                      <m:t>]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600" i="0" kern="0">
                                <a:latin typeface="Cambria Math" panose="02040503050406030204" pitchFamily="18" charset="0"/>
                              </a:rPr>
                              <m:t>ma</m:t>
                            </m:r>
                            <m:r>
                              <m:rPr>
                                <m:sty m:val="p"/>
                              </m:rPr>
                              <a:rPr lang="en-US" altLang="zh-CN" sz="2600" b="0" i="0" kern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600" i="0" kern="0">
                                <a:latin typeface="Cambria Math" panose="02040503050406030204" pitchFamily="18" charset="0"/>
                              </a:rPr>
                              <m:t>max</m:t>
                            </m:r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600" i="0" kern="0">
                                <a:latin typeface="Cambria Math" panose="02040503050406030204" pitchFamily="18" charset="0"/>
                              </a:rPr>
                              <m:t>max</m:t>
                            </m:r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600" kern="0" dirty="0">
                    <a:latin typeface="+mn-ea"/>
                  </a:rPr>
                  <a:t>。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sz="2600" kern="0" dirty="0">
                    <a:latin typeface="+mn-ea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600" b="0" i="0" kern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sz="2600" b="0" i="1" kern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600" b="0" i="0" kern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zh-CN" altLang="en-US" sz="2600" i="1" kern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2600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sz="2600" kern="0" dirty="0">
                    <a:latin typeface="+mn-ea"/>
                  </a:rPr>
                  <a:t>所以，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6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i="1" kern="0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]</m:t>
                    </m:r>
                    <m:d>
                      <m:dPr>
                        <m:ctrlPr>
                          <a:rPr lang="en-US" altLang="zh-CN" sz="26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即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sz="26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600" b="0" i="0" kern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𝑎𝑏</m:t>
                        </m:r>
                      </m:num>
                      <m:den>
                        <m:d>
                          <m:dPr>
                            <m:ctrlPr>
                              <a:rPr lang="en-US" altLang="zh-CN" sz="2600" i="1" kern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CN" altLang="en-US" sz="2600" i="1" ker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600" kern="0" dirty="0">
                    <a:latin typeface="+mn-ea"/>
                  </a:rPr>
                  <a:t>。</a:t>
                </a:r>
                <a:endParaRPr lang="en-US" altLang="zh-CN" sz="2600" kern="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FAE89C1-DB6D-132E-5926-750C8C584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990" y="609600"/>
                <a:ext cx="8780020" cy="6172200"/>
              </a:xfrm>
              <a:prstGeom prst="rect">
                <a:avLst/>
              </a:prstGeom>
              <a:blipFill>
                <a:blip r:embed="rId2"/>
                <a:stretch>
                  <a:fillRect l="-1250" t="-10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066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23EDB29-4BF4-7381-3337-00175174D98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76200"/>
            <a:ext cx="4038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1.3 </a:t>
            </a:r>
            <a:r>
              <a:rPr lang="zh-CN" altLang="en-US" dirty="0"/>
              <a:t>一次不定方程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EB1E31F-BC73-0008-FF43-8BD5C9B16DA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0200" y="685800"/>
                <a:ext cx="8432800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3000" kern="0" dirty="0">
                    <a:latin typeface="+mn-ea"/>
                  </a:rPr>
                  <a:t>二元一次不定方程是指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              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 </a:t>
                </a:r>
                <a:r>
                  <a:rPr lang="en-US" altLang="zh-CN" sz="3000" kern="0" dirty="0">
                    <a:latin typeface="+mn-ea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3000" kern="0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是给定的整数，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。</a:t>
                </a: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定理</a:t>
                </a:r>
                <a:r>
                  <a:rPr lang="en-US" altLang="zh-CN" sz="3000" b="1" kern="0" dirty="0">
                    <a:latin typeface="+mn-ea"/>
                  </a:rPr>
                  <a:t>6 </a:t>
                </a:r>
                <a:r>
                  <a:rPr lang="zh-CN" altLang="en-US" sz="3000" kern="0" dirty="0">
                    <a:latin typeface="+mn-ea"/>
                  </a:rPr>
                  <a:t>方程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有整数解的充分必要条件是</a:t>
                </a: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                          (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kern="0" dirty="0">
                        <a:latin typeface="+mn-ea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)|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。</a:t>
                </a:r>
              </a:p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定理</a:t>
                </a:r>
                <a:r>
                  <a:rPr lang="en-US" altLang="zh-CN" sz="3000" b="1" kern="0" dirty="0">
                    <a:latin typeface="+mn-ea"/>
                  </a:rPr>
                  <a:t>6</a:t>
                </a:r>
                <a:r>
                  <a:rPr lang="zh-CN" altLang="en-US" sz="3000" b="1" kern="0" dirty="0">
                    <a:latin typeface="+mn-ea"/>
                  </a:rPr>
                  <a:t>证明</a:t>
                </a:r>
                <a:r>
                  <a:rPr lang="en-US" altLang="zh-CN" sz="3000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 有解时显然成立。</a:t>
                </a: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 不失一般性，设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kern="0" dirty="0">
                        <a:latin typeface="+mn-ea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。由上一讲定理</a:t>
                </a:r>
                <a:r>
                  <a:rPr lang="en-US" altLang="zh-CN" sz="3000" kern="0" dirty="0">
                    <a:latin typeface="+mn-ea"/>
                  </a:rPr>
                  <a:t>4</a:t>
                </a:r>
                <a:r>
                  <a:rPr lang="zh-CN" altLang="en-US" sz="3000" kern="0" dirty="0">
                    <a:latin typeface="+mn-ea"/>
                  </a:rPr>
                  <a:t>知，存在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nor/>
                      </m:rPr>
                      <a:rPr lang="en-US" altLang="zh-CN" sz="3000" b="0" i="0" kern="0" smtClean="0">
                        <a:latin typeface="+mn-ea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，于是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𝑛𝑢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𝑛𝑣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就是一组解。</a:t>
                </a:r>
              </a:p>
              <a:p>
                <a:pPr marL="0" indent="0">
                  <a:buFontTx/>
                  <a:buNone/>
                </a:pPr>
                <a:endParaRPr lang="zh-CN" altLang="en-US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EB1E31F-BC73-0008-FF43-8BD5C9B16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200" y="685800"/>
                <a:ext cx="8432800" cy="5943600"/>
              </a:xfrm>
              <a:prstGeom prst="rect">
                <a:avLst/>
              </a:prstGeom>
              <a:blipFill>
                <a:blip r:embed="rId2"/>
                <a:stretch>
                  <a:fillRect l="-1662" t="-1333" b="-1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9D2A109-BB88-B68A-8CE8-EBEB003B819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4046" y="76200"/>
            <a:ext cx="4921354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1.3 </a:t>
            </a:r>
            <a:r>
              <a:rPr lang="zh-CN" altLang="en-US" dirty="0"/>
              <a:t>一次不定方程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FDBD6DC-2E65-6099-F7BD-997AB712C62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4046" y="667062"/>
                <a:ext cx="8959954" cy="6114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2600" b="1" kern="0" dirty="0">
                    <a:latin typeface="+mn-ea"/>
                  </a:rPr>
                  <a:t>定理</a:t>
                </a:r>
                <a:r>
                  <a:rPr lang="en-US" altLang="zh-CN" sz="2600" b="1" kern="0" dirty="0">
                    <a:latin typeface="+mn-ea"/>
                  </a:rPr>
                  <a:t>7 </a:t>
                </a:r>
                <a:r>
                  <a:rPr lang="zh-CN" altLang="en-US" sz="2600" kern="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600" kern="0" dirty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6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600" i="1" kern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方程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的全部解可表示为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，</a:t>
                </a:r>
                <a:r>
                  <a:rPr lang="en-US" altLang="zh-CN" sz="26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b="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en-US" sz="26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600" kern="0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6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600" kern="0" dirty="0">
                    <a:latin typeface="+mn-ea"/>
                  </a:rPr>
                  <a:t>为方程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(3)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的一组解，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为任意整数。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600" b="1" kern="0" dirty="0">
                    <a:latin typeface="+mn-ea"/>
                  </a:rPr>
                  <a:t>定理</a:t>
                </a:r>
                <a:r>
                  <a:rPr lang="en-US" altLang="zh-CN" sz="2600" b="1" kern="0" dirty="0">
                    <a:latin typeface="+mn-ea"/>
                  </a:rPr>
                  <a:t>7</a:t>
                </a:r>
                <a:r>
                  <a:rPr lang="zh-CN" altLang="en-US" sz="2600" b="1" kern="0" dirty="0">
                    <a:latin typeface="+mn-ea"/>
                  </a:rPr>
                  <a:t>证明</a:t>
                </a:r>
                <a:r>
                  <a:rPr lang="en-US" altLang="zh-CN" sz="2600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en-US" sz="2600" kern="0" dirty="0">
                    <a:latin typeface="+mn-ea"/>
                  </a:rPr>
                  <a:t>正确性</a:t>
                </a:r>
                <a:r>
                  <a:rPr lang="en-US" altLang="zh-CN" sz="2600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6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。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600" kern="0" dirty="0">
                    <a:latin typeface="+mn-ea"/>
                  </a:rPr>
                  <a:t>通解性</a:t>
                </a:r>
                <a:r>
                  <a:rPr lang="en-US" altLang="zh-CN" sz="2600" kern="0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2600" kern="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kern="0" dirty="0">
                    <a:latin typeface="+mn-ea"/>
                  </a:rPr>
                  <a:t>为任意一组解，则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6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，又知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。因此，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b="0" i="1" kern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600" b="0" i="1" kern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kern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600" i="1" ker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600" b="0" i="1" kern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600" i="1" kern="0">
                          <a:latin typeface="Cambria Math" panose="02040503050406030204" pitchFamily="18" charset="0"/>
                        </a:rPr>
                        <m:t>。</m:t>
                      </m:r>
                      <m:r>
                        <a:rPr lang="en-US" altLang="zh-CN" sz="2600" b="0" i="1" kern="0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600" i="1" kern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600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600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600" kern="0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600" kern="0" dirty="0">
                        <a:latin typeface="+mn-ea"/>
                      </a:rPr>
                      <m:t>，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)=1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由上一讲定理</a:t>
                </a:r>
                <a:r>
                  <a:rPr lang="en-US" altLang="zh-CN" sz="2600" kern="0" dirty="0">
                    <a:latin typeface="+mn-ea"/>
                  </a:rPr>
                  <a:t>5</a:t>
                </a:r>
                <a:r>
                  <a:rPr lang="zh-CN" altLang="en-US" sz="2600" kern="0" dirty="0">
                    <a:latin typeface="+mn-ea"/>
                  </a:rPr>
                  <a:t>，可知</a:t>
                </a:r>
                <a:endParaRPr lang="en-US" altLang="zh-CN" sz="2600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600" kern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 kern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。将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kern="0" dirty="0">
                    <a:latin typeface="+mn-ea"/>
                  </a:rPr>
                  <a:t>带入</a:t>
                </a:r>
                <a14:m>
                  <m:oMath xmlns:m="http://schemas.openxmlformats.org/officeDocument/2006/math"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(4)</m:t>
                    </m:r>
                    <m:r>
                      <a:rPr lang="zh-CN" altLang="en-US" sz="2600" i="1" kern="0">
                        <a:latin typeface="Cambria Math" panose="02040503050406030204" pitchFamily="18" charset="0"/>
                      </a:rPr>
                      <m:t>得</m:t>
                    </m:r>
                  </m:oMath>
                </a14:m>
                <a:endParaRPr lang="en-US" altLang="zh-CN" sz="2600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sz="2600" kern="0" dirty="0">
                        <a:latin typeface="+mn-ea"/>
                      </a:rPr>
                      <m:t> 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，整理得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6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 ker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600" kern="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endParaRPr lang="en-US" altLang="zh-CN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zh-CN" altLang="en-US" sz="28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zh-CN" altLang="en-US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sz="30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FDBD6DC-2E65-6099-F7BD-997AB712C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046" y="667062"/>
                <a:ext cx="8959954" cy="6114738"/>
              </a:xfrm>
              <a:prstGeom prst="rect">
                <a:avLst/>
              </a:prstGeom>
              <a:blipFill>
                <a:blip r:embed="rId2"/>
                <a:stretch>
                  <a:fillRect l="-1224" t="-1096" b="-9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0B7EAAF-3726-09D9-9E96-B96651B22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4191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1.3 </a:t>
            </a:r>
            <a:r>
              <a:rPr lang="zh-CN" altLang="en-US" dirty="0"/>
              <a:t>一次不定方程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E2BE3AC-6148-8522-8216-254C69A500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3200" y="914400"/>
                <a:ext cx="8737600" cy="3657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8 </a:t>
                </a:r>
                <a:r>
                  <a:rPr lang="zh-CN" altLang="en-US" kern="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dirty="0">
                    <a:latin typeface="+mn-ea"/>
                  </a:rPr>
                  <a:t>元一次不定方程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CN" altLang="zh-CN" dirty="0">
                    <a:latin typeface="+mn-ea"/>
                  </a:rPr>
                  <a:t>， 有整数解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dirty="0">
                        <a:latin typeface="+mn-ea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zh-CN" altLang="en-US" dirty="0">
                        <a:latin typeface="+mn-ea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的充分必要条件是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。</m:t>
                      </m:r>
                    </m:oMath>
                  </m:oMathPara>
                </a14:m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8</a:t>
                </a:r>
                <a:r>
                  <a:rPr lang="zh-CN" altLang="zh-CN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模仿定理</a:t>
                </a:r>
                <a:r>
                  <a:rPr lang="en-US" altLang="zh-CN" dirty="0">
                    <a:latin typeface="+mn-ea"/>
                  </a:rPr>
                  <a:t>6</a:t>
                </a:r>
                <a:r>
                  <a:rPr lang="zh-CN" altLang="zh-CN" dirty="0">
                    <a:latin typeface="+mn-ea"/>
                  </a:rPr>
                  <a:t>，结合上一讲定理</a:t>
                </a:r>
                <a:r>
                  <a:rPr lang="en-US" altLang="zh-CN" dirty="0">
                    <a:latin typeface="+mn-ea"/>
                  </a:rPr>
                  <a:t>7</a:t>
                </a:r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FontTx/>
                  <a:buNone/>
                </a:pPr>
                <a:endParaRPr lang="zh-CN" altLang="en-US" kern="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E2BE3AC-6148-8522-8216-254C69A50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200" y="914400"/>
                <a:ext cx="8737600" cy="3657600"/>
              </a:xfrm>
              <a:prstGeom prst="rect">
                <a:avLst/>
              </a:prstGeom>
              <a:blipFill>
                <a:blip r:embed="rId2"/>
                <a:stretch>
                  <a:fillRect l="-1743" t="-2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4C61ADA-E77B-1342-6748-29DBDF3E1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0" y="122420"/>
            <a:ext cx="4191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1.3 </a:t>
            </a:r>
            <a:r>
              <a:rPr lang="zh-CN" altLang="en-US" dirty="0"/>
              <a:t>一次不定方程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F107982-5A4E-E298-2A66-74E586CA572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5243" y="732020"/>
                <a:ext cx="8839200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800" b="1" kern="0" dirty="0">
                    <a:latin typeface="+mn-ea"/>
                  </a:rPr>
                  <a:t>定理</a:t>
                </a:r>
                <a:r>
                  <a:rPr lang="en-US" altLang="zh-CN" sz="2800" b="1" kern="0" dirty="0">
                    <a:latin typeface="+mn-ea"/>
                  </a:rPr>
                  <a:t>9 </a:t>
                </a:r>
                <a:r>
                  <a:rPr lang="zh-CN" altLang="en-US" sz="2800" kern="0" dirty="0">
                    <a:latin typeface="+mn-ea"/>
                  </a:rPr>
                  <a:t>考虑不定方程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  <m:r>
                      <a:rPr lang="zh-CN" altLang="en-US" sz="28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 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  <a:r>
                  <a:rPr lang="en-US" altLang="zh-CN" sz="2800" kern="0" dirty="0">
                    <a:latin typeface="+mn-ea"/>
                    <a:cs typeface="Times New Roman" panose="02020603050405020304" pitchFamily="18" charset="0"/>
                  </a:rPr>
                  <a:t>(1) </a:t>
                </a:r>
                <a:r>
                  <a:rPr lang="zh-CN" altLang="en-US" sz="2800" kern="0" dirty="0">
                    <a:latin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时，有正整数解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；</a:t>
                </a:r>
                <a:r>
                  <a:rPr lang="en-US" altLang="zh-CN" sz="2800" kern="0" dirty="0">
                    <a:latin typeface="+mn-ea"/>
                    <a:cs typeface="Times New Roman" panose="02020603050405020304" pitchFamily="18" charset="0"/>
                  </a:rPr>
                  <a:t>(2) </a:t>
                </a:r>
                <a:r>
                  <a:rPr lang="zh-CN" altLang="en-US" sz="2800" kern="0" dirty="0">
                    <a:latin typeface="+mn-ea"/>
                  </a:rPr>
                  <a:t>但在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时，上述方程没有正整数解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sz="2800" b="1" kern="0" dirty="0">
                    <a:latin typeface="+mn-ea"/>
                  </a:rPr>
                  <a:t>定理</a:t>
                </a:r>
                <a:r>
                  <a:rPr lang="en-US" altLang="zh-CN" sz="2800" b="1" kern="0" dirty="0">
                    <a:latin typeface="+mn-ea"/>
                  </a:rPr>
                  <a:t>9</a:t>
                </a:r>
                <a:r>
                  <a:rPr lang="zh-CN" altLang="en-US" sz="2800" b="1" kern="0" dirty="0">
                    <a:latin typeface="+mn-ea"/>
                  </a:rPr>
                  <a:t>证明</a:t>
                </a:r>
                <a:r>
                  <a:rPr lang="en-US" altLang="zh-CN" sz="2800" b="1" kern="0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CN" sz="2800" kern="0" dirty="0">
                    <a:latin typeface="+mn-ea"/>
                    <a:cs typeface="Times New Roman" panose="02020603050405020304" pitchFamily="18" charset="0"/>
                  </a:rPr>
                  <a:t>(1)</a:t>
                </a:r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的全部解由定理</a:t>
                </a:r>
                <a:r>
                  <a:rPr lang="en-US" altLang="zh-CN" sz="2800" kern="0" dirty="0">
                    <a:latin typeface="+mn-ea"/>
                  </a:rPr>
                  <a:t>7</a:t>
                </a:r>
                <a:r>
                  <a:rPr lang="zh-CN" altLang="en-US" sz="2800" kern="0" dirty="0">
                    <a:latin typeface="+mn-ea"/>
                  </a:rPr>
                  <a:t>可表示为：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是方程的一组解。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可任意选择。因此，不难知道，可取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使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0&lt;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latin typeface="+mn-ea"/>
                  </a:rPr>
                  <a:t>，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kern="0" dirty="0">
                    <a:latin typeface="+mn-ea"/>
                  </a:rPr>
                  <a:t>又由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可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得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sz="2800" i="1" kern="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F107982-5A4E-E298-2A66-74E586CA5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243" y="732020"/>
                <a:ext cx="8839200" cy="5943600"/>
              </a:xfrm>
              <a:prstGeom prst="rect">
                <a:avLst/>
              </a:prstGeom>
              <a:blipFill>
                <a:blip r:embed="rId2"/>
                <a:stretch>
                  <a:fillRect l="-1448" t="-1231" r="-9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FB35A8B-7BA7-1CC0-B468-B76D15602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4191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1.3 </a:t>
            </a:r>
            <a:r>
              <a:rPr lang="zh-CN" altLang="en-US" dirty="0"/>
              <a:t>一次不定方程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A122DA1-2457-055D-366D-4D9B7166732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825708"/>
                <a:ext cx="8153400" cy="5029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9</a:t>
                </a:r>
                <a:r>
                  <a:rPr lang="zh-CN" altLang="en-US" b="1" kern="0" dirty="0">
                    <a:latin typeface="+mn-ea"/>
                  </a:rPr>
                  <a:t>证明</a:t>
                </a:r>
                <a:r>
                  <a:rPr lang="en-US" altLang="zh-CN" b="1" kern="0" dirty="0">
                    <a:latin typeface="+mn-ea"/>
                  </a:rPr>
                  <a:t>.</a:t>
                </a:r>
                <a:r>
                  <a:rPr lang="zh-CN" altLang="en-US" kern="0" dirty="0">
                    <a:latin typeface="+mn-ea"/>
                  </a:rPr>
                  <a:t>（续）</a:t>
                </a:r>
                <a:endParaRPr lang="en-US" altLang="zh-CN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kern="0" dirty="0">
                    <a:latin typeface="+mn-ea"/>
                  </a:rPr>
                  <a:t>故对上述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+mn-ea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+mn-ea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，因此，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时，有正整数解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&gt;0</m:t>
                    </m:r>
                    <m:r>
                      <a:rPr lang="zh-CN" altLang="en-US" i="1" smtClean="0">
                        <a:latin typeface="+mn-ea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kern="0" dirty="0">
                    <a:latin typeface="+mn-ea"/>
                    <a:cs typeface="Times New Roman" panose="02020603050405020304" pitchFamily="18" charset="0"/>
                  </a:rPr>
                  <a:t>(2) </a:t>
                </a:r>
                <a:r>
                  <a:rPr lang="zh-CN" altLang="en-US" kern="0" dirty="0">
                    <a:latin typeface="+mn-ea"/>
                  </a:rPr>
                  <a:t>但在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时，如果有解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&gt;0 </m:t>
                    </m:r>
                    <m:r>
                      <a:rPr lang="zh-CN" altLang="en-US" i="1">
                        <a:latin typeface="+mn-ea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+mn-ea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kern="0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+mn-ea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)=1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smtClean="0">
                        <a:latin typeface="+mn-ea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smtClean="0">
                        <a:latin typeface="+mn-ea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smtClean="0">
                        <a:latin typeface="+mn-ea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，得</a:t>
                </a:r>
                <a14:m>
                  <m:oMath xmlns:m="http://schemas.openxmlformats.org/officeDocument/2006/math">
                    <m:r>
                      <a:rPr lang="zh-CN" altLang="en-US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到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smtClean="0">
                        <a:latin typeface="+mn-ea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i="1">
                        <a:latin typeface="+mn-ea"/>
                        <a:cs typeface="Times New Roman" panose="020206030504050203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cs typeface="Times New Roman" panose="02020603050405020304" pitchFamily="18" charset="0"/>
                  </a:rPr>
                  <a:t>，这不可能。</a:t>
                </a:r>
                <a:endParaRPr lang="en-US" altLang="zh-CN" kern="0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BA122DA1-2457-055D-366D-4D9B71667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25708"/>
                <a:ext cx="8153400" cy="5029200"/>
              </a:xfrm>
              <a:prstGeom prst="rect">
                <a:avLst/>
              </a:prstGeom>
              <a:blipFill>
                <a:blip r:embed="rId2"/>
                <a:stretch>
                  <a:fillRect l="-1945" t="-1576" b="-4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34DE49-BDC2-9D1F-5DF8-BABE8F805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175" y="187325"/>
            <a:ext cx="4572000" cy="685800"/>
          </a:xfrm>
        </p:spPr>
        <p:txBody>
          <a:bodyPr/>
          <a:lstStyle/>
          <a:p>
            <a:pPr algn="l" eaLnBrk="1" hangingPunct="1"/>
            <a:r>
              <a:rPr lang="en-US" altLang="zh-CN" sz="3200" dirty="0"/>
              <a:t>2 </a:t>
            </a:r>
            <a:r>
              <a:rPr lang="zh-CN" altLang="en-US" sz="3200" dirty="0"/>
              <a:t>同余定义与概念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619D1C9-3F58-5DBA-73EF-53FC5ECA851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9400" y="885617"/>
                <a:ext cx="8407400" cy="548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定义</a:t>
                </a:r>
                <a:r>
                  <a:rPr lang="en-US" altLang="zh-CN" b="1" kern="0" dirty="0">
                    <a:latin typeface="+mn-ea"/>
                  </a:rPr>
                  <a:t>2 </a:t>
                </a:r>
                <a:r>
                  <a:rPr lang="zh-CN" altLang="en-US" kern="0" dirty="0">
                    <a:latin typeface="+mn-ea"/>
                  </a:rPr>
                  <a:t>给定正整数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，如果用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去除两个整数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所得的余数相同，我们就说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同余，记为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，如果余数不同，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就不同余，记为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≢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。</a:t>
                </a:r>
                <a:endParaRPr lang="en-US" altLang="zh-CN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en-US" altLang="zh-CN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性质</a:t>
                </a:r>
                <a:r>
                  <a:rPr lang="en-US" altLang="zh-CN" b="1" kern="0" dirty="0">
                    <a:latin typeface="+mn-ea"/>
                    <a:cs typeface="Times New Roman" panose="02020603050405020304" pitchFamily="18" charset="0"/>
                  </a:rPr>
                  <a:t>2 </a:t>
                </a:r>
                <a:r>
                  <a:rPr lang="en-US" altLang="zh-CN" kern="0" dirty="0">
                    <a:latin typeface="+mn-ea"/>
                    <a:cs typeface="Times New Roman" panose="02020603050405020304" pitchFamily="18" charset="0"/>
                  </a:rPr>
                  <a:t>(1) </a:t>
                </a:r>
                <a:r>
                  <a:rPr lang="zh-CN" altLang="en-US" kern="0" dirty="0">
                    <a:latin typeface="+mn-ea"/>
                  </a:rPr>
                  <a:t>自反性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；</a:t>
                </a:r>
              </a:p>
              <a:p>
                <a:pPr marL="0" indent="0">
                  <a:buFontTx/>
                  <a:buNone/>
                </a:pPr>
                <a:r>
                  <a:rPr lang="en-US" altLang="zh-CN" kern="0" dirty="0">
                    <a:latin typeface="+mn-ea"/>
                    <a:cs typeface="Times New Roman" panose="02020603050405020304" pitchFamily="18" charset="0"/>
                  </a:rPr>
                  <a:t>      (2) </a:t>
                </a:r>
                <a:r>
                  <a:rPr lang="zh-CN" altLang="en-US" kern="0" dirty="0">
                    <a:latin typeface="+mn-ea"/>
                  </a:rPr>
                  <a:t>对称性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； </a:t>
                </a:r>
              </a:p>
              <a:p>
                <a:pPr marL="0" indent="0">
                  <a:buFontTx/>
                  <a:buNone/>
                </a:pPr>
                <a:r>
                  <a:rPr lang="en-US" altLang="zh-CN" kern="0" dirty="0">
                    <a:latin typeface="+mn-ea"/>
                    <a:cs typeface="Times New Roman" panose="02020603050405020304" pitchFamily="18" charset="0"/>
                  </a:rPr>
                  <a:t>      (3) </a:t>
                </a:r>
                <a:r>
                  <a:rPr lang="zh-CN" altLang="en-US" kern="0" dirty="0">
                    <a:latin typeface="+mn-ea"/>
                  </a:rPr>
                  <a:t>传递性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7619D1C9-3F58-5DBA-73EF-53FC5ECA8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400" y="885617"/>
                <a:ext cx="8407400" cy="5486400"/>
              </a:xfrm>
              <a:prstGeom prst="rect">
                <a:avLst/>
              </a:prstGeom>
              <a:blipFill>
                <a:blip r:embed="rId2"/>
                <a:stretch>
                  <a:fillRect l="-1885" t="-1778" r="-1523" b="-1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26D7-E4F0-6E1D-BA28-DE066899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5FCC76E-B6D7-499F-5243-36294AE45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175" y="187325"/>
            <a:ext cx="4572000" cy="685800"/>
          </a:xfrm>
        </p:spPr>
        <p:txBody>
          <a:bodyPr/>
          <a:lstStyle/>
          <a:p>
            <a:pPr algn="l" eaLnBrk="1" hangingPunct="1"/>
            <a:r>
              <a:rPr lang="en-US" altLang="zh-CN" sz="3200" dirty="0"/>
              <a:t>2 </a:t>
            </a:r>
            <a:r>
              <a:rPr lang="zh-CN" altLang="en-US" sz="3200" dirty="0"/>
              <a:t>同余定义与概念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3BA894E-1560-B840-6452-F1928827D63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9399" y="873125"/>
                <a:ext cx="7797801" cy="5527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10 </a:t>
                </a:r>
                <a:r>
                  <a:rPr lang="zh-CN" altLang="en-US" kern="0" dirty="0">
                    <a:latin typeface="+mn-ea"/>
                  </a:rPr>
                  <a:t>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对模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同余的充分必要条件是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。</a:t>
                </a:r>
              </a:p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10</a:t>
                </a:r>
                <a:r>
                  <a:rPr lang="zh-CN" altLang="en-US" b="1" kern="0" dirty="0">
                    <a:latin typeface="+mn-ea"/>
                  </a:rPr>
                  <a:t>证明</a:t>
                </a:r>
                <a:r>
                  <a:rPr lang="en-US" altLang="zh-CN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CN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ker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。因为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|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b="1" kern="0" dirty="0">
                    <a:latin typeface="+mn-ea"/>
                  </a:rPr>
                  <a:t>。</a:t>
                </a:r>
                <a:endParaRPr lang="en-US" altLang="zh-CN" b="1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可写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 kern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。因为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。又因为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</a:rPr>
                  <a:t>。</a:t>
                </a: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3BA894E-1560-B840-6452-F1928827D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399" y="873125"/>
                <a:ext cx="7797801" cy="5527675"/>
              </a:xfrm>
              <a:prstGeom prst="rect">
                <a:avLst/>
              </a:prstGeom>
              <a:blipFill>
                <a:blip r:embed="rId2"/>
                <a:stretch>
                  <a:fillRect l="-2033" t="-1764" r="-10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050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65E7E4B-1BBA-BCE5-D86E-A0B06003C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52400"/>
            <a:ext cx="4572000" cy="685800"/>
          </a:xfrm>
        </p:spPr>
        <p:txBody>
          <a:bodyPr/>
          <a:lstStyle/>
          <a:p>
            <a:pPr algn="l" eaLnBrk="1" hangingPunct="1"/>
            <a:r>
              <a:rPr lang="en-US" altLang="zh-CN" sz="3200" dirty="0"/>
              <a:t>2 </a:t>
            </a:r>
            <a:r>
              <a:rPr lang="zh-CN" altLang="en-US" sz="3200" dirty="0"/>
              <a:t>同余定义与概念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CD7DADA-EE89-2554-AE16-7287B004335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7950" y="838200"/>
                <a:ext cx="8928100" cy="548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2700" b="1" kern="0" dirty="0">
                    <a:latin typeface="+mn-ea"/>
                  </a:rPr>
                  <a:t>定理</a:t>
                </a:r>
                <a:r>
                  <a:rPr lang="en-US" altLang="zh-CN" sz="2700" b="1" kern="0" dirty="0">
                    <a:latin typeface="+mn-ea"/>
                  </a:rPr>
                  <a:t>11 </a:t>
                </a:r>
                <a:r>
                  <a:rPr lang="zh-CN" altLang="en-US" sz="2700" kern="0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7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700" kern="0" dirty="0">
                    <a:latin typeface="+mn-ea"/>
                  </a:rPr>
                  <a:t>，则有</a:t>
                </a:r>
                <a:endParaRPr lang="en-US" altLang="zh-CN" sz="27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𝑏𝑥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为任意整数；</a:t>
                </a:r>
                <a:endParaRPr lang="en-US" altLang="zh-CN" sz="2700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；</a:t>
                </a:r>
                <a:endParaRPr lang="en-US" altLang="zh-CN" sz="2700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；</a:t>
                </a:r>
                <a:endParaRPr lang="en-US" altLang="zh-CN" sz="2700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(4) </a:t>
                </a:r>
                <a14:m>
                  <m:oMath xmlns:m="http://schemas.openxmlformats.org/officeDocument/2006/math">
                    <m:r>
                      <a:rPr lang="en-US" altLang="zh-CN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为任意整系数多项式。</a:t>
                </a:r>
                <a:endParaRPr lang="en-US" altLang="zh-CN" sz="2700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sz="2700" b="1" kern="0" dirty="0">
                    <a:latin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2700" b="1" kern="0" dirty="0">
                    <a:latin typeface="+mn-ea"/>
                    <a:cs typeface="Times New Roman" panose="02020603050405020304" pitchFamily="18" charset="0"/>
                  </a:rPr>
                  <a:t>11</a:t>
                </a:r>
                <a:r>
                  <a:rPr lang="zh-CN" altLang="en-US" sz="2700" b="1" kern="0" dirty="0">
                    <a:latin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700" b="1" kern="0" dirty="0"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(1) </a:t>
                </a:r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CN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  <m:r>
                      <a:rPr lang="en-US" altLang="zh-CN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zh-CN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zh-CN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700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zh-CN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zh-CN" altLang="en-US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sz="270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(3) (3)</a:t>
                </a:r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反复可得。</a:t>
                </a:r>
                <a:endParaRPr lang="en-US" altLang="zh-CN" sz="2700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(4)</a:t>
                </a:r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 由</a:t>
                </a: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(1)</a:t>
                </a:r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700" kern="0" dirty="0">
                    <a:latin typeface="+mn-ea"/>
                    <a:cs typeface="Times New Roman" panose="02020603050405020304" pitchFamily="18" charset="0"/>
                  </a:rPr>
                  <a:t>(3)</a:t>
                </a:r>
                <a:r>
                  <a:rPr lang="zh-CN" altLang="en-US" sz="2700" kern="0" dirty="0">
                    <a:latin typeface="+mn-ea"/>
                    <a:cs typeface="Times New Roman" panose="02020603050405020304" pitchFamily="18" charset="0"/>
                  </a:rPr>
                  <a:t>反复可得。</a:t>
                </a:r>
                <a:endParaRPr lang="en-US" altLang="zh-CN" sz="2700" kern="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CD7DADA-EE89-2554-AE16-7287B0043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" y="838200"/>
                <a:ext cx="8928100" cy="5486400"/>
              </a:xfrm>
              <a:prstGeom prst="rect">
                <a:avLst/>
              </a:prstGeom>
              <a:blipFill>
                <a:blip r:embed="rId2"/>
                <a:stretch>
                  <a:fillRect l="-1298" t="-1222" r="-68" b="-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1A550DF-995E-DB44-F6BD-6D8D8065F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475" y="228600"/>
            <a:ext cx="4648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同余定义与概念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4475" y="839449"/>
                <a:ext cx="8518525" cy="5839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12 </a:t>
                </a:r>
                <a:r>
                  <a:rPr lang="zh-CN" altLang="en-US" kern="0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zh-CN" altLang="en-US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若</m:t>
                    </m:r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，则</a:t>
                </a:r>
                <a:endParaRPr lang="en-US" altLang="zh-CN" kern="0" dirty="0"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latin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kern="0" dirty="0">
                    <a:latin typeface="+mn-ea"/>
                    <a:cs typeface="Times New Roman" panose="02020603050405020304" pitchFamily="18" charset="0"/>
                  </a:rPr>
                  <a:t>12</a:t>
                </a:r>
                <a:r>
                  <a:rPr lang="zh-CN" altLang="en-US" b="1" kern="0" dirty="0">
                    <a:latin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kern="0" dirty="0"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由定理</a:t>
                </a:r>
                <a:r>
                  <a:rPr lang="en-US" altLang="zh-CN" kern="0" dirty="0">
                    <a:latin typeface="+mn-ea"/>
                    <a:cs typeface="Times New Roman" panose="02020603050405020304" pitchFamily="18" charset="0"/>
                  </a:rPr>
                  <a:t>10</a:t>
                </a: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)⇒</m:t>
                    </m:r>
                    <m:d>
                      <m:dPr>
                        <m:begChr m:val=""/>
                        <m:endChr m:val="|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475" y="839449"/>
                <a:ext cx="8518525" cy="5839918"/>
              </a:xfrm>
              <a:prstGeom prst="rect">
                <a:avLst/>
              </a:prstGeom>
              <a:blipFill>
                <a:blip r:embed="rId2"/>
                <a:stretch>
                  <a:fillRect l="-1788" t="-16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B275E24-9494-FEDD-8982-7F1CB62AC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075" y="228600"/>
            <a:ext cx="4648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同余定义与概念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169D426-25CB-8138-5568-FB992DAED3F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0337" y="1066800"/>
                <a:ext cx="8602663" cy="43921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13 </a:t>
                </a:r>
                <a:r>
                  <a:rPr lang="zh-CN" altLang="en-US" kern="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⋯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kern="0" dirty="0">
                    <a:latin typeface="+mn-ea"/>
                    <a:cs typeface="Times New Roman" panose="02020603050405020304" pitchFamily="18" charset="0"/>
                  </a:rPr>
                  <a:t>13</a:t>
                </a:r>
                <a:r>
                  <a:rPr lang="zh-CN" altLang="en-US" b="1" kern="0" dirty="0">
                    <a:latin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kern="0" dirty="0"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按标准分解式展开可知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⋯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⋯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169D426-25CB-8138-5568-FB992DAED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337" y="1066800"/>
                <a:ext cx="8602663" cy="4392118"/>
              </a:xfrm>
              <a:prstGeom prst="rect">
                <a:avLst/>
              </a:prstGeom>
              <a:blipFill>
                <a:blip r:embed="rId2"/>
                <a:stretch>
                  <a:fillRect l="-1771" t="-2222" r="-13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F839A37-755C-2968-99F7-EE79A41D80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4167</TotalTime>
  <Words>2643</Words>
  <Application>Microsoft Office PowerPoint</Application>
  <PresentationFormat>全屏显示(4:3)</PresentationFormat>
  <Paragraphs>150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宋体</vt:lpstr>
      <vt:lpstr>Arial</vt:lpstr>
      <vt:lpstr>Cambria Math</vt:lpstr>
      <vt:lpstr>Times New Roman</vt:lpstr>
      <vt:lpstr>Wingdings</vt:lpstr>
      <vt:lpstr>默认设计模板</vt:lpstr>
      <vt:lpstr>第二讲 初等数论 2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 同余定义与概念</vt:lpstr>
      <vt:lpstr>2 同余定义与概念(续)</vt:lpstr>
      <vt:lpstr>2 同余定义与概念(续)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163</cp:revision>
  <cp:lastPrinted>2026-03-11T05:01:12Z</cp:lastPrinted>
  <dcterms:created xsi:type="dcterms:W3CDTF">1601-01-01T00:00:00Z</dcterms:created>
  <dcterms:modified xsi:type="dcterms:W3CDTF">2026-03-11T10:11:38Z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