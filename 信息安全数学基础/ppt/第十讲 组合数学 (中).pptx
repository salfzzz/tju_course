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4" r:id="rId3"/>
    <p:sldId id="296" r:id="rId4"/>
    <p:sldId id="297" r:id="rId5"/>
    <p:sldId id="318" r:id="rId6"/>
    <p:sldId id="315" r:id="rId7"/>
    <p:sldId id="317" r:id="rId8"/>
    <p:sldId id="265" r:id="rId9"/>
    <p:sldId id="283" r:id="rId10"/>
    <p:sldId id="284" r:id="rId11"/>
    <p:sldId id="285" r:id="rId12"/>
    <p:sldId id="286" r:id="rId13"/>
    <p:sldId id="287" r:id="rId14"/>
    <p:sldId id="288" r:id="rId15"/>
    <p:sldId id="311" r:id="rId16"/>
    <p:sldId id="312" r:id="rId17"/>
    <p:sldId id="319" r:id="rId18"/>
    <p:sldId id="303" r:id="rId19"/>
    <p:sldId id="313" r:id="rId20"/>
    <p:sldId id="309" r:id="rId21"/>
    <p:sldId id="310" r:id="rId22"/>
    <p:sldId id="263" r:id="rId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27" autoAdjust="0"/>
  </p:normalViewPr>
  <p:slideViewPr>
    <p:cSldViewPr>
      <p:cViewPr varScale="1">
        <p:scale>
          <a:sx n="56" d="100"/>
          <a:sy n="56" d="100"/>
        </p:scale>
        <p:origin x="13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C8AD7D2-5B81-AE7D-DF92-B3D8608B68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FF1CBC-2F49-342C-E71D-FB2414471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0723DCBF-E7CC-45D5-85D6-AE42C9C35C56}" type="datetimeFigureOut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DA6D7F-E29F-03AA-93BF-74DBF26BF1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B89B51-5CBD-CBA0-5DF5-8F8EC796FF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15F56A4-E73D-4AFA-B4CD-ACC0347AA7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85DC0B1-EFC6-F9D0-A3DA-9AF1BC681C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1F4CC4-FBEB-20CC-97A6-420D2D83B4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A81BD92-A297-431F-AA6E-890631B8AAF5}" type="datetimeFigureOut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5B96F32F-EA67-DAD1-D04E-B82C3937B1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2C1B6E25-CECF-4218-0C0D-A24D665F1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991EB7-42B9-22FC-0C42-3E461CE642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95ABA8-F332-D99A-6B98-362530976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B76D504-C80C-4001-8132-2D822A7622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40312926-D402-6719-5B2D-E38D6EBFC3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E36AF4B3-024B-FF08-ED91-238DF7BDCB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460EE2BC-A2AA-5ED7-64D6-E81100466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10ED96-D262-4966-955C-544CFCE66FB2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F30FEC9A-7F84-F27C-2DA7-83B38365D6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2956F1C5-8A54-5A15-1C5D-107C698AC03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59396" name="灯片编号占位符 3">
            <a:extLst>
              <a:ext uri="{FF2B5EF4-FFF2-40B4-BE49-F238E27FC236}">
                <a16:creationId xmlns:a16="http://schemas.microsoft.com/office/drawing/2014/main" id="{15D51EAB-5631-810A-15B6-CEBFC211C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BF45C43-989F-4BDA-BF94-ABD8A06F0EAE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07F2D-AFE5-C03C-7D30-BCC2B142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B4A51666-2033-20EA-B30C-9C3E8FFEE4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B0D83E36-AC79-F6CC-21D7-16C53C52E9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59396" name="灯片编号占位符 3">
            <a:extLst>
              <a:ext uri="{FF2B5EF4-FFF2-40B4-BE49-F238E27FC236}">
                <a16:creationId xmlns:a16="http://schemas.microsoft.com/office/drawing/2014/main" id="{11028BE0-1595-D75F-00A0-BF22EC2A6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BF45C43-989F-4BDA-BF94-ABD8A06F0EAE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159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>
            <a:extLst>
              <a:ext uri="{FF2B5EF4-FFF2-40B4-BE49-F238E27FC236}">
                <a16:creationId xmlns:a16="http://schemas.microsoft.com/office/drawing/2014/main" id="{4E4320EC-70EC-2C88-D2B9-7CA93CC9B9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备注占位符 2">
            <a:extLst>
              <a:ext uri="{FF2B5EF4-FFF2-40B4-BE49-F238E27FC236}">
                <a16:creationId xmlns:a16="http://schemas.microsoft.com/office/drawing/2014/main" id="{E61A9E7A-7BB8-804B-7083-EA4C213C5B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61444" name="灯片编号占位符 3">
            <a:extLst>
              <a:ext uri="{FF2B5EF4-FFF2-40B4-BE49-F238E27FC236}">
                <a16:creationId xmlns:a16="http://schemas.microsoft.com/office/drawing/2014/main" id="{7C23B61B-AE36-03E9-0305-66AC983B8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978EF35-DD72-43B0-B407-080EA4E1E551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>
            <a:extLst>
              <a:ext uri="{FF2B5EF4-FFF2-40B4-BE49-F238E27FC236}">
                <a16:creationId xmlns:a16="http://schemas.microsoft.com/office/drawing/2014/main" id="{5A8FC2AF-5B7E-8F15-94E2-07A65E6460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备注占位符 2">
            <a:extLst>
              <a:ext uri="{FF2B5EF4-FFF2-40B4-BE49-F238E27FC236}">
                <a16:creationId xmlns:a16="http://schemas.microsoft.com/office/drawing/2014/main" id="{A5CCFBCD-7BBE-C123-4477-2954ECFA5D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8BEE5706-8E98-C81D-DAA7-1B83FC4C0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2C14AEE-7C45-4B9B-A72B-98C03224AF5F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DD94C6DC-F181-2BD8-DDDB-49297967EA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C7434B64-5370-1E8D-A3AD-F22DD21699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b="1"/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1B7029CB-5C21-65E1-0A53-5B0D11189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4A2507A-286E-418D-9976-C1AE2293255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8F515268-9677-B65C-AD05-D10723EA2A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1555DBDB-640F-E621-CFCA-CA7ADBE305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D6C97B1C-3990-73B4-5BE1-443D1F41C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94C646-E27B-49A5-8582-D3EDB7A0B65A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553C2099-DAAA-875B-ECD1-63E1EEF546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36531367-2A11-5AA2-258E-7B28F09BB4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A6959EE9-DABB-E489-1B21-E9C00EB45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6E286B0-BED7-4BEA-951C-02FD4375164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93DF859D-B141-8C87-28F0-9CDD3F74F2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3B04662D-359A-7AE4-42DB-AF8781B67C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7925D98A-40B8-E32A-6098-FBC1D1A87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FF45A37-EBF1-46EA-8B9A-425B6FEA23E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71E8EDA0-E66C-0D75-F951-4B6691E650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BF0FA45C-94DB-5709-508D-6BFBD84F8E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1C50BEC3-DB2F-7C28-D3E6-A87005C0F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53D8BF4-5861-4498-8C63-6070633B1BB2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17D40BE9-6552-1AE2-2517-D87EE00302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63F46414-2A80-A6FA-3489-12FBD1E921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C07E4E90-F466-9D31-E441-0E95EBAA6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D653C81-49A5-4E36-81BD-A099354B79E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F9EC3911-8425-7D8D-B105-B9E640F922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DAABCC42-705D-41DE-8151-57244EFB76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3E159839-AECF-A434-0F99-CED30F36B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EF8D8BC-8503-48FF-86F2-E530CA80D61C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1BC0CAE4-E7DD-0A15-A295-7CBBDC5A1E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3A3559D8-1924-5971-6276-CC6FBFE25B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EC1A562F-FF1E-1E27-B32D-CF5CE9695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58C6191-7B1E-452E-8054-80AD2F3CD91F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71A30F53-56B2-A1A3-F471-CE8D318BB0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D1D48DED-F201-508C-25C0-6153B632CE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F10AFEBB-42B4-D51E-F0B5-35550DF89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FFC4D74-8718-4544-A84E-45E6FF6F1AE0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E76BB-65D9-21CF-1E66-D2735FEB6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55F7B116-8A90-6DD0-26C4-834FCD19AA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DC593491-87AB-B82E-6F8E-05E5ABD89A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C320764D-D16A-94FA-3E73-0C60BE729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FFC4D74-8718-4544-A84E-45E6FF6F1AE0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608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33BB645D-64E2-062D-C6F9-D80ECFF444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8437C2D6-056E-2ECE-2775-51D2D210ED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01F4CB76-8EAD-11D2-F434-336AB9B13EFE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782E548-23BA-49ED-A62A-AE8116EAA5AE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CC1C0596-C110-AAF0-4ACE-92276B4A31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45765F0B-8ED2-6857-B840-2260D15BEE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每个分项表示一种颜色的球</a:t>
            </a:r>
            <a:endParaRPr lang="en-US" altLang="zh-CN"/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7B22C748-88CB-E3B6-8BB8-1225EAA3501A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63D709C-375B-4347-B474-C1BCF7E294F4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748DAE7B-BC01-CC27-62F2-38AFF582D5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071D663F-2A03-51D0-1627-DEE378ACA7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BD3B259D-E4A4-2198-5447-F0F3B74349F0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DFA66B2-9C30-4037-893E-DDBAF659CDD9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E5CD4B7B-6ED6-214B-373B-3A019BA474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2224CF32-F6E1-3737-57C4-427C8DCFFC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DFC5D13F-8495-6560-0A64-8A8E169AFBD3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7D003B2-57F2-47DE-A59A-C3FBB7D53523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25517D-35CD-3596-7FFE-9A99121CB6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B328E9-4DA9-EA95-0BEA-D7EDE613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367E7D-D542-9CAC-C1F6-D1FC28698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D99E1-7FD4-4795-ACEC-FE4CA0F27E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87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3D2B88-E37F-3A1B-AAF4-E3AE39CA81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F0F311-801A-E8E1-91FB-E0CAE41285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04CD9F-727B-03A3-99D7-E4701692A0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A63BB-6A6C-4A9B-A499-BE999D69DA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4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37BD64-0DCC-69FB-6A46-A8115FBE23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CF336C-6533-F1FD-71AA-B34B3B4104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A1DF90-1B93-85C9-4B67-049B1EB5D0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AFC60-308E-4D51-9100-70F2C0B152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736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94B734-9047-6DDA-CFC7-32CF8A1BD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E6F2E2-6144-9CBD-58D1-77D4EE68F6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7EEB67-B91A-7A13-B339-1E8290DA85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2C4651-EE9A-41C8-9C8C-7712FD41BB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563ABB-08AF-CE58-FB29-41675538C5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F52F20E-12C3-4801-9E4E-0C5C4E9EEC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71759A1-D316-09A3-8ABE-A68DBF66B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32713C-2D85-4C9A-982B-03C46F6614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219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2ACE1C3-7806-C4C7-6300-B199D29F3A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D8D6B7-196C-585B-4D28-D9CB1AAF6E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777F25A-7603-3840-059F-13B3EB55D7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B1AB70-F00C-435E-B909-30D12E2E7C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540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B1E8DC6-A8A8-8227-E177-B6DD986D99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9D506AD-DFB7-4F0B-8797-89224A7689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E0D4201-5899-E30A-C243-B81119244D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A12C8-BF75-48B6-A5EC-55D3B43A02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06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271FA-70E3-8306-DB82-3387149329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27F9DA-7113-01BB-FDD3-506FFBB7AC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A367FE-2DE7-FC25-BC8C-11E60922DC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CEBB5-EC79-4C5D-81E6-0CBE25ECD0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943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A0FF76-2446-6F50-24F1-8E9FAF8F5D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93164-1058-83E9-8FB4-7C028FAA54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5089E7-FD65-356D-8DBA-E18886B226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42405-7CAC-4F5D-8B16-5A0C88ECFC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639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4DB2CE-96F3-EF33-0CB6-8660EBA31D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34359E-9AFE-227E-8F9C-696A1DE176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5071DB-2C28-5BF6-11D0-90FD115D04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30F389-B6EA-4199-8D18-FBFD8721A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867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4A9917-02A9-F235-8A0A-8AADF8901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D02C19-1270-72CA-8249-3DE51F011C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427E0D-C27E-8BB1-DCA5-18EF930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3B089-3401-4437-8104-06CEA5C6EA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250FBF-09A0-FBBA-C65A-69B31DB76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97073E8-7A28-64F6-1F39-C12DA8406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063C4B9-5E6C-9557-BED3-E1D5763F46A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0B942A1-0964-7434-B80E-EA05A5EEFD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9C2108B-1EB0-C16D-2CDD-0BD2CFC77F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583A084-F6F4-466E-9FCF-7AAA4AA8B6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9C77FC4-31DA-FCDD-1488-867605E884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9906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第十讲 组合数学</a:t>
            </a:r>
            <a:br>
              <a:rPr lang="en-US" altLang="zh-CN" dirty="0">
                <a:latin typeface="宋体" panose="02010600030101010101" pitchFamily="2" charset="-122"/>
              </a:rPr>
            </a:br>
            <a:r>
              <a:rPr lang="zh-CN" altLang="en-US" b="1" dirty="0">
                <a:latin typeface="宋体" panose="02010600030101010101" pitchFamily="2" charset="-122"/>
              </a:rPr>
              <a:t>中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E26F391-97B0-3BEB-FFCD-3EB3F1AB0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dirty="0"/>
              <a:t>本讲提要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7115A79-B7F8-3DC8-3A74-E4B562530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7162800" cy="1752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zh-CN" altLang="en-US" sz="4000" dirty="0"/>
              <a:t> 容斥原理与鸽笼原理</a:t>
            </a:r>
            <a:endParaRPr lang="en-US" altLang="zh-CN" sz="4000" dirty="0"/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zh-CN" altLang="en-US" sz="4000" dirty="0"/>
              <a:t> 母函数</a:t>
            </a:r>
            <a:endParaRPr lang="en-US" altLang="zh-CN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235836D-33CA-3F56-798C-B165398D4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容斥原理与鸽笼原理</a:t>
            </a:r>
            <a:endParaRPr lang="en-US" altLang="zh-CN" dirty="0"/>
          </a:p>
        </p:txBody>
      </p:sp>
      <p:grpSp>
        <p:nvGrpSpPr>
          <p:cNvPr id="56324" name="组合 2">
            <a:extLst>
              <a:ext uri="{FF2B5EF4-FFF2-40B4-BE49-F238E27FC236}">
                <a16:creationId xmlns:a16="http://schemas.microsoft.com/office/drawing/2014/main" id="{C6E76B4E-5039-956B-A654-3C96E927BCB3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984500"/>
            <a:ext cx="4537075" cy="3644900"/>
            <a:chOff x="1948622" y="3096572"/>
            <a:chExt cx="4536505" cy="3644796"/>
          </a:xfrm>
        </p:grpSpPr>
        <p:grpSp>
          <p:nvGrpSpPr>
            <p:cNvPr id="56325" name="组合 4">
              <a:extLst>
                <a:ext uri="{FF2B5EF4-FFF2-40B4-BE49-F238E27FC236}">
                  <a16:creationId xmlns:a16="http://schemas.microsoft.com/office/drawing/2014/main" id="{5B6A2925-D2E8-22EE-7E05-C180C3EF87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8623" y="3944711"/>
              <a:ext cx="4536504" cy="2796657"/>
              <a:chOff x="1948623" y="3546372"/>
              <a:chExt cx="4536504" cy="2796657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0E5254F0-E4B7-7379-6611-4D953AE5EEDD}"/>
                  </a:ext>
                </a:extLst>
              </p:cNvPr>
              <p:cNvSpPr/>
              <p:nvPr/>
            </p:nvSpPr>
            <p:spPr bwMode="auto">
              <a:xfrm>
                <a:off x="1948622" y="3558634"/>
                <a:ext cx="3023807" cy="2784395"/>
              </a:xfrm>
              <a:prstGeom prst="ellips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  <p:txBody>
              <a:bodyPr wrap="none" anchor="ctr"/>
              <a:lstStyle/>
              <a:p>
                <a:pPr algn="ctr" eaLnBrk="1" fontAlgn="auto" latinLnBrk="1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FF0000"/>
                  </a:buClr>
                  <a:buFont typeface="Wingdings" pitchFamily="2" charset="2"/>
                  <a:buNone/>
                  <a:defRPr/>
                </a:pPr>
                <a:endParaRPr kumimoji="1" lang="zh-CN" altLang="en-US" sz="1000" kern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4D0F22AE-21A7-ACB0-3890-8333E42BED51}"/>
                  </a:ext>
                </a:extLst>
              </p:cNvPr>
              <p:cNvSpPr/>
              <p:nvPr/>
            </p:nvSpPr>
            <p:spPr bwMode="auto">
              <a:xfrm>
                <a:off x="3461319" y="3545934"/>
                <a:ext cx="3023808" cy="2784395"/>
              </a:xfrm>
              <a:prstGeom prst="ellips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  <p:txBody>
              <a:bodyPr wrap="none" anchor="ctr"/>
              <a:lstStyle/>
              <a:p>
                <a:pPr algn="ctr" eaLnBrk="1" fontAlgn="auto" latinLnBrk="1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FF0000"/>
                  </a:buClr>
                  <a:buFont typeface="Wingdings" pitchFamily="2" charset="2"/>
                  <a:buNone/>
                  <a:defRPr/>
                </a:pPr>
                <a:endParaRPr kumimoji="1" lang="zh-CN" altLang="en-US" sz="1000" kern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AE1FA91-C64F-22E4-C582-FAAE4B1068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232" y="4149770"/>
                <a:ext cx="660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zh-CN" altLang="en-US">
                    <a:noFill/>
                  </a:rPr>
                  <a:t> 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C85A8A8-B00B-6177-EB83-76291D3E10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297" y="4149770"/>
                <a:ext cx="669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zh-CN" altLang="en-US">
                    <a:noFill/>
                  </a:rPr>
                  <a:t> </a:t>
                </a: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0990F21-369B-8BB0-BD3A-80FF273E78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437" y="4672990"/>
                <a:ext cx="146052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/>
                </a:pPr>
                <a:r>
                  <a:rPr lang="zh-CN" altLang="en-US">
                    <a:noFill/>
                  </a:rPr>
                  <a:t> </a:t>
                </a:r>
              </a:p>
            </p:txBody>
          </p:sp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AAF47C4-98C3-8D65-A556-956A1D953EE8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512431" y="3096572"/>
              <a:ext cx="1460528" cy="523220"/>
            </a:xfrm>
            <a:prstGeom prst="rect">
              <a:avLst/>
            </a:pr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7" name="左大括号 6">
              <a:extLst>
                <a:ext uri="{FF2B5EF4-FFF2-40B4-BE49-F238E27FC236}">
                  <a16:creationId xmlns:a16="http://schemas.microsoft.com/office/drawing/2014/main" id="{1CEB0721-B897-6565-5CE6-61907C898C60}"/>
                </a:ext>
              </a:extLst>
            </p:cNvPr>
            <p:cNvSpPr/>
            <p:nvPr/>
          </p:nvSpPr>
          <p:spPr bwMode="auto">
            <a:xfrm rot="5400000">
              <a:off x="4031142" y="1496638"/>
              <a:ext cx="371464" cy="4536505"/>
            </a:xfrm>
            <a:prstGeom prst="leftBrace">
              <a:avLst>
                <a:gd name="adj1" fmla="val 93921"/>
                <a:gd name="adj2" fmla="val 50000"/>
              </a:avLst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wrap="none" anchor="ctr"/>
            <a:lstStyle/>
            <a:p>
              <a:pPr algn="ctr" eaLnBrk="1" fontAlgn="auto" latinLnBrk="1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endParaRPr kumimoji="1" lang="zh-CN" altLang="en-US" sz="1000" kern="0">
                <a:solidFill>
                  <a:srgbClr val="000000"/>
                </a:solidFill>
                <a:latin typeface="굴림" pitchFamily="50" charset="-127"/>
                <a:ea typeface="굴림" pitchFamily="50" charset="-127"/>
                <a:cs typeface="Tahoma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DEB8600-206B-4A83-CE02-30B0B6B14525}"/>
                  </a:ext>
                </a:extLst>
              </p:cNvPr>
              <p:cNvSpPr txBox="1"/>
              <p:nvPr/>
            </p:nvSpPr>
            <p:spPr>
              <a:xfrm>
                <a:off x="105303" y="921428"/>
                <a:ext cx="8657698" cy="2289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dirty="0">
                    <a:solidFill>
                      <a:srgbClr val="000000"/>
                    </a:solidFill>
                  </a:rPr>
                  <a:t>容斥原理</a:t>
                </a:r>
                <a:r>
                  <a:rPr lang="zh-CN" altLang="en-US" sz="3200" dirty="0">
                    <a:solidFill>
                      <a:srgbClr val="000000"/>
                    </a:solidFill>
                  </a:rPr>
                  <a:t>：从集合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solidFill>
                          <a:srgbClr val="000000"/>
                        </a:solidFill>
                        <a:latin typeface="Cambria Math"/>
                      </a:rPr>
                      <m:t>或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Cambria Math"/>
                  </a:rPr>
                  <a:t>中选择一个元素的方法有</a:t>
                </a:r>
                <a:endParaRPr lang="en-US" altLang="zh-CN" sz="3200" dirty="0">
                  <a:solidFill>
                    <a:srgbClr val="000000"/>
                  </a:solidFill>
                  <a:latin typeface="Cambria Math"/>
                </a:endParaRPr>
              </a:p>
              <a:p>
                <a:pPr algn="ctr">
                  <a:lnSpc>
                    <a:spcPct val="13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∪</m:t>
                        </m:r>
                        <m:sSub>
                          <m:sSubPr>
                            <m:ctrlP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/>
                      </a:rPr>
                      <m:t>−|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solidFill>
                          <a:srgbClr val="000000"/>
                        </a:solidFill>
                        <a:latin typeface="Cambria Math"/>
                      </a:rPr>
                      <m:t>∩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Cambria Math"/>
                  </a:rPr>
                  <a:t>。</a:t>
                </a:r>
                <a:endParaRPr lang="en-US" altLang="zh-CN" sz="3200" dirty="0">
                  <a:solidFill>
                    <a:srgbClr val="000000"/>
                  </a:solidFill>
                  <a:latin typeface="Cambria Math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DEB8600-206B-4A83-CE02-30B0B6B14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3" y="921428"/>
                <a:ext cx="8657698" cy="2289858"/>
              </a:xfrm>
              <a:prstGeom prst="rect">
                <a:avLst/>
              </a:prstGeom>
              <a:blipFill>
                <a:blip r:embed="rId7"/>
                <a:stretch>
                  <a:fillRect l="-1759" t="-1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A6A5456D-8D5E-6CD6-8BE4-C356E9B51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容斥原理与鸽笼原理</a:t>
            </a:r>
            <a:r>
              <a:rPr lang="en-US" altLang="zh-CN" dirty="0"/>
              <a:t> 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6A1C09D-BF8B-5178-2241-C4C68F9921CF}"/>
                  </a:ext>
                </a:extLst>
              </p:cNvPr>
              <p:cNvSpPr/>
              <p:nvPr/>
            </p:nvSpPr>
            <p:spPr>
              <a:xfrm>
                <a:off x="381000" y="1080746"/>
                <a:ext cx="7924800" cy="3813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zh-CN" altLang="en-US" sz="3200" b="1" dirty="0">
                    <a:latin typeface="宋体" charset="-122"/>
                    <a:ea typeface="宋体" charset="-122"/>
                    <a:cs typeface="Tahoma"/>
                  </a:rPr>
                  <a:t>定理</a:t>
                </a:r>
                <a:r>
                  <a:rPr kumimoji="0" lang="en-US" altLang="zh-CN" sz="3200" b="1" dirty="0">
                    <a:ea typeface="宋体" charset="-122"/>
                    <a:cs typeface="Times New Roman" pitchFamily="18" charset="0"/>
                  </a:rPr>
                  <a:t>1 </a:t>
                </a:r>
                <a:r>
                  <a:rPr kumimoji="0"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zh-CN" altLang="en-US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kumimoji="0"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0" lang="zh-CN" altLang="en-US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0"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…</m:t>
                    </m:r>
                    <m:r>
                      <a:rPr kumimoji="0" lang="zh-CN" altLang="en-US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kumimoji="0"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为有限集合，则</a:t>
                </a:r>
                <a:endParaRPr kumimoji="0"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3200" kern="0" dirty="0">
                    <a:latin typeface="宋体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32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2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kumimoji="0" lang="en-US" altLang="zh-CN" sz="32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∪⋯∪</m:t>
                        </m:r>
                        <m:sSub>
                          <m:sSubPr>
                            <m:ctrlPr>
                              <a:rPr kumimoji="0" lang="en-US" altLang="zh-CN" sz="32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kumimoji="0" lang="en-US" altLang="zh-CN" sz="3200" i="1" kern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200" kern="0" dirty="0"/>
                  <a:t>      </a:t>
                </a:r>
                <a14:m>
                  <m:oMath xmlns:m="http://schemas.openxmlformats.org/officeDocument/2006/math"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altLang="zh-CN" sz="3200" i="1" kern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200" i="1" kern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kumimoji="0" lang="en-US" altLang="zh-CN" sz="3200" i="1" kern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200" kern="0" dirty="0"/>
                  <a:t>          </a:t>
                </a:r>
                <a14:m>
                  <m:oMath xmlns:m="http://schemas.openxmlformats.org/officeDocument/2006/math"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200" b="0" i="1" ker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</a:rPr>
                      <m:t>−…</m:t>
                    </m:r>
                  </m:oMath>
                </a14:m>
                <a:endParaRPr kumimoji="0" lang="en-US" altLang="zh-CN" sz="3200" i="1" kern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200" kern="0" dirty="0"/>
                  <a:t>          </a:t>
                </a:r>
                <a14:m>
                  <m:oMath xmlns:m="http://schemas.openxmlformats.org/officeDocument/2006/math">
                    <m:r>
                      <a:rPr kumimoji="0" lang="en-US" altLang="zh-CN" sz="3200" b="0" i="1" ker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0" lang="en-US" altLang="zh-CN" sz="32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320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|"/>
                        <m:endChr m:val="|"/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</a:rPr>
                          <m:t>∩⋯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zh-CN" altLang="en-US" sz="3200" b="0" i="1" ker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kumimoji="0" lang="en-US" altLang="zh-CN" sz="3200" kern="0" dirty="0">
                  <a:latin typeface="宋体" pitchFamily="2" charset="-122"/>
                </a:endParaRPr>
              </a:p>
              <a:p>
                <a:pPr eaLnBrk="1" hangingPunct="1">
                  <a:defRPr/>
                </a:pPr>
                <a:endParaRPr kumimoji="0" lang="en-US" altLang="zh-CN" b="1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6A1C09D-BF8B-5178-2241-C4C68F9921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080746"/>
                <a:ext cx="7924800" cy="3813993"/>
              </a:xfrm>
              <a:prstGeom prst="rect">
                <a:avLst/>
              </a:prstGeom>
              <a:blipFill>
                <a:blip r:embed="rId3"/>
                <a:stretch>
                  <a:fillRect l="-2000" t="-27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182DB-A7AA-4199-75D8-6648FE817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70E46AA-9853-C12D-BDC1-B6F891EC78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660" y="1524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容斥原理与鸽笼原理</a:t>
            </a:r>
            <a:r>
              <a:rPr lang="en-US" altLang="zh-CN" dirty="0"/>
              <a:t> 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4E76B14-A993-F422-2248-904922ADA3D5}"/>
                  </a:ext>
                </a:extLst>
              </p:cNvPr>
              <p:cNvSpPr/>
              <p:nvPr/>
            </p:nvSpPr>
            <p:spPr>
              <a:xfrm>
                <a:off x="215660" y="779585"/>
                <a:ext cx="8699740" cy="60178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zh-CN" altLang="en-US" sz="3000" b="1" dirty="0">
                    <a:latin typeface="+mn-ea"/>
                    <a:ea typeface="+mn-ea"/>
                    <a:cs typeface="Tahoma"/>
                  </a:rPr>
                  <a:t>定理</a:t>
                </a:r>
                <a:r>
                  <a:rPr kumimoji="0" lang="en-US" altLang="zh-CN" sz="3000" b="1" dirty="0">
                    <a:latin typeface="+mn-ea"/>
                    <a:ea typeface="+mn-ea"/>
                    <a:cs typeface="Tahoma"/>
                  </a:rPr>
                  <a:t>1</a:t>
                </a:r>
                <a:r>
                  <a:rPr kumimoji="0" lang="zh-CN" altLang="en-US" sz="3000" b="1" dirty="0">
                    <a:latin typeface="+mn-ea"/>
                    <a:ea typeface="+mn-ea"/>
                    <a:cs typeface="Tahoma"/>
                  </a:rPr>
                  <a:t>证明</a:t>
                </a:r>
                <a:r>
                  <a:rPr kumimoji="0" lang="en-US" altLang="zh-CN" sz="3000" b="1" dirty="0">
                    <a:latin typeface="+mn-ea"/>
                    <a:ea typeface="+mn-ea"/>
                    <a:cs typeface="Tahoma"/>
                  </a:rPr>
                  <a:t>.</a:t>
                </a:r>
              </a:p>
              <a:p>
                <a:pPr eaLnBrk="1" hangingPunct="1">
                  <a:defRPr/>
                </a:pPr>
                <a:r>
                  <a:rPr kumimoji="0" lang="zh-CN" altLang="en-US" sz="3000" dirty="0">
                    <a:latin typeface="+mn-ea"/>
                    <a:ea typeface="+mn-ea"/>
                    <a:cs typeface="Tahoma"/>
                  </a:rPr>
                  <a:t>对</a:t>
                </a:r>
                <a14:m>
                  <m:oMath xmlns:m="http://schemas.openxmlformats.org/officeDocument/2006/math">
                    <m:r>
                      <a:rPr kumimoji="0" lang="en-US" altLang="zh-CN" sz="3000" b="0" i="1" smtClean="0">
                        <a:latin typeface="Cambria Math" panose="02040503050406030204" pitchFamily="18" charset="0"/>
                        <a:ea typeface="+mn-ea"/>
                        <a:cs typeface="Tahoma"/>
                      </a:rPr>
                      <m:t>𝑛</m:t>
                    </m:r>
                  </m:oMath>
                </a14:m>
                <a:r>
                  <a:rPr kumimoji="0" lang="zh-CN" altLang="en-US" sz="3000" dirty="0">
                    <a:latin typeface="+mn-ea"/>
                    <a:ea typeface="+mn-ea"/>
                    <a:cs typeface="Tahoma"/>
                  </a:rPr>
                  <a:t>用数学归纳法。当</a:t>
                </a:r>
                <a14:m>
                  <m:oMath xmlns:m="http://schemas.openxmlformats.org/officeDocument/2006/math">
                    <m:r>
                      <a:rPr kumimoji="0" lang="en-US" altLang="zh-CN" sz="3000" i="1">
                        <a:latin typeface="Cambria Math" panose="02040503050406030204" pitchFamily="18" charset="0"/>
                        <a:cs typeface="Tahoma"/>
                      </a:rPr>
                      <m:t>𝑛</m:t>
                    </m:r>
                    <m:r>
                      <a:rPr kumimoji="0" lang="en-US" altLang="zh-CN" sz="3000" b="0" i="1" smtClean="0">
                        <a:latin typeface="Cambria Math" panose="02040503050406030204" pitchFamily="18" charset="0"/>
                        <a:cs typeface="Tahoma"/>
                      </a:rPr>
                      <m:t>=2</m:t>
                    </m:r>
                  </m:oMath>
                </a14:m>
                <a:r>
                  <a:rPr kumimoji="0" lang="zh-CN" altLang="en-US" sz="3000" dirty="0">
                    <a:latin typeface="+mn-ea"/>
                    <a:ea typeface="+mn-ea"/>
                    <a:cs typeface="Times New Roman" panose="02020603050405020304" pitchFamily="18" charset="0"/>
                  </a:rPr>
                  <a:t>时，有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∪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zh-CN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+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zh-CN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-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，结论成立。假设对</a:t>
                </a:r>
                <a14:m>
                  <m:oMath xmlns:m="http://schemas.openxmlformats.org/officeDocument/2006/math">
                    <m:r>
                      <a:rPr kumimoji="0"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0" lang="en-US" altLang="zh-CN" sz="3000" i="1">
                        <a:latin typeface="Cambria Math" panose="02040503050406030204" pitchFamily="18" charset="0"/>
                        <a:cs typeface="Tahoma"/>
                      </a:rPr>
                      <m:t>𝑛</m:t>
                    </m:r>
                    <m:r>
                      <a:rPr kumimoji="0" lang="en-US" altLang="zh-CN" sz="3000" b="0" i="1" smtClean="0">
                        <a:latin typeface="Cambria Math" panose="02040503050406030204" pitchFamily="18" charset="0"/>
                        <a:cs typeface="Tahoma"/>
                      </a:rPr>
                      <m:t>−1</m:t>
                    </m:r>
                  </m:oMath>
                </a14:m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个集合，结论成立。则对于</a:t>
                </a:r>
                <a14:m>
                  <m:oMath xmlns:m="http://schemas.openxmlformats.org/officeDocument/2006/math">
                    <m:r>
                      <a:rPr kumimoji="0" lang="en-US" altLang="zh-CN" sz="3000" i="1">
                        <a:latin typeface="Cambria Math" panose="02040503050406030204" pitchFamily="18" charset="0"/>
                        <a:cs typeface="Tahoma"/>
                      </a:rPr>
                      <m:t>𝑛</m:t>
                    </m:r>
                  </m:oMath>
                </a14:m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kumimoji="0"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r>
                      <a:rPr kumimoji="0"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sSub>
                      <m:sSubPr>
                        <m:ctrlPr>
                          <a:rPr kumimoji="0"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kumimoji="0"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r>
                      <a:rPr kumimoji="0"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…</m:t>
                    </m:r>
                    <m:r>
                      <a:rPr kumimoji="0"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sSub>
                      <m:sSubPr>
                        <m:ctrlPr>
                          <a:rPr kumimoji="0"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，有</a:t>
                </a:r>
                <a:endParaRPr kumimoji="0" lang="en-US" altLang="zh-CN" sz="3000" i="1" kern="0" dirty="0">
                  <a:latin typeface="+mn-ea"/>
                  <a:ea typeface="+mn-ea"/>
                </a:endParaRPr>
              </a:p>
              <a:p>
                <a:pPr eaLnBrk="1" hangingPunct="1">
                  <a:defRPr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∪</m:t>
                        </m:r>
                        <m:sSub>
                          <m:sSubPr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∪⋯∪</m:t>
                        </m:r>
                        <m:sSub>
                          <m:sSubPr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zh-CN" sz="3000" dirty="0"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3000" i="1">
                        <a:latin typeface="Cambria Math" panose="02040503050406030204" pitchFamily="18" charset="0"/>
                        <a:cs typeface="Tahoma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(</m:t>
                            </m:r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∪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∪⋯∪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b>
                        </m:sSub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)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∪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kumimoji="0" lang="en-US" altLang="zh-CN" sz="3000" i="1" kern="0" dirty="0">
                  <a:latin typeface="+mn-ea"/>
                  <a:ea typeface="+mn-ea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000" kern="0" dirty="0">
                    <a:latin typeface="+mn-ea"/>
                    <a:ea typeface="+mn-ea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∪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∪⋯∪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(</m:t>
                            </m:r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∪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∪⋯∪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)∩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0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0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0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kumimoji="0" lang="en-US" altLang="zh-CN" sz="3000" i="1" kern="0" dirty="0">
                  <a:latin typeface="+mn-ea"/>
                  <a:ea typeface="+mn-ea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000" kern="0" dirty="0">
                    <a:latin typeface="+mn-ea"/>
                    <a:ea typeface="+mn-ea"/>
                  </a:rPr>
                  <a:t>          </a:t>
                </a:r>
                <a14:m>
                  <m:oMath xmlns:m="http://schemas.openxmlformats.org/officeDocument/2006/math"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0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0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−…</m:t>
                    </m:r>
                  </m:oMath>
                </a14:m>
                <a:endParaRPr kumimoji="0" lang="en-US" altLang="zh-CN" sz="3000" i="1" kern="0" dirty="0">
                  <a:latin typeface="+mn-ea"/>
                  <a:ea typeface="+mn-ea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3000" kern="0" dirty="0">
                    <a:latin typeface="+mn-ea"/>
                    <a:ea typeface="+mn-ea"/>
                  </a:rPr>
                  <a:t>          </a:t>
                </a:r>
                <a14:m>
                  <m:oMath xmlns:m="http://schemas.openxmlformats.org/officeDocument/2006/math">
                    <m:r>
                      <a:rPr kumimoji="0" lang="en-US" altLang="zh-CN" sz="3000" b="0" i="1" ker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p>
                      <m:sSup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sup>
                    </m:sSup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∩⋯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US" altLang="zh-CN" sz="3000" b="0" i="1" ker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(</m:t>
                            </m:r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)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∪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)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∪⋯∪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)</m:t>
                        </m:r>
                      </m:e>
                    </m:d>
                  </m:oMath>
                </a14:m>
                <a:endParaRPr kumimoji="0" lang="en-US" altLang="zh-CN" sz="3000" kern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4E76B14-A993-F422-2248-904922ADA3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60" y="779585"/>
                <a:ext cx="8699740" cy="6017801"/>
              </a:xfrm>
              <a:prstGeom prst="rect">
                <a:avLst/>
              </a:prstGeom>
              <a:blipFill>
                <a:blip r:embed="rId3"/>
                <a:stretch>
                  <a:fillRect l="-1611" t="-1317" r="-1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0497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5FBC3C2-A69F-76BA-106F-6E7C668B6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容斥原理与鸽笼原理</a:t>
            </a:r>
            <a:r>
              <a:rPr lang="en-US" altLang="zh-CN" dirty="0"/>
              <a:t> 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5B372E7-E886-92A0-A5D1-EBDA23C7F59C}"/>
                  </a:ext>
                </a:extLst>
              </p:cNvPr>
              <p:cNvSpPr/>
              <p:nvPr/>
            </p:nvSpPr>
            <p:spPr>
              <a:xfrm>
                <a:off x="457200" y="914400"/>
                <a:ext cx="8229600" cy="50431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zh-CN" altLang="en-US" sz="3200" b="1" dirty="0">
                    <a:latin typeface="+mn-ea"/>
                    <a:ea typeface="+mn-ea"/>
                    <a:cs typeface="Tahoma"/>
                  </a:rPr>
                  <a:t>定理</a:t>
                </a:r>
                <a:r>
                  <a:rPr kumimoji="0" lang="en-US" altLang="zh-CN" sz="3200" b="1" dirty="0">
                    <a:latin typeface="+mn-ea"/>
                    <a:ea typeface="+mn-ea"/>
                    <a:cs typeface="Tahoma"/>
                  </a:rPr>
                  <a:t>1</a:t>
                </a:r>
                <a:r>
                  <a:rPr kumimoji="0" lang="zh-CN" altLang="en-US" sz="3200" b="1" dirty="0">
                    <a:latin typeface="+mn-ea"/>
                    <a:ea typeface="+mn-ea"/>
                    <a:cs typeface="Tahoma"/>
                  </a:rPr>
                  <a:t>证明</a:t>
                </a:r>
                <a:r>
                  <a:rPr kumimoji="0" lang="en-US" altLang="zh-CN" sz="3200" b="1" dirty="0">
                    <a:latin typeface="+mn-ea"/>
                    <a:ea typeface="+mn-ea"/>
                    <a:cs typeface="Tahoma"/>
                  </a:rPr>
                  <a:t>.</a:t>
                </a:r>
                <a:r>
                  <a:rPr kumimoji="0" lang="zh-CN" altLang="en-US" sz="3200" dirty="0">
                    <a:latin typeface="+mn-ea"/>
                    <a:ea typeface="+mn-ea"/>
                    <a:cs typeface="Tahoma"/>
                  </a:rPr>
                  <a:t>（续）</a:t>
                </a:r>
                <a:endParaRPr kumimoji="0" lang="en-US" altLang="zh-CN" sz="3200" dirty="0"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defRPr/>
                </a:pPr>
                <a14:m>
                  <m:oMath xmlns:m="http://schemas.openxmlformats.org/officeDocument/2006/math"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altLang="zh-CN" sz="320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20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  <a:ea typeface="+mn-ea"/>
                      </a:rPr>
                      <m:t>−…</m:t>
                    </m:r>
                    <m:r>
                      <a:rPr kumimoji="0" lang="en-US" altLang="zh-CN" sz="3200" b="0" i="1" ker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p>
                      <m:sSupPr>
                        <m:ctrlPr>
                          <a:rPr kumimoji="0" lang="en-US" altLang="zh-CN" sz="320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32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−2</m:t>
                        </m:r>
                      </m:sup>
                    </m:sSup>
                    <m:d>
                      <m:dPr>
                        <m:begChr m:val="|"/>
                        <m:endChr m:val="|"/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∩⋯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  <m:r>
                              <a:rPr kumimoji="0" lang="en-US" altLang="zh-CN" sz="32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US" altLang="zh-CN" sz="3200" b="0" i="1" ker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≤</m:t>
                            </m:r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&lt;</m:t>
                            </m:r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𝑗</m:t>
                            </m:r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≤</m:t>
                            </m:r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b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3200" i="1" ker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200" b="0" i="1" ker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altLang="zh-CN" sz="3200" b="0" i="1" ker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∩</m:t>
                                </m:r>
                                <m:sSub>
                                  <m:sSubPr>
                                    <m:ctrlPr>
                                      <a:rPr kumimoji="0" lang="en-US" altLang="zh-CN" sz="3200" i="1" ker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200" b="0" i="1" ker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altLang="zh-CN" sz="3200" b="0" i="1" ker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∩</m:t>
                                </m:r>
                                <m:sSub>
                                  <m:sSubPr>
                                    <m:ctrlPr>
                                      <a:rPr kumimoji="0" lang="en-US" altLang="zh-CN" sz="3200" i="1" ker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200" b="0" i="1" ker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altLang="zh-CN" sz="3200" b="0" i="1" kern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+…+</m:t>
                        </m:r>
                        <m:sSup>
                          <m:sSup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−2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∩⋯∩</m:t>
                            </m:r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kumimoji="0" lang="en-US" altLang="zh-CN" sz="32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)=</m:t>
                        </m:r>
                      </m:e>
                    </m:nary>
                  </m:oMath>
                </a14:m>
                <a:r>
                  <a:rPr kumimoji="0" lang="en-US" altLang="zh-CN" sz="3200" kern="0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200" b="0" i="1" ker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200" b="0" i="1" ker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2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200" b="0" i="1" ker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kumimoji="0" lang="en-US" altLang="zh-CN" sz="3200" b="0" i="1" kern="0" smtClean="0">
                        <a:latin typeface="Cambria Math" panose="02040503050406030204" pitchFamily="18" charset="0"/>
                        <a:ea typeface="+mn-ea"/>
                      </a:rPr>
                      <m:t>…</m:t>
                    </m:r>
                    <m:r>
                      <a:rPr kumimoji="0" lang="en-US" altLang="zh-CN" sz="3200" b="0" i="1" ker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p>
                      <m:sSupPr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sup>
                    </m:sSup>
                    <m:d>
                      <m:dPr>
                        <m:begChr m:val="|"/>
                        <m:endChr m:val="|"/>
                        <m:ctrlPr>
                          <a:rPr kumimoji="0" lang="en-US" altLang="zh-CN" sz="32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200" b="0" i="1" kern="0">
                            <a:latin typeface="Cambria Math" panose="02040503050406030204" pitchFamily="18" charset="0"/>
                            <a:ea typeface="+mn-ea"/>
                          </a:rPr>
                          <m:t>∩⋯∩</m:t>
                        </m:r>
                        <m:sSub>
                          <m:sSubPr>
                            <m:ctrlPr>
                              <a:rPr kumimoji="0" lang="en-US" altLang="zh-CN" sz="32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2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zh-CN" altLang="en-US" sz="3200" b="0" i="1" kern="0" smtClean="0">
                        <a:latin typeface="Cambria Math" panose="02040503050406030204" pitchFamily="18" charset="0"/>
                        <a:ea typeface="+mn-ea"/>
                      </a:rPr>
                      <m:t>。</m:t>
                    </m:r>
                  </m:oMath>
                </a14:m>
                <a:endParaRPr kumimoji="0" lang="en-US" altLang="zh-CN" sz="3200" kern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5B372E7-E886-92A0-A5D1-EBDA23C7F5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14400"/>
                <a:ext cx="8229600" cy="5043175"/>
              </a:xfrm>
              <a:prstGeom prst="rect">
                <a:avLst/>
              </a:prstGeom>
              <a:blipFill>
                <a:blip r:embed="rId3"/>
                <a:stretch>
                  <a:fillRect l="-1852" t="-1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CBE546F-5F37-6019-847A-E8C80C4CCB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2046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容斥原理与鸽笼原理</a:t>
            </a:r>
            <a:r>
              <a:rPr lang="en-US" altLang="zh-CN" dirty="0"/>
              <a:t> 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D6BE01E-B926-09BA-B638-A649C83F6D3B}"/>
                  </a:ext>
                </a:extLst>
              </p:cNvPr>
              <p:cNvSpPr/>
              <p:nvPr/>
            </p:nvSpPr>
            <p:spPr>
              <a:xfrm>
                <a:off x="252046" y="914400"/>
                <a:ext cx="8358554" cy="4933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kern="1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zh-CN" altLang="en-US" sz="3000" b="1" dirty="0">
                    <a:latin typeface="+mn-ea"/>
                    <a:ea typeface="+mn-ea"/>
                    <a:cs typeface="Tahoma"/>
                  </a:rPr>
                  <a:t>推论</a:t>
                </a:r>
                <a:r>
                  <a:rPr kumimoji="0" lang="en-US" altLang="zh-CN" sz="3000" b="1" dirty="0">
                    <a:latin typeface="+mn-ea"/>
                    <a:ea typeface="+mn-ea"/>
                    <a:cs typeface="Times New Roman" pitchFamily="18" charset="0"/>
                  </a:rPr>
                  <a:t>1 </a:t>
                </a:r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30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kumimoji="0" lang="zh-CN" altLang="en-US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sSub>
                      <m:sSubPr>
                        <m:ctrlPr>
                          <a:rPr kumimoji="0" lang="en-US" altLang="zh-CN" sz="30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kumimoji="0" lang="zh-CN" altLang="en-US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r>
                      <a:rPr kumimoji="0"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…</m:t>
                    </m:r>
                    <m:r>
                      <a:rPr kumimoji="0" lang="zh-CN" altLang="en-US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sSub>
                      <m:sSubPr>
                        <m:ctrlPr>
                          <a:rPr kumimoji="0" lang="en-US" altLang="zh-CN" sz="30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为有限集合</a:t>
                </a:r>
                <a14:m>
                  <m:oMath xmlns:m="http://schemas.openxmlformats.org/officeDocument/2006/math">
                    <m:r>
                      <a:rPr kumimoji="0" lang="en-US" altLang="zh-CN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𝐴</m:t>
                    </m:r>
                  </m:oMath>
                </a14:m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的子集，补集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kumimoji="0"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𝐴</m:t>
                    </m:r>
                    <m:r>
                      <a:rPr kumimoji="0" lang="en-US" altLang="zh-CN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\</m:t>
                    </m:r>
                    <m:sSub>
                      <m:sSubPr>
                        <m:ctrlPr>
                          <a:rPr kumimoji="0"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</a:t>
                </a:r>
                <a14:m>
                  <m:oMath xmlns:m="http://schemas.openxmlformats.org/officeDocument/2006/math">
                    <m:r>
                      <a:rPr kumimoji="0"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r>
                      <a:rPr kumimoji="0"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  <m:r>
                      <a:rPr kumimoji="0"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r>
                      <a:rPr kumimoji="0"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2</m:t>
                    </m:r>
                    <m:r>
                      <a:rPr kumimoji="0"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r>
                      <a:rPr kumimoji="0" lang="zh-CN" altLang="en-US" sz="30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⋯</m:t>
                    </m:r>
                    <m:r>
                      <a:rPr kumimoji="0" lang="zh-CN" altLang="en-US" sz="30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r>
                      <a:rPr kumimoji="0"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</m:oMath>
                </a14:m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，则</a:t>
                </a:r>
                <a:endParaRPr kumimoji="0"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3000" kern="0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r>
                          <a:rPr kumimoji="0"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…</m:t>
                        </m:r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</m:d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0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0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0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&lt;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00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kumimoji="0" lang="en-US" altLang="zh-CN" sz="300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3000" b="0" i="1" ker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  <a:ea typeface="+mn-ea"/>
                      </a:rPr>
                      <m:t>…</m:t>
                    </m:r>
                    <m:r>
                      <a:rPr kumimoji="0" lang="en-US" altLang="zh-CN" sz="3000" b="0" i="1" ker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p>
                      <m:sSup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p>
                    </m:sSup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  <m:t>∩⋯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b="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zh-CN" altLang="en-US" sz="3000" b="0" i="1" kern="0">
                        <a:latin typeface="Cambria Math" panose="02040503050406030204" pitchFamily="18" charset="0"/>
                        <a:ea typeface="+mn-ea"/>
                      </a:rPr>
                      <m:t>。</m:t>
                    </m:r>
                  </m:oMath>
                </a14:m>
                <a:endParaRPr kumimoji="0" lang="en-US" altLang="zh-CN" sz="3000" kern="0" dirty="0">
                  <a:latin typeface="+mn-ea"/>
                  <a:ea typeface="+mn-ea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3000" b="1" kern="0" dirty="0">
                    <a:latin typeface="+mn-ea"/>
                    <a:ea typeface="+mn-ea"/>
                  </a:rPr>
                  <a:t>推论</a:t>
                </a:r>
                <a:r>
                  <a:rPr kumimoji="0" lang="en-US" altLang="zh-CN" sz="3000" b="1" kern="0" dirty="0">
                    <a:latin typeface="+mn-ea"/>
                    <a:ea typeface="+mn-ea"/>
                  </a:rPr>
                  <a:t>1</a:t>
                </a:r>
                <a:r>
                  <a:rPr kumimoji="0" lang="zh-CN" altLang="en-US" sz="3000" b="1" kern="0" dirty="0">
                    <a:latin typeface="+mn-ea"/>
                    <a:ea typeface="+mn-ea"/>
                  </a:rPr>
                  <a:t>证明</a:t>
                </a:r>
                <a:r>
                  <a:rPr kumimoji="0" lang="en-US" altLang="zh-CN" sz="3000" b="1" kern="0" dirty="0">
                    <a:latin typeface="+mn-ea"/>
                    <a:ea typeface="+mn-ea"/>
                  </a:rPr>
                  <a:t>.</a:t>
                </a:r>
              </a:p>
              <a:p>
                <a:pPr eaLnBrk="1" hangingPunct="1">
                  <a:defRPr/>
                </a:pPr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注意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r>
                          <a:rPr kumimoji="0"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…</m:t>
                        </m:r>
                        <m:r>
                          <a:rPr kumimoji="0" lang="en-US" altLang="zh-CN" sz="3000" b="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kumimoji="0" lang="en-US" altLang="zh-CN" sz="3000" b="0" i="1" ker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en-US" altLang="zh-CN" sz="3000" b="0" i="0" kern="0" smtClean="0">
                        <a:latin typeface="Cambria Math" panose="02040503050406030204" pitchFamily="18" charset="0"/>
                        <a:ea typeface="+mn-ea"/>
                      </a:rPr>
                      <m:t>|</m:t>
                    </m:r>
                    <m:acc>
                      <m:accPr>
                        <m:chr m:val="̅"/>
                        <m:ctrlPr>
                          <a:rPr kumimoji="0" lang="en-US" altLang="zh-CN" sz="3000" b="0" i="1" kern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∪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∪⋯∪</m:t>
                        </m:r>
                        <m:sSub>
                          <m:sSubPr>
                            <m:ctrlP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  <m:t>𝐴</m:t>
                            </m:r>
                          </m:e>
                          <m:sub>
                            <m:r>
                              <a:rPr kumimoji="0" lang="en-US" altLang="zh-CN" sz="3000" i="1" kern="0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kumimoji="0" lang="en-US" altLang="zh-CN" sz="3000" b="0" i="0" kern="0" smtClean="0">
                        <a:latin typeface="Cambria Math" panose="02040503050406030204" pitchFamily="18" charset="0"/>
                        <a:ea typeface="+mn-ea"/>
                      </a:rPr>
                      <m:t>|</m:t>
                    </m:r>
                  </m:oMath>
                </a14:m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。因此，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r>
                          <a:rPr kumimoji="0"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…</m:t>
                        </m:r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kumimoji="0"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kumimoji="0" lang="en-US" altLang="zh-CN" sz="3000" i="1" ker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</m:d>
                    <m:r>
                      <a:rPr kumimoji="0" lang="en-US" altLang="zh-CN" sz="3000" b="0" i="0" kern="0" smtClean="0">
                        <a:latin typeface="Cambria Math" panose="02040503050406030204" pitchFamily="18" charset="0"/>
                        <a:ea typeface="+mn-ea"/>
                      </a:rPr>
                      <m:t>−|</m:t>
                    </m:r>
                    <m:sSub>
                      <m:sSubPr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kumimoji="0" lang="en-US" altLang="zh-CN" sz="3000" i="1" kern="0">
                        <a:latin typeface="Cambria Math" panose="02040503050406030204" pitchFamily="18" charset="0"/>
                        <a:ea typeface="+mn-ea"/>
                      </a:rPr>
                      <m:t>∪</m:t>
                    </m:r>
                    <m:sSub>
                      <m:sSubPr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kumimoji="0" lang="en-US" altLang="zh-CN" sz="3000" i="1" kern="0">
                        <a:latin typeface="Cambria Math" panose="02040503050406030204" pitchFamily="18" charset="0"/>
                        <a:ea typeface="+mn-ea"/>
                      </a:rPr>
                      <m:t>∪⋯∪</m:t>
                    </m:r>
                    <m:sSub>
                      <m:sSubPr>
                        <m:ctrlP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3000" i="1" kern="0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b>
                    </m:sSub>
                    <m:r>
                      <a:rPr kumimoji="0" lang="en-US" altLang="zh-CN" sz="3000" b="0" i="0" kern="0" smtClean="0">
                        <a:latin typeface="Cambria Math" panose="02040503050406030204" pitchFamily="18" charset="0"/>
                        <a:ea typeface="+mn-ea"/>
                      </a:rPr>
                      <m:t>|</m:t>
                    </m:r>
                  </m:oMath>
                </a14:m>
                <a:r>
                  <a:rPr kumimoji="0"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。</a:t>
                </a:r>
                <a:endParaRPr kumimoji="0"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D6BE01E-B926-09BA-B638-A649C83F6D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46" y="914400"/>
                <a:ext cx="8358554" cy="4933082"/>
              </a:xfrm>
              <a:prstGeom prst="rect">
                <a:avLst/>
              </a:prstGeom>
              <a:blipFill>
                <a:blip r:embed="rId3"/>
                <a:stretch>
                  <a:fillRect l="-1676" t="-1854" r="-146" b="-2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C397860-D426-D7F1-E212-6DE6D55E1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容斥原理与鸽笼原理</a:t>
            </a:r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4A3FF8D-B41C-221A-9B15-720FB9D5799C}"/>
                  </a:ext>
                </a:extLst>
              </p:cNvPr>
              <p:cNvSpPr/>
              <p:nvPr/>
            </p:nvSpPr>
            <p:spPr>
              <a:xfrm>
                <a:off x="457200" y="1066800"/>
                <a:ext cx="8458200" cy="54576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3200" b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例子</a:t>
                </a:r>
                <a:r>
                  <a:rPr lang="en-US" altLang="zh-CN" sz="3200" b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求由 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d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e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f 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这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6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个字符构成的全排列中不允许出现 </a:t>
                </a:r>
                <a:r>
                  <a:rPr lang="en-US" altLang="zh-CN" sz="3200" i="1" kern="0" dirty="0" err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cdf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和 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ab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字串的排列的数量。</a:t>
                </a:r>
                <a:endParaRPr lang="en-US" altLang="zh-CN" sz="3200" kern="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  <a:defRPr/>
                </a:pP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全排列</a:t>
                </a:r>
                <a14:m>
                  <m:oMath xmlns:m="http://schemas.openxmlformats.org/officeDocument/2006/math"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=6!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。令</a:t>
                </a:r>
                <a14:m>
                  <m:oMath xmlns:m="http://schemas.openxmlformats.org/officeDocument/2006/math">
                    <m:r>
                      <a:rPr lang="en-US" altLang="zh-CN" sz="32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分别表示</a:t>
                </a:r>
                <a14:m>
                  <m:oMath xmlns:m="http://schemas.openxmlformats.org/officeDocument/2006/math">
                    <m:r>
                      <a:rPr lang="en-US" altLang="zh-CN" sz="32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𝐴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中出现</a:t>
                </a:r>
                <a:r>
                  <a:rPr lang="en-US" altLang="zh-CN" sz="3200" i="1" kern="0" dirty="0" err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cdf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和 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ab 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的排列集合，则</a:t>
                </a:r>
                <a14:m>
                  <m:oMath xmlns:m="http://schemas.openxmlformats.org/officeDocument/2006/math">
                    <m:r>
                      <a:rPr lang="en-US" altLang="zh-CN" sz="32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=4!</m:t>
                    </m:r>
                    <m:r>
                      <a:rPr lang="zh-CN" altLang="en-US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=5!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3!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，故根据容斥原理，</a:t>
                </a:r>
                <a:endParaRPr lang="en-US" altLang="zh-CN" sz="3200" kern="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  <a:defRPr/>
                </a:pP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32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32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3200" i="1" kern="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=6!−5!−4!+3!=582</m:t>
                    </m:r>
                    <m:r>
                      <a:rPr lang="zh-CN" altLang="en-US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lang="en-US" altLang="zh-CN" sz="3200" kern="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4A3FF8D-B41C-221A-9B15-720FB9D579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66800"/>
                <a:ext cx="8458200" cy="5457648"/>
              </a:xfrm>
              <a:prstGeom prst="rect">
                <a:avLst/>
              </a:prstGeom>
              <a:blipFill>
                <a:blip r:embed="rId3"/>
                <a:stretch>
                  <a:fillRect l="-1801" t="-447" r="-6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2B264AE-C8D1-9A24-1365-46CE512A1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5410200" cy="7143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容斥原理与鸽笼原理（续）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30A2B54-604B-72E0-8F6D-B0C4413B5853}"/>
                  </a:ext>
                </a:extLst>
              </p:cNvPr>
              <p:cNvSpPr/>
              <p:nvPr/>
            </p:nvSpPr>
            <p:spPr>
              <a:xfrm>
                <a:off x="228600" y="620010"/>
                <a:ext cx="8534400" cy="62379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zh-CN" altLang="en-US" sz="3200" b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例子</a:t>
                </a:r>
                <a:r>
                  <a:rPr lang="en-US" altLang="zh-CN" sz="3200" b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求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1-1000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的整数中被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或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5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整除的数的个数。</a:t>
                </a:r>
                <a:endParaRPr lang="en-US" altLang="zh-CN" sz="3200" kern="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  <a:defRPr/>
                </a:pP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32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分别表示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1-1000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的整数中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的倍数集合和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5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的倍数集合，则</a:t>
                </a:r>
                <a:endParaRPr lang="en-US" altLang="zh-CN" sz="3200" kern="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  <a:defRPr/>
                </a:pPr>
                <a14:m>
                  <m:oMath xmlns:m="http://schemas.openxmlformats.org/officeDocument/2006/math">
                    <m:r>
                      <a:rPr lang="en-US" altLang="zh-CN" sz="32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1000</m:t>
                            </m:r>
                          </m:num>
                          <m:den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333</m:t>
                    </m:r>
                    <m:r>
                      <a:rPr lang="zh-CN" altLang="en-US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1000</m:t>
                            </m:r>
                          </m:num>
                          <m:den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altLang="zh-CN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200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1000</m:t>
                            </m:r>
                          </m:num>
                          <m:den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  <m:r>
                              <a:rPr lang="en-US" altLang="zh-CN" sz="32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altLang="zh-CN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66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，故根据容斥原理，</a:t>
                </a:r>
                <a:endParaRPr lang="en-US" altLang="zh-CN" sz="3200" kern="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  <a:defRPr/>
                </a:pP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3200" i="1" kern="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=333+200−66=467</m:t>
                    </m:r>
                    <m:r>
                      <a:rPr lang="zh-CN" altLang="en-US" sz="32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lang="en-US" altLang="zh-CN" sz="3200" kern="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30A2B54-604B-72E0-8F6D-B0C4413B58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620010"/>
                <a:ext cx="8534400" cy="6237990"/>
              </a:xfrm>
              <a:prstGeom prst="rect">
                <a:avLst/>
              </a:prstGeom>
              <a:blipFill>
                <a:blip r:embed="rId3"/>
                <a:stretch>
                  <a:fillRect l="-1857" t="-391" r="-1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12B1873-50C7-E3BD-94D9-BB32C6C80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620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容斥原理与鸽笼原理（续）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矩形 4">
                <a:extLst>
                  <a:ext uri="{FF2B5EF4-FFF2-40B4-BE49-F238E27FC236}">
                    <a16:creationId xmlns:a16="http://schemas.microsoft.com/office/drawing/2014/main" id="{BB945323-3A11-6F79-F6E3-B34103199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569" y="762000"/>
                <a:ext cx="8424862" cy="5354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只鸽子要飞往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个鸽</a:t>
                </a:r>
                <a:r>
                  <a:rPr lang="zh-CN" altLang="en-US" dirty="0"/>
                  <a:t>笼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栖息，则鸽</a:t>
                </a:r>
                <a:r>
                  <a:rPr lang="zh-CN" altLang="en-US" dirty="0"/>
                  <a:t>笼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中至少有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个鸽</a:t>
                </a:r>
                <a:r>
                  <a:rPr lang="zh-CN" altLang="en-US" dirty="0"/>
                  <a:t>笼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里最少栖息着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2</m:t>
                    </m:r>
                  </m:oMath>
                </a14:m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只鸽子。</a:t>
                </a:r>
                <a:endPara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b="1" dirty="0">
                    <a:solidFill>
                      <a:srgbClr val="000000"/>
                    </a:solidFill>
                  </a:rPr>
                  <a:t>鸽笼原理（抽屉原理）</a:t>
                </a:r>
              </a:p>
              <a:p>
                <a:pPr mar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dirty="0">
                    <a:solidFill>
                      <a:srgbClr val="000000"/>
                    </a:solidFill>
                  </a:rPr>
                  <a:t>如果是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个或更多的物体放入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个盒子， 那么至少有一个盒子包含了至少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个物体。</a:t>
                </a:r>
                <a:endParaRPr lang="en-US" altLang="zh-CN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b="1" dirty="0">
                    <a:solidFill>
                      <a:srgbClr val="000000"/>
                    </a:solidFill>
                  </a:rPr>
                  <a:t>鸽笼原理证明</a:t>
                </a:r>
                <a:r>
                  <a:rPr lang="en-US" altLang="zh-CN" b="1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dirty="0">
                    <a:solidFill>
                      <a:srgbClr val="000000"/>
                    </a:solidFill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个盒子中没有一个盒子包含的物体多于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个，那么物体总数至多是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，这与至少有</a:t>
                </a:r>
                <a14:m>
                  <m:oMath xmlns:m="http://schemas.openxmlformats.org/officeDocument/2006/math">
                    <m:r>
                      <a:rPr lang="en-US" altLang="zh-CN" dirty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/>
                      </a:rPr>
                      <m:t> + 1 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个物体矛盾。</a:t>
                </a:r>
                <a:endParaRPr kumimoji="1" lang="en-US" altLang="zh-CN" sz="3000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244" name="矩形 4">
                <a:extLst>
                  <a:ext uri="{FF2B5EF4-FFF2-40B4-BE49-F238E27FC236}">
                    <a16:creationId xmlns:a16="http://schemas.microsoft.com/office/drawing/2014/main" id="{BB945323-3A11-6F79-F6E3-B341031999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569" y="762000"/>
                <a:ext cx="8424862" cy="5354158"/>
              </a:xfrm>
              <a:prstGeom prst="rect">
                <a:avLst/>
              </a:prstGeom>
              <a:blipFill>
                <a:blip r:embed="rId3"/>
                <a:stretch>
                  <a:fillRect l="-1881" t="-1139" r="-1737" b="-23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2D45DA4-4F17-4BC3-B55F-F3AAF55F7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容斥原理与鸽笼原理（续）</a:t>
            </a:r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4">
                <a:extLst>
                  <a:ext uri="{FF2B5EF4-FFF2-40B4-BE49-F238E27FC236}">
                    <a16:creationId xmlns:a16="http://schemas.microsoft.com/office/drawing/2014/main" id="{8B203680-36D0-56FF-5457-EAEA6D970A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00" y="799381"/>
                <a:ext cx="8424862" cy="5332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推论</a:t>
                </a:r>
                <a:r>
                  <a:rPr lang="en-US" altLang="zh-CN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2 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</a:rPr>
                  <a:t>一个从有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+1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</a:rPr>
                  <a:t>甚至更多的元素的集合到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</a:rPr>
                  <a:t>个元素集合的函数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</a:rPr>
                  <a:t>不是一对一函数。</a:t>
                </a:r>
                <a:endParaRPr lang="en-US" altLang="zh-CN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en-US" altLang="zh-CN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例子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3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在一组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367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个人中一定至少有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个人有相同的生日，这是由于只有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个可能的生日。</a:t>
                </a:r>
                <a:endParaRPr kumimoji="1" lang="en-US" altLang="zh-CN" dirty="0">
                  <a:solidFill>
                    <a:srgbClr val="000000"/>
                  </a:solidFill>
                  <a:latin typeface="+mn-ea"/>
                  <a:ea typeface="+mn-ea"/>
                  <a:cs typeface="Tahoma" panose="020B0604030504040204" pitchFamily="34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kumimoji="1" lang="en-US" altLang="zh-CN" b="1" dirty="0">
                  <a:solidFill>
                    <a:srgbClr val="000000"/>
                  </a:solidFill>
                  <a:latin typeface="+mn-ea"/>
                  <a:ea typeface="+mn-ea"/>
                  <a:cs typeface="Tahoma" panose="020B0604030504040204" pitchFamily="34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例子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4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个英文单词中一定至少有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个单词以同一个字母开始，因为英文字母表中只有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个字母。</a:t>
                </a:r>
                <a:endParaRPr lang="en-US" altLang="zh-CN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" name="矩形 4">
                <a:extLst>
                  <a:ext uri="{FF2B5EF4-FFF2-40B4-BE49-F238E27FC236}">
                    <a16:creationId xmlns:a16="http://schemas.microsoft.com/office/drawing/2014/main" id="{8B203680-36D0-56FF-5457-EAEA6D970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799381"/>
                <a:ext cx="8424862" cy="5332229"/>
              </a:xfrm>
              <a:prstGeom prst="rect">
                <a:avLst/>
              </a:prstGeom>
              <a:blipFill>
                <a:blip r:embed="rId3"/>
                <a:stretch>
                  <a:fillRect l="-1881" t="-1143" r="-1809" b="-27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3267F0F-1C28-BB7E-FEB8-7AFBD950E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52400"/>
            <a:ext cx="5867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容斥原理与鸽笼原理（续）</a:t>
            </a:r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2417690-B4AE-E8DE-C1B3-4C33E462D9B9}"/>
                  </a:ext>
                </a:extLst>
              </p:cNvPr>
              <p:cNvSpPr txBox="1"/>
              <p:nvPr/>
            </p:nvSpPr>
            <p:spPr>
              <a:xfrm>
                <a:off x="304800" y="797169"/>
                <a:ext cx="8534400" cy="5367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zh-CN" altLang="en-US" sz="30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例子</a:t>
                </a:r>
                <a:r>
                  <a:rPr kumimoji="1" lang="en-US" altLang="zh-CN" sz="30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5 </a:t>
                </a:r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证明：对每个整数</a:t>
                </a:r>
                <a14:m>
                  <m:oMath xmlns:m="http://schemas.openxmlformats.org/officeDocument/2006/math">
                    <m:r>
                      <a:rPr kumimoji="1" lang="en-US" altLang="zh-CN" sz="3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，存在一个数是</a:t>
                </a:r>
                <a14:m>
                  <m:oMath xmlns:m="http://schemas.openxmlformats.org/officeDocument/2006/math"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的倍数且在它的十进制表示中只出现</a:t>
                </a:r>
                <a14:m>
                  <m:oMath xmlns:m="http://schemas.openxmlformats.org/officeDocument/2006/math">
                    <m:r>
                      <a:rPr kumimoji="1" lang="en-US" altLang="zh-CN" sz="3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3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。</a:t>
                </a:r>
                <a:endParaRPr kumimoji="1" lang="en-US" altLang="zh-CN" sz="30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</a:pPr>
                <a:r>
                  <a:rPr kumimoji="1" lang="zh-CN" altLang="en-US" sz="3000" b="1" dirty="0">
                    <a:solidFill>
                      <a:srgbClr val="000000"/>
                    </a:solidFill>
                    <a:latin typeface="+mn-ea"/>
                    <a:cs typeface="Tahoma"/>
                  </a:rPr>
                  <a:t>例子</a:t>
                </a:r>
                <a:r>
                  <a:rPr kumimoji="1" lang="en-US" altLang="zh-CN" sz="3000" b="1" dirty="0">
                    <a:solidFill>
                      <a:srgbClr val="000000"/>
                    </a:solidFill>
                    <a:latin typeface="+mn-ea"/>
                    <a:cs typeface="Tahoma"/>
                  </a:rPr>
                  <a:t>5</a:t>
                </a:r>
                <a:r>
                  <a:rPr kumimoji="1" lang="zh-CN" altLang="en-US" sz="30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证明</a:t>
                </a:r>
                <a:r>
                  <a:rPr kumimoji="1" lang="en-US" altLang="zh-CN" sz="30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. </a:t>
                </a:r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令</a:t>
                </a:r>
                <a14:m>
                  <m:oMath xmlns:m="http://schemas.openxmlformats.org/officeDocument/2006/math"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是正整数。考虑</a:t>
                </a:r>
                <a14:m>
                  <m:oMath xmlns:m="http://schemas.openxmlformats.org/officeDocument/2006/math"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+1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个整数</a:t>
                </a:r>
                <a:endParaRPr kumimoji="1" lang="en-US" altLang="zh-CN" sz="30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0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1</m:t>
                      </m:r>
                      <m:r>
                        <a:rPr kumimoji="1" lang="zh-CN" altLang="en-US" sz="3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，</m:t>
                      </m:r>
                      <m:r>
                        <a:rPr kumimoji="1" lang="en-US" altLang="zh-CN" sz="3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11</m:t>
                      </m:r>
                      <m:r>
                        <a:rPr kumimoji="1" lang="zh-CN" altLang="en-US" sz="3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，</m:t>
                      </m:r>
                      <m:r>
                        <a:rPr kumimoji="1" lang="en-US" altLang="zh-CN" sz="3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111</m:t>
                      </m:r>
                      <m:r>
                        <a:rPr kumimoji="1" lang="zh-CN" altLang="en-US" sz="3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，</m:t>
                      </m:r>
                      <m:r>
                        <a:rPr kumimoji="1" lang="en-US" altLang="zh-CN" sz="3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…</m:t>
                      </m:r>
                      <m:r>
                        <a:rPr kumimoji="1" lang="zh-CN" altLang="en-US" sz="3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，</m:t>
                      </m:r>
                      <m:limUpp>
                        <m:limUppPr>
                          <m:ctrlPr>
                            <a:rPr kumimoji="1" lang="en-US" altLang="zh-CN" sz="3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kumimoji="1" lang="en-US" altLang="zh-CN" sz="3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/>
                                </m:rPr>
                                <a:rPr kumimoji="1" lang="en-US" altLang="zh-CN" sz="3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  <m:r>
                                <a:rPr kumimoji="1" lang="en-US" altLang="zh-CN" sz="3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1⋯1</m:t>
                              </m:r>
                            </m:e>
                          </m:groupChr>
                        </m:e>
                        <m:lim>
                          <m:r>
                            <a:rPr kumimoji="1" lang="en-US" altLang="zh-CN" sz="3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kumimoji="1" lang="en-US" altLang="zh-CN" sz="3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+1</m:t>
                          </m:r>
                        </m:lim>
                      </m:limUpp>
                    </m:oMath>
                  </m:oMathPara>
                </a14:m>
                <a:endParaRPr kumimoji="1" lang="en-US" altLang="zh-CN" sz="30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30000"/>
                  </a:lnSpc>
                </a:pPr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当一个整数被</a:t>
                </a:r>
                <a14:m>
                  <m:oMath xmlns:m="http://schemas.openxmlformats.org/officeDocument/2006/math">
                    <m:r>
                      <a:rPr kumimoji="1" lang="en-US" altLang="zh-CN" sz="3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整除时存在</a:t>
                </a:r>
                <a14:m>
                  <m:oMath xmlns:m="http://schemas.openxmlformats.org/officeDocument/2006/math"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个可能的余数。因为上表中有</a:t>
                </a:r>
                <a14:m>
                  <m:oMath xmlns:m="http://schemas.openxmlformats.org/officeDocument/2006/math">
                    <m:r>
                      <a:rPr kumimoji="1" lang="en-US" altLang="zh-CN" sz="3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+1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个整数，由鸽笼原理，必有两个整数在除以</a:t>
                </a:r>
                <a14:m>
                  <m:oMath xmlns:m="http://schemas.openxmlformats.org/officeDocument/2006/math">
                    <m:r>
                      <a:rPr kumimoji="1" lang="en-US" altLang="zh-CN" sz="3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  <m:r>
                      <a:rPr kumimoji="1" lang="en-US" altLang="zh-CN" sz="3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时有相同的余数。这两个整数之差的十进制表示中只含有</a:t>
                </a:r>
                <a14:m>
                  <m:oMath xmlns:m="http://schemas.openxmlformats.org/officeDocument/2006/math">
                    <m:r>
                      <a:rPr kumimoji="1" lang="en-US" altLang="zh-CN" sz="3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3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，且它能被</a:t>
                </a:r>
                <a14:m>
                  <m:oMath xmlns:m="http://schemas.openxmlformats.org/officeDocument/2006/math">
                    <m:r>
                      <a:rPr kumimoji="1" lang="en-US" altLang="zh-CN" sz="3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整除。</a:t>
                </a:r>
                <a:endParaRPr kumimoji="1" lang="en-US" altLang="zh-CN" sz="3000" b="1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2417690-B4AE-E8DE-C1B3-4C33E462D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797169"/>
                <a:ext cx="8534400" cy="5367944"/>
              </a:xfrm>
              <a:prstGeom prst="rect">
                <a:avLst/>
              </a:prstGeom>
              <a:blipFill>
                <a:blip r:embed="rId3"/>
                <a:stretch>
                  <a:fillRect l="-1643" t="-1023" r="-571" b="-2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4B0841A-A7CA-C1FB-A670-6E2D8E2279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容斥原理与鸽笼原理（续）</a:t>
            </a:r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37A7DE9-97A4-C46B-3B32-0393E661FC06}"/>
                  </a:ext>
                </a:extLst>
              </p:cNvPr>
              <p:cNvSpPr/>
              <p:nvPr/>
            </p:nvSpPr>
            <p:spPr>
              <a:xfrm>
                <a:off x="222738" y="762000"/>
                <a:ext cx="8820150" cy="548932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当物体数超过盒子数的</a:t>
                </a:r>
                <a:r>
                  <a:rPr kumimoji="1" lang="zh-CN" altLang="en-US" sz="3000" b="1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倍数</a:t>
                </a:r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时可以得出更多的结果。</a:t>
                </a:r>
                <a:endParaRPr kumimoji="1" lang="en-US" altLang="zh-CN" sz="3000" dirty="0">
                  <a:solidFill>
                    <a:srgbClr val="000000"/>
                  </a:solidFill>
                  <a:latin typeface="Times New Roman" pitchFamily="18" charset="0"/>
                  <a:cs typeface="Tahoma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kumimoji="1" lang="zh-CN" altLang="en-US" sz="32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广义鸽笼原理</a:t>
                </a:r>
                <a:endParaRPr kumimoji="1" lang="en-US" altLang="zh-CN" sz="32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  <a:defRPr/>
                </a:pPr>
                <a:r>
                  <a:rPr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</a:rPr>
                  <a:t>如果是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𝑁</m:t>
                    </m:r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</a:rPr>
                  <a:t>个物体放入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</a:rPr>
                  <a:t>个盒子，那么至少有一个盒子包含了至少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𝑵</m:t>
                        </m:r>
                        <m:r>
                          <a:rPr lang="en-US" altLang="zh-C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/</m:t>
                        </m:r>
                        <m:r>
                          <a:rPr lang="en-US" altLang="zh-C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</a:rPr>
                  <a:t>个物体。</a:t>
                </a:r>
                <a:endParaRPr lang="en-US" altLang="zh-CN" sz="320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32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广义鸽笼原理</a:t>
                </a:r>
                <a:r>
                  <a:rPr lang="zh-CN" altLang="en-US" sz="3200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证明</a:t>
                </a:r>
                <a:r>
                  <a:rPr lang="en-US" altLang="zh-CN" sz="3200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.</a:t>
                </a:r>
                <a:r>
                  <a:rPr lang="zh-CN" altLang="en-US" sz="3200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 </a:t>
                </a:r>
                <a:r>
                  <a:rPr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</a:rPr>
                  <a:t>个盒子中任何一个盒子包含的物体都小于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/</m:t>
                        </m:r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</m:oMath>
                </a14:m>
                <a:r>
                  <a:rPr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</a:rPr>
                  <a:t>个，那么物体总数至多是</a:t>
                </a:r>
                <a:endParaRPr lang="en-US" altLang="zh-CN" sz="320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⋅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lang="en-US" altLang="zh-CN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𝑘</m:t>
                                </m:r>
                              </m:den>
                            </m:f>
                            <m: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+1</m:t>
                            </m:r>
                          </m:e>
                        </m:d>
                        <m: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𝑁</m:t>
                    </m:r>
                  </m:oMath>
                </a14:m>
                <a:r>
                  <a:rPr lang="zh-CN" altLang="en-US" sz="3200" dirty="0">
                    <a:solidFill>
                      <a:srgbClr val="FF0000"/>
                    </a:solidFill>
                    <a:latin typeface="+mn-ea"/>
                    <a:ea typeface="+mn-ea"/>
                  </a:rPr>
                  <a:t>。</a:t>
                </a:r>
                <a:endParaRPr lang="en-US" altLang="zh-CN" sz="32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37A7DE9-97A4-C46B-3B32-0393E661FC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38" y="762000"/>
                <a:ext cx="8820150" cy="5489323"/>
              </a:xfrm>
              <a:prstGeom prst="rect">
                <a:avLst/>
              </a:prstGeom>
              <a:blipFill>
                <a:blip r:embed="rId3"/>
                <a:stretch>
                  <a:fillRect l="-1798" t="-1000" r="-3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BC1113F-5CA3-6802-34E8-9BE324143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容斥原理与鸽笼原理（续）</a:t>
            </a:r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11E9A0F-49FA-0368-9488-84598A7EE1AD}"/>
                  </a:ext>
                </a:extLst>
              </p:cNvPr>
              <p:cNvSpPr/>
              <p:nvPr/>
            </p:nvSpPr>
            <p:spPr>
              <a:xfrm>
                <a:off x="228600" y="914400"/>
                <a:ext cx="8424936" cy="52948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</a:pPr>
                <a:r>
                  <a:rPr kumimoji="1" lang="zh-CN" altLang="en-US" sz="32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问题</a:t>
                </a:r>
                <a:r>
                  <a:rPr kumimoji="1" lang="en-US" altLang="zh-CN" sz="32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. </a:t>
                </a:r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把一些物体分到</a:t>
                </a:r>
                <a14:m>
                  <m:oMath xmlns:m="http://schemas.openxmlformats.org/officeDocument/2006/math">
                    <m:r>
                      <a:rPr kumimoji="1" lang="en-US" altLang="zh-CN" sz="3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</m:oMath>
                </a14:m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个盒子中要使得存在某个盒子至少含有</a:t>
                </a:r>
                <a14:m>
                  <m:oMath xmlns:m="http://schemas.openxmlformats.org/officeDocument/2006/math">
                    <m:r>
                      <a:rPr kumimoji="1" lang="en-US" altLang="zh-CN" sz="3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𝑟</m:t>
                    </m:r>
                  </m:oMath>
                </a14:m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个物体，求这些物体的</a:t>
                </a:r>
                <a:r>
                  <a:rPr kumimoji="1" lang="zh-CN" altLang="en-US" sz="3200" b="1" dirty="0">
                    <a:solidFill>
                      <a:srgbClr val="FF0000"/>
                    </a:solidFill>
                    <a:latin typeface="+mn-ea"/>
                    <a:ea typeface="+mn-ea"/>
                    <a:cs typeface="Tahoma"/>
                  </a:rPr>
                  <a:t>最少</a:t>
                </a:r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个数。</a:t>
                </a:r>
                <a:endParaRPr kumimoji="1" lang="en-US" altLang="zh-CN" sz="32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ts val="1200"/>
                  </a:spcBef>
                </a:pPr>
                <a:r>
                  <a:rPr kumimoji="1" lang="zh-CN" altLang="en-US" sz="32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解</a:t>
                </a:r>
                <a:r>
                  <a:rPr kumimoji="1" lang="en-US" altLang="zh-CN" sz="32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. </a:t>
                </a:r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当有</a:t>
                </a:r>
                <a14:m>
                  <m:oMath xmlns:m="http://schemas.openxmlformats.org/officeDocument/2006/math">
                    <m:r>
                      <a:rPr kumimoji="1"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𝑁</m:t>
                    </m:r>
                  </m:oMath>
                </a14:m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个物体时，只要</a:t>
                </a:r>
                <a14:m>
                  <m:oMath xmlns:m="http://schemas.openxmlformats.org/officeDocument/2006/math">
                    <m:r>
                      <a:rPr kumimoji="1" lang="en-US" altLang="zh-CN" sz="3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kumimoji="1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1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  <m:r>
                          <a:rPr kumimoji="1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/</m:t>
                        </m:r>
                        <m:r>
                          <a:rPr kumimoji="1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≥</m:t>
                    </m:r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𝑟</m:t>
                    </m:r>
                  </m:oMath>
                </a14:m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，一定有</a:t>
                </a:r>
                <a14:m>
                  <m:oMath xmlns:m="http://schemas.openxmlformats.org/officeDocument/2006/math"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𝑟</m:t>
                    </m:r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个物体在同一个盒子里。满足</a:t>
                </a:r>
                <a14:m>
                  <m:oMath xmlns:m="http://schemas.openxmlformats.org/officeDocument/2006/math"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kumimoji="1" lang="en-US" altLang="zh-CN" sz="3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</m:t>
                    </m:r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</a:t>
                </a:r>
                <a:r>
                  <a:rPr kumimoji="1" lang="zh-CN" altLang="en-US" sz="32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最小</a:t>
                </a:r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正整数</a:t>
                </a:r>
                <a14:m>
                  <m:oMath xmlns:m="http://schemas.openxmlformats.org/officeDocument/2006/math">
                    <m:r>
                      <a:rPr kumimoji="1"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𝑁</m:t>
                    </m:r>
                  </m:oMath>
                </a14:m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，即</a:t>
                </a:r>
                <a:endParaRPr kumimoji="1" lang="en-US" altLang="zh-CN" sz="32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𝑵</m:t>
                      </m:r>
                      <m:r>
                        <a:rPr kumimoji="1"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1"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𝒌</m:t>
                      </m:r>
                      <m:d>
                        <m:dPr>
                          <m:ctrlPr>
                            <a:rPr kumimoji="1"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1"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𝒓</m:t>
                          </m:r>
                          <m:r>
                            <a:rPr kumimoji="1"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1"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𝟏</m:t>
                          </m:r>
                        </m:e>
                      </m:d>
                      <m:r>
                        <a:rPr kumimoji="1"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r>
                        <a:rPr kumimoji="1"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𝟏</m:t>
                      </m:r>
                    </m:oMath>
                  </m:oMathPara>
                </a14:m>
                <a:endParaRPr kumimoji="1" lang="en-US" altLang="zh-CN" sz="3200" b="1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30000"/>
                  </a:lnSpc>
                </a:pPr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是满足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kumimoji="1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1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  <m:r>
                          <a:rPr kumimoji="1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/</m:t>
                        </m:r>
                        <m:r>
                          <a:rPr kumimoji="1"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1"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≥</m:t>
                    </m:r>
                    <m:r>
                      <a:rPr kumimoji="1"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𝑟</m:t>
                    </m:r>
                  </m:oMath>
                </a14:m>
                <a:r>
                  <a:rPr kumimoji="1" lang="zh-CN" altLang="en-US" sz="32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的最小正整数。</a:t>
                </a:r>
                <a:endParaRPr kumimoji="1" lang="en-US" altLang="zh-CN" sz="32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11E9A0F-49FA-0368-9488-84598A7EE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914400"/>
                <a:ext cx="8424936" cy="5294847"/>
              </a:xfrm>
              <a:prstGeom prst="rect">
                <a:avLst/>
              </a:prstGeom>
              <a:blipFill>
                <a:blip r:embed="rId3"/>
                <a:stretch>
                  <a:fillRect l="-1881" t="-460" b="-2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FF071C6-F172-4F12-EFFB-739A228D4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0" y="161925"/>
            <a:ext cx="5581650" cy="6762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 </a:t>
            </a:r>
            <a:r>
              <a:rPr lang="zh-CN" altLang="en-US"/>
              <a:t>容斥原理与鸽笼原理（续）</a:t>
            </a:r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933DDF9-ED41-3644-490C-9BE70480FCDA}"/>
                  </a:ext>
                </a:extLst>
              </p:cNvPr>
              <p:cNvSpPr txBox="1"/>
              <p:nvPr/>
            </p:nvSpPr>
            <p:spPr>
              <a:xfrm>
                <a:off x="304800" y="797169"/>
                <a:ext cx="8229600" cy="5651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>
                  <a:lnSpc>
                    <a:spcPct val="120000"/>
                  </a:lnSpc>
                </a:pPr>
                <a:r>
                  <a:rPr kumimoji="1" lang="zh-CN" altLang="en-US" sz="29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例子</a:t>
                </a:r>
                <a:r>
                  <a:rPr kumimoji="1" lang="en-US" altLang="zh-CN" sz="29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6 </a:t>
                </a:r>
                <a:r>
                  <a:rPr lang="zh-CN" altLang="en-US" sz="2900" dirty="0">
                    <a:solidFill>
                      <a:srgbClr val="000000"/>
                    </a:solidFill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2900" i="1">
                        <a:solidFill>
                          <a:srgbClr val="000000"/>
                        </a:solidFill>
                        <a:latin typeface="Cambria Math"/>
                      </a:rPr>
                      <m:t>100</m:t>
                    </m:r>
                  </m:oMath>
                </a14:m>
                <a:r>
                  <a:rPr lang="en-US" altLang="zh-CN" sz="2900" dirty="0">
                    <a:solidFill>
                      <a:srgbClr val="000000"/>
                    </a:solidFill>
                  </a:rPr>
                  <a:t> </a:t>
                </a:r>
                <a:r>
                  <a:rPr lang="zh-CN" altLang="en-US" sz="2900" dirty="0">
                    <a:solidFill>
                      <a:srgbClr val="000000"/>
                    </a:solidFill>
                  </a:rPr>
                  <a:t>个人中至少有</a:t>
                </a:r>
                <a:endParaRPr lang="en-US" altLang="zh-CN" sz="2900" dirty="0">
                  <a:solidFill>
                    <a:srgbClr val="000000"/>
                  </a:solidFill>
                </a:endParaRPr>
              </a:p>
              <a:p>
                <a:pPr eaLnBrk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9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en-US" altLang="zh-CN" sz="29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12</m:t>
                              </m:r>
                            </m:den>
                          </m:f>
                        </m:e>
                      </m:d>
                      <m:r>
                        <a:rPr lang="en-US" altLang="zh-CN" sz="2900" i="1">
                          <a:solidFill>
                            <a:srgbClr val="000000"/>
                          </a:solidFill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US" altLang="zh-CN" sz="2900" dirty="0">
                  <a:solidFill>
                    <a:srgbClr val="000000"/>
                  </a:solidFill>
                </a:endParaRPr>
              </a:p>
              <a:p>
                <a:pPr eaLnBrk="1">
                  <a:lnSpc>
                    <a:spcPct val="120000"/>
                  </a:lnSpc>
                </a:pPr>
                <a:r>
                  <a:rPr lang="zh-CN" altLang="en-US" sz="2900" dirty="0">
                    <a:solidFill>
                      <a:srgbClr val="000000"/>
                    </a:solidFill>
                  </a:rPr>
                  <a:t>个人生在同一个月。</a:t>
                </a:r>
                <a:endParaRPr lang="en-US" altLang="zh-CN" sz="2900" dirty="0">
                  <a:solidFill>
                    <a:srgbClr val="000000"/>
                  </a:solidFill>
                </a:endParaRPr>
              </a:p>
              <a:p>
                <a:pPr eaLnBrk="1">
                  <a:lnSpc>
                    <a:spcPct val="120000"/>
                  </a:lnSpc>
                </a:pPr>
                <a:r>
                  <a:rPr lang="zh-CN" altLang="en-US" sz="2900" b="1" dirty="0">
                    <a:solidFill>
                      <a:srgbClr val="000000"/>
                    </a:solidFill>
                  </a:rPr>
                  <a:t>例</a:t>
                </a:r>
                <a:r>
                  <a:rPr kumimoji="1" lang="zh-CN" altLang="en-US" sz="2900" b="1" dirty="0">
                    <a:solidFill>
                      <a:srgbClr val="000000"/>
                    </a:solidFill>
                    <a:latin typeface="+mn-ea"/>
                    <a:cs typeface="Tahoma"/>
                  </a:rPr>
                  <a:t>子</a:t>
                </a:r>
                <a:r>
                  <a:rPr lang="en-US" altLang="zh-CN" sz="2900" b="1" dirty="0">
                    <a:solidFill>
                      <a:srgbClr val="000000"/>
                    </a:solidFill>
                  </a:rPr>
                  <a:t>7 </a:t>
                </a:r>
                <a:r>
                  <a:rPr lang="zh-CN" altLang="en-US" sz="2900" dirty="0">
                    <a:solidFill>
                      <a:srgbClr val="000000"/>
                    </a:solidFill>
                  </a:rPr>
                  <a:t>如果有</a:t>
                </a:r>
                <a14:m>
                  <m:oMath xmlns:m="http://schemas.openxmlformats.org/officeDocument/2006/math">
                    <m:r>
                      <a:rPr lang="en-US" altLang="zh-CN" sz="2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zh-CN" altLang="en-US" sz="2900" dirty="0">
                    <a:solidFill>
                      <a:srgbClr val="000000"/>
                    </a:solidFill>
                  </a:rPr>
                  <a:t>个可能的成绩</a:t>
                </a:r>
                <a14:m>
                  <m:oMath xmlns:m="http://schemas.openxmlformats.org/officeDocument/2006/math">
                    <m:r>
                      <a:rPr lang="en-US" altLang="zh-CN" sz="29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900" dirty="0">
                    <a:solidFill>
                      <a:srgbClr val="000000"/>
                    </a:solidFill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900" dirty="0">
                    <a:solidFill>
                      <a:srgbClr val="000000"/>
                    </a:solidFill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900" dirty="0">
                    <a:solidFill>
                      <a:srgbClr val="000000"/>
                    </a:solidFill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900" dirty="0">
                    <a:solidFill>
                      <a:srgbClr val="00000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9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2900" dirty="0">
                    <a:solidFill>
                      <a:srgbClr val="000000"/>
                    </a:solidFill>
                  </a:rPr>
                  <a:t>，那么在一个离散数学班里最少有多少个学生才能保证至少</a:t>
                </a:r>
                <a14:m>
                  <m:oMath xmlns:m="http://schemas.openxmlformats.org/officeDocument/2006/math">
                    <m:r>
                      <a:rPr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zh-CN" altLang="en-US" sz="2900" dirty="0">
                    <a:solidFill>
                      <a:srgbClr val="000000"/>
                    </a:solidFill>
                  </a:rPr>
                  <a:t>个学生得到相同的分数？</a:t>
                </a:r>
                <a:endParaRPr lang="en-US" altLang="zh-CN" sz="2900" dirty="0">
                  <a:solidFill>
                    <a:srgbClr val="000000"/>
                  </a:solidFill>
                </a:endParaRPr>
              </a:p>
              <a:p>
                <a:pPr eaLnBrk="1"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zh-CN" altLang="en-US" sz="2900" dirty="0">
                    <a:solidFill>
                      <a:srgbClr val="000000"/>
                    </a:solidFill>
                  </a:rPr>
                  <a:t>需要的最少学生数是使得</a:t>
                </a:r>
                <a14:m>
                  <m:oMath xmlns:m="http://schemas.openxmlformats.org/officeDocument/2006/math">
                    <m:r>
                      <a:rPr lang="en-US" altLang="zh-CN" sz="290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𝑁</m:t>
                        </m:r>
                        <m:r>
                          <a:rPr lang="en-US" altLang="zh-CN" sz="29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/5</m:t>
                        </m:r>
                      </m:e>
                    </m:d>
                    <m:r>
                      <a:rPr lang="en-US" altLang="zh-CN" sz="2900" i="1">
                        <a:solidFill>
                          <a:srgbClr val="000000"/>
                        </a:solidFill>
                        <a:latin typeface="Cambria Math"/>
                      </a:rPr>
                      <m:t>=6 </m:t>
                    </m:r>
                  </m:oMath>
                </a14:m>
                <a:r>
                  <a:rPr lang="zh-CN" altLang="en-US" sz="2900" dirty="0">
                    <a:solidFill>
                      <a:srgbClr val="000000"/>
                    </a:solidFill>
                  </a:rPr>
                  <a:t>的最小整数</a:t>
                </a:r>
                <a14:m>
                  <m:oMath xmlns:m="http://schemas.openxmlformats.org/officeDocument/2006/math">
                    <m:r>
                      <a:rPr lang="en-US" altLang="zh-CN" sz="290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sz="2900" i="1">
                        <a:solidFill>
                          <a:srgbClr val="000000"/>
                        </a:solidFill>
                        <a:latin typeface="Cambria Math"/>
                      </a:rPr>
                      <m:t>𝑁</m:t>
                    </m:r>
                  </m:oMath>
                </a14:m>
                <a:r>
                  <a:rPr lang="zh-CN" altLang="en-US" sz="2900" dirty="0">
                    <a:solidFill>
                      <a:srgbClr val="000000"/>
                    </a:solidFill>
                  </a:rPr>
                  <a:t>。经计算，</a:t>
                </a:r>
                <a:endParaRPr lang="en-US" altLang="zh-CN" sz="2900" dirty="0">
                  <a:solidFill>
                    <a:srgbClr val="000000"/>
                  </a:solidFill>
                </a:endParaRPr>
              </a:p>
              <a:p>
                <a:pPr eaLnBrk="1">
                  <a:lnSpc>
                    <a:spcPct val="12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2900" i="1" smtClean="0">
                        <a:solidFill>
                          <a:srgbClr val="000000"/>
                        </a:solidFill>
                        <a:latin typeface="Cambria Math"/>
                      </a:rPr>
                      <m:t>𝑁</m:t>
                    </m:r>
                    <m:r>
                      <a:rPr lang="en-US" altLang="zh-CN" sz="2900" i="1">
                        <a:solidFill>
                          <a:srgbClr val="000000"/>
                        </a:solidFill>
                        <a:latin typeface="Cambria Math"/>
                      </a:rPr>
                      <m:t>=5</m:t>
                    </m:r>
                    <m:d>
                      <m:dPr>
                        <m:ctrlPr>
                          <a:rPr lang="en-US" altLang="zh-CN"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6−1</m:t>
                        </m:r>
                      </m:e>
                    </m:d>
                    <m:r>
                      <a:rPr lang="en-US" altLang="zh-CN" sz="2900" i="1">
                        <a:solidFill>
                          <a:srgbClr val="000000"/>
                        </a:solidFill>
                        <a:latin typeface="Cambria Math"/>
                      </a:rPr>
                      <m:t>+1=26</m:t>
                    </m:r>
                  </m:oMath>
                </a14:m>
                <a:r>
                  <a:rPr lang="zh-CN" altLang="en-US" sz="2900" dirty="0">
                    <a:solidFill>
                      <a:srgbClr val="000000"/>
                    </a:solidFill>
                  </a:rPr>
                  <a:t>。</a:t>
                </a:r>
                <a:endParaRPr lang="en-US" altLang="zh-CN" sz="29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933DDF9-ED41-3644-490C-9BE70480F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797169"/>
                <a:ext cx="8229600" cy="5651675"/>
              </a:xfrm>
              <a:prstGeom prst="rect">
                <a:avLst/>
              </a:prstGeom>
              <a:blipFill>
                <a:blip r:embed="rId3"/>
                <a:stretch>
                  <a:fillRect l="-1556" t="-863" r="-667" b="-18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565B670-30E1-2DA4-BAC4-C489502A2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1" y="80474"/>
            <a:ext cx="6419850" cy="6762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容斥原理与鸽笼原理（续）</a:t>
            </a:r>
            <a:endParaRPr lang="en-US" altLang="zh-CN" dirty="0"/>
          </a:p>
        </p:txBody>
      </p:sp>
      <p:sp>
        <p:nvSpPr>
          <p:cNvPr id="22531" name="矩形 2">
            <a:extLst>
              <a:ext uri="{FF2B5EF4-FFF2-40B4-BE49-F238E27FC236}">
                <a16:creationId xmlns:a16="http://schemas.microsoft.com/office/drawing/2014/main" id="{219C327A-9B03-D277-1880-F2F43F1FA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06181"/>
            <a:ext cx="4267199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鸽笼原理的简单应用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DA01762-8F46-719B-7CDF-2CA5EAE799F7}"/>
                  </a:ext>
                </a:extLst>
              </p:cNvPr>
              <p:cNvSpPr txBox="1"/>
              <p:nvPr/>
            </p:nvSpPr>
            <p:spPr>
              <a:xfrm>
                <a:off x="170656" y="1023937"/>
                <a:ext cx="8802687" cy="5775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zh-CN" altLang="en-US" sz="29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例子</a:t>
                </a:r>
                <a:r>
                  <a:rPr kumimoji="1" lang="en-US" altLang="zh-CN" sz="29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8 </a:t>
                </a:r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证明：在不超过</a:t>
                </a:r>
                <a14:m>
                  <m:oMath xmlns:m="http://schemas.openxmlformats.org/officeDocument/2006/math"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2</m:t>
                    </m:r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的任意</a:t>
                </a:r>
                <a14:m>
                  <m:oMath xmlns:m="http://schemas.openxmlformats.org/officeDocument/2006/math">
                    <m:r>
                      <a:rPr kumimoji="1" lang="en-US" altLang="zh-CN" sz="29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+1</m:t>
                    </m:r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个正整数中一定存在一个正整数被另一个正整数整除。</a:t>
                </a:r>
                <a:endParaRPr kumimoji="1" lang="en-US" altLang="zh-CN" sz="29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kumimoji="1" lang="zh-CN" altLang="en-US" sz="29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例子</a:t>
                </a:r>
                <a:r>
                  <a:rPr kumimoji="1" lang="en-US" altLang="zh-CN" sz="29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8</a:t>
                </a:r>
                <a:r>
                  <a:rPr kumimoji="1" lang="zh-CN" altLang="en-US" sz="29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证明</a:t>
                </a:r>
                <a:r>
                  <a:rPr kumimoji="1" lang="en-US" altLang="zh-CN" sz="29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.</a:t>
                </a:r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对任意不超过</a:t>
                </a:r>
                <a14:m>
                  <m:oMath xmlns:m="http://schemas.openxmlformats.org/officeDocument/2006/math">
                    <m:r>
                      <a:rPr kumimoji="1" lang="en-US" altLang="zh-CN" sz="2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2</m:t>
                    </m:r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的正整数</a:t>
                </a:r>
                <a14:m>
                  <m:oMath xmlns:m="http://schemas.openxmlformats.org/officeDocument/2006/math"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sSub>
                      <m:sSubPr>
                        <m:ctrlP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sSub>
                      <m:sSubPr>
                        <m:ctrlP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, …, </m:t>
                    </m:r>
                    <m:sSub>
                      <m:sSubPr>
                        <m:ctrlP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，我们写成形式</a:t>
                </a:r>
                <a14:m>
                  <m:oMath xmlns:m="http://schemas.openxmlformats.org/officeDocument/2006/math"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sSub>
                      <m:sSubPr>
                        <m:ctrlP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sub>
                    </m:sSub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kumimoji="1" lang="en-US" altLang="zh-CN" sz="29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9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US" altLang="zh-CN" sz="29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𝑗</m:t>
                            </m:r>
                          </m:sub>
                        </m:s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 </m:t>
                        </m:r>
                      </m:sup>
                    </m:sSup>
                    <m:sSub>
                      <m:sSubPr>
                        <m:ctrlP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sub>
                    </m:sSub>
                    <m:r>
                      <a:rPr kumimoji="1" lang="zh-CN" altLang="en-US"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𝑗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  <m:r>
                      <a:rPr kumimoji="1" lang="zh-CN" altLang="en-US"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2</m:t>
                    </m:r>
                    <m:r>
                      <a:rPr kumimoji="1" lang="zh-CN" altLang="en-US"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…</m:t>
                    </m:r>
                    <m:r>
                      <a:rPr kumimoji="1" lang="zh-CN" altLang="en-US"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+1</m:t>
                    </m:r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，其中整数</a:t>
                </a:r>
                <a14:m>
                  <m:oMath xmlns:m="http://schemas.openxmlformats.org/officeDocument/2006/math"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sSub>
                      <m:sSubPr>
                        <m:ctrlP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  <m: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sub>
                    </m:sSub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≥0</m:t>
                    </m:r>
                    <m:r>
                      <a:rPr kumimoji="1" lang="zh-CN" altLang="en-US"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，奇数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sSub>
                      <m:sSubPr>
                        <m:ctrlP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sub>
                    </m:sSub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&lt;2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。</a:t>
                </a:r>
                <a:endParaRPr kumimoji="1" lang="en-US" altLang="zh-CN" sz="29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kumimoji="1" lang="en-US" altLang="zh-CN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    </a:t>
                </a:r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由于小于</a:t>
                </a:r>
                <a14:m>
                  <m:oMath xmlns:m="http://schemas.openxmlformats.org/officeDocument/2006/math">
                    <m:r>
                      <a:rPr kumimoji="1" lang="en-US" altLang="zh-CN" sz="29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en-US" altLang="zh-CN"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2</m:t>
                    </m:r>
                    <m:r>
                      <a:rPr kumimoji="1" lang="en-US" altLang="zh-CN"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的正奇数一共有</a:t>
                </a:r>
                <a14:m>
                  <m:oMath xmlns:m="http://schemas.openxmlformats.org/officeDocument/2006/math"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𝑛</m:t>
                    </m:r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个，所以</a:t>
                </a:r>
                <a:r>
                  <a:rPr kumimoji="1" lang="zh-CN" altLang="en-US" sz="2900" b="1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由鸽笼原理</a:t>
                </a:r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sSub>
                      <m:sSubPr>
                        <m:ctrlP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,…, </m:t>
                    </m:r>
                    <m:sSub>
                      <m:sSubPr>
                        <m:ctrlP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+1</m:t>
                        </m:r>
                      </m:sub>
                    </m:sSub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中必有两个相等。于是，存在整数</a:t>
                </a:r>
                <a14:m>
                  <m:oMath xmlns:m="http://schemas.openxmlformats.org/officeDocument/2006/math"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zh-CN" altLang="en-US" sz="2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和</m:t>
                    </m:r>
                    <m:r>
                      <a:rPr kumimoji="1" lang="en-US" altLang="zh-CN" sz="2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𝑗</m:t>
                    </m:r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使得</a:t>
                </a:r>
                <a14:m>
                  <m:oMath xmlns:m="http://schemas.openxmlformats.org/officeDocument/2006/math"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sSub>
                      <m:sSubPr>
                        <m:ctrlP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sub>
                    </m:sSub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𝑞</m:t>
                    </m:r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，即</a:t>
                </a:r>
                <a:endParaRPr kumimoji="1" lang="en-US" altLang="zh-CN" sz="29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kumimoji="1" lang="en-US" altLang="zh-CN" sz="2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9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9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9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kumimoji="1" lang="en-US" altLang="zh-CN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𝑞</m:t>
                      </m:r>
                      <m:r>
                        <a:rPr kumimoji="1"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，</m:t>
                      </m:r>
                      <m:r>
                        <a:rPr kumimoji="1" lang="en-US" altLang="zh-CN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sz="2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1" lang="en-US" altLang="zh-CN" sz="2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kumimoji="1" lang="en-US" altLang="zh-CN" sz="29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zh-CN" sz="29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9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CN" sz="29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</m:sub>
                          </m:sSub>
                        </m:sup>
                      </m:sSup>
                      <m:r>
                        <a:rPr kumimoji="1" lang="en-US" altLang="zh-CN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𝑞</m:t>
                      </m:r>
                    </m:oMath>
                  </m:oMathPara>
                </a14:m>
                <a:endParaRPr kumimoji="1" lang="en-US" altLang="zh-CN" sz="29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kumimoji="1" lang="en-US" altLang="zh-CN" sz="29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∣</m:t>
                    </m:r>
                    <m:sSub>
                      <m:sSubPr>
                        <m:ctrlP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如果</a:t>
                </a:r>
                <a14:m>
                  <m:oMath xmlns:m="http://schemas.openxmlformats.org/officeDocument/2006/math"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sSub>
                      <m:sSubPr>
                        <m:ctrlP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  <m:sub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kumimoji="1" lang="en-US" altLang="zh-CN" sz="29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sSub>
                      <m:sSubPr>
                        <m:ctrlP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  <m:sub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sub>
                    </m:sSub>
                    <m:r>
                      <a:rPr kumimoji="1" lang="en-US" altLang="zh-CN"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∣</m:t>
                    </m:r>
                    <m:sSub>
                      <m:sSubPr>
                        <m:ctrlPr>
                          <a:rPr kumimoji="1" lang="en-US" altLang="zh-CN"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如果</a:t>
                </a:r>
                <a14:m>
                  <m:oMath xmlns:m="http://schemas.openxmlformats.org/officeDocument/2006/math">
                    <m:r>
                      <a:rPr kumimoji="1" lang="en-US" altLang="zh-CN" sz="2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sSub>
                      <m:sSubPr>
                        <m:ctrlPr>
                          <a:rPr kumimoji="1" lang="en-US" altLang="zh-CN" sz="2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  <m:sub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sub>
                    </m:sSub>
                    <m:r>
                      <a:rPr kumimoji="1" lang="en-US" altLang="zh-CN" sz="2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sSub>
                      <m:sSubPr>
                        <m:ctrlPr>
                          <a:rPr kumimoji="1" lang="en-US" altLang="zh-CN" sz="2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  <m:sub>
                        <m:r>
                          <a:rPr kumimoji="1" lang="en-US" altLang="zh-CN" sz="29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90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。</a:t>
                </a:r>
                <a:endParaRPr kumimoji="1" lang="en-US" altLang="zh-CN" sz="290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DA01762-8F46-719B-7CDF-2CA5EAE79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56" y="1023937"/>
                <a:ext cx="8802687" cy="5775684"/>
              </a:xfrm>
              <a:prstGeom prst="rect">
                <a:avLst/>
              </a:prstGeom>
              <a:blipFill>
                <a:blip r:embed="rId3"/>
                <a:stretch>
                  <a:fillRect l="-1524" t="-845" r="-5609" b="-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149D7-986F-3BCE-F257-470F2B297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D6A5CCD-D848-3FF6-8B8F-869F715FC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1" y="80474"/>
            <a:ext cx="6419850" cy="6762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容斥原理与鸽笼原理（续）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0F55931-1CB3-6C08-C80F-53413E0E8ECE}"/>
                  </a:ext>
                </a:extLst>
              </p:cNvPr>
              <p:cNvSpPr txBox="1"/>
              <p:nvPr/>
            </p:nvSpPr>
            <p:spPr>
              <a:xfrm>
                <a:off x="170656" y="756749"/>
                <a:ext cx="8802687" cy="5775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例子</a:t>
                </a:r>
                <a:r>
                  <a:rPr kumimoji="1" lang="en-US" altLang="zh-CN" sz="2800" b="1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9  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假定一组有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个人，任意两个人或者是朋友或者是敌人。证明在这组人中或存在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个人彼此都是朋友，或存在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个人彼此都是敌人。</a:t>
                </a:r>
                <a:endParaRPr kumimoji="1"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ahoma"/>
                </a:endParaRPr>
              </a:p>
              <a:p>
                <a:pPr eaLnBrk="1" hangingPunct="1">
                  <a:lnSpc>
                    <a:spcPct val="110000"/>
                  </a:lnSpc>
                  <a:spcBef>
                    <a:spcPts val="1200"/>
                  </a:spcBef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令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是</a:t>
                </a:r>
                <a:r>
                  <a:rPr kumimoji="1"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6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个人中的一人，则从广义鸽笼原理得出组里其他 </a:t>
                </a:r>
                <a:r>
                  <a:rPr kumimoji="1"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5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个人中至少有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kumimoji="1"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5/2</m:t>
                        </m:r>
                      </m:e>
                    </m:d>
                    <m:r>
                      <a:rPr kumimoji="1" lang="en-US" altLang="zh-CN" sz="2800" i="1">
                        <a:solidFill>
                          <a:srgbClr val="000000"/>
                        </a:solidFill>
                        <a:latin typeface="Cambria Math"/>
                      </a:rPr>
                      <m:t>=3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个人是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的朋友，或至少有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个人是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 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的敌人。</a:t>
                </a:r>
                <a:endParaRPr kumimoji="1"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ahoma"/>
                </a:endParaRPr>
              </a:p>
              <a:p>
                <a:pPr marL="514350" indent="-514350" eaLnBrk="1" hangingPunct="1">
                  <a:lnSpc>
                    <a:spcPct val="110000"/>
                  </a:lnSpc>
                  <a:buFont typeface="+mj-lt"/>
                  <a:buAutoNum type="arabicPeriod"/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假定 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是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的朋友。</a:t>
                </a:r>
                <a:endParaRPr kumimoji="1"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ahoma"/>
                </a:endParaRPr>
              </a:p>
              <a:p>
                <a:pPr marL="971550" lvl="1" indent="-514350" eaLnBrk="1" hangingPunct="1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如果这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个人中至少有</a:t>
                </a:r>
                <a:r>
                  <a:rPr kumimoji="1"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2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个人也是朋友，那么这</a:t>
                </a:r>
                <a:r>
                  <a:rPr kumimoji="1" lang="en-US" altLang="zh-CN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2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个人和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构成彼此是朋友的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人组。</a:t>
                </a:r>
                <a:endParaRPr kumimoji="1"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ahoma"/>
                </a:endParaRPr>
              </a:p>
              <a:p>
                <a:pPr marL="971550" lvl="1" indent="-514350" eaLnBrk="1" hangingPunct="1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否则，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构成彼此为敌人的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人组。</a:t>
                </a:r>
                <a:endParaRPr kumimoji="1"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ahoma"/>
                </a:endParaRPr>
              </a:p>
              <a:p>
                <a:pPr marL="514350" indent="-514350" eaLnBrk="1" hangingPunct="1">
                  <a:lnSpc>
                    <a:spcPct val="120000"/>
                  </a:lnSpc>
                  <a:spcBef>
                    <a:spcPts val="1200"/>
                  </a:spcBef>
                  <a:buFont typeface="+mj-lt"/>
                  <a:buAutoNum type="arabicPeriod"/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假定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是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itchFamily="18" charset="0"/>
                    <a:cs typeface="Tahoma"/>
                  </a:rPr>
                  <a:t>的敌人。类似证明。</a:t>
                </a:r>
                <a:endParaRPr kumimoji="1" lang="en-US" altLang="zh-CN" sz="2800" dirty="0">
                  <a:solidFill>
                    <a:srgbClr val="000000"/>
                  </a:solidFill>
                  <a:latin typeface="Times New Roman" pitchFamily="18" charset="0"/>
                  <a:cs typeface="Tahoma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0F55931-1CB3-6C08-C80F-53413E0E8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56" y="756749"/>
                <a:ext cx="8802687" cy="5775684"/>
              </a:xfrm>
              <a:prstGeom prst="rect">
                <a:avLst/>
              </a:prstGeom>
              <a:blipFill>
                <a:blip r:embed="rId3"/>
                <a:stretch>
                  <a:fillRect l="-1454" t="-738" r="-693" b="-10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041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9A4B18F-EE12-57F8-86C8-0DD194413D3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0338" y="304800"/>
            <a:ext cx="2582862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母函数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662E46-16B7-8D7D-783D-0D127D371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08" y="1143000"/>
            <a:ext cx="8907488" cy="384655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3D55943-5F3C-3527-3A1F-2415EB03BCE8}"/>
              </a:ext>
            </a:extLst>
          </p:cNvPr>
          <p:cNvSpPr/>
          <p:nvPr/>
        </p:nvSpPr>
        <p:spPr bwMode="auto">
          <a:xfrm>
            <a:off x="129008" y="1821199"/>
            <a:ext cx="792088" cy="50405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None/>
              <a:tabLst/>
            </a:pPr>
            <a:endParaRPr kumimoji="1" lang="zh-CN" altLang="en-US" sz="1000" b="0" i="0" u="none" strike="noStrike" cap="none" normalizeH="0" baseline="0">
              <a:ln>
                <a:noFill/>
              </a:ln>
              <a:noFill/>
              <a:effectLst/>
              <a:latin typeface="굴림" pitchFamily="50" charset="-127"/>
              <a:ea typeface="굴림" pitchFamily="50" charset="-127"/>
              <a:cs typeface="Tahoma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4219F7-A373-383C-A19A-BD9CC54B1925}"/>
              </a:ext>
            </a:extLst>
          </p:cNvPr>
          <p:cNvSpPr/>
          <p:nvPr/>
        </p:nvSpPr>
        <p:spPr bwMode="auto">
          <a:xfrm>
            <a:off x="129008" y="3549391"/>
            <a:ext cx="792088" cy="50405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None/>
              <a:tabLst/>
            </a:pPr>
            <a:endParaRPr kumimoji="1" lang="zh-CN" altLang="en-US" sz="1000" b="0" i="0" u="none" strike="noStrike" cap="none" normalizeH="0" baseline="0">
              <a:ln>
                <a:noFill/>
              </a:ln>
              <a:noFill/>
              <a:effectLst/>
              <a:latin typeface="굴림" pitchFamily="50" charset="-127"/>
              <a:ea typeface="굴림" pitchFamily="50" charset="-127"/>
              <a:cs typeface="Tahoma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4008D3-5617-8764-B950-384BBA07D3E1}"/>
              </a:ext>
            </a:extLst>
          </p:cNvPr>
          <p:cNvSpPr/>
          <p:nvPr/>
        </p:nvSpPr>
        <p:spPr bwMode="auto">
          <a:xfrm>
            <a:off x="129008" y="4485495"/>
            <a:ext cx="792088" cy="50405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None/>
              <a:tabLst/>
            </a:pPr>
            <a:endParaRPr kumimoji="1" lang="zh-CN" altLang="en-US" sz="1000" b="0" i="0" u="none" strike="noStrike" cap="none" normalizeH="0" baseline="0">
              <a:ln>
                <a:noFill/>
              </a:ln>
              <a:noFill/>
              <a:effectLst/>
              <a:latin typeface="굴림" pitchFamily="50" charset="-127"/>
              <a:ea typeface="굴림" pitchFamily="50" charset="-127"/>
              <a:cs typeface="Tahoma" pitchFamily="34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74FE6D9-2F01-7B57-0A8C-4D0E2B6B268B}"/>
              </a:ext>
            </a:extLst>
          </p:cNvPr>
          <p:cNvCxnSpPr/>
          <p:nvPr/>
        </p:nvCxnSpPr>
        <p:spPr bwMode="auto">
          <a:xfrm>
            <a:off x="1043608" y="2253247"/>
            <a:ext cx="12961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sm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46B35F1-21AB-2DF8-312A-E3C0589211EB}"/>
              </a:ext>
            </a:extLst>
          </p:cNvPr>
          <p:cNvCxnSpPr/>
          <p:nvPr/>
        </p:nvCxnSpPr>
        <p:spPr bwMode="auto">
          <a:xfrm>
            <a:off x="1043608" y="3261359"/>
            <a:ext cx="12961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sm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F2CED8-221D-BF0B-C350-CC816D0A0E56}"/>
              </a:ext>
            </a:extLst>
          </p:cNvPr>
          <p:cNvCxnSpPr/>
          <p:nvPr/>
        </p:nvCxnSpPr>
        <p:spPr bwMode="auto">
          <a:xfrm flipV="1">
            <a:off x="1043608" y="3981439"/>
            <a:ext cx="1008112" cy="3909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sm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97A5D9C-C5D2-C201-AD73-4CC50056A66D}"/>
              </a:ext>
            </a:extLst>
          </p:cNvPr>
          <p:cNvCxnSpPr/>
          <p:nvPr/>
        </p:nvCxnSpPr>
        <p:spPr bwMode="auto">
          <a:xfrm flipV="1">
            <a:off x="1043608" y="4465296"/>
            <a:ext cx="1008112" cy="3909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sm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D842A37-67B0-E9D1-A613-44E31ABC9F73}"/>
              </a:ext>
            </a:extLst>
          </p:cNvPr>
          <p:cNvCxnSpPr/>
          <p:nvPr/>
        </p:nvCxnSpPr>
        <p:spPr bwMode="auto">
          <a:xfrm flipV="1">
            <a:off x="1043608" y="4945244"/>
            <a:ext cx="1008112" cy="3909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sm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4F9BD3C-A16A-4AAD-A7EF-434F52EA324B}"/>
              </a:ext>
            </a:extLst>
          </p:cNvPr>
          <p:cNvCxnSpPr/>
          <p:nvPr/>
        </p:nvCxnSpPr>
        <p:spPr bwMode="auto">
          <a:xfrm>
            <a:off x="2987824" y="3981439"/>
            <a:ext cx="720080" cy="1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none" w="med" len="sm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8124CFE-D8C6-B0C7-E600-3D80A66B2A9F}"/>
              </a:ext>
            </a:extLst>
          </p:cNvPr>
          <p:cNvCxnSpPr/>
          <p:nvPr/>
        </p:nvCxnSpPr>
        <p:spPr bwMode="auto">
          <a:xfrm>
            <a:off x="2987824" y="4465295"/>
            <a:ext cx="720080" cy="1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none" w="med" len="sm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1B42036-2059-7165-B920-EE0DE084F082}"/>
              </a:ext>
            </a:extLst>
          </p:cNvPr>
          <p:cNvCxnSpPr/>
          <p:nvPr/>
        </p:nvCxnSpPr>
        <p:spPr bwMode="auto">
          <a:xfrm>
            <a:off x="4788024" y="4945244"/>
            <a:ext cx="720080" cy="1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none" w="med" len="sm"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875CD23-D126-9090-6BA8-7E5AC72993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4950" y="114300"/>
            <a:ext cx="548005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母函数（续）</a:t>
            </a:r>
            <a:endParaRPr lang="en-US" altLang="zh-CN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72F081B-B1CC-2EDD-99E7-78C641057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258" y="457200"/>
            <a:ext cx="8143875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47675" indent="-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Ø"/>
              <a:defRPr kumimoji="1" sz="3200">
                <a:solidFill>
                  <a:srgbClr val="333399"/>
                </a:solidFill>
                <a:latin typeface="黑体" pitchFamily="2" charset="-122"/>
                <a:ea typeface="黑体" pitchFamily="2" charset="-122"/>
                <a:cs typeface="+mn-cs"/>
              </a:defRPr>
            </a:lvl1pPr>
            <a:lvl2pPr marL="889000" indent="-43973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Font typeface="Wingdings 2" pitchFamily="18" charset="2"/>
              <a:buBlip>
                <a:blip r:embed="rId3"/>
              </a:buBlip>
              <a:defRPr kumimoji="1" sz="2800">
                <a:solidFill>
                  <a:srgbClr val="333399"/>
                </a:solidFill>
                <a:latin typeface="黑体" pitchFamily="2" charset="-122"/>
                <a:ea typeface="黑体" pitchFamily="2" charset="-122"/>
                <a:cs typeface="+mn-cs"/>
              </a:defRPr>
            </a:lvl2pPr>
            <a:lvl3pPr marL="1293813" indent="-4032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itchFamily="2" charset="2"/>
              <a:buChar char="l"/>
              <a:defRPr kumimoji="1" sz="2400">
                <a:solidFill>
                  <a:srgbClr val="333399"/>
                </a:solidFill>
                <a:latin typeface="黑体" pitchFamily="2" charset="-122"/>
                <a:ea typeface="黑体" pitchFamily="2" charset="-122"/>
                <a:cs typeface="+mn-cs"/>
              </a:defRPr>
            </a:lvl3pPr>
            <a:lvl4pPr marL="1681163" indent="-38576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itchFamily="2" charset="2"/>
              <a:buChar char="u"/>
              <a:defRPr kumimoji="1" sz="2000">
                <a:solidFill>
                  <a:srgbClr val="333399"/>
                </a:solidFill>
                <a:latin typeface="黑体" pitchFamily="2" charset="-122"/>
                <a:ea typeface="黑体" pitchFamily="2" charset="-122"/>
                <a:cs typeface="+mn-cs"/>
              </a:defRPr>
            </a:lvl4pPr>
            <a:lvl5pPr marL="2070100" indent="-3873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Font typeface="Wingdings 2" pitchFamily="18" charset="2"/>
              <a:buChar char="ò"/>
              <a:defRPr kumimoji="1" sz="2000">
                <a:solidFill>
                  <a:srgbClr val="333399"/>
                </a:solidFill>
                <a:latin typeface="黑体" pitchFamily="2" charset="-122"/>
                <a:ea typeface="黑体" pitchFamily="2" charset="-122"/>
                <a:cs typeface="+mn-cs"/>
              </a:defRPr>
            </a:lvl5pPr>
            <a:lvl6pPr marL="2527300" indent="-3873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4500" indent="-3873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41700" indent="-3873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8900" indent="-3873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>
                <a:srgbClr val="000000"/>
              </a:buClr>
              <a:buNone/>
              <a:defRPr/>
            </a:pP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母函数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可以用来解决</a:t>
            </a:r>
            <a:r>
              <a:rPr lang="zh-CN" altLang="en-US" b="1" u="sng" kern="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允许重复</a:t>
            </a:r>
            <a:r>
              <a:rPr lang="zh-CN" altLang="en-US" sz="2800" b="1" kern="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并且重复</a:t>
            </a:r>
            <a:r>
              <a:rPr lang="zh-CN" altLang="en-US" b="1" u="sng" kern="0" dirty="0">
                <a:solidFill>
                  <a:srgbClr val="66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有限制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</a:t>
            </a:r>
            <a:r>
              <a:rPr lang="zh-CN" altLang="en-US" b="1" u="sng" kern="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组合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问题。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56C98D4-2C7F-23D3-1665-3766E65D6696}"/>
                  </a:ext>
                </a:extLst>
              </p:cNvPr>
              <p:cNvSpPr/>
              <p:nvPr/>
            </p:nvSpPr>
            <p:spPr>
              <a:xfrm>
                <a:off x="110122" y="1755169"/>
                <a:ext cx="9069047" cy="48189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>
                  <a:defRPr/>
                </a:pPr>
                <a:r>
                  <a:rPr kumimoji="0" lang="zh-CN" altLang="en-US" sz="3000" b="1" kern="0" dirty="0">
                    <a:latin typeface="宋体" pitchFamily="2" charset="-122"/>
                  </a:rPr>
                  <a:t>例</a:t>
                </a:r>
                <a:r>
                  <a:rPr lang="zh-CN" altLang="en-US" sz="3000" b="1" kern="0" dirty="0">
                    <a:latin typeface="宋体" pitchFamily="2" charset="-122"/>
                  </a:rPr>
                  <a:t>子</a:t>
                </a:r>
                <a:r>
                  <a:rPr kumimoji="0" lang="en-US" altLang="zh-CN" sz="3000" b="1" kern="0" dirty="0">
                    <a:latin typeface="宋体" pitchFamily="2" charset="-122"/>
                  </a:rPr>
                  <a:t>10</a:t>
                </a:r>
                <a:r>
                  <a:rPr kumimoji="0" lang="zh-CN" altLang="en-US" sz="3000" b="1" kern="0" dirty="0">
                    <a:latin typeface="宋体" pitchFamily="2" charset="-122"/>
                  </a:rPr>
                  <a:t> </a:t>
                </a:r>
                <a:r>
                  <a:rPr kumimoji="0" lang="zh-CN" altLang="en-US" sz="3000" kern="0" dirty="0">
                    <a:latin typeface="宋体" pitchFamily="2" charset="-122"/>
                  </a:rPr>
                  <a:t>有红球</a:t>
                </a:r>
                <a14:m>
                  <m:oMath xmlns:m="http://schemas.openxmlformats.org/officeDocument/2006/math"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个，白球</a:t>
                </a:r>
                <a14:m>
                  <m:oMath xmlns:m="http://schemas.openxmlformats.org/officeDocument/2006/math">
                    <m:r>
                      <a:rPr kumimoji="1" lang="en-US" altLang="zh-CN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个，黄球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个，问有多少种不同的组合方案？</a:t>
                </a:r>
                <a:endParaRPr kumimoji="0" lang="en-US" altLang="zh-CN" sz="3000" kern="0" dirty="0">
                  <a:latin typeface="宋体" pitchFamily="2" charset="-122"/>
                </a:endParaRPr>
              </a:p>
              <a:p>
                <a:pPr eaLnBrk="1">
                  <a:spcBef>
                    <a:spcPts val="600"/>
                  </a:spcBef>
                  <a:defRPr/>
                </a:pPr>
                <a:r>
                  <a:rPr kumimoji="0" lang="zh-CN" altLang="en-US" sz="3000" kern="0" dirty="0">
                    <a:latin typeface="宋体" pitchFamily="2" charset="-122"/>
                  </a:rPr>
                  <a:t>用</a:t>
                </a:r>
                <a14:m>
                  <m:oMath xmlns:m="http://schemas.openxmlformats.org/officeDocument/2006/math">
                    <m:r>
                      <a:rPr kumimoji="0" lang="en-US" altLang="zh-CN" sz="3000" b="0" i="0" kern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3000" b="0" i="1" kern="0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000" i="1" kern="0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0" lang="en-US" altLang="zh-CN" sz="3000" b="0" i="1" kern="0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3000" i="1" kern="0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0" lang="en-US" altLang="zh-CN" sz="3000" b="0" i="1" kern="0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zh-CN" sz="3000" b="0" i="1" kern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代表红、白、黄三种颜色的球，</a:t>
                </a:r>
                <a14:m>
                  <m:oMath xmlns:m="http://schemas.openxmlformats.org/officeDocument/2006/math">
                    <m:r>
                      <a:rPr kumimoji="0" lang="en-US" altLang="zh-CN" sz="3000" b="0" i="0" kern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3000" i="1" kern="0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0" lang="en-US" altLang="zh-CN" sz="3000" b="0" i="1" kern="0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000" i="1" kern="0" dirty="0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kumimoji="0" lang="en-US" altLang="zh-CN" sz="3000" i="1" kern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000" b="0" i="1" kern="0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kumimoji="0" lang="en-US" altLang="zh-CN" sz="3000" b="0" i="1" kern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altLang="zh-CN" sz="3000" b="0" i="1" kern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分别代表红球取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个，取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个，取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个的情形，令</a:t>
                </a:r>
                <a:endParaRPr kumimoji="0" lang="en-US" altLang="zh-CN" sz="3000" kern="0" dirty="0">
                  <a:latin typeface="宋体" pitchFamily="2" charset="-122"/>
                </a:endParaRPr>
              </a:p>
              <a:p>
                <a:pPr eaLnBrk="1">
                  <a:spcBef>
                    <a:spcPts val="1200"/>
                  </a:spcBef>
                  <a:defRPr/>
                </a:pPr>
                <a:r>
                  <a:rPr kumimoji="0" lang="en-US" altLang="zh-CN" sz="3000" kern="0" dirty="0"/>
                  <a:t> </a:t>
                </a:r>
                <a14:m>
                  <m:oMath xmlns:m="http://schemas.openxmlformats.org/officeDocument/2006/math"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𝑟𝑥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kumimoji="0" lang="en-US" altLang="zh-CN" sz="3000" i="1" kern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0" lang="en-US" altLang="zh-CN" sz="30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𝑤𝑥</m:t>
                        </m:r>
                      </m:e>
                    </m:d>
                    <m:d>
                      <m:d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𝑦𝑥</m:t>
                        </m:r>
                      </m:e>
                    </m:d>
                  </m:oMath>
                </a14:m>
                <a:endParaRPr kumimoji="0" lang="en-US" altLang="zh-CN" sz="3000" kern="0" dirty="0">
                  <a:latin typeface="宋体" pitchFamily="2" charset="-122"/>
                </a:endParaRPr>
              </a:p>
              <a:p>
                <a:pPr eaLnBrk="1">
                  <a:spcBef>
                    <a:spcPts val="1200"/>
                  </a:spcBef>
                  <a:defRPr/>
                </a:pPr>
                <a14:m>
                  <m:oMath xmlns:m="http://schemas.openxmlformats.org/officeDocument/2006/math"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altLang="zh-CN" sz="3000" b="0" i="1" kern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30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p>
                      <m:sSup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30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3000" i="1" kern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3000" b="0" i="1" kern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0" lang="en-US" altLang="zh-CN" sz="3000" b="0" i="1" kern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𝑟𝑤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𝑟𝑦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𝑤𝑦</m:t>
                        </m:r>
                      </m:e>
                    </m:d>
                    <m:sSup>
                      <m:sSup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30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3000" i="1" kern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3000" b="0" i="1" kern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0" lang="en-US" altLang="zh-CN" sz="3000" b="0" i="1" kern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CN" sz="3000" i="1" kern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3000" b="0" i="1" kern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0" lang="en-US" altLang="zh-CN" sz="3000" b="0" i="1" kern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𝑟𝑤𝑦</m:t>
                        </m:r>
                      </m:e>
                    </m:d>
                    <m:sSup>
                      <m:sSup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30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0" lang="en-US" altLang="zh-CN" sz="300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kumimoji="0" lang="en-US" altLang="zh-CN" sz="3000" b="0" i="1" kern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altLang="zh-CN" sz="3000" b="0" i="1" kern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𝑤𝑦</m:t>
                    </m:r>
                    <m:sSup>
                      <m:sSup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30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，</a:t>
                </a:r>
                <a:endParaRPr kumimoji="0" lang="en-US" altLang="zh-CN" sz="3000" kern="0" dirty="0">
                  <a:latin typeface="宋体" pitchFamily="2" charset="-122"/>
                </a:endParaRPr>
              </a:p>
              <a:p>
                <a:pPr eaLnBrk="1">
                  <a:spcBef>
                    <a:spcPts val="1200"/>
                  </a:spcBef>
                  <a:defRPr/>
                </a:pPr>
                <a:r>
                  <a:rPr kumimoji="0" lang="zh-CN" altLang="en-US" sz="3000" kern="0" dirty="0">
                    <a:latin typeface="宋体" pitchFamily="2" charset="-122"/>
                  </a:rPr>
                  <a:t>表明：取</a:t>
                </a:r>
                <a14:m>
                  <m:oMath xmlns:m="http://schemas.openxmlformats.org/officeDocument/2006/math">
                    <m:r>
                      <a:rPr kumimoji="0" lang="en-US" altLang="zh-CN" sz="3000" b="0" i="1" kern="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个球的组合方案数为</a:t>
                </a:r>
                <a14:m>
                  <m:oMath xmlns:m="http://schemas.openxmlformats.org/officeDocument/2006/math"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的系数。如：取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个球的组合方案有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种，分别为：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kumimoji="0" lang="en-US" altLang="zh-CN" sz="3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3000" b="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𝑟𝑤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𝑟𝑦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0" lang="en-US" altLang="zh-CN" sz="3000" b="0" i="1" kern="0" smtClean="0">
                        <a:latin typeface="Cambria Math" panose="02040503050406030204" pitchFamily="18" charset="0"/>
                      </a:rPr>
                      <m:t>𝑤𝑦</m:t>
                    </m:r>
                  </m:oMath>
                </a14:m>
                <a:r>
                  <a:rPr kumimoji="0" lang="zh-CN" altLang="en-US" sz="3000" kern="0" dirty="0">
                    <a:latin typeface="宋体" pitchFamily="2" charset="-122"/>
                  </a:rPr>
                  <a:t>。</a:t>
                </a:r>
                <a:endParaRPr kumimoji="0" lang="en-US" altLang="zh-CN" sz="3000" kern="0" dirty="0">
                  <a:latin typeface="宋体" pitchFamily="2" charset="-122"/>
                </a:endParaRP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56C98D4-2C7F-23D3-1665-3766E65D66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22" y="1755169"/>
                <a:ext cx="9069047" cy="4818948"/>
              </a:xfrm>
              <a:prstGeom prst="rect">
                <a:avLst/>
              </a:prstGeom>
              <a:blipFill>
                <a:blip r:embed="rId4"/>
                <a:stretch>
                  <a:fillRect l="-1546" t="-1646" r="-1344" b="-2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F142FA8-089B-EDB4-D256-65A78BE84E3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4950" y="114300"/>
            <a:ext cx="548005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母函数（续）</a:t>
            </a:r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96FEE55-48CE-0415-F7E5-9708D04D174E}"/>
                  </a:ext>
                </a:extLst>
              </p:cNvPr>
              <p:cNvSpPr/>
              <p:nvPr/>
            </p:nvSpPr>
            <p:spPr>
              <a:xfrm>
                <a:off x="258396" y="838200"/>
                <a:ext cx="8287727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 b="1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例子</a:t>
                </a:r>
                <a:r>
                  <a:rPr lang="en-US" altLang="zh-CN" sz="3200" b="1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10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（续）</a:t>
                </a:r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eaLnBrk="1" hangingPunct="1">
                  <a:defRPr/>
                </a:pP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如果只需计算组合方案数，可以考虑如下多项式</a:t>
                </a:r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eaLnBrk="1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ahoma"/>
                        </a:rPr>
                        <m:t>𝐴</m:t>
                      </m:r>
                      <m:d>
                        <m:dPr>
                          <m:ctrlP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dPr>
                        <m:e>
                          <m: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ahoma"/>
                        </a:rPr>
                        <m:t>=</m:t>
                      </m:r>
                      <m:d>
                        <m:dPr>
                          <m:ctrlP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dPr>
                        <m:e>
                          <m: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1+</m:t>
                          </m:r>
                          <m: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𝑥</m:t>
                          </m:r>
                          <m: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dPr>
                        <m:e>
                          <m: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1+</m:t>
                          </m:r>
                          <m: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dPr>
                        <m:e>
                          <m: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1+</m:t>
                          </m:r>
                          <m:r>
                            <a:rPr lang="en-US" altLang="zh-CN" sz="32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ahoma"/>
                        </a:rPr>
                        <m:t>=</m:t>
                      </m:r>
                    </m:oMath>
                  </m:oMathPara>
                </a14:m>
                <a:endParaRPr lang="en-US" altLang="zh-CN" sz="3200" b="0" i="1" kern="0" dirty="0">
                  <a:solidFill>
                    <a:srgbClr val="000000"/>
                  </a:solidFill>
                  <a:latin typeface="Cambria Math" panose="02040503050406030204" pitchFamily="18" charset="0"/>
                  <a:cs typeface="Tahoma"/>
                </a:endParaRPr>
              </a:p>
              <a:p>
                <a:pPr eaLnBrk="1" hangingPunct="1">
                  <a:defRPr/>
                </a:pPr>
                <a14:m>
                  <m:oMath xmlns:m="http://schemas.openxmlformats.org/officeDocument/2006/math"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                         1+3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𝑥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+4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</m:sup>
                    </m:sSup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+3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3</m:t>
                        </m:r>
                      </m:sup>
                    </m:sSup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，</a:t>
                </a:r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eaLnBrk="1" hangingPunct="1">
                  <a:defRPr/>
                </a:pP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故所求的方案数为</a:t>
                </a:r>
                <a14:m>
                  <m:oMath xmlns:m="http://schemas.openxmlformats.org/officeDocument/2006/math"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1+3+4+3+1</m:t>
                    </m:r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。</a:t>
                </a:r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96FEE55-48CE-0415-F7E5-9708D04D17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96" y="838200"/>
                <a:ext cx="8287727" cy="3046988"/>
              </a:xfrm>
              <a:prstGeom prst="rect">
                <a:avLst/>
              </a:prstGeom>
              <a:blipFill>
                <a:blip r:embed="rId3"/>
                <a:stretch>
                  <a:fillRect l="-1838" t="-2605" b="-50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AD495C4-313C-4069-5D17-8B981CF465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4950" y="114300"/>
            <a:ext cx="548005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 </a:t>
            </a:r>
            <a:r>
              <a:rPr lang="zh-CN" altLang="en-US"/>
              <a:t>母函数（续）</a:t>
            </a:r>
            <a:endParaRPr lang="en-US" altLang="zh-CN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CC7D63C-C73F-9FBF-8B39-69B830608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1057275"/>
            <a:ext cx="6013449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7675" indent="-4476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89000" indent="-43973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93813" indent="-4032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81163" indent="-38576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0100" indent="-3873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27300" indent="-387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4500" indent="-387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1700" indent="-387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98900" indent="-387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1730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年左右，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de Moivre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用母函数来求解</a:t>
            </a:r>
            <a:r>
              <a:rPr kumimoji="1"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Fabonacci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数列通项公式</a:t>
            </a:r>
          </a:p>
        </p:txBody>
      </p:sp>
      <p:grpSp>
        <p:nvGrpSpPr>
          <p:cNvPr id="32772" name="Group 25">
            <a:extLst>
              <a:ext uri="{FF2B5EF4-FFF2-40B4-BE49-F238E27FC236}">
                <a16:creationId xmlns:a16="http://schemas.microsoft.com/office/drawing/2014/main" id="{C626D329-C5C0-1349-F076-090BD75BCF05}"/>
              </a:ext>
            </a:extLst>
          </p:cNvPr>
          <p:cNvGrpSpPr>
            <a:grpSpLocks/>
          </p:cNvGrpSpPr>
          <p:nvPr/>
        </p:nvGrpSpPr>
        <p:grpSpPr bwMode="auto">
          <a:xfrm>
            <a:off x="214313" y="914400"/>
            <a:ext cx="1606550" cy="2166938"/>
            <a:chOff x="4489" y="255"/>
            <a:chExt cx="1012" cy="1365"/>
          </a:xfrm>
        </p:grpSpPr>
        <p:pic>
          <p:nvPicPr>
            <p:cNvPr id="32782" name="Picture 11" descr="demoivre3">
              <a:extLst>
                <a:ext uri="{FF2B5EF4-FFF2-40B4-BE49-F238E27FC236}">
                  <a16:creationId xmlns:a16="http://schemas.microsoft.com/office/drawing/2014/main" id="{267E7122-DD49-5DD2-A11E-24777C6E40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4" y="255"/>
              <a:ext cx="807" cy="1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83" name="Rectangle 12">
              <a:extLst>
                <a:ext uri="{FF2B5EF4-FFF2-40B4-BE49-F238E27FC236}">
                  <a16:creationId xmlns:a16="http://schemas.microsoft.com/office/drawing/2014/main" id="{0554E51A-349A-8213-821E-8BB09D014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1389"/>
              <a:ext cx="8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ahoma" panose="020B0604030504040204" pitchFamily="34" charset="0"/>
                </a:rPr>
                <a:t>de Moivre</a:t>
              </a:r>
            </a:p>
          </p:txBody>
        </p:sp>
      </p:grpSp>
      <p:grpSp>
        <p:nvGrpSpPr>
          <p:cNvPr id="32773" name="Group 24">
            <a:extLst>
              <a:ext uri="{FF2B5EF4-FFF2-40B4-BE49-F238E27FC236}">
                <a16:creationId xmlns:a16="http://schemas.microsoft.com/office/drawing/2014/main" id="{37964A3E-C5DD-022F-4F46-395CF215E06E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1922463"/>
            <a:ext cx="1366837" cy="2309812"/>
            <a:chOff x="3923" y="1480"/>
            <a:chExt cx="861" cy="1455"/>
          </a:xfrm>
        </p:grpSpPr>
        <p:pic>
          <p:nvPicPr>
            <p:cNvPr id="32780" name="Picture 17">
              <a:extLst>
                <a:ext uri="{FF2B5EF4-FFF2-40B4-BE49-F238E27FC236}">
                  <a16:creationId xmlns:a16="http://schemas.microsoft.com/office/drawing/2014/main" id="{BB242B78-66EA-A6BD-FE3E-7703908850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3" y="1480"/>
              <a:ext cx="861" cy="1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81" name="Rectangle 18">
              <a:extLst>
                <a:ext uri="{FF2B5EF4-FFF2-40B4-BE49-F238E27FC236}">
                  <a16:creationId xmlns:a16="http://schemas.microsoft.com/office/drawing/2014/main" id="{B7C37007-3375-B9F4-9D57-F8F900891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2704"/>
              <a:ext cx="48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ahoma" panose="020B0604030504040204" pitchFamily="34" charset="0"/>
                </a:rPr>
                <a:t>Euler</a:t>
              </a:r>
            </a:p>
          </p:txBody>
        </p:sp>
      </p:grpSp>
      <p:grpSp>
        <p:nvGrpSpPr>
          <p:cNvPr id="32774" name="Group 23">
            <a:extLst>
              <a:ext uri="{FF2B5EF4-FFF2-40B4-BE49-F238E27FC236}">
                <a16:creationId xmlns:a16="http://schemas.microsoft.com/office/drawing/2014/main" id="{2E023FB9-0B34-BBE8-CB41-64663E964386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857500"/>
            <a:ext cx="1379538" cy="2311400"/>
            <a:chOff x="4740" y="2341"/>
            <a:chExt cx="869" cy="1456"/>
          </a:xfrm>
        </p:grpSpPr>
        <p:pic>
          <p:nvPicPr>
            <p:cNvPr id="32778" name="Picture 21">
              <a:extLst>
                <a:ext uri="{FF2B5EF4-FFF2-40B4-BE49-F238E27FC236}">
                  <a16:creationId xmlns:a16="http://schemas.microsoft.com/office/drawing/2014/main" id="{1C2325F5-BC27-0246-DE0D-BE80AE3C8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0" y="2341"/>
              <a:ext cx="869" cy="1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9" name="Rectangle 22">
              <a:extLst>
                <a:ext uri="{FF2B5EF4-FFF2-40B4-BE49-F238E27FC236}">
                  <a16:creationId xmlns:a16="http://schemas.microsoft.com/office/drawing/2014/main" id="{9C42BBBD-C696-A4C5-1E02-825D7EDDE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3566"/>
              <a:ext cx="6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ahoma" panose="020B0604030504040204" pitchFamily="34" charset="0"/>
                </a:rPr>
                <a:t>Laplace</a:t>
              </a:r>
            </a:p>
          </p:txBody>
        </p:sp>
      </p:grpSp>
      <p:sp>
        <p:nvSpPr>
          <p:cNvPr id="32775" name="Rectangle 26">
            <a:extLst>
              <a:ext uri="{FF2B5EF4-FFF2-40B4-BE49-F238E27FC236}">
                <a16:creationId xmlns:a16="http://schemas.microsoft.com/office/drawing/2014/main" id="{9D3BC9BB-8844-B019-3BA1-E584CBFF3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404643"/>
            <a:ext cx="7920037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00"/>
              </a:buClr>
              <a:buSzPct val="90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目前母函数已在组合数学中有广泛应用，如求解组合数、排列数、递推关系通项公式等</a:t>
            </a:r>
          </a:p>
        </p:txBody>
      </p:sp>
      <p:sp>
        <p:nvSpPr>
          <p:cNvPr id="32776" name="Rectangle 27">
            <a:extLst>
              <a:ext uri="{FF2B5EF4-FFF2-40B4-BE49-F238E27FC236}">
                <a16:creationId xmlns:a16="http://schemas.microsoft.com/office/drawing/2014/main" id="{5371B28A-3D64-8ACB-D648-2D827E387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065338"/>
            <a:ext cx="475297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00"/>
              </a:buClr>
              <a:buSzPct val="90000"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1748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年，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Euler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发展了母函数，并用于解决分配问题</a:t>
            </a:r>
          </a:p>
        </p:txBody>
      </p:sp>
      <p:sp>
        <p:nvSpPr>
          <p:cNvPr id="32777" name="Rectangle 28">
            <a:extLst>
              <a:ext uri="{FF2B5EF4-FFF2-40B4-BE49-F238E27FC236}">
                <a16:creationId xmlns:a16="http://schemas.microsoft.com/office/drawing/2014/main" id="{6D3A1106-C517-3F5E-D4D1-BABB7B504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217863"/>
            <a:ext cx="37433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00"/>
              </a:buClr>
              <a:buSzPct val="90000"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19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世纪初，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Laplace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深入研究了母函数，并用于处理概率问题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40B9688-7CC7-9ABE-E245-088E6E66D2B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9862</TotalTime>
  <Words>1778</Words>
  <Application>Microsoft Office PowerPoint</Application>
  <PresentationFormat>全屏显示(4:3)</PresentationFormat>
  <Paragraphs>139</Paragraphs>
  <Slides>22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굴림</vt:lpstr>
      <vt:lpstr>宋体</vt:lpstr>
      <vt:lpstr>Arial</vt:lpstr>
      <vt:lpstr>Calibri</vt:lpstr>
      <vt:lpstr>Cambria Math</vt:lpstr>
      <vt:lpstr>Tahoma</vt:lpstr>
      <vt:lpstr>Times New Roman</vt:lpstr>
      <vt:lpstr>Wingdings</vt:lpstr>
      <vt:lpstr>默认设计模板</vt:lpstr>
      <vt:lpstr>第十讲 组合数学 中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483</cp:revision>
  <cp:lastPrinted>2026-04-12T13:15:03Z</cp:lastPrinted>
  <dcterms:created xsi:type="dcterms:W3CDTF">1601-01-01T00:00:00Z</dcterms:created>
  <dcterms:modified xsi:type="dcterms:W3CDTF">2026-04-13T04:20:37Z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