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304" r:id="rId3"/>
    <p:sldId id="290" r:id="rId4"/>
    <p:sldId id="275" r:id="rId5"/>
    <p:sldId id="276" r:id="rId6"/>
    <p:sldId id="318" r:id="rId7"/>
    <p:sldId id="314" r:id="rId8"/>
    <p:sldId id="292" r:id="rId9"/>
    <p:sldId id="320" r:id="rId10"/>
    <p:sldId id="321" r:id="rId11"/>
    <p:sldId id="322" r:id="rId12"/>
    <p:sldId id="324" r:id="rId13"/>
    <p:sldId id="266" r:id="rId14"/>
    <p:sldId id="293" r:id="rId15"/>
    <p:sldId id="323" r:id="rId16"/>
    <p:sldId id="325" r:id="rId17"/>
    <p:sldId id="297" r:id="rId18"/>
    <p:sldId id="331" r:id="rId19"/>
    <p:sldId id="332" r:id="rId20"/>
    <p:sldId id="315" r:id="rId21"/>
    <p:sldId id="330" r:id="rId22"/>
    <p:sldId id="317" r:id="rId23"/>
    <p:sldId id="326" r:id="rId24"/>
    <p:sldId id="263" r:id="rId2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27" autoAdjust="0"/>
  </p:normalViewPr>
  <p:slideViewPr>
    <p:cSldViewPr>
      <p:cViewPr varScale="1">
        <p:scale>
          <a:sx n="56" d="100"/>
          <a:sy n="56" d="100"/>
        </p:scale>
        <p:origin x="138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C8AD7D2-5B81-AE7D-DF92-B3D8608B68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FF1CBC-2F49-342C-E71D-FB2414471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BEE3A0A9-46A0-4CD3-97E6-FD6932C21E15}" type="datetime1">
              <a:rPr lang="en-US" altLang="zh-CN" smtClean="0"/>
              <a:t>4/15/2026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DA6D7F-E29F-03AA-93BF-74DBF26BF1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B89B51-5CBD-CBA0-5DF5-8F8EC796FF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15F56A4-E73D-4AFA-B4CD-ACC0347AA7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85DC0B1-EFC6-F9D0-A3DA-9AF1BC681C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1F4CC4-FBEB-20CC-97A6-420D2D83B49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72A2B0B-3EBE-4B02-8015-4C9634D5EF3F}" type="datetime1">
              <a:rPr lang="en-US" altLang="zh-CN" smtClean="0"/>
              <a:t>4/15/2026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5B96F32F-EA67-DAD1-D04E-B82C3937B1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2C1B6E25-CECF-4218-0C0D-A24D665F1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991EB7-42B9-22FC-0C42-3E461CE642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95ABA8-F332-D99A-6B98-362530976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B76D504-C80C-4001-8132-2D822A7622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9CA844EB-5CB6-7C61-03E1-6C9431142C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EF684940-872C-55A7-A262-12B2216F70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C93F20A6-8383-1289-6391-65DD6C8A2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5E651F2-272E-4745-AE74-8A5AA3F817FB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9308CD-EBC4-D07E-BB82-760B323432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3D81824-BD37-4184-869F-2F85AAC86A71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C72A2B0B-3EBE-4B02-8015-4C9634D5EF3F}" type="datetime1">
              <a:rPr lang="en-US" altLang="zh-CN" smtClean="0"/>
              <a:t>4/15/2026</a:t>
            </a:fld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76D504-C80C-4001-8132-2D822A762258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5702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89A1D4C4-1162-884D-B5A3-382CFCC770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10957D70-1D40-4850-C9CE-F1587F15BA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614C41DB-B2C8-C935-C05A-8982E407A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BA04E2C-2890-4989-BEC7-84D6873A1290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3D143B-AAC9-4DD5-1E35-1FF2FE90621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DC38F3F9-F4F9-4A5E-9624-6DFCF1B45C6B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2DB6D35C-6CE8-35C9-849E-F88F7BF026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EDED275A-5F4F-3640-8535-4B0B4B9CEB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2500F604-3749-F9E1-4D81-057572682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870476D-79D4-4E93-9D27-5231AB14C23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C62165-CF16-4540-5C5F-15A113F1367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7D1E32C1-7DB1-4BA1-B11A-9C793B7E3212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9A9B28BC-08BF-A0BC-6472-8008997CF3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C0D7264F-20C3-DB35-5288-1B837E8E71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C32D126F-2298-93C8-A103-83EEBFE09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4EA454C-9D39-49D4-B5AE-8159E4BE6DD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9D249C-A53F-D2DB-CBC0-5B2839B035C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63CDDFF4-3FE6-4184-AA34-885200A1EC4C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>
            <a:extLst>
              <a:ext uri="{FF2B5EF4-FFF2-40B4-BE49-F238E27FC236}">
                <a16:creationId xmlns:a16="http://schemas.microsoft.com/office/drawing/2014/main" id="{69F7A81C-5D74-5A47-3DE6-6035FAF4A1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备注占位符 2">
            <a:extLst>
              <a:ext uri="{FF2B5EF4-FFF2-40B4-BE49-F238E27FC236}">
                <a16:creationId xmlns:a16="http://schemas.microsoft.com/office/drawing/2014/main" id="{705E1290-CC88-4150-E899-A8B854CD2D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55300" name="灯片编号占位符 3">
            <a:extLst>
              <a:ext uri="{FF2B5EF4-FFF2-40B4-BE49-F238E27FC236}">
                <a16:creationId xmlns:a16="http://schemas.microsoft.com/office/drawing/2014/main" id="{5F31FAE6-FC65-A9E4-6989-743425900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1617BD-23D2-4A16-8FDC-964F4818F1D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4D2862-16A3-6D29-48F1-58DDFE4839C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C17959C-54B4-471D-A19C-C9355CED050A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>
            <a:extLst>
              <a:ext uri="{FF2B5EF4-FFF2-40B4-BE49-F238E27FC236}">
                <a16:creationId xmlns:a16="http://schemas.microsoft.com/office/drawing/2014/main" id="{9F5299E4-7F71-2DEA-D586-79A1BAC0BE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备注占位符 2">
            <a:extLst>
              <a:ext uri="{FF2B5EF4-FFF2-40B4-BE49-F238E27FC236}">
                <a16:creationId xmlns:a16="http://schemas.microsoft.com/office/drawing/2014/main" id="{D7372CF4-2A5C-E7BB-D368-BB177E665E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57348" name="灯片编号占位符 3">
            <a:extLst>
              <a:ext uri="{FF2B5EF4-FFF2-40B4-BE49-F238E27FC236}">
                <a16:creationId xmlns:a16="http://schemas.microsoft.com/office/drawing/2014/main" id="{C9A9564B-C107-7E96-8BFB-C17A28D3D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7DCD168-72D3-4E89-AE72-B6AB6497478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7A122A-6BBB-9B42-90F4-4217A17490D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30802BC-98B6-4007-A78B-A4611480066A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33BA5190-72A0-C012-2A5C-F880ACAAE0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C7ED503C-0F1B-255F-94D9-96F28429C6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59396" name="灯片编号占位符 3">
            <a:extLst>
              <a:ext uri="{FF2B5EF4-FFF2-40B4-BE49-F238E27FC236}">
                <a16:creationId xmlns:a16="http://schemas.microsoft.com/office/drawing/2014/main" id="{02B27E9E-4C28-E083-F24B-B241F99AF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9875439-A60A-4E76-B7AA-FDDCE71688B2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322167-0B1C-ADA6-817F-122B250581B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E9A00586-63EA-4E05-BC90-7EBEFF76BE5A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>
            <a:extLst>
              <a:ext uri="{FF2B5EF4-FFF2-40B4-BE49-F238E27FC236}">
                <a16:creationId xmlns:a16="http://schemas.microsoft.com/office/drawing/2014/main" id="{8408B6CA-DE3E-AC9A-2F84-F67842A096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备注占位符 2">
            <a:extLst>
              <a:ext uri="{FF2B5EF4-FFF2-40B4-BE49-F238E27FC236}">
                <a16:creationId xmlns:a16="http://schemas.microsoft.com/office/drawing/2014/main" id="{D189CAB7-E1C0-18E1-234E-6EF3419350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61444" name="灯片编号占位符 3">
            <a:extLst>
              <a:ext uri="{FF2B5EF4-FFF2-40B4-BE49-F238E27FC236}">
                <a16:creationId xmlns:a16="http://schemas.microsoft.com/office/drawing/2014/main" id="{C7E4BB82-F062-6BC8-7F4C-04946232C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D9F9DB1-9102-4B5E-B73A-38A5D4097663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6ABDFF-A689-BF10-83F4-6D7945C127D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15157272-378D-4A54-9BB8-491593731892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E9DFDF3B-FF4C-22D1-0F64-BC4C1BB17D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71DC3033-4F58-55CE-C20D-1C7D071514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定理</a:t>
            </a:r>
            <a:r>
              <a:rPr lang="en-US" altLang="zh-CN" dirty="0"/>
              <a:t>2</a:t>
            </a:r>
            <a:r>
              <a:rPr lang="zh-CN" altLang="en-US" dirty="0"/>
              <a:t>的逆命题不成立</a:t>
            </a:r>
            <a:endParaRPr lang="en-US" altLang="zh-CN" dirty="0"/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6B936C94-47C4-9498-8EEE-5F5D233BF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538DCF-4718-42B0-9E20-C9A68E4E8F23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4265A3-3D7E-81B4-FCA4-4D2AE5D3D2D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F5DAC3E-19BE-44C0-88E7-DA3E4F034FE5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>
            <a:extLst>
              <a:ext uri="{FF2B5EF4-FFF2-40B4-BE49-F238E27FC236}">
                <a16:creationId xmlns:a16="http://schemas.microsoft.com/office/drawing/2014/main" id="{6CBA826D-17A0-600B-0773-41A3BBC0E7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备注占位符 2">
            <a:extLst>
              <a:ext uri="{FF2B5EF4-FFF2-40B4-BE49-F238E27FC236}">
                <a16:creationId xmlns:a16="http://schemas.microsoft.com/office/drawing/2014/main" id="{21943B46-428C-EE76-00C3-6328CB6A01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BC21EB7A-BFE4-58CD-7715-892305359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2663E8E-84EC-4327-8269-41B9959B3071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E46D66-8145-6278-6354-D2771A184AA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A725F38A-F772-45BB-9B48-6B4BA355E0EF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F030B2A7-23AA-F182-93F1-510C54AB83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0FC0EF19-524C-AA38-13AD-7810748CC72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定理</a:t>
            </a:r>
            <a:r>
              <a:rPr lang="en-US" altLang="zh-CN"/>
              <a:t>2</a:t>
            </a:r>
            <a:r>
              <a:rPr lang="zh-CN" altLang="en-US"/>
              <a:t>的逆命题不成立</a:t>
            </a:r>
            <a:endParaRPr lang="en-US" altLang="zh-CN"/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03A6E53A-2AA0-E1DC-7872-BB08063D5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EC16B18-7BB0-43C1-A66E-2C0A7B68DBE3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BDCD31-4E5A-BF01-D6D2-4FF08BD4F26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FDC4137D-57BA-4612-9CA7-EC23CC13E00D}" type="datetime1">
              <a:rPr lang="en-US" altLang="zh-CN" smtClean="0"/>
              <a:t>4/15/2026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25517D-35CD-3596-7FFE-9A99121CB6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B328E9-4DA9-EA95-0BEA-D7EDE613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8367E7D-D542-9CAC-C1F6-D1FC28698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D99E1-7FD4-4795-ACEC-FE4CA0F27E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87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3D2B88-E37F-3A1B-AAF4-E3AE39CA81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F0F311-801A-E8E1-91FB-E0CAE41285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04CD9F-727B-03A3-99D7-E4701692A0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A63BB-6A6C-4A9B-A499-BE999D69DA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48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37BD64-0DCC-69FB-6A46-A8115FBE23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CF336C-6533-F1FD-71AA-B34B3B4104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A1DF90-1B93-85C9-4B67-049B1EB5D0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AFC60-308E-4D51-9100-70F2C0B152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736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94B734-9047-6DDA-CFC7-32CF8A1BD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E6F2E2-6144-9CBD-58D1-77D4EE68F6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7EEB67-B91A-7A13-B339-1E8290DA85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2C4651-EE9A-41C8-9C8C-7712FD41BB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563ABB-08AF-CE58-FB29-41675538C5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F52F20E-12C3-4801-9E4E-0C5C4E9EEC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71759A1-D316-09A3-8ABE-A68DBF66B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32713C-2D85-4C9A-982B-03C46F6614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219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2ACE1C3-7806-C4C7-6300-B199D29F3A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4D8D6B7-196C-585B-4D28-D9CB1AAF6E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777F25A-7603-3840-059F-13B3EB55D7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B1AB70-F00C-435E-B909-30D12E2E7C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540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B1E8DC6-A8A8-8227-E177-B6DD986D99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9D506AD-DFB7-4F0B-8797-89224A7689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E0D4201-5899-E30A-C243-B81119244D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A12C8-BF75-48B6-A5EC-55D3B43A02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06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271FA-70E3-8306-DB82-3387149329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27F9DA-7113-01BB-FDD3-506FFBB7AC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A367FE-2DE7-FC25-BC8C-11E60922DC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CEBB5-EC79-4C5D-81E6-0CBE25ECD0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943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A0FF76-2446-6F50-24F1-8E9FAF8F5D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93164-1058-83E9-8FB4-7C028FAA54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5089E7-FD65-356D-8DBA-E18886B226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42405-7CAC-4F5D-8B16-5A0C88ECFC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639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4DB2CE-96F3-EF33-0CB6-8660EBA31D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34359E-9AFE-227E-8F9C-696A1DE176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5071DB-2C28-5BF6-11D0-90FD115D04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30F389-B6EA-4199-8D18-FBFD8721A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867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4A9917-02A9-F235-8A0A-8AADF8901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D02C19-1270-72CA-8249-3DE51F011C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427E0D-C27E-8BB1-DCA5-18EF930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3B089-3401-4437-8104-06CEA5C6EA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C250FBF-09A0-FBBA-C65A-69B31DB76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97073E8-7A28-64F6-1F39-C12DA8406C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063C4B9-5E6C-9557-BED3-E1D5763F46A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0B942A1-0964-7434-B80E-EA05A5EEFD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9C2108B-1EB0-C16D-2CDD-0BD2CFC77F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583A084-F6F4-466E-9FCF-7AAA4AA8B6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9C77FC4-31DA-FCDD-1488-867605E884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9906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第十一讲 组合数学</a:t>
            </a:r>
            <a:br>
              <a:rPr lang="en-US" altLang="zh-CN" dirty="0">
                <a:latin typeface="宋体" panose="02010600030101010101" pitchFamily="2" charset="-122"/>
              </a:rPr>
            </a:br>
            <a:r>
              <a:rPr lang="zh-CN" altLang="en-US" b="1" dirty="0">
                <a:latin typeface="宋体" panose="02010600030101010101" pitchFamily="2" charset="-122"/>
              </a:rPr>
              <a:t>下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E26F391-97B0-3BEB-FFCD-3EB3F1AB0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dirty="0"/>
              <a:t>本讲提要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7115A79-B7F8-3DC8-3A74-E4B562530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7162800" cy="2895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zh-CN" altLang="en-US" sz="4000" dirty="0"/>
              <a:t> 母函数（续）</a:t>
            </a:r>
            <a:endParaRPr lang="en-US" altLang="zh-CN" sz="4000" dirty="0"/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zh-CN" altLang="en-US" sz="4000" dirty="0"/>
              <a:t> 指数母函数</a:t>
            </a:r>
            <a:endParaRPr lang="en-US" altLang="zh-CN" sz="4000" dirty="0"/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zh-CN" altLang="en-US" sz="4000" dirty="0"/>
              <a:t> 组合数学在密码学中的应用</a:t>
            </a:r>
            <a:endParaRPr lang="en-US" altLang="zh-CN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5529FCEC-59C8-023B-FB3E-31070410E4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031" y="152400"/>
            <a:ext cx="332105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母函数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117EDD8-A1B6-7D00-4CF5-9596877C198A}"/>
                  </a:ext>
                </a:extLst>
              </p:cNvPr>
              <p:cNvSpPr/>
              <p:nvPr/>
            </p:nvSpPr>
            <p:spPr>
              <a:xfrm>
                <a:off x="273036" y="668245"/>
                <a:ext cx="8643937" cy="60272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000" b="1" dirty="0">
                    <a:latin typeface="+mn-ea"/>
                    <a:ea typeface="+mn-ea"/>
                    <a:cs typeface="Tahoma"/>
                  </a:rPr>
                  <a:t>定义</a:t>
                </a:r>
                <a:r>
                  <a:rPr lang="en-US" altLang="zh-CN" sz="3000" b="1" dirty="0">
                    <a:latin typeface="+mn-ea"/>
                    <a:ea typeface="+mn-ea"/>
                    <a:cs typeface="Tahoma"/>
                  </a:rPr>
                  <a:t>1</a:t>
                </a:r>
                <a:r>
                  <a:rPr lang="en-US" altLang="zh-CN" sz="3000" b="1" dirty="0">
                    <a:latin typeface="+mn-ea"/>
                    <a:ea typeface="+mn-ea"/>
                    <a:cs typeface="Times New Roman" pitchFamily="18" charset="0"/>
                  </a:rPr>
                  <a:t> </a:t>
                </a:r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，</m:t>
                        </m:r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1</m:t>
                        </m:r>
                        <m:r>
                          <a:rPr lang="zh-CN" altLang="en-US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，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r>
                      <a:rPr lang="en-US" altLang="zh-CN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⋯</m:t>
                    </m:r>
                  </m:oMath>
                </a14:m>
                <a:r>
                  <a:rPr lang="en-US" altLang="zh-CN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 </a:t>
                </a:r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</a:t>
                </a:r>
                <a:r>
                  <a:rPr lang="zh-CN" altLang="en-US" sz="3000" kern="0" dirty="0">
                    <a:solidFill>
                      <a:srgbClr val="C00000"/>
                    </a:solidFill>
                    <a:latin typeface="+mn-ea"/>
                    <a:ea typeface="+mn-ea"/>
                    <a:cs typeface="Tahoma"/>
                  </a:rPr>
                  <a:t>母函数</a:t>
                </a:r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定义为</a:t>
                </a:r>
                <a:endParaRPr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algn="ctr" eaLnBrk="1" hangingPunct="1">
                  <a:defRPr/>
                </a:pP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𝐴</m:t>
                    </m:r>
                    <m:d>
                      <m:dPr>
                        <m:ctrlP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𝑥</m:t>
                        </m:r>
                      </m:e>
                    </m:d>
                    <m:r>
                      <a:rPr lang="en-US" altLang="zh-CN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0</m:t>
                        </m:r>
                      </m:sub>
                    </m:sSub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1</m:t>
                        </m:r>
                      </m:sub>
                    </m:sSub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𝑥</m:t>
                    </m:r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2</m:t>
                        </m:r>
                      </m:sup>
                    </m:sSup>
                    <m:r>
                      <a:rPr lang="en-US" altLang="zh-CN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+⋯</m:t>
                    </m:r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。</a:t>
                </a:r>
                <a:endParaRPr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defRPr/>
                </a:pPr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有限序列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，</m:t>
                        </m:r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，</m:t>
                        </m:r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r>
                      <a:rPr lang="en-US" altLang="zh-CN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⋯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，</m:t>
                        </m:r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的母函数定义为无限序列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，</m:t>
                        </m:r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，</m:t>
                        </m:r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r>
                      <a:rPr lang="en-US" altLang="zh-CN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⋯</m:t>
                    </m:r>
                    <m:r>
                      <a:rPr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𝑚</m:t>
                        </m:r>
                      </m:sub>
                    </m:sSub>
                    <m:r>
                      <a:rPr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0</m:t>
                    </m:r>
                    <m:r>
                      <a:rPr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0</m:t>
                    </m:r>
                  </m:oMath>
                </a14:m>
                <a:r>
                  <a:rPr lang="en-US" altLang="zh-CN" sz="30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⋯</m:t>
                    </m:r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的母函数。</a:t>
                </a:r>
                <a:endParaRPr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defRPr/>
                </a:pPr>
                <a:endParaRPr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defRPr/>
                </a:pPr>
                <a:r>
                  <a:rPr lang="zh-CN" altLang="en-US" sz="3000" b="1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例子</a:t>
                </a:r>
                <a:r>
                  <a:rPr lang="en-US" altLang="zh-CN" sz="3000" b="1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1 </a:t>
                </a:r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序列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𝐶</m:t>
                    </m:r>
                    <m:d>
                      <m:d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𝑛</m:t>
                        </m:r>
                        <m:r>
                          <a:rPr lang="zh-CN" altLang="en-US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，</m:t>
                        </m:r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0</m:t>
                        </m:r>
                      </m:e>
                    </m:d>
                    <m:r>
                      <a:rPr lang="zh-CN" altLang="en-US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𝐶</m:t>
                    </m:r>
                    <m:d>
                      <m:d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𝑛</m:t>
                        </m:r>
                        <m:r>
                          <a:rPr lang="zh-CN" altLang="en-US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，</m:t>
                        </m:r>
                        <m:r>
                          <a:rPr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1</m:t>
                        </m:r>
                      </m:e>
                    </m:d>
                    <m:r>
                      <a:rPr lang="zh-CN" altLang="en-US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r>
                      <a:rPr lang="zh-CN" altLang="en-US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⋯</m:t>
                    </m:r>
                    <m:r>
                      <a:rPr lang="zh-CN" altLang="en-US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𝐶</m:t>
                    </m:r>
                    <m:d>
                      <m:d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𝑛</m:t>
                        </m:r>
                        <m:r>
                          <a:rPr lang="zh-CN" altLang="en-US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，</m:t>
                        </m:r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  <a:cs typeface="Tahoma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，的母函数为</a:t>
                </a:r>
                <a:endParaRPr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𝐶</m:t>
                      </m:r>
                      <m:d>
                        <m:dPr>
                          <m:ctrlPr>
                            <a:rPr lang="en-US" altLang="zh-CN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</m:ctrlPr>
                        </m:dPr>
                        <m:e>
                          <m:r>
                            <a:rPr lang="en-US" altLang="zh-CN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𝑛</m:t>
                          </m:r>
                          <m:r>
                            <a:rPr lang="zh-CN" altLang="en-US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，</m:t>
                          </m:r>
                          <m:r>
                            <a:rPr lang="en-US" altLang="zh-CN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0</m:t>
                          </m:r>
                        </m:e>
                      </m:d>
                      <m:r>
                        <a:rPr lang="en-US" altLang="zh-CN" sz="3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+</m:t>
                      </m:r>
                      <m:r>
                        <a:rPr lang="en-US" altLang="zh-CN" sz="3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𝐶</m:t>
                      </m:r>
                      <m:d>
                        <m:dPr>
                          <m:ctrlPr>
                            <a:rPr lang="en-US" altLang="zh-CN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</m:ctrlPr>
                        </m:dPr>
                        <m:e>
                          <m:r>
                            <a:rPr lang="en-US" altLang="zh-CN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𝑛</m:t>
                          </m:r>
                          <m:r>
                            <a:rPr lang="zh-CN" altLang="en-US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，</m:t>
                          </m:r>
                          <m:r>
                            <a:rPr lang="en-US" altLang="zh-CN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1</m:t>
                          </m:r>
                        </m:e>
                      </m:d>
                      <m:r>
                        <a:rPr lang="en-US" altLang="zh-CN" sz="3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𝑥</m:t>
                      </m:r>
                      <m:r>
                        <a:rPr lang="en-US" altLang="zh-CN" sz="3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+⋯+</m:t>
                      </m:r>
                      <m:r>
                        <a:rPr lang="en-US" altLang="zh-CN" sz="3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𝐶</m:t>
                      </m:r>
                      <m:d>
                        <m:dPr>
                          <m:ctrlPr>
                            <a:rPr lang="en-US" altLang="zh-CN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</m:ctrlPr>
                        </m:dPr>
                        <m:e>
                          <m:r>
                            <a:rPr lang="en-US" altLang="zh-CN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𝑛</m:t>
                          </m:r>
                          <m:r>
                            <a:rPr lang="zh-CN" altLang="en-US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，</m:t>
                          </m:r>
                          <m:r>
                            <a:rPr lang="en-US" altLang="zh-CN" sz="30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𝑛</m:t>
                          </m:r>
                        </m:e>
                      </m:d>
                      <m:sSup>
                        <m:sSupPr>
                          <m:ctrlPr>
                            <a:rPr lang="en-US" altLang="zh-CN" sz="30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</m:ctrlPr>
                        </m:sSupPr>
                        <m:e>
                          <m: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𝑛</m:t>
                          </m:r>
                        </m:sup>
                      </m:sSup>
                      <m:r>
                        <a:rPr lang="en-US" altLang="zh-CN" sz="3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=</m:t>
                      </m:r>
                      <m:sSup>
                        <m:sSupPr>
                          <m:ctrlP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3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ahoma"/>
                                </a:rPr>
                              </m:ctrlPr>
                            </m:dPr>
                            <m:e>
                              <m:r>
                                <a:rPr lang="en-US" altLang="zh-CN" sz="3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ahoma"/>
                                </a:rPr>
                                <m:t>1+</m:t>
                              </m:r>
                              <m:r>
                                <a:rPr lang="en-US" altLang="zh-CN" sz="30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ahoma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𝑛</m:t>
                          </m:r>
                        </m:sup>
                      </m:sSup>
                      <m:r>
                        <a:rPr lang="zh-CN" altLang="en-US" sz="3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。</m:t>
                      </m:r>
                    </m:oMath>
                  </m:oMathPara>
                </a14:m>
                <a:endParaRPr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defRPr/>
                </a:pPr>
                <a:endParaRPr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defRPr/>
                </a:pPr>
                <a:r>
                  <a:rPr lang="zh-CN" altLang="en-US" sz="3000" b="1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例子</a:t>
                </a:r>
                <a:r>
                  <a:rPr lang="en-US" altLang="zh-CN" sz="3000" b="1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2 </a:t>
                </a:r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序列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1</m:t>
                    </m:r>
                    <m:r>
                      <a:rPr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，</m:t>
                    </m:r>
                    <m:r>
                      <a:rPr lang="en-US" altLang="zh-CN" sz="3000" b="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1</m:t>
                    </m:r>
                    <m:r>
                      <a:rPr lang="zh-CN" altLang="en-US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1</m:t>
                    </m:r>
                    <m:r>
                      <a:rPr lang="zh-CN" altLang="en-US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，</m:t>
                    </m:r>
                    <m:r>
                      <a:rPr lang="zh-CN" altLang="en-US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  <a:cs typeface="Tahoma"/>
                      </a:rPr>
                      <m:t>⋯</m:t>
                    </m:r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+mn-ea"/>
                    <a:ea typeface="+mn-ea"/>
                    <a:cs typeface="Tahoma"/>
                  </a:rPr>
                  <a:t>的母函数为：</a:t>
                </a:r>
                <a:endParaRPr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  <a:p>
                <a:pPr eaLnBrk="1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1</m:t>
                      </m:r>
                      <m:r>
                        <a:rPr lang="en-US" altLang="zh-CN" sz="3000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+</m:t>
                      </m:r>
                      <m:r>
                        <a:rPr lang="en-US" altLang="zh-CN" sz="3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𝑥</m:t>
                      </m:r>
                      <m:r>
                        <a:rPr lang="en-US" altLang="zh-CN" sz="3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+</m:t>
                      </m:r>
                      <m:sSup>
                        <m:sSupPr>
                          <m:ctrlPr>
                            <a:rPr lang="en-US" altLang="zh-CN" sz="30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</m:ctrlPr>
                        </m:sSupPr>
                        <m:e>
                          <m: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2</m:t>
                          </m:r>
                        </m:sup>
                      </m:sSup>
                      <m:r>
                        <a:rPr lang="en-US" altLang="zh-CN" sz="3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+⋯</m:t>
                      </m:r>
                      <m:r>
                        <a:rPr lang="en-US" altLang="zh-CN" sz="3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</m:ctrlPr>
                        </m:fPr>
                        <m:num>
                          <m: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1−</m:t>
                          </m:r>
                          <m: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𝑥</m:t>
                          </m:r>
                        </m:den>
                      </m:f>
                      <m:r>
                        <a:rPr lang="zh-CN" altLang="en-US" sz="3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，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</m:ctrlPr>
                        </m:dPr>
                        <m:e>
                          <m:r>
                            <a:rPr lang="en-US" altLang="zh-CN" sz="30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  <a:cs typeface="Tahoma"/>
                            </a:rPr>
                            <m:t>𝑥</m:t>
                          </m:r>
                        </m:e>
                      </m:d>
                      <m:r>
                        <a:rPr lang="en-US" altLang="zh-CN" sz="3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&lt;1</m:t>
                      </m:r>
                      <m:r>
                        <a:rPr lang="zh-CN" altLang="en-US" sz="3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  <a:cs typeface="Tahoma"/>
                        </a:rPr>
                        <m:t>。</m:t>
                      </m:r>
                    </m:oMath>
                  </m:oMathPara>
                </a14:m>
                <a:endParaRPr lang="en-US" altLang="zh-CN" sz="3000" kern="0" dirty="0">
                  <a:solidFill>
                    <a:srgbClr val="000000"/>
                  </a:solidFill>
                  <a:latin typeface="+mn-ea"/>
                  <a:ea typeface="+mn-ea"/>
                  <a:cs typeface="Tahoma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A117EDD8-A1B6-7D00-4CF5-9596877C1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36" y="668245"/>
                <a:ext cx="8643937" cy="6027291"/>
              </a:xfrm>
              <a:prstGeom prst="rect">
                <a:avLst/>
              </a:prstGeom>
              <a:blipFill>
                <a:blip r:embed="rId3"/>
                <a:stretch>
                  <a:fillRect l="-1693" t="-1619" r="-10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14DF3E6-79DB-C55F-50F0-455944961E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63246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母函数（续）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F21E521-B246-28D9-4025-D913C1FDFC36}"/>
                  </a:ext>
                </a:extLst>
              </p:cNvPr>
              <p:cNvSpPr/>
              <p:nvPr/>
            </p:nvSpPr>
            <p:spPr>
              <a:xfrm>
                <a:off x="228601" y="862642"/>
                <a:ext cx="8534400" cy="52250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3200" b="1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例子</a:t>
                </a:r>
                <a:r>
                  <a:rPr lang="en-US" altLang="zh-CN" sz="3200" b="1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3 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若有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1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克的砝码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3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枚，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2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克的砝码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4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枚，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4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克砝码</a:t>
                </a:r>
                <a14:m>
                  <m:oMath xmlns:m="http://schemas.openxmlformats.org/officeDocument/2006/math"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2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枚，问能称出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13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克有几种方案？</a:t>
                </a:r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eaLnBrk="1" hangingPunct="1">
                  <a:defRPr/>
                </a:pP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 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表示重量为</a:t>
                </a:r>
                <a:r>
                  <a:rPr lang="en-US" altLang="zh-CN" sz="3200" i="1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的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方案数，则其母函数</a:t>
                </a:r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eaLnBrk="1" hangingPunct="1">
                  <a:defRPr/>
                </a:pP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𝐴</m:t>
                    </m:r>
                    <m:d>
                      <m:d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d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=(1</m:t>
                    </m:r>
                    <m:r>
                      <a:rPr lang="en-US" altLang="zh-CN" sz="32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𝑥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3</m:t>
                        </m:r>
                      </m:sup>
                    </m:sSup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)(1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6</m:t>
                        </m:r>
                      </m:sup>
                    </m:sSup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8</m:t>
                        </m:r>
                      </m:sup>
                    </m:sSup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)</m:t>
                    </m:r>
                  </m:oMath>
                </a14:m>
                <a:r>
                  <a:rPr lang="en-US" altLang="zh-CN" sz="32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</m:t>
                        </m:r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+</m:t>
                            </m:r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+</m:t>
                            </m:r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8</m:t>
                            </m:r>
                          </m:sup>
                        </m:sSup>
                      </m:e>
                    </m:d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=1</m:t>
                    </m:r>
                    <m:r>
                      <a:rPr lang="en-US" altLang="zh-CN" sz="32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𝑥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+2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+2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3</m:t>
                        </m:r>
                      </m:sup>
                    </m:sSup>
                    <m:r>
                      <a:rPr lang="en-US" altLang="zh-CN" sz="32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3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+3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zh-CN" sz="32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+4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zh-CN" sz="32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+4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altLang="zh-CN" sz="32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+5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altLang="zh-CN" sz="32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+5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9</m:t>
                        </m:r>
                      </m:sup>
                    </m:sSup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+5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sz="32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+5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11</m:t>
                        </m:r>
                      </m:sup>
                    </m:sSup>
                  </m:oMath>
                </a14:m>
                <a:r>
                  <a:rPr lang="en-US" altLang="zh-CN" sz="32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+4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altLang="zh-CN" sz="32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+4</m:t>
                            </m:r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13</m:t>
                            </m:r>
                          </m:sup>
                        </m:s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+3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14</m:t>
                        </m:r>
                      </m:sup>
                    </m:sSup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+3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15</m:t>
                        </m:r>
                      </m:sup>
                    </m:sSup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+2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16</m:t>
                        </m:r>
                      </m:sup>
                    </m:sSup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+2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17</m:t>
                        </m:r>
                      </m:sup>
                    </m:sSup>
                    <m:r>
                      <a:rPr lang="en-US" altLang="zh-CN" sz="32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3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18</m:t>
                        </m:r>
                      </m:sup>
                    </m:sSup>
                  </m:oMath>
                </a14:m>
                <a:r>
                  <a:rPr lang="en-US" altLang="zh-CN" sz="32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3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19</m:t>
                        </m:r>
                      </m:sup>
                    </m:sSup>
                    <m:r>
                      <a:rPr lang="zh-CN" altLang="en-US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。</m:t>
                    </m:r>
                  </m:oMath>
                </a14:m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eaLnBrk="1" hangingPunct="1">
                  <a:defRPr/>
                </a:pP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由于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的系数是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4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，故共有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4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种方案能称出</a:t>
                </a:r>
                <a14:m>
                  <m:oMath xmlns:m="http://schemas.openxmlformats.org/officeDocument/2006/math"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13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克。</a:t>
                </a:r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F21E521-B246-28D9-4025-D913C1FDFC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1" y="862642"/>
                <a:ext cx="8534400" cy="5225020"/>
              </a:xfrm>
              <a:prstGeom prst="rect">
                <a:avLst/>
              </a:prstGeom>
              <a:blipFill>
                <a:blip r:embed="rId2"/>
                <a:stretch>
                  <a:fillRect l="-1857" t="-1167" b="-2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DE9A21B-CA43-8E27-97F6-BC3488D0C6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9875" y="174625"/>
            <a:ext cx="4572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母函数（续）</a:t>
            </a: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B1485E5-A31D-5406-A2F5-115AD5212E3D}"/>
                  </a:ext>
                </a:extLst>
              </p:cNvPr>
              <p:cNvSpPr/>
              <p:nvPr/>
            </p:nvSpPr>
            <p:spPr>
              <a:xfrm>
                <a:off x="296863" y="990600"/>
                <a:ext cx="8001000" cy="237757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3200" b="1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例子</a:t>
                </a:r>
                <a:r>
                  <a:rPr lang="en-US" altLang="zh-CN" sz="3200" b="1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4 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某单位有</a:t>
                </a:r>
                <a14:m>
                  <m:oMath xmlns:m="http://schemas.openxmlformats.org/officeDocument/2006/math">
                    <m:r>
                      <a:rPr lang="en-US" altLang="zh-CN" sz="32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8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位男同事，</a:t>
                </a:r>
                <a14:m>
                  <m:oMath xmlns:m="http://schemas.openxmlformats.org/officeDocument/2006/math">
                    <m:r>
                      <a:rPr lang="en-US" altLang="zh-CN" sz="3200" i="1" kern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5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位女同事，现要组织一个由偶数个男同事和数目不少于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2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个的女同事组成的小组，问有多少种不同的组合方案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?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B1485E5-A31D-5406-A2F5-115AD5212E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63" y="990600"/>
                <a:ext cx="8001000" cy="2377574"/>
              </a:xfrm>
              <a:prstGeom prst="rect">
                <a:avLst/>
              </a:prstGeom>
              <a:blipFill>
                <a:blip r:embed="rId2"/>
                <a:stretch>
                  <a:fillRect l="-1982" t="-2564" r="-1601" b="-71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D78DFD6-8F14-1544-6A29-26B1D1CB92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9875" y="174625"/>
            <a:ext cx="4572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母函数（续）</a:t>
            </a:r>
            <a:endParaRPr lang="en-US" altLang="zh-CN" dirty="0"/>
          </a:p>
          <a:p>
            <a:pPr eaLnBrk="1" hangingPunct="1">
              <a:buFontTx/>
              <a:buNone/>
            </a:pP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D9C3020-D6E7-CB17-088F-41F75F79874F}"/>
                  </a:ext>
                </a:extLst>
              </p:cNvPr>
              <p:cNvSpPr/>
              <p:nvPr/>
            </p:nvSpPr>
            <p:spPr>
              <a:xfrm>
                <a:off x="289719" y="871268"/>
                <a:ext cx="8564562" cy="600299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例子</a:t>
                </a:r>
                <a:r>
                  <a:rPr lang="en-US" altLang="zh-CN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4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（续）</a:t>
                </a:r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eaLnBrk="1" hangingPunct="1">
                  <a:defRPr/>
                </a:pP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表示由</a:t>
                </a:r>
                <a14:m>
                  <m:oMath xmlns:m="http://schemas.openxmlformats.org/officeDocument/2006/math"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𝑛</m:t>
                    </m:r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个同</a:t>
                </a: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事组成的方案数，则其母函数为</a:t>
                </a:r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eaLnBrk="1" hangingPunct="1">
                  <a:defRPr/>
                </a:pPr>
                <a14:m>
                  <m:oMath xmlns:m="http://schemas.openxmlformats.org/officeDocument/2006/math"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𝐴</m:t>
                    </m:r>
                    <m:d>
                      <m:dPr>
                        <m:ctrlP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d>
                    <m:r>
                      <a:rPr lang="en-US" altLang="zh-CN" sz="3200" b="1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200" b="0" i="0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</m:t>
                        </m:r>
                        <m:r>
                          <a:rPr lang="en-US" altLang="zh-CN" sz="3200" b="1" i="0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d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8</m:t>
                            </m:r>
                            <m:r>
                              <a:rPr lang="zh-CN" altLang="en-US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，</m:t>
                            </m:r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2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/>
                          </a:rPr>
                          <m:t>⋯+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d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8</m:t>
                            </m:r>
                            <m:r>
                              <a:rPr lang="zh-CN" altLang="en-US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，</m:t>
                            </m:r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8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8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dPr>
                          <m:e>
                            <m:r>
                              <a:rPr lang="en-US" altLang="zh-CN" sz="3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5</m:t>
                            </m:r>
                            <m:r>
                              <a:rPr lang="zh-CN" altLang="en-US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，</m:t>
                            </m:r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2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d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5</m:t>
                            </m:r>
                            <m:r>
                              <a:rPr lang="zh-CN" altLang="en-US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，</m:t>
                            </m:r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3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d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5</m:t>
                            </m:r>
                            <m:r>
                              <a:rPr lang="zh-CN" altLang="en-US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，</m:t>
                            </m:r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4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𝐶</m:t>
                        </m:r>
                        <m:d>
                          <m:d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d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5</m:t>
                            </m:r>
                            <m:r>
                              <a:rPr lang="zh-CN" altLang="en-US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，</m:t>
                            </m:r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5</m:t>
                            </m:r>
                          </m:e>
                        </m:d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a:rPr lang="en-US" altLang="zh-CN" sz="3200" b="1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=</m:t>
                    </m:r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200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</m:t>
                        </m:r>
                        <m:r>
                          <a:rPr lang="en-US" altLang="zh-CN" sz="3200" b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28</m:t>
                        </m:r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70</m:t>
                        </m:r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+28</m:t>
                        </m:r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6</m:t>
                            </m:r>
                          </m:sup>
                        </m:s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8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zh-CN" sz="3200" b="1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dPr>
                      <m:e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10</m:t>
                        </m:r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10</m:t>
                        </m:r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/>
                          </a:rPr>
                          <m:t>+</m:t>
                        </m:r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5</m:t>
                        </m:r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ahoma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</m:ctrlPr>
                          </m:sSupPr>
                          <m:e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2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ahoma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a:rPr lang="en-US" altLang="zh-CN" sz="3200" b="1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=</m:t>
                    </m:r>
                  </m:oMath>
                </a14:m>
                <a:r>
                  <a:rPr lang="en-US" altLang="zh-CN" sz="3200" kern="0" dirty="0">
                    <a:solidFill>
                      <a:srgbClr val="000000"/>
                    </a:solidFill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10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</m:sup>
                    </m:sSup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+10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3</m:t>
                        </m:r>
                      </m:sup>
                    </m:sSup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/>
                      </a:rPr>
                      <m:t>+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285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4</m:t>
                        </m:r>
                      </m:sup>
                    </m:sSup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28</m:t>
                    </m:r>
                    <m:r>
                      <a:rPr lang="en-US" altLang="zh-CN" sz="32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1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5</m:t>
                        </m:r>
                      </m:sup>
                    </m:sSup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840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6</m:t>
                        </m:r>
                      </m:sup>
                    </m:sSup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+728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7</m:t>
                        </m:r>
                      </m:sup>
                    </m:sSup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+630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8</m:t>
                        </m:r>
                      </m:sup>
                    </m:sSup>
                    <m:r>
                      <a:rPr lang="en-US" altLang="zh-CN" sz="3200" b="1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r>
                      <a:rPr lang="en-US" altLang="zh-CN" sz="32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350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9</m:t>
                        </m:r>
                      </m:sup>
                    </m:sSup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+150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10</m:t>
                        </m:r>
                      </m:sup>
                    </m:sSup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+38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11</m:t>
                        </m:r>
                      </m:sup>
                    </m:sSup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+5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12</m:t>
                        </m:r>
                      </m:sup>
                    </m:sSup>
                    <m:r>
                      <a:rPr lang="en-US" altLang="zh-CN" sz="32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sSup>
                      <m:sSupPr>
                        <m:ctrlP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pPr>
                      <m:e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  <m:sup>
                        <m:r>
                          <a:rPr lang="en-US" altLang="zh-CN" sz="32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</m:t>
                        </m:r>
                        <m:r>
                          <a:rPr lang="en-US" altLang="zh-CN" sz="32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。</a:t>
                </a:r>
                <a:endParaRPr lang="en-US" altLang="zh-CN" sz="3200" kern="0" dirty="0">
                  <a:solidFill>
                    <a:srgbClr val="000000"/>
                  </a:solidFill>
                  <a:latin typeface="宋体" pitchFamily="2" charset="-122"/>
                  <a:cs typeface="Tahoma"/>
                </a:endParaRPr>
              </a:p>
              <a:p>
                <a:pPr eaLnBrk="1" hangingPunct="1">
                  <a:defRPr/>
                </a:pPr>
                <a:r>
                  <a:rPr lang="zh-CN" altLang="en-US" sz="3200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总的方案数为：</a:t>
                </a:r>
                <a14:m>
                  <m:oMath xmlns:m="http://schemas.openxmlformats.org/officeDocument/2006/math"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10+10</m:t>
                    </m:r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/>
                      </a:rPr>
                      <m:t>+</m:t>
                    </m:r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285+</m:t>
                    </m:r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28</m:t>
                    </m:r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1</m:t>
                    </m:r>
                    <m:r>
                      <a:rPr lang="en-US" altLang="zh-CN" sz="32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840+728+630</m:t>
                    </m:r>
                    <m:r>
                      <a:rPr lang="en-US" altLang="zh-CN" sz="3200" b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</m:t>
                    </m:r>
                    <m:r>
                      <a:rPr lang="en-US" altLang="zh-CN" sz="32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350</m:t>
                    </m:r>
                    <m:r>
                      <a:rPr lang="en-US" altLang="zh-CN" sz="32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+150+38+5+</m:t>
                    </m:r>
                    <m:r>
                      <a:rPr lang="en-US" altLang="zh-CN" sz="32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1</m:t>
                    </m:r>
                    <m:r>
                      <a:rPr lang="en-US" altLang="zh-CN" sz="32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=3328</m:t>
                    </m:r>
                    <m:r>
                      <a:rPr lang="zh-CN" altLang="en-US" sz="32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。</m:t>
                    </m:r>
                  </m:oMath>
                </a14:m>
                <a:r>
                  <a:rPr lang="en-US" altLang="zh-CN" sz="2800" b="1" kern="0" dirty="0">
                    <a:solidFill>
                      <a:srgbClr val="000000"/>
                    </a:solidFill>
                    <a:latin typeface="宋体" pitchFamily="2" charset="-122"/>
                    <a:cs typeface="Tahoma"/>
                  </a:rPr>
                  <a:t>           </a:t>
                </a:r>
              </a:p>
            </p:txBody>
          </p:sp>
        </mc:Choice>
        <mc:Fallback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D9C3020-D6E7-CB17-088F-41F75F7987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19" y="871268"/>
                <a:ext cx="8564562" cy="6002990"/>
              </a:xfrm>
              <a:prstGeom prst="rect">
                <a:avLst/>
              </a:prstGeom>
              <a:blipFill>
                <a:blip r:embed="rId2"/>
                <a:stretch>
                  <a:fillRect l="-1852" t="-1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61C07D9-BD68-75D5-FEA1-2122A3AF5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92088"/>
            <a:ext cx="45720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指数母函数</a:t>
            </a:r>
            <a:r>
              <a:rPr lang="en-US" altLang="zh-CN" dirty="0"/>
              <a:t>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0416BEB-092F-BC02-21A4-C887FBE43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85" y="801688"/>
            <a:ext cx="8718481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47675" indent="-4476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Ø"/>
              <a:defRPr kumimoji="1" sz="3200">
                <a:solidFill>
                  <a:srgbClr val="333399"/>
                </a:solidFill>
                <a:latin typeface="黑体" pitchFamily="2" charset="-122"/>
                <a:ea typeface="黑体" pitchFamily="2" charset="-122"/>
                <a:cs typeface="+mn-cs"/>
              </a:defRPr>
            </a:lvl1pPr>
            <a:lvl2pPr marL="889000" indent="-439738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Font typeface="Wingdings 2" pitchFamily="18" charset="2"/>
              <a:buBlip>
                <a:blip r:embed="rId3"/>
              </a:buBlip>
              <a:defRPr kumimoji="1" sz="2800">
                <a:solidFill>
                  <a:srgbClr val="333399"/>
                </a:solidFill>
                <a:latin typeface="黑体" pitchFamily="2" charset="-122"/>
                <a:ea typeface="黑体" pitchFamily="2" charset="-122"/>
                <a:cs typeface="+mn-cs"/>
              </a:defRPr>
            </a:lvl2pPr>
            <a:lvl3pPr marL="1293813" indent="-4032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5000"/>
              <a:buFont typeface="Wingdings" pitchFamily="2" charset="2"/>
              <a:buChar char="l"/>
              <a:defRPr kumimoji="1" sz="2400">
                <a:solidFill>
                  <a:srgbClr val="333399"/>
                </a:solidFill>
                <a:latin typeface="黑体" pitchFamily="2" charset="-122"/>
                <a:ea typeface="黑体" pitchFamily="2" charset="-122"/>
                <a:cs typeface="+mn-cs"/>
              </a:defRPr>
            </a:lvl3pPr>
            <a:lvl4pPr marL="1681163" indent="-385763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70000"/>
              <a:buFont typeface="Wingdings" pitchFamily="2" charset="2"/>
              <a:buChar char="u"/>
              <a:defRPr kumimoji="1" sz="2000">
                <a:solidFill>
                  <a:srgbClr val="333399"/>
                </a:solidFill>
                <a:latin typeface="黑体" pitchFamily="2" charset="-122"/>
                <a:ea typeface="黑体" pitchFamily="2" charset="-122"/>
                <a:cs typeface="+mn-cs"/>
              </a:defRPr>
            </a:lvl4pPr>
            <a:lvl5pPr marL="2070100" indent="-3873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6699FF"/>
              </a:buClr>
              <a:buFont typeface="Wingdings 2" pitchFamily="18" charset="2"/>
              <a:buChar char="ò"/>
              <a:defRPr kumimoji="1" sz="2000">
                <a:solidFill>
                  <a:srgbClr val="333399"/>
                </a:solidFill>
                <a:latin typeface="黑体" pitchFamily="2" charset="-122"/>
                <a:ea typeface="黑体" pitchFamily="2" charset="-122"/>
                <a:cs typeface="+mn-cs"/>
              </a:defRPr>
            </a:lvl5pPr>
            <a:lvl6pPr marL="2527300" indent="-3873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4500" indent="-3873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41700" indent="-3873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98900" indent="-3873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defRPr kumimoj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Clr>
                <a:srgbClr val="000000"/>
              </a:buClr>
              <a:buNone/>
              <a:defRPr/>
            </a:pP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指数母函数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可以用来解决</a:t>
            </a:r>
            <a:r>
              <a:rPr lang="zh-CN" altLang="en-US" b="1" u="sng" kern="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允许重复</a:t>
            </a:r>
            <a:r>
              <a:rPr lang="zh-CN" altLang="en-US" sz="2800" b="1" kern="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并且重复</a:t>
            </a:r>
            <a:r>
              <a:rPr lang="zh-CN" altLang="en-US" b="1" u="sng" kern="0" dirty="0">
                <a:solidFill>
                  <a:srgbClr val="6699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有限制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</a:t>
            </a:r>
            <a:r>
              <a:rPr lang="zh-CN" altLang="en-US" b="1" u="sng" kern="0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排列</a:t>
            </a:r>
            <a:r>
              <a:rPr lang="zh-CN" altLang="en-US" sz="2800" b="1" kern="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问题。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4">
                <a:extLst>
                  <a:ext uri="{FF2B5EF4-FFF2-40B4-BE49-F238E27FC236}">
                    <a16:creationId xmlns:a16="http://schemas.microsoft.com/office/drawing/2014/main" id="{FE91756C-2C8D-89FD-BA3B-285A13C377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719" y="2025650"/>
                <a:ext cx="8988285" cy="46577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447675" indent="-447675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itchFamily="2" charset="2"/>
                  <a:buChar char="Ø"/>
                  <a:defRPr kumimoji="1" sz="32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1pPr>
                <a:lvl2pPr marL="889000" indent="-439738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Font typeface="Wingdings 2" pitchFamily="18" charset="2"/>
                  <a:buBlip>
                    <a:blip r:embed="rId3"/>
                  </a:buBlip>
                  <a:defRPr kumimoji="1" sz="28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2pPr>
                <a:lvl3pPr marL="1293813" indent="-403225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5000"/>
                  <a:buFont typeface="Wingdings" pitchFamily="2" charset="2"/>
                  <a:buChar char="l"/>
                  <a:defRPr kumimoji="1" sz="24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3pPr>
                <a:lvl4pPr marL="1681163" indent="-385763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0000"/>
                  <a:buFont typeface="Wingdings" pitchFamily="2" charset="2"/>
                  <a:buChar char="u"/>
                  <a:defRPr kumimoji="1" sz="20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4pPr>
                <a:lvl5pPr marL="2070100" indent="-3873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Font typeface="Wingdings 2" pitchFamily="18" charset="2"/>
                  <a:buChar char="ò"/>
                  <a:defRPr kumimoji="1" sz="20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5pPr>
                <a:lvl6pPr marL="25273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845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417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989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zh-CN" altLang="en-US" sz="2700" b="1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例子</a:t>
                </a:r>
                <a:r>
                  <a:rPr lang="en-US" altLang="zh-CN" sz="2700" b="1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5 </a:t>
                </a:r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7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27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𝑆</m:t>
                    </m:r>
                    <m:r>
                      <a:rPr lang="en-US" altLang="zh-CN" sz="27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7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7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𝑎</m:t>
                        </m:r>
                        <m:r>
                          <a:rPr lang="zh-CN" altLang="en-US" sz="27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7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𝑏</m:t>
                        </m:r>
                        <m:r>
                          <a:rPr lang="zh-CN" altLang="en-US" sz="27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7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，现从</a:t>
                </a:r>
                <a14:m>
                  <m:oMath xmlns:m="http://schemas.openxmlformats.org/officeDocument/2006/math">
                    <m:r>
                      <a:rPr lang="en-US" altLang="zh-CN" sz="27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𝑆</m:t>
                    </m:r>
                  </m:oMath>
                </a14:m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中任取</a:t>
                </a:r>
                <a14:m>
                  <m:oMath xmlns:m="http://schemas.openxmlformats.org/officeDocument/2006/math">
                    <m:r>
                      <a:rPr lang="en-US" altLang="zh-CN" sz="27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𝑟</m:t>
                    </m:r>
                  </m:oMath>
                </a14:m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个，要求</a:t>
                </a:r>
                <a14:m>
                  <m:oMath xmlns:m="http://schemas.openxmlformats.org/officeDocument/2006/math">
                    <m:r>
                      <a:rPr lang="en-US" altLang="zh-CN" sz="27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𝑎</m:t>
                    </m:r>
                  </m:oMath>
                </a14:m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的个数不超过</a:t>
                </a:r>
                <a14:m>
                  <m:oMath xmlns:m="http://schemas.openxmlformats.org/officeDocument/2006/math">
                    <m:r>
                      <a:rPr lang="en-US" altLang="zh-CN" sz="27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3</m:t>
                    </m:r>
                    <m:r>
                      <a:rPr lang="en-US" altLang="zh-CN" sz="27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7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𝑏</m:t>
                    </m:r>
                  </m:oMath>
                </a14:m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的个数不超过</a:t>
                </a:r>
                <a:r>
                  <a:rPr lang="en-US" altLang="zh-CN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2</a:t>
                </a:r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7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𝑐</m:t>
                    </m:r>
                  </m:oMath>
                </a14:m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的个数不超过</a:t>
                </a:r>
                <a14:m>
                  <m:oMath xmlns:m="http://schemas.openxmlformats.org/officeDocument/2006/math">
                    <m:r>
                      <a:rPr lang="en-US" altLang="zh-CN" sz="27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3</m:t>
                    </m:r>
                  </m:oMath>
                </a14:m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，求组合方案数。</a:t>
                </a:r>
                <a:endParaRPr lang="en-US" altLang="zh-CN" sz="27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Wingdings" pitchFamily="2" charset="2"/>
                  <a:buNone/>
                </a:pPr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用</a:t>
                </a:r>
                <a14:m>
                  <m:oMath xmlns:m="http://schemas.openxmlformats.org/officeDocument/2006/math">
                    <m:r>
                      <a:rPr lang="en-US" altLang="zh-CN" sz="27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7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7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7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7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7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7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7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7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7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7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7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27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𝑎</m:t>
                    </m:r>
                    <m:r>
                      <a:rPr lang="zh-CN" altLang="en-US" sz="27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，</m:t>
                    </m:r>
                    <m:r>
                      <a:rPr lang="en-US" altLang="zh-CN" sz="27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𝑏</m:t>
                    </m:r>
                    <m:r>
                      <a:rPr lang="zh-CN" altLang="en-US" sz="27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，</m:t>
                    </m:r>
                    <m:r>
                      <a:rPr lang="en-US" altLang="zh-CN" sz="27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𝑐</m:t>
                    </m:r>
                  </m:oMath>
                </a14:m>
                <a:r>
                  <a:rPr lang="zh-CN" altLang="en-US" sz="27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，计算</a:t>
                </a:r>
                <a:endParaRPr lang="en-US" altLang="zh-CN" sz="27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7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p>
                          </m:sSubSup>
                        </m:e>
                      </m:d>
                      <m:d>
                        <m:dPr>
                          <m:ctrlPr>
                            <a:rPr lang="en-US" altLang="zh-CN" sz="27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7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27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7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7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d>
                        <m:dPr>
                          <m:ctrlPr>
                            <a:rPr lang="en-US" altLang="zh-CN" sz="27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7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sz="27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7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7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CN" sz="27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7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=1+</m:t>
                      </m:r>
                      <m:d>
                        <m:dPr>
                          <m:ctrlPr>
                            <a:rPr lang="en-US" altLang="zh-CN" sz="27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sz="27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7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CN" sz="27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+⋯+</m:t>
                      </m:r>
                      <m:d>
                        <m:dPr>
                          <m:ctrlPr>
                            <a:rPr lang="en-US" altLang="zh-CN" sz="270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p>
                          </m:sSubSup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700" b="0" i="1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270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sz="2700" b="0" i="1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itchFamily="2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CN" sz="27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7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Rectangle 4">
                <a:extLst>
                  <a:ext uri="{FF2B5EF4-FFF2-40B4-BE49-F238E27FC236}">
                    <a16:creationId xmlns:a16="http://schemas.microsoft.com/office/drawing/2014/main" id="{FE91756C-2C8D-89FD-BA3B-285A13C37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719" y="2025650"/>
                <a:ext cx="8988285" cy="4657725"/>
              </a:xfrm>
              <a:prstGeom prst="rect">
                <a:avLst/>
              </a:prstGeom>
              <a:blipFill>
                <a:blip r:embed="rId4"/>
                <a:stretch>
                  <a:fillRect l="-1289" t="-39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EB3B7A5-F6AA-C3A8-BFD2-D4DA6AE5E1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217" y="152400"/>
            <a:ext cx="5410200" cy="5619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指数母函数（续）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4">
                <a:extLst>
                  <a:ext uri="{FF2B5EF4-FFF2-40B4-BE49-F238E27FC236}">
                    <a16:creationId xmlns:a16="http://schemas.microsoft.com/office/drawing/2014/main" id="{BDDEF0EB-EB59-C1FF-4328-E18B0E7051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5715" y="714375"/>
                <a:ext cx="8988285" cy="6477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447675" indent="-447675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itchFamily="2" charset="2"/>
                  <a:buChar char="Ø"/>
                  <a:defRPr kumimoji="1" sz="32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1pPr>
                <a:lvl2pPr marL="889000" indent="-439738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Font typeface="Wingdings 2" pitchFamily="18" charset="2"/>
                  <a:buBlip>
                    <a:blip r:embed="rId2"/>
                  </a:buBlip>
                  <a:defRPr kumimoji="1" sz="28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2pPr>
                <a:lvl3pPr marL="1293813" indent="-403225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5000"/>
                  <a:buFont typeface="Wingdings" pitchFamily="2" charset="2"/>
                  <a:buChar char="l"/>
                  <a:defRPr kumimoji="1" sz="24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3pPr>
                <a:lvl4pPr marL="1681163" indent="-385763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0000"/>
                  <a:buFont typeface="Wingdings" pitchFamily="2" charset="2"/>
                  <a:buChar char="u"/>
                  <a:defRPr kumimoji="1" sz="20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4pPr>
                <a:lvl5pPr marL="2070100" indent="-3873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Font typeface="Wingdings 2" pitchFamily="18" charset="2"/>
                  <a:buChar char="ò"/>
                  <a:defRPr kumimoji="1" sz="20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5pPr>
                <a:lvl6pPr marL="25273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845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417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989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zh-CN" altLang="en-US" sz="2800" b="1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例子</a:t>
                </a:r>
                <a:r>
                  <a:rPr lang="en-US" altLang="zh-CN" sz="2800" b="1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6 </a:t>
                </a:r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𝑆</m:t>
                    </m:r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𝑎</m:t>
                        </m:r>
                        <m:r>
                          <a:rPr lang="zh-CN" altLang="en-US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𝑏</m:t>
                        </m:r>
                        <m:r>
                          <a:rPr lang="zh-CN" altLang="en-US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，现从</a:t>
                </a:r>
                <a14:m>
                  <m:oMath xmlns:m="http://schemas.openxmlformats.org/officeDocument/2006/math">
                    <m:r>
                      <a:rPr lang="en-US" altLang="zh-CN" sz="28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𝑆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中任取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𝑟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个，要求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的个数不超过</a:t>
                </a:r>
                <a14:m>
                  <m:oMath xmlns:m="http://schemas.openxmlformats.org/officeDocument/2006/math">
                    <m:r>
                      <a:rPr lang="en-US" altLang="zh-CN" sz="28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3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𝑏</m:t>
                    </m:r>
                    <m:r>
                      <a:rPr lang="en-US" altLang="zh-CN" sz="28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的个数不超过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2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𝑐</m:t>
                    </m:r>
                    <m:r>
                      <a:rPr lang="en-US" altLang="zh-CN" sz="28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的个数不超过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3 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，求排列方案数。</a:t>
                </a:r>
                <a:endParaRPr lang="en-US" altLang="zh-CN" sz="28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上述多项式中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4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次方项为：</a:t>
                </a:r>
                <a:endParaRPr lang="en-US" altLang="zh-CN" sz="28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p>
                      </m:sSubSup>
                      <m:r>
                        <a:rPr lang="zh-CN" altLang="en-US" sz="28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p>
                      </m:sSubSup>
                      <m:r>
                        <a:rPr lang="zh-CN" altLang="en-US" sz="28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，</m:t>
                      </m:r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8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8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，</m:t>
                      </m:r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sz="28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，</m:t>
                      </m:r>
                      <m:r>
                        <a:rPr lang="en-US" altLang="zh-CN" sz="28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i="1" kern="0" dirty="0">
                  <a:solidFill>
                    <a:srgbClr val="000000"/>
                  </a:solidFill>
                  <a:latin typeface="Cambria Math" panose="02040503050406030204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，</m:t>
                      </m:r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，</m:t>
                      </m:r>
                      <m:sSub>
                        <m:sSub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，</m:t>
                      </m:r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itchFamily="2" charset="-122"/>
                          <a:cs typeface="Times New Roman" pitchFamily="18" charset="0"/>
                        </a:rPr>
                        <m:t>，</m:t>
                      </m:r>
                      <m:sSubSup>
                        <m:sSubSupPr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宋体" pitchFamily="2" charset="-122"/>
                              <a:cs typeface="Times New Roman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8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28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表明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2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8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𝑎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2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𝑐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4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组合，可以得到</a:t>
                </a:r>
                <a14:m>
                  <m:oMath xmlns:m="http://schemas.openxmlformats.org/officeDocument/2006/math">
                    <m:r>
                      <a:rPr lang="en-US" altLang="zh-CN" sz="28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f>
                      <m:fPr>
                        <m:type m:val="lin"/>
                        <m:ctrlPr>
                          <a:rPr lang="zh-CN" altLang="en-US" sz="28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4!</m:t>
                        </m:r>
                      </m:num>
                      <m:den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(2!2!</m:t>
                        </m:r>
                      </m:den>
                    </m:f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)=6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4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排列。于是，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4</m:t>
                    </m:r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个元素的排列数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为</a:t>
                </a:r>
                <a:endParaRPr lang="en-US" altLang="zh-CN" sz="28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Wingdings" pitchFamily="2" charset="2"/>
                  <a:buNone/>
                </a:pPr>
                <a:r>
                  <a:rPr lang="en-US" altLang="zh-CN" sz="2800" kern="0" dirty="0">
                    <a:solidFill>
                      <a:srgbClr val="000000"/>
                    </a:solidFill>
                    <a:ea typeface="宋体" pitchFamily="2" charset="-122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=4!</m:t>
                    </m:r>
                    <m:d>
                      <m:dPr>
                        <m:ctrlPr>
                          <a:rPr lang="en-US" altLang="zh-CN" sz="28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1!3!</m:t>
                            </m:r>
                          </m:den>
                        </m:f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1!3!</m:t>
                            </m:r>
                          </m:den>
                        </m:f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1!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2!</m:t>
                            </m:r>
                          </m:den>
                        </m:f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1!3!</m:t>
                            </m:r>
                          </m:den>
                        </m:f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1!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2!</m:t>
                            </m:r>
                          </m:den>
                        </m:f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1!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1!</m:t>
                            </m:r>
                          </m:den>
                        </m:f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3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  <m:r>
                              <a:rPr lang="en-US" altLang="zh-CN" sz="28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  <m:r>
                              <a:rPr lang="en-US" altLang="zh-CN" sz="28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!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8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。</a:t>
                </a:r>
                <a:endParaRPr lang="en-US" altLang="zh-CN" sz="28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Wingdings" pitchFamily="2" charset="2"/>
                  <a:buNone/>
                </a:pPr>
                <a:endParaRPr lang="zh-CN" altLang="en-US" sz="2500" b="1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Rectangle 4">
                <a:extLst>
                  <a:ext uri="{FF2B5EF4-FFF2-40B4-BE49-F238E27FC236}">
                    <a16:creationId xmlns:a16="http://schemas.microsoft.com/office/drawing/2014/main" id="{BDDEF0EB-EB59-C1FF-4328-E18B0E705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715" y="714375"/>
                <a:ext cx="8988285" cy="6477000"/>
              </a:xfrm>
              <a:prstGeom prst="rect">
                <a:avLst/>
              </a:prstGeom>
              <a:blipFill>
                <a:blip r:embed="rId3"/>
                <a:stretch>
                  <a:fillRect l="-1425" t="-376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8D6879F1-2619-1386-DF09-5ADE05C82E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772400" cy="5619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指数母函数（续）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4">
                <a:extLst>
                  <a:ext uri="{FF2B5EF4-FFF2-40B4-BE49-F238E27FC236}">
                    <a16:creationId xmlns:a16="http://schemas.microsoft.com/office/drawing/2014/main" id="{B078D279-EDA9-4AF9-5D5A-5332C1BE18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597" y="866775"/>
                <a:ext cx="8557404" cy="56864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447675" indent="-447675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itchFamily="2" charset="2"/>
                  <a:buChar char="Ø"/>
                  <a:defRPr kumimoji="1" sz="32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1pPr>
                <a:lvl2pPr marL="889000" indent="-439738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Font typeface="Wingdings 2" pitchFamily="18" charset="2"/>
                  <a:buBlip>
                    <a:blip r:embed="rId2"/>
                  </a:buBlip>
                  <a:defRPr kumimoji="1" sz="28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2pPr>
                <a:lvl3pPr marL="1293813" indent="-403225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5000"/>
                  <a:buFont typeface="Wingdings" pitchFamily="2" charset="2"/>
                  <a:buChar char="l"/>
                  <a:defRPr kumimoji="1" sz="24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3pPr>
                <a:lvl4pPr marL="1681163" indent="-385763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0000"/>
                  <a:buFont typeface="Wingdings" pitchFamily="2" charset="2"/>
                  <a:buChar char="u"/>
                  <a:defRPr kumimoji="1" sz="20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4pPr>
                <a:lvl5pPr marL="2070100" indent="-3873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Font typeface="Wingdings 2" pitchFamily="18" charset="2"/>
                  <a:buChar char="ò"/>
                  <a:defRPr kumimoji="1" sz="20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5pPr>
                <a:lvl6pPr marL="25273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845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417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989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chemeClr val="tx1"/>
                  </a:buClr>
                  <a:buNone/>
                </a:pPr>
                <a:r>
                  <a:rPr lang="zh-CN" altLang="en-US" sz="3000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例子</a:t>
                </a:r>
                <a:r>
                  <a:rPr lang="en-US" altLang="zh-CN" sz="3000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6</a:t>
                </a:r>
                <a:r>
                  <a:rPr lang="zh-CN" altLang="en-US" sz="3000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（续）</a:t>
                </a:r>
                <a:endParaRPr lang="en-US" altLang="zh-CN" sz="3000" kern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chemeClr val="tx1"/>
                  </a:buClr>
                  <a:buNone/>
                </a:pPr>
                <a:r>
                  <a:rPr lang="zh-CN" altLang="en-US" sz="3000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因此，可以得到序列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30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30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，</m:t>
                    </m:r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300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，</m:t>
                    </m:r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… </m:t>
                    </m:r>
                  </m:oMath>
                </a14:m>
                <a:r>
                  <a:rPr lang="zh-CN" altLang="en-US" sz="3000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的指数型母函数</a:t>
                </a:r>
                <a:endParaRPr lang="en-US" altLang="zh-CN" sz="3000" kern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chemeClr val="tx1"/>
                  </a:buClr>
                  <a:buNone/>
                </a:pPr>
                <a:r>
                  <a:rPr lang="en-US" altLang="zh-CN" sz="3000" kern="0" dirty="0">
                    <a:solidFill>
                      <a:schemeClr val="tx1"/>
                    </a:solidFill>
                    <a:ea typeface="宋体" pitchFamily="2" charset="-122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1!</m:t>
                        </m:r>
                      </m:den>
                    </m:f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2!</m:t>
                        </m:r>
                      </m:den>
                    </m:f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  <m:f>
                      <m:f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𝑛</m:t>
                        </m:r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+⋯</m:t>
                    </m:r>
                  </m:oMath>
                </a14:m>
                <a:endParaRPr lang="en-US" altLang="zh-CN" sz="3000" kern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chemeClr val="tx1"/>
                  </a:buClr>
                  <a:buNone/>
                </a:pP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sz="30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1!</m:t>
                            </m:r>
                          </m:den>
                        </m:f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2!</m:t>
                            </m:r>
                          </m:den>
                        </m:f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ker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3!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1!</m:t>
                            </m:r>
                          </m:den>
                        </m:f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ker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2!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1!</m:t>
                            </m:r>
                          </m:den>
                        </m:f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ker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2!</m:t>
                            </m:r>
                          </m:den>
                        </m:f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ker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kern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itchFamily="2" charset="-122"/>
                                    <a:cs typeface="Times New Roman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3!</m:t>
                            </m:r>
                          </m:den>
                        </m:f>
                      </m:e>
                    </m:d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=1+3</m:t>
                    </m:r>
                    <m:f>
                      <m:fPr>
                        <m:ctrlPr>
                          <a:rPr lang="en-US" altLang="zh-CN" sz="300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1!</m:t>
                        </m:r>
                      </m:den>
                    </m:f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+9</m:t>
                    </m:r>
                    <m:f>
                      <m:f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2!</m:t>
                        </m:r>
                      </m:den>
                    </m:f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+28</m:t>
                    </m:r>
                    <m:f>
                      <m:f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3!</m:t>
                        </m:r>
                      </m:den>
                    </m:f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+70</m:t>
                    </m:r>
                    <m:f>
                      <m:f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4!</m:t>
                        </m:r>
                      </m:den>
                    </m:f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+170</m:t>
                    </m:r>
                    <m:f>
                      <m:f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5!</m:t>
                        </m:r>
                      </m:den>
                    </m:f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+350</m:t>
                    </m:r>
                    <m:f>
                      <m:f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6!</m:t>
                        </m:r>
                      </m:den>
                    </m:f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+420</m:t>
                    </m:r>
                    <m:f>
                      <m:f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7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7!</m:t>
                        </m:r>
                      </m:den>
                    </m:f>
                    <m:r>
                      <a:rPr lang="en-US" altLang="zh-CN" sz="3000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+560</m:t>
                    </m:r>
                    <m:f>
                      <m:fPr>
                        <m:ctrlPr>
                          <a:rPr lang="en-US" altLang="zh-CN" sz="300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8!</m:t>
                        </m:r>
                      </m:den>
                    </m:f>
                  </m:oMath>
                </a14:m>
                <a:r>
                  <a:rPr lang="zh-CN" altLang="en-US" sz="3000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。</a:t>
                </a:r>
                <a:endParaRPr lang="en-US" altLang="zh-CN" sz="3000" kern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chemeClr val="tx1"/>
                  </a:buClr>
                  <a:buNone/>
                </a:pPr>
                <a:endParaRPr lang="zh-CN" altLang="en-US" sz="2500" b="1" kern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Rectangle 4">
                <a:extLst>
                  <a:ext uri="{FF2B5EF4-FFF2-40B4-BE49-F238E27FC236}">
                    <a16:creationId xmlns:a16="http://schemas.microsoft.com/office/drawing/2014/main" id="{B078D279-EDA9-4AF9-5D5A-5332C1BE1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597" y="866775"/>
                <a:ext cx="8557404" cy="5686426"/>
              </a:xfrm>
              <a:prstGeom prst="rect">
                <a:avLst/>
              </a:prstGeom>
              <a:blipFill>
                <a:blip r:embed="rId3"/>
                <a:stretch>
                  <a:fillRect l="-1709" t="-75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8CC4419-88EF-DD6D-11E7-29D9FA5D0B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772400" cy="5619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指数母函数（续）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035" name="Text Box 13">
                <a:extLst>
                  <a:ext uri="{FF2B5EF4-FFF2-40B4-BE49-F238E27FC236}">
                    <a16:creationId xmlns:a16="http://schemas.microsoft.com/office/drawing/2014/main" id="{81C8C0F9-C935-0990-055E-96F8E28A29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" y="866775"/>
                <a:ext cx="8686800" cy="5812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zh-CN" altLang="en-US" sz="2800" b="1" dirty="0">
                    <a:latin typeface="宋体" panose="02010600030101010101" pitchFamily="2" charset="-122"/>
                    <a:cs typeface="Tahoma" panose="020B0604030504040204" pitchFamily="34" charset="0"/>
                  </a:rPr>
                  <a:t>定义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 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对于序列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zh-CN" altLang="en-US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，</m:t>
                        </m:r>
                        <m: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zh-CN" altLang="en-US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，</m:t>
                        </m:r>
                        <m: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</m:sub>
                    </m:sSub>
                    <m:r>
                      <a:rPr lang="zh-CN" altLang="en-US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，</m:t>
                    </m:r>
                    <m:r>
                      <a:rPr lang="zh-CN" altLang="en-US" sz="280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⋯</m:t>
                    </m:r>
                    <m:r>
                      <a:rPr lang="en-US" altLang="zh-CN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，函数称</a:t>
                </a:r>
                <a:endParaRPr kumimoji="1"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+⋯</m:t>
                      </m:r>
                      <m:f>
                        <m:f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kumimoji="1"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为序列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zh-CN" altLang="en-US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，</m:t>
                        </m:r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zh-CN" altLang="en-US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，</m:t>
                        </m:r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</m:sub>
                    </m:sSub>
                    <m:r>
                      <a:rPr lang="zh-CN" altLang="en-US" sz="28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，</m:t>
                    </m:r>
                    <m:r>
                      <a:rPr lang="zh-CN" altLang="en-US" sz="28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⋯ 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，对应的</a:t>
                </a:r>
                <a:r>
                  <a:rPr kumimoji="1" lang="zh-CN" alt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指数型母函数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。</a:t>
                </a:r>
                <a:endParaRPr kumimoji="1"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对于一个多重集，其中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重复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次，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重复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28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𝑛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次，</a:t>
                </a:r>
                <a14:m>
                  <m:oMath xmlns:m="http://schemas.openxmlformats.org/officeDocument/2006/math">
                    <m:r>
                      <a:rPr lang="zh-CN" altLang="en-US" sz="28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⋯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重复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𝑛</m:t>
                        </m:r>
                      </m:e>
                      <m:sub>
                        <m:r>
                          <a:rPr lang="en-US" altLang="zh-CN" sz="28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ahoma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次，从中取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/>
                      </a:rPr>
                      <m:t>𝑟</m:t>
                    </m:r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个排列的不同排列数所对应的指数型母函数为：</a:t>
                </a:r>
              </a:p>
              <a:p>
                <a:pPr eaLnBrk="1" hangingPunct="1"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+⋯+</m:t>
                          </m:r>
                          <m:f>
                            <m:f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d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zh-CN" altLang="zh-CN" sz="2800" dirty="0"/>
              </a:p>
            </p:txBody>
          </p:sp>
        </mc:Choice>
        <mc:Fallback xmlns="">
          <p:sp>
            <p:nvSpPr>
              <p:cNvPr id="44035" name="Text Box 13">
                <a:extLst>
                  <a:ext uri="{FF2B5EF4-FFF2-40B4-BE49-F238E27FC236}">
                    <a16:creationId xmlns:a16="http://schemas.microsoft.com/office/drawing/2014/main" id="{81C8C0F9-C935-0990-055E-96F8E28A2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66775"/>
                <a:ext cx="8686800" cy="5812232"/>
              </a:xfrm>
              <a:prstGeom prst="rect">
                <a:avLst/>
              </a:prstGeom>
              <a:blipFill>
                <a:blip r:embed="rId2"/>
                <a:stretch>
                  <a:fillRect l="-1474" t="-1363" r="-547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86120E5-A82D-0764-E350-4117908C1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772400" cy="5619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指数母函数（续）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059" name="Rectangle 2">
                <a:extLst>
                  <a:ext uri="{FF2B5EF4-FFF2-40B4-BE49-F238E27FC236}">
                    <a16:creationId xmlns:a16="http://schemas.microsoft.com/office/drawing/2014/main" id="{5C96FC0E-3A82-BA61-C9A6-6EB2DD7BB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917" y="921289"/>
                <a:ext cx="8305800" cy="5584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例子</a:t>
                </a:r>
                <a:r>
                  <a:rPr kumimoji="1" lang="en-US" altLang="zh-CN" sz="30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7 </a:t>
                </a:r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求由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3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5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7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9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五个数字组成的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位数的个数，要求其中</a:t>
                </a:r>
                <a14:m>
                  <m:oMath xmlns:m="http://schemas.openxmlformats.org/officeDocument/2006/math">
                    <m:r>
                      <a:rPr lang="en-US" altLang="zh-CN" sz="3000" i="1" kern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3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 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  <a:cs typeface="Times New Roman" pitchFamily="18" charset="0"/>
                      </a:rPr>
                      <m:t>7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出现的次数为偶数，其他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  <a:cs typeface="Times New Roman" pitchFamily="18" charset="0"/>
                      </a:rPr>
                      <m:t>5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  <a:cs typeface="Times New Roman" pitchFamily="18" charset="0"/>
                      </a:rPr>
                      <m:t>9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出现次数不加限制。</a:t>
                </a:r>
                <a:endParaRPr kumimoji="1" lang="en-US" altLang="zh-CN" sz="3000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设满足上述条件的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位数个数为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，则其对应的指数型母函数为：</a:t>
                </a:r>
                <a:endParaRPr kumimoji="1" lang="en-US" altLang="zh-CN" sz="3000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2!</m:t>
                                  </m:r>
                                </m:den>
                              </m:f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4!</m:t>
                                  </m:r>
                                </m:den>
                              </m:f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+⋯</m:t>
                              </m:r>
                            </m:e>
                          </m:d>
                        </m:e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altLang="zh-CN" sz="3000" i="1" ker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000" i="1" ker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sz="3000" i="1" ker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1!</m:t>
                                  </m:r>
                                </m:den>
                              </m:f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2!</m:t>
                                  </m:r>
                                </m:den>
                              </m:f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3!</m:t>
                                  </m:r>
                                </m:den>
                              </m:f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+⋯</m:t>
                              </m:r>
                            </m:e>
                          </m:d>
                        </m:e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3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kumimoji="1" lang="en-US" altLang="zh-CN" sz="3000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kumimoji="1"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</p:txBody>
          </p:sp>
        </mc:Choice>
        <mc:Fallback>
          <p:sp>
            <p:nvSpPr>
              <p:cNvPr id="45059" name="Rectangle 2">
                <a:extLst>
                  <a:ext uri="{FF2B5EF4-FFF2-40B4-BE49-F238E27FC236}">
                    <a16:creationId xmlns:a16="http://schemas.microsoft.com/office/drawing/2014/main" id="{5C96FC0E-3A82-BA61-C9A6-6EB2DD7BB4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917" y="921289"/>
                <a:ext cx="8305800" cy="5584286"/>
              </a:xfrm>
              <a:prstGeom prst="rect">
                <a:avLst/>
              </a:prstGeom>
              <a:blipFill>
                <a:blip r:embed="rId2"/>
                <a:stretch>
                  <a:fillRect l="-1762" t="-1747" r="-11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B71870F-3B76-BD25-7F98-E32BB3D61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5917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指数母函数（续）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A6EC7026-C6DE-B5C0-51FC-5FCF06CFF9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685800"/>
                <a:ext cx="8305800" cy="6179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例子</a:t>
                </a:r>
                <a:r>
                  <a:rPr kumimoji="1" lang="en-US" altLang="zh-CN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7</a:t>
                </a:r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（续）</a:t>
                </a:r>
                <a:r>
                  <a:rPr kumimoji="1" lang="en-US" altLang="zh-CN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 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+2+</m:t>
                          </m:r>
                          <m:sSup>
                            <m:sSup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zh-CN" sz="3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altLang="zh-CN" sz="3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  <m:sup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  <m:sSup>
                            <m:sSup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+2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sup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3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3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+2∙</m:t>
                              </m:r>
                              <m:sSup>
                                <m:sSup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f>
                            <m:f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kumimoji="1" lang="en-US" altLang="zh-CN" sz="3000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kumimoji="1" lang="zh-CN" altLang="en-US" sz="3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因此，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+2∙</m:t>
                        </m:r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。</a:t>
                </a:r>
                <a:endParaRPr kumimoji="1" lang="en-US" altLang="zh-CN" sz="3000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A6EC7026-C6DE-B5C0-51FC-5FCF06CFF9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685800"/>
                <a:ext cx="8305800" cy="6179192"/>
              </a:xfrm>
              <a:prstGeom prst="rect">
                <a:avLst/>
              </a:prstGeom>
              <a:blipFill>
                <a:blip r:embed="rId3"/>
                <a:stretch>
                  <a:fillRect l="-1687" t="-15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06D6212-7B63-2A74-3E59-BDAE7F0AF8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2286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指数母函数（续）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31" name="Rectangle 2">
                <a:extLst>
                  <a:ext uri="{FF2B5EF4-FFF2-40B4-BE49-F238E27FC236}">
                    <a16:creationId xmlns:a16="http://schemas.microsoft.com/office/drawing/2014/main" id="{387E4781-3ABA-09AE-D07F-C8A14B552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300" y="874713"/>
                <a:ext cx="8661400" cy="4812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例子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8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个有区别的球放进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4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个有标志的盒子里，要求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两个盒子必须有偶数个球，第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3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个盒子有奇数个球，求不同的方案个数。</a:t>
                </a:r>
                <a:endPara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这相当于从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这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4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个数中取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7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个做允许重复的排列，即每个数字对应于每个球所放的盒子的序号。这样的排列数所对应的指数型母函数为：</a:t>
                </a:r>
                <a:endPara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2!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4!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+⋯</m:t>
                            </m:r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1!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3!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+⋯</m:t>
                        </m:r>
                      </m:e>
                    </m:d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1!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2!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+⋯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dirty="0"/>
                  <a:t>。</a:t>
                </a:r>
                <a:endParaRPr lang="zh-CN" altLang="zh-CN" dirty="0"/>
              </a:p>
            </p:txBody>
          </p:sp>
        </mc:Choice>
        <mc:Fallback xmlns="">
          <p:sp>
            <p:nvSpPr>
              <p:cNvPr id="48131" name="Rectangle 2">
                <a:extLst>
                  <a:ext uri="{FF2B5EF4-FFF2-40B4-BE49-F238E27FC236}">
                    <a16:creationId xmlns:a16="http://schemas.microsoft.com/office/drawing/2014/main" id="{387E4781-3ABA-09AE-D07F-C8A14B5522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300" y="874713"/>
                <a:ext cx="8661400" cy="4812408"/>
              </a:xfrm>
              <a:prstGeom prst="rect">
                <a:avLst/>
              </a:prstGeom>
              <a:blipFill>
                <a:blip r:embed="rId2"/>
                <a:stretch>
                  <a:fillRect l="-1831" t="-2152" r="-64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CFDB2027-B47C-641A-544F-66690F596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84" y="373811"/>
            <a:ext cx="4377906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指数母函数（续）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658CAF44-4203-C53C-6076-B0AFA19B1D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094" y="983411"/>
                <a:ext cx="8661400" cy="5193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例子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8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（续）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+mn-ea"/>
                    <a:ea typeface="+mn-ea"/>
                    <a:cs typeface="Tahoma" panose="020B0604030504040204" pitchFamily="34" charset="0"/>
                  </a:rPr>
                  <a:t> 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4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−1+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−1+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naryPr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∞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4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(−2)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+mn-ea"/>
                                        </a:rPr>
                                        <m:t>𝑛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𝑛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!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  <a:ea typeface="+mn-ea"/>
                        </a:rPr>
                        <m:t>，</m:t>
                      </m:r>
                    </m:oMath>
                  </m:oMathPara>
                </a14:m>
                <a:endParaRPr lang="en-US" altLang="zh-CN" dirty="0">
                  <a:latin typeface="+mn-ea"/>
                  <a:ea typeface="+mn-ea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zh-CN" altLang="en-US" dirty="0">
                    <a:latin typeface="+mn-ea"/>
                    <a:ea typeface="+mn-ea"/>
                  </a:rPr>
                  <a:t>因此，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(−2)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  <a:ea typeface="+mn-ea"/>
                        </a:rPr>
                        <m:t>，</m:t>
                      </m:r>
                    </m:oMath>
                  </m:oMathPara>
                </a14:m>
                <a:endParaRPr lang="zh-CN" altLang="zh-CN" dirty="0">
                  <a:latin typeface="+mn-ea"/>
                  <a:ea typeface="+mn-ea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7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7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7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(−2)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+mn-ea"/>
                                </a:rPr>
                                <m:t>7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+mn-ea"/>
                        </a:rPr>
                        <m:t>=2080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+mn-ea"/>
                        </a:rPr>
                        <m:t>。</m:t>
                      </m:r>
                    </m:oMath>
                  </m:oMathPara>
                </a14:m>
                <a:endParaRPr lang="zh-CN" altLang="zh-CN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658CAF44-4203-C53C-6076-B0AFA19B1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094" y="983411"/>
                <a:ext cx="8661400" cy="5193025"/>
              </a:xfrm>
              <a:prstGeom prst="rect">
                <a:avLst/>
              </a:prstGeom>
              <a:blipFill>
                <a:blip r:embed="rId3"/>
                <a:stretch>
                  <a:fillRect l="-1830" t="-15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EF34DB7A-C65D-D2ED-3819-00C22E6E7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指数母函数（续）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03" name="Rectangle 2">
                <a:extLst>
                  <a:ext uri="{FF2B5EF4-FFF2-40B4-BE49-F238E27FC236}">
                    <a16:creationId xmlns:a16="http://schemas.microsoft.com/office/drawing/2014/main" id="{001A9FA3-5AEC-D26E-6E24-A0A7346B1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100" y="914400"/>
                <a:ext cx="8305800" cy="52110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例子</a:t>
                </a:r>
                <a:r>
                  <a:rPr kumimoji="1"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9</a:t>
                </a:r>
                <a:r>
                  <a:rPr kumimoji="1"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𝑟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个有标志的球放进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𝑛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个不同的盒子里，要求无一空盒，问有多少种不同的分配方案？</a:t>
                </a:r>
                <a:endPara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这相当于从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到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𝑛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这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𝑛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个数字中取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ahoma" panose="020B0604030504040204" pitchFamily="34" charset="0"/>
                      </a:rPr>
                      <m:t>𝑟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个做允许重复的排列，即每个数字对应于每个球所放的盒子的序号。这样的排列数所对应的指数型母函数为：</a:t>
                </a:r>
                <a:endPara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  <a:cs typeface="Tahoma" panose="020B0604030504040204" pitchFamily="34" charset="0"/>
                </a:endParaRPr>
              </a:p>
              <a:p>
                <a:pPr eaLnBrk="1" hangingPunct="1"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1!</m:t>
                                  </m:r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2!</m:t>
                                  </m:r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3!</m:t>
                                  </m:r>
                                </m:den>
                              </m:f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+⋯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i="1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altLang="zh-CN" dirty="0"/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要求无一空盒即相当于要求每个数字至少出现一次。</a:t>
                </a:r>
              </a:p>
            </p:txBody>
          </p:sp>
        </mc:Choice>
        <mc:Fallback xmlns="">
          <p:sp>
            <p:nvSpPr>
              <p:cNvPr id="51203" name="Rectangle 2">
                <a:extLst>
                  <a:ext uri="{FF2B5EF4-FFF2-40B4-BE49-F238E27FC236}">
                    <a16:creationId xmlns:a16="http://schemas.microsoft.com/office/drawing/2014/main" id="{001A9FA3-5AEC-D26E-6E24-A0A7346B10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" y="914400"/>
                <a:ext cx="8305800" cy="5211042"/>
              </a:xfrm>
              <a:prstGeom prst="rect">
                <a:avLst/>
              </a:prstGeom>
              <a:blipFill>
                <a:blip r:embed="rId3"/>
                <a:stretch>
                  <a:fillRect l="-1909" t="-1988" r="-1909" b="-24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0C9BBE6C-5E7B-A703-F3AF-FE02C8D62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指数母函数（续）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D23F1FAE-2D3C-7AFC-D760-F8DE4C76B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100" y="762000"/>
                <a:ext cx="8305800" cy="56418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例子</a:t>
                </a:r>
                <a:r>
                  <a:rPr kumimoji="1"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9</a:t>
                </a:r>
                <a:r>
                  <a:rPr kumimoji="1"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（续）</a:t>
                </a:r>
                <a:r>
                  <a:rPr kumimoji="1"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ahoma" panose="020B0604030504040204" pitchFamily="34" charset="0"/>
                  </a:rPr>
                  <a:t> </a:t>
                </a:r>
              </a:p>
              <a:p>
                <a:pPr eaLnBrk="1" hangingPunct="1"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zh-CN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CN" sz="28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nary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  <m:sSup>
                                    <m:sSupPr>
                                      <m:ctrlPr>
                                        <a:rPr lang="zh-CN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zh-CN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nary>
                      <m:f>
                        <m:f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en-US" altLang="zh-CN" sz="2800" dirty="0"/>
              </a:p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zh-CN" altLang="en-US" sz="2800" dirty="0"/>
                  <a:t>因此，</a:t>
                </a:r>
                <a:endParaRPr lang="en-US" altLang="zh-CN" sz="2800" dirty="0"/>
              </a:p>
              <a:p>
                <a:pPr eaLnBrk="1" hangingPunct="1"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。</m:t>
                      </m:r>
                    </m:oMath>
                  </m:oMathPara>
                </a14:m>
                <a:endParaRPr lang="zh-CN" altLang="zh-CN" sz="2800" dirty="0"/>
              </a:p>
            </p:txBody>
          </p:sp>
        </mc:Choice>
        <mc:Fallback xmlns="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D23F1FAE-2D3C-7AFC-D760-F8DE4C76B9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" y="762000"/>
                <a:ext cx="8305800" cy="5641801"/>
              </a:xfrm>
              <a:prstGeom prst="rect">
                <a:avLst/>
              </a:prstGeom>
              <a:blipFill>
                <a:blip r:embed="rId2"/>
                <a:stretch>
                  <a:fillRect l="-1542" t="-14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A8E084CE-23DF-E67F-CD16-E5BF661160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3 </a:t>
            </a:r>
            <a:r>
              <a:rPr lang="zh-CN" altLang="en-US" dirty="0"/>
              <a:t>组合数学在密码学中的应用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4">
                <a:extLst>
                  <a:ext uri="{FF2B5EF4-FFF2-40B4-BE49-F238E27FC236}">
                    <a16:creationId xmlns:a16="http://schemas.microsoft.com/office/drawing/2014/main" id="{EEE5F69E-ED1D-F3BC-4CA1-18A0384A0B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" y="952500"/>
                <a:ext cx="8611639" cy="49530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447675" indent="-447675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itchFamily="2" charset="2"/>
                  <a:buChar char="Ø"/>
                  <a:defRPr kumimoji="1" sz="32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1pPr>
                <a:lvl2pPr marL="889000" indent="-439738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Font typeface="Wingdings 2" pitchFamily="18" charset="2"/>
                  <a:buBlip>
                    <a:blip r:embed="rId3"/>
                  </a:buBlip>
                  <a:defRPr kumimoji="1" sz="28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2pPr>
                <a:lvl3pPr marL="1293813" indent="-403225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5000"/>
                  <a:buFont typeface="Wingdings" pitchFamily="2" charset="2"/>
                  <a:buChar char="l"/>
                  <a:defRPr kumimoji="1" sz="24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3pPr>
                <a:lvl4pPr marL="1681163" indent="-385763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0000"/>
                  <a:buFont typeface="Wingdings" pitchFamily="2" charset="2"/>
                  <a:buChar char="u"/>
                  <a:defRPr kumimoji="1" sz="20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4pPr>
                <a:lvl5pPr marL="2070100" indent="-3873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Font typeface="Wingdings 2" pitchFamily="18" charset="2"/>
                  <a:buChar char="ò"/>
                  <a:defRPr kumimoji="1" sz="20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5pPr>
                <a:lvl6pPr marL="25273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845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417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989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zh-CN" altLang="en-US" sz="3000" b="1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密码</a:t>
                </a:r>
                <a:r>
                  <a:rPr lang="en-US" altLang="zh-CN" sz="3000" b="1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Hash</a:t>
                </a:r>
                <a:r>
                  <a:rPr lang="zh-CN" altLang="en-US" sz="3000" b="1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函数及其组合基础</a:t>
                </a:r>
                <a:endParaRPr lang="en-US" altLang="zh-CN" sz="3000" b="1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Wingdings" pitchFamily="2" charset="2"/>
                  <a:buNone/>
                </a:pPr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𝑥</m:t>
                    </m:r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30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30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0</m:t>
                            </m:r>
                            <m:r>
                              <a:rPr lang="zh-CN" altLang="en-US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，</m:t>
                            </m:r>
                            <m:r>
                              <a:rPr lang="en-US" altLang="zh-CN" sz="3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zh-CN" altLang="en-US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30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𝑦</m:t>
                    </m:r>
                    <m:r>
                      <a:rPr lang="en-US" altLang="zh-CN" sz="30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=</m:t>
                    </m:r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30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30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30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0</m:t>
                            </m:r>
                            <m:r>
                              <a:rPr lang="zh-CN" altLang="en-US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，</m:t>
                            </m:r>
                            <m:r>
                              <a:rPr lang="en-US" altLang="zh-CN" sz="3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altLang="zh-CN" sz="3000" b="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，满足</a:t>
                </a:r>
                <a:endParaRPr lang="en-US" altLang="zh-CN" sz="30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457200" indent="-45720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+mj-lt"/>
                  <a:buAutoNum type="arabicPeriod"/>
                </a:pPr>
                <a:r>
                  <a:rPr lang="zh-CN" altLang="en-US" sz="3000" kern="0" dirty="0">
                    <a:solidFill>
                      <a:srgbClr val="FF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单向性（抗原像攻击）</a:t>
                </a:r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：给定输出</a:t>
                </a:r>
                <a14:m>
                  <m:oMath xmlns:m="http://schemas.openxmlformats.org/officeDocument/2006/math">
                    <m:r>
                      <a:rPr lang="en-US" altLang="zh-CN" sz="30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𝑦</m:t>
                    </m:r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，计算输入</a:t>
                </a:r>
                <a14:m>
                  <m:oMath xmlns:m="http://schemas.openxmlformats.org/officeDocument/2006/math">
                    <m:r>
                      <a:rPr lang="en-US" altLang="zh-CN" sz="30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30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𝑦</m:t>
                    </m:r>
                    <m:r>
                      <a:rPr lang="en-US" altLang="zh-CN" sz="3000" b="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=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是困难的。</a:t>
                </a:r>
                <a:endParaRPr lang="en-US" altLang="zh-CN" sz="30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457200" indent="-45720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+mj-lt"/>
                  <a:buAutoNum type="arabicPeriod"/>
                </a:pPr>
                <a:r>
                  <a:rPr lang="zh-CN" altLang="en-US" sz="3000" kern="0" dirty="0">
                    <a:solidFill>
                      <a:srgbClr val="FF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弱抗碰撞性（抗第二原像攻击）</a:t>
                </a:r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：给定输入</a:t>
                </a:r>
                <a14:m>
                  <m:oMath xmlns:m="http://schemas.openxmlformats.org/officeDocument/2006/math">
                    <m:r>
                      <a:rPr lang="en-US" altLang="zh-CN" sz="3000" b="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𝑥</m:t>
                    </m:r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，计算另一输入</a:t>
                </a:r>
                <a14:m>
                  <m:oMath xmlns:m="http://schemas.openxmlformats.org/officeDocument/2006/math"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𝑥</m:t>
                    </m:r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′</m:t>
                    </m:r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3000" b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3000" b="0" i="1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3000" i="1" kern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3000" b="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=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是困难的。</a:t>
                </a:r>
                <a:endParaRPr lang="en-US" altLang="zh-CN" sz="3000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457200" indent="-45720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rgbClr val="000000"/>
                  </a:buClr>
                  <a:buFont typeface="+mj-lt"/>
                  <a:buAutoNum type="arabicPeriod"/>
                </a:pPr>
                <a:r>
                  <a:rPr lang="zh-CN" altLang="en-US" sz="3000" kern="0" dirty="0">
                    <a:solidFill>
                      <a:srgbClr val="FF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强抗碰撞性（抗碰撞攻击）</a:t>
                </a:r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：寻找两个不同输入</a:t>
                </a:r>
                <a14:m>
                  <m:oMath xmlns:m="http://schemas.openxmlformats.org/officeDocument/2006/math">
                    <m:r>
                      <a:rPr lang="en-US" altLang="zh-CN" sz="3000" b="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𝑥</m:t>
                    </m:r>
                    <m:r>
                      <a:rPr lang="zh-CN" altLang="en-US" sz="300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，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𝑥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′</m:t>
                    </m:r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3000" b="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3000" b="0" i="1" ker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3000" b="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=</m:t>
                    </m:r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30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3000" b="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b="0" i="1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3000" kern="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是困难的。</a:t>
                </a:r>
              </a:p>
            </p:txBody>
          </p:sp>
        </mc:Choice>
        <mc:Fallback xmlns="">
          <p:sp>
            <p:nvSpPr>
              <p:cNvPr id="2" name="Rectangle 4">
                <a:extLst>
                  <a:ext uri="{FF2B5EF4-FFF2-40B4-BE49-F238E27FC236}">
                    <a16:creationId xmlns:a16="http://schemas.microsoft.com/office/drawing/2014/main" id="{EEE5F69E-ED1D-F3BC-4CA1-18A0384A0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52500"/>
                <a:ext cx="8611639" cy="4953000"/>
              </a:xfrm>
              <a:prstGeom prst="rect">
                <a:avLst/>
              </a:prstGeom>
              <a:blipFill>
                <a:blip r:embed="rId4"/>
                <a:stretch>
                  <a:fillRect l="-1700" t="-861" r="-609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1842983B-C0FC-07CB-7F62-30FB4D45A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3 </a:t>
            </a:r>
            <a:r>
              <a:rPr lang="zh-CN" altLang="en-US" dirty="0"/>
              <a:t>组合数学在密码学中的应用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BE6BE1C-2A3B-DAD0-AC71-776849235983}"/>
                  </a:ext>
                </a:extLst>
              </p:cNvPr>
              <p:cNvSpPr txBox="1"/>
              <p:nvPr/>
            </p:nvSpPr>
            <p:spPr>
              <a:xfrm>
                <a:off x="265611" y="947057"/>
                <a:ext cx="8648700" cy="38058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eaLnBrk="1">
                  <a:lnSpc>
                    <a:spcPct val="125000"/>
                  </a:lnSpc>
                  <a:buNone/>
                </a:pPr>
                <a:r>
                  <a:rPr lang="zh-CN" altLang="zh-CN" sz="2800" b="1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例</a:t>
                </a:r>
                <a:r>
                  <a:rPr lang="zh-CN" altLang="en-US" sz="2800" b="1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子</a:t>
                </a:r>
                <a:r>
                  <a:rPr lang="en-US" altLang="zh-CN" sz="2800" b="1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10 </a:t>
                </a:r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已知</a:t>
                </a:r>
                <a:r>
                  <a:rPr lang="en-US" altLang="zh-CN" sz="2800" kern="100" dirty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Hash</a:t>
                </a:r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800" i="1" kern="100" dirty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的所有可能输出值为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800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个，即该</a:t>
                </a:r>
                <a:r>
                  <a:rPr lang="en-US" altLang="zh-CN" sz="2800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Hash</a:t>
                </a:r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函数的消息摘要为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比特，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是一个给定的输出值。如果对</a:t>
                </a:r>
                <a14:m>
                  <m:oMath xmlns:m="http://schemas.openxmlformats.org/officeDocument/2006/math">
                    <m:r>
                      <a:rPr lang="en-US" altLang="zh-CN" sz="28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随机地取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effectLst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个</a:t>
                </a:r>
                <a:r>
                  <a:rPr lang="zh-CN" altLang="en-US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不同</a:t>
                </a:r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输入，则至少有</a:t>
                </a:r>
                <a14:m>
                  <m:oMath xmlns:m="http://schemas.openxmlformats.org/officeDocument/2006/math">
                    <m:r>
                      <a:rPr lang="en-US" altLang="zh-CN" sz="2800" b="0" i="0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个输入值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0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的概率为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0.5</m:t>
                    </m:r>
                    <m:r>
                      <a:rPr lang="zh-CN" altLang="en-US" sz="28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800" kern="1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有多大？</a:t>
                </a:r>
              </a:p>
              <a:p>
                <a:pPr eaLnBrk="1">
                  <a:lnSpc>
                    <a:spcPct val="125000"/>
                  </a:lnSpc>
                  <a:buNone/>
                </a:pPr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因为</a:t>
                </a:r>
                <a:r>
                  <a:rPr lang="en-US" altLang="zh-CN" sz="2800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Hash</a:t>
                </a:r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8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8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个可能的输出，</a:t>
                </a:r>
                <a:r>
                  <a:rPr lang="zh-CN" altLang="en-US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如果每种输出等可能，</a:t>
                </a:r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输入值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产生的输出值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等于给定值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的概率为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zh-CN" altLang="zh-CN" sz="2800" i="1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，反过来讲，</a:t>
                </a:r>
                <a:r>
                  <a:rPr lang="en-US" altLang="zh-CN" sz="2800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的概率为</a:t>
                </a:r>
                <a14:m>
                  <m:oMath xmlns:m="http://schemas.openxmlformats.org/officeDocument/2006/math">
                    <m:r>
                      <a:rPr lang="en-US" altLang="zh-CN" sz="28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8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type m:val="skw"/>
                        <m:ctrlPr>
                          <a:rPr lang="zh-CN" altLang="zh-CN" sz="2800" i="1">
                            <a:effectLst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zh-CN" sz="2800" dirty="0">
                    <a:effectLst/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lang="zh-CN" altLang="en-US" sz="2800" dirty="0"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BE6BE1C-2A3B-DAD0-AC71-776849235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11" y="947057"/>
                <a:ext cx="8648700" cy="3805850"/>
              </a:xfrm>
              <a:prstGeom prst="rect">
                <a:avLst/>
              </a:prstGeom>
              <a:blipFill>
                <a:blip r:embed="rId3"/>
                <a:stretch>
                  <a:fillRect l="-1481" t="-640" r="-1481" b="-30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1210645-E90E-9FAB-A8CF-C53D340A81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3 </a:t>
            </a:r>
            <a:r>
              <a:rPr lang="zh-CN" altLang="en-US" dirty="0"/>
              <a:t>组合数学在密码学中的应用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E2FD2AA-0EF2-9AE2-F7CF-566BC2C804B1}"/>
                  </a:ext>
                </a:extLst>
              </p:cNvPr>
              <p:cNvSpPr txBox="1"/>
              <p:nvPr/>
            </p:nvSpPr>
            <p:spPr>
              <a:xfrm>
                <a:off x="215660" y="914400"/>
                <a:ext cx="8699740" cy="4750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5000"/>
                  </a:lnSpc>
                  <a:buNone/>
                </a:pPr>
                <a:r>
                  <a:rPr lang="zh-CN" altLang="zh-CN" sz="28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例</a:t>
                </a:r>
                <a:r>
                  <a:rPr lang="zh-CN" altLang="en-US" sz="2800" kern="1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子</a:t>
                </a:r>
                <a:r>
                  <a:rPr lang="en-US" altLang="zh-CN" sz="2800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zh-CN" altLang="en-US" sz="2800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（续）</a:t>
                </a:r>
                <a14:m>
                  <m:oMath xmlns:m="http://schemas.openxmlformats.org/officeDocument/2006/math">
                    <m:r>
                      <a:rPr lang="en-US" altLang="zh-CN" sz="28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值输入取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个随机值而函数</a:t>
                </a:r>
                <a14:m>
                  <m:oMath xmlns:m="http://schemas.openxmlformats.org/officeDocument/2006/math">
                    <m:r>
                      <a:rPr lang="en-US" altLang="zh-CN" sz="2800" i="1" kern="1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个输出值中没有一个等于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，其概率等于每个输出都不等于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的概率之积，即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skw"/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，因此</a:t>
                </a:r>
                <a:r>
                  <a:rPr lang="zh-CN" altLang="en-US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个随</a:t>
                </a:r>
                <a:r>
                  <a:rPr lang="zh-CN" altLang="en-US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机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值得到函数的</a:t>
                </a:r>
                <a14:m>
                  <m:oMath xmlns:m="http://schemas.openxmlformats.org/officeDocument/2006/math">
                    <m:r>
                      <a:rPr lang="en-US" altLang="zh-CN" sz="28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个输出值中至少有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个等于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的概率为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skw"/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。注意到当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充分小时</a:t>
                </a:r>
                <a:r>
                  <a:rPr lang="zh-CN" altLang="en-US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𝑎𝑘</m:t>
                    </m:r>
                  </m:oMath>
                </a14:m>
                <a:r>
                  <a:rPr lang="zh-CN" altLang="en-US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故</a:t>
                </a:r>
                <a:endParaRPr lang="en-US" altLang="zh-CN" sz="2800" kern="1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1−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altLang="en-US" sz="2800" kern="1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800" kern="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buNone/>
                </a:pPr>
                <a:r>
                  <a:rPr lang="zh-CN" altLang="en-US" sz="28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因此，</a:t>
                </a:r>
                <a:r>
                  <a:rPr lang="zh-CN" altLang="zh-CN" sz="28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若使上述概率等于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0.5</m:t>
                    </m:r>
                  </m:oMath>
                </a14:m>
                <a:r>
                  <a:rPr lang="zh-CN" altLang="zh-CN" sz="28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28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800" b="0" i="0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zh-CN" altLang="zh-CN" sz="28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altLang="zh-CN" sz="28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8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sz="28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800" kern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800" kern="1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E2FD2AA-0EF2-9AE2-F7CF-566BC2C80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60" y="914400"/>
                <a:ext cx="8699740" cy="4750596"/>
              </a:xfrm>
              <a:prstGeom prst="rect">
                <a:avLst/>
              </a:prstGeom>
              <a:blipFill>
                <a:blip r:embed="rId3"/>
                <a:stretch>
                  <a:fillRect l="-1401" t="-513" r="-1401" b="-2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F39153EF-55DC-6CD1-729C-A6462F25A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3 </a:t>
            </a:r>
            <a:r>
              <a:rPr lang="zh-CN" altLang="en-US" dirty="0"/>
              <a:t>组合数学在密码学中的应用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20" name="Rectangle 5">
                <a:extLst>
                  <a:ext uri="{FF2B5EF4-FFF2-40B4-BE49-F238E27FC236}">
                    <a16:creationId xmlns:a16="http://schemas.microsoft.com/office/drawing/2014/main" id="{69A1FF49-574E-0DF2-43DF-209E09776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596" y="879894"/>
                <a:ext cx="8416925" cy="54216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5000"/>
                  </a:lnSpc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latin typeface="+mn-ea"/>
                    <a:ea typeface="+mn-ea"/>
                  </a:rPr>
                  <a:t>例子</a:t>
                </a:r>
                <a:r>
                  <a:rPr lang="en-US" altLang="zh-CN" sz="2800" b="1" dirty="0">
                    <a:latin typeface="+mn-ea"/>
                    <a:ea typeface="+mn-ea"/>
                  </a:rPr>
                  <a:t>11 </a:t>
                </a:r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已知</a:t>
                </a:r>
                <a:r>
                  <a:rPr lang="en-US" altLang="zh-CN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Hash</a:t>
                </a:r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+mn-ea"/>
                      </a:rPr>
                      <m:t>𝐻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的所有可能输出值为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个，即该</a:t>
                </a:r>
                <a:r>
                  <a:rPr lang="en-US" altLang="zh-CN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Hash</a:t>
                </a:r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函数的消息摘要为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比特</a:t>
                </a:r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。如果对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随机地取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个输入，则至少有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个输入值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的概率为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.5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</a:rPr>
                  <a:t>有多大？</a:t>
                </a:r>
              </a:p>
              <a:p>
                <a:pPr eaLnBrk="1" hangingPunct="1">
                  <a:lnSpc>
                    <a:spcPct val="125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  <a:ea typeface="+mn-ea"/>
                      </a:rPr>
                      <m:t>𝑃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个随机输入中至少有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个的输出值相同的概率，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个随机输入中任意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个的输出值</a:t>
                </a:r>
                <a:r>
                  <a:rPr lang="zh-CN" altLang="en-US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都不</a:t>
                </a:r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相同的概率，则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。下面计算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个随机输入中至少有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个的输出值相同，这时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800" dirty="0">
                    <a:latin typeface="Cambria Math" panose="02040503050406030204" pitchFamily="18" charset="0"/>
                    <a:ea typeface="+mn-ea"/>
                    <a:cs typeface="Times New Roman" panose="02020603050405020304" pitchFamily="18" charset="0"/>
                  </a:rPr>
                  <a:t>。</a:t>
                </a:r>
                <a:endParaRPr kumimoji="1" lang="zh-CN" altLang="en-US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0420" name="Rectangle 5">
                <a:extLst>
                  <a:ext uri="{FF2B5EF4-FFF2-40B4-BE49-F238E27FC236}">
                    <a16:creationId xmlns:a16="http://schemas.microsoft.com/office/drawing/2014/main" id="{69A1FF49-574E-0DF2-43DF-209E09776C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596" y="879894"/>
                <a:ext cx="8416925" cy="5421612"/>
              </a:xfrm>
              <a:prstGeom prst="rect">
                <a:avLst/>
              </a:prstGeom>
              <a:blipFill>
                <a:blip r:embed="rId3"/>
                <a:stretch>
                  <a:fillRect l="-1522" t="-449" r="-942" b="-179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C669C0EA-E2BA-E7F8-0EED-1D32E49BC9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3 </a:t>
            </a:r>
            <a:r>
              <a:rPr lang="zh-CN" altLang="en-US" dirty="0"/>
              <a:t>组合数学在密码学中的应用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5">
                <a:extLst>
                  <a:ext uri="{FF2B5EF4-FFF2-40B4-BE49-F238E27FC236}">
                    <a16:creationId xmlns:a16="http://schemas.microsoft.com/office/drawing/2014/main" id="{ECB1453C-D1AE-A4EF-F41A-35966914D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083" y="914400"/>
                <a:ext cx="8893834" cy="58369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None/>
                </a:pPr>
                <a:r>
                  <a:rPr lang="zh-CN" altLang="en-US" sz="3000" dirty="0">
                    <a:latin typeface="+mn-ea"/>
                    <a:ea typeface="+mn-ea"/>
                  </a:rPr>
                  <a:t>例子</a:t>
                </a:r>
                <a:r>
                  <a:rPr lang="en-US" altLang="zh-CN" sz="3000" dirty="0">
                    <a:latin typeface="+mn-ea"/>
                    <a:ea typeface="+mn-ea"/>
                  </a:rPr>
                  <a:t>11</a:t>
                </a:r>
                <a:r>
                  <a:rPr lang="zh-CN" altLang="en-US" sz="3000" dirty="0">
                    <a:latin typeface="+mn-ea"/>
                    <a:ea typeface="+mn-ea"/>
                  </a:rPr>
                  <a:t>（续）</a:t>
                </a:r>
                <a:endParaRPr lang="en-US" altLang="zh-CN" sz="3000" dirty="0">
                  <a:latin typeface="+mn-ea"/>
                  <a:ea typeface="+mn-ea"/>
                </a:endParaRPr>
              </a:p>
              <a:p>
                <a:pPr>
                  <a:buNone/>
                </a:pPr>
                <a:r>
                  <a:rPr lang="zh-CN" altLang="zh-CN" sz="30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3000" dirty="0"/>
                  <a:t>时，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sz="3000" dirty="0"/>
                  <a:t>个随机输入中任意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sz="3000" dirty="0"/>
                  <a:t>个的输出值都不相同的所有取值方式的个数为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CN" sz="3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sz="3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</a:rPr>
                  <a:t>。</a:t>
                </a:r>
                <a:endParaRPr lang="zh-CN" altLang="zh-CN" sz="3000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:r>
                  <a:rPr lang="zh-CN" altLang="zh-CN" sz="3000" dirty="0"/>
                  <a:t>即第一个数据可以从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3000" dirty="0"/>
                  <a:t>个中任取一个，第二个数据项可在剩余的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sz="3000" dirty="0"/>
                  <a:t>个中任取一个，依次类推，最后一个数据项可以从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sz="3000" dirty="0"/>
                  <a:t>个值中任取一个。注意到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sz="3000" dirty="0"/>
                  <a:t>个随机输入的全部取值方式共有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zh-CN" sz="3000" dirty="0"/>
                  <a:t>，故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)=1−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sz="3000"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3000" dirty="0"/>
                  <a:t>。</a:t>
                </a:r>
                <a:endParaRPr lang="zh-CN" altLang="zh-CN" sz="3000" dirty="0"/>
              </a:p>
              <a:p>
                <a:pPr>
                  <a:buNone/>
                </a:pPr>
                <a:r>
                  <a:rPr lang="zh-CN" altLang="zh-CN" sz="3000" dirty="0"/>
                  <a:t>如果要求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)=0.5</m:t>
                    </m:r>
                  </m:oMath>
                </a14:m>
                <a:r>
                  <a:rPr lang="zh-CN" altLang="zh-CN" sz="3000" dirty="0"/>
                  <a:t>，可得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300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3000">
                        <a:latin typeface="Cambria Math" panose="02040503050406030204" pitchFamily="18" charset="0"/>
                      </a:rPr>
                      <m:t>1.18</m:t>
                    </m:r>
                    <m:rad>
                      <m:radPr>
                        <m:degHide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altLang="zh-CN" sz="3000"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zh-CN" altLang="zh-CN" sz="3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en-US" sz="3000" dirty="0"/>
                  <a:t>。</a:t>
                </a:r>
                <a:endParaRPr lang="zh-CN" altLang="zh-CN" sz="3000" dirty="0"/>
              </a:p>
            </p:txBody>
          </p:sp>
        </mc:Choice>
        <mc:Fallback xmlns="">
          <p:sp>
            <p:nvSpPr>
              <p:cNvPr id="2" name="Rectangle 5">
                <a:extLst>
                  <a:ext uri="{FF2B5EF4-FFF2-40B4-BE49-F238E27FC236}">
                    <a16:creationId xmlns:a16="http://schemas.microsoft.com/office/drawing/2014/main" id="{ECB1453C-D1AE-A4EF-F41A-35966914DD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083" y="914400"/>
                <a:ext cx="8893834" cy="5836983"/>
              </a:xfrm>
              <a:prstGeom prst="rect">
                <a:avLst/>
              </a:prstGeom>
              <a:blipFill>
                <a:blip r:embed="rId3"/>
                <a:stretch>
                  <a:fillRect l="-1646" t="-1357" r="-823" b="-125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5862CC38-7916-0441-5854-D4324B456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3 </a:t>
            </a:r>
            <a:r>
              <a:rPr lang="zh-CN" altLang="en-US" dirty="0"/>
              <a:t>组合数学在密码学中的应用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7CD7EED-5C46-8373-2905-26C7BD70FF9B}"/>
                  </a:ext>
                </a:extLst>
              </p:cNvPr>
              <p:cNvSpPr txBox="1"/>
              <p:nvPr/>
            </p:nvSpPr>
            <p:spPr>
              <a:xfrm>
                <a:off x="173761" y="914400"/>
                <a:ext cx="8964488" cy="4843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例子</a:t>
                </a:r>
                <a:r>
                  <a:rPr lang="en-US" altLang="zh-CN" sz="3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12</a:t>
                </a:r>
                <a:r>
                  <a:rPr lang="zh-CN" altLang="en-US" sz="3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（</a:t>
                </a:r>
                <a:r>
                  <a:rPr lang="zh-CN" altLang="en-US" sz="3200" b="1" dirty="0">
                    <a:solidFill>
                      <a:srgbClr val="FF0000"/>
                    </a:solidFill>
                    <a:latin typeface="+mn-ea"/>
                    <a:ea typeface="+mn-ea"/>
                  </a:rPr>
                  <a:t>生日悖论</a:t>
                </a:r>
                <a:r>
                  <a:rPr lang="zh-CN" altLang="en-US" sz="3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）</a:t>
                </a:r>
                <a:endPara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随机选择的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个成员的组里面，至少有两个人生日相同的概率至少为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0.5</m:t>
                    </m:r>
                  </m:oMath>
                </a14:m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。</a:t>
                </a:r>
                <a:endPara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事实上，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𝐻</m:t>
                    </m:r>
                    <m:d>
                      <m:dPr>
                        <m:ctrlPr>
                          <a:rPr lang="en-US" altLang="zh-CN" sz="32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</m:d>
                    <m:r>
                      <a:rPr lang="en-US" altLang="zh-CN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表示某人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r>
                      <a:rPr lang="en-US" altLang="zh-CN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的生日（设范围是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365</m:t>
                    </m:r>
                  </m:oMath>
                </a14:m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天），则生日相同表示找到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𝑥</m:t>
                    </m:r>
                    <m:r>
                      <a:rPr lang="zh-CN" altLang="en-US" sz="32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，</m:t>
                    </m:r>
                    <m:sSup>
                      <m:sSupPr>
                        <m:ctrlPr>
                          <a:rPr lang="en-US" altLang="zh-CN" sz="32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3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e>
                      <m:sup>
                        <m:r>
                          <a:rPr lang="en-US" altLang="zh-CN" sz="3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′</m:t>
                        </m:r>
                      </m:sup>
                    </m:sSup>
                    <m:r>
                      <a:rPr lang="en-US" altLang="zh-CN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碰撞。生日悖论说明了当选取</a:t>
                </a:r>
                <a14:m>
                  <m:oMath xmlns:m="http://schemas.openxmlformats.org/officeDocument/2006/math">
                    <m:r>
                      <a:rPr lang="en-US" altLang="zh-CN" sz="3200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zh-CN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lang="en-US" altLang="zh-CN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=1.18</m:t>
                    </m:r>
                    <m:rad>
                      <m:radPr>
                        <m:degHide m:val="on"/>
                        <m:ctrlPr>
                          <a:rPr lang="en-US" altLang="zh-CN" sz="32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radPr>
                      <m:deg/>
                      <m:e>
                        <m:r>
                          <a:rPr lang="en-US" altLang="zh-CN" sz="3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365</m:t>
                        </m:r>
                      </m:e>
                    </m:rad>
                    <m:r>
                      <a:rPr lang="en-US" altLang="zh-CN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+mn-ea"/>
                      </a:rPr>
                      <m:t>≈23 </m:t>
                    </m:r>
                  </m:oMath>
                </a14:m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个人时，至少有两个人生日相同的概率至少为</a:t>
                </a:r>
                <a14:m>
                  <m:oMath xmlns:m="http://schemas.openxmlformats.org/officeDocument/2006/math">
                    <m:r>
                      <a:rPr lang="en-US" altLang="zh-CN" sz="32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。</a:t>
                </a:r>
                <a:endPara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r>
                  <a:rPr lang="zh-CN" altLang="en-US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验证：</a:t>
                </a:r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(365，23)=1−</m:t>
                    </m:r>
                    <m:f>
                      <m:fPr>
                        <m:ctrlPr>
                          <a:rPr lang="zh-CN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365</m:t>
                        </m:r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zh-CN" altLang="zh-CN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365</m:t>
                            </m:r>
                            <m:r>
                              <a:rPr lang="en-US" altLang="zh-CN" sz="3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23</m:t>
                            </m:r>
                          </m:e>
                        </m:d>
                        <m:r>
                          <a:rPr lang="en-US" altLang="zh-CN" sz="3200">
                            <a:latin typeface="Cambria Math" panose="02040503050406030204" pitchFamily="18" charset="0"/>
                          </a:rPr>
                          <m:t>!</m:t>
                        </m:r>
                        <m:sSup>
                          <m:sSupPr>
                            <m:ctrlPr>
                              <a:rPr lang="zh-CN" altLang="zh-CN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365</m:t>
                            </m:r>
                          </m:e>
                          <m:sup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</m:den>
                    </m:f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≈0.507</m:t>
                    </m:r>
                    <m:r>
                      <a:rPr lang="zh-CN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7CD7EED-5C46-8373-2905-26C7BD70F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61" y="914400"/>
                <a:ext cx="8964488" cy="4843185"/>
              </a:xfrm>
              <a:prstGeom prst="rect">
                <a:avLst/>
              </a:prstGeom>
              <a:blipFill>
                <a:blip r:embed="rId3"/>
                <a:stretch>
                  <a:fillRect l="-1769" t="-1637" r="-1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F5FF76EF-3EA1-7578-D4E9-87B850E71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6934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3 </a:t>
            </a:r>
            <a:r>
              <a:rPr lang="zh-CN" altLang="en-US" dirty="0"/>
              <a:t>组合数学在密码学中的应用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4">
                <a:extLst>
                  <a:ext uri="{FF2B5EF4-FFF2-40B4-BE49-F238E27FC236}">
                    <a16:creationId xmlns:a16="http://schemas.microsoft.com/office/drawing/2014/main" id="{36D00A64-1CF1-43EE-CC88-6011227394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" y="990600"/>
                <a:ext cx="8292507" cy="2971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447675" indent="-447675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itchFamily="2" charset="2"/>
                  <a:buChar char="Ø"/>
                  <a:defRPr kumimoji="1" sz="32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1pPr>
                <a:lvl2pPr marL="889000" indent="-439738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Font typeface="Wingdings 2" pitchFamily="18" charset="2"/>
                  <a:buBlip>
                    <a:blip r:embed="rId3"/>
                  </a:buBlip>
                  <a:defRPr kumimoji="1" sz="28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2pPr>
                <a:lvl3pPr marL="1293813" indent="-403225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5000"/>
                  <a:buFont typeface="Wingdings" pitchFamily="2" charset="2"/>
                  <a:buChar char="l"/>
                  <a:defRPr kumimoji="1" sz="24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3pPr>
                <a:lvl4pPr marL="1681163" indent="-385763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70000"/>
                  <a:buFont typeface="Wingdings" pitchFamily="2" charset="2"/>
                  <a:buChar char="u"/>
                  <a:defRPr kumimoji="1" sz="20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4pPr>
                <a:lvl5pPr marL="2070100" indent="-3873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6699FF"/>
                  </a:buClr>
                  <a:buFont typeface="Wingdings 2" pitchFamily="18" charset="2"/>
                  <a:buChar char="ò"/>
                  <a:defRPr kumimoji="1" sz="2000">
                    <a:solidFill>
                      <a:srgbClr val="333399"/>
                    </a:solidFill>
                    <a:latin typeface="黑体" pitchFamily="2" charset="-122"/>
                    <a:ea typeface="黑体" pitchFamily="2" charset="-122"/>
                    <a:cs typeface="+mn-cs"/>
                  </a:defRPr>
                </a:lvl5pPr>
                <a:lvl6pPr marL="25273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845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417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98900" indent="-387350" algn="l" rtl="0" fontAlgn="base" latinLnBrk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0000"/>
                  <a:buFont typeface="Wingdings" pitchFamily="2" charset="2"/>
                  <a:buChar char="v"/>
                  <a:defRPr kumimoji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chemeClr val="tx1"/>
                  </a:buClr>
                  <a:buNone/>
                </a:pPr>
                <a:r>
                  <a:rPr lang="en-US" altLang="zh-CN" b="1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Hash</a:t>
                </a:r>
                <a:r>
                  <a:rPr lang="zh-CN" altLang="en-US" b="1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函数攻击复杂度分析</a:t>
                </a:r>
                <a:endParaRPr lang="en-US" altLang="zh-CN" b="1" kern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457200" indent="-45720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zh-CN" altLang="en-US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抗原像攻击</a:t>
                </a:r>
                <a:r>
                  <a:rPr lang="en-US" altLang="zh-CN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/</a:t>
                </a:r>
                <a:r>
                  <a:rPr lang="zh-CN" altLang="en-US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抗第二原像攻击：复杂度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。</a:t>
                </a:r>
                <a:endParaRPr lang="en-US" altLang="zh-CN" kern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 marL="457200" indent="-457200" eaLnBrk="1" hangingPunct="1">
                  <a:lnSpc>
                    <a:spcPct val="125000"/>
                  </a:lnSpc>
                  <a:spcBef>
                    <a:spcPct val="0"/>
                  </a:spcBef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zh-CN" altLang="en-US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抗碰撞攻击：复杂度</a:t>
                </a:r>
                <a14:m>
                  <m:oMath xmlns:m="http://schemas.openxmlformats.org/officeDocument/2006/math">
                    <m:r>
                      <a:rPr lang="en-US" altLang="zh-CN" b="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b="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Times New Roman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b="0" i="1" ker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𝑚</m:t>
                            </m:r>
                            <m:r>
                              <a:rPr lang="en-US" altLang="zh-CN" b="0" i="1" kern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itchFamily="2" charset="-122"/>
                                <a:cs typeface="Times New Roman" pitchFamily="18" charset="0"/>
                              </a:rPr>
                              <m:t>/2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kern="0" dirty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。</a:t>
                </a:r>
                <a:endParaRPr lang="en-US" altLang="zh-CN" kern="0" dirty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Rectangle 4">
                <a:extLst>
                  <a:ext uri="{FF2B5EF4-FFF2-40B4-BE49-F238E27FC236}">
                    <a16:creationId xmlns:a16="http://schemas.microsoft.com/office/drawing/2014/main" id="{36D00A64-1CF1-43EE-CC88-601122739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90600"/>
                <a:ext cx="8292507" cy="2971800"/>
              </a:xfrm>
              <a:prstGeom prst="rect">
                <a:avLst/>
              </a:prstGeom>
              <a:blipFill>
                <a:blip r:embed="rId4"/>
                <a:stretch>
                  <a:fillRect l="-1912" t="-143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40B9688-7CC7-9ABE-E245-088E6E66D2B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11473</TotalTime>
  <Words>2070</Words>
  <Application>Microsoft Office PowerPoint</Application>
  <PresentationFormat>全屏显示(4:3)</PresentationFormat>
  <Paragraphs>144</Paragraphs>
  <Slides>24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宋体</vt:lpstr>
      <vt:lpstr>Arial</vt:lpstr>
      <vt:lpstr>Calibri</vt:lpstr>
      <vt:lpstr>Cambria Math</vt:lpstr>
      <vt:lpstr>Tahoma</vt:lpstr>
      <vt:lpstr>Times New Roman</vt:lpstr>
      <vt:lpstr>Wingdings</vt:lpstr>
      <vt:lpstr>默认设计模板</vt:lpstr>
      <vt:lpstr>第十一讲 组合数学 下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512</cp:revision>
  <cp:lastPrinted>2026-04-14T16:21:04Z</cp:lastPrinted>
  <dcterms:created xsi:type="dcterms:W3CDTF">1601-01-01T00:00:00Z</dcterms:created>
  <dcterms:modified xsi:type="dcterms:W3CDTF">2026-04-15T09:28:26Z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