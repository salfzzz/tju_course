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93" r:id="rId4"/>
    <p:sldId id="298" r:id="rId5"/>
    <p:sldId id="300" r:id="rId6"/>
    <p:sldId id="299" r:id="rId7"/>
    <p:sldId id="301" r:id="rId8"/>
    <p:sldId id="303" r:id="rId9"/>
    <p:sldId id="304" r:id="rId10"/>
    <p:sldId id="305" r:id="rId11"/>
    <p:sldId id="306" r:id="rId12"/>
    <p:sldId id="295" r:id="rId13"/>
    <p:sldId id="268" r:id="rId14"/>
    <p:sldId id="289" r:id="rId15"/>
    <p:sldId id="302" r:id="rId16"/>
    <p:sldId id="264" r:id="rId17"/>
    <p:sldId id="307" r:id="rId18"/>
    <p:sldId id="309" r:id="rId19"/>
    <p:sldId id="310" r:id="rId20"/>
    <p:sldId id="311" r:id="rId21"/>
    <p:sldId id="312" r:id="rId22"/>
    <p:sldId id="314" r:id="rId23"/>
    <p:sldId id="316" r:id="rId24"/>
    <p:sldId id="315" r:id="rId25"/>
    <p:sldId id="263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94660"/>
  </p:normalViewPr>
  <p:slideViewPr>
    <p:cSldViewPr>
      <p:cViewPr varScale="1">
        <p:scale>
          <a:sx n="64" d="100"/>
          <a:sy n="64" d="100"/>
        </p:scale>
        <p:origin x="14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BB0F021-8007-8060-607B-58F28FFBCB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C908E5-2878-C745-5387-0F5FFA1125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7F3E2-145C-4D74-9D22-9F4263719D1C}" type="datetime1">
              <a:rPr lang="en-US" altLang="zh-CN" smtClean="0"/>
              <a:t>3/29/2026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4E5853-32C1-030C-DF9C-101D7B95E7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8B00E2-D1A1-8381-C42F-C65EAAE7E2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2B3CE-2438-49B0-8D17-2F534ACA5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19351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ED4FD87-D30A-17EE-1303-F95091F14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5EEDA-6AF3-299D-F003-2785844DDED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90E3ABF-4786-4FEB-A501-7624C076566B}" type="datetime1">
              <a:rPr lang="en-US" altLang="zh-CN" smtClean="0"/>
              <a:t>3/29/2026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A89171-BB2C-CF7C-AA69-99CF9B36C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AC0A3AD-3585-6544-BC2A-C5ADAF42D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E3D1F7-1248-D7D3-B5E2-67FFE2CDE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0438D-2F2B-CD40-77B4-C5B8027FB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050AC29-A045-4DA2-A55B-243E77BEA6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B84404-8B5A-AB83-2903-4EB5A175AD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3E0719-6CD5-F933-4CEC-421582EC5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E0932-89B2-9A3B-2494-6EBC5AD87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DC911-8DBE-4480-AAC8-2FA8C779B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14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EBA0F0-A99B-E598-15EC-E45FE1D3E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A0E4D1-A1D9-CD80-D72F-00D47AFBBF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B47B1F-D65E-1A14-A7E2-8AD243999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FA934-769A-42E7-8208-4829BFDA34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58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294093-7132-2CB1-CFA0-22D2FB776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E59FE8-CE27-2806-5ED0-D7560FA69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141F1C-CB36-8DD4-39AA-3C9F44714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76A54-BDAF-4FF3-B106-90421B9C10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6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21034-11D1-0EC9-B6FB-2D4CCFBADE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5874D-9AD4-6394-3C77-F40FDA62D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C9E25-4AD5-59A9-B66F-EFE7F9A282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4EBE9-7455-45BB-B754-185DB5F54E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258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70DC58-850F-43CA-890F-D53C4EB76C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F1F254-CB04-A0DB-F5F0-5C426DD55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C631A4-904C-7E9E-3B92-536F279E1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BAF82-22F1-4FAE-81B2-F633E9312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53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F327E7-69AE-4ED7-7EED-D4498084B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4C1B8F-961F-E65B-752C-0B13C79D6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6F17C56-63ED-0FE5-0417-70CE0E668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C740F-05C4-45DF-8B03-592C5EE223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12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2FE9A1-F6F2-2AC0-A661-CA6BC8728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011FDB-55B5-4C0A-E81B-577977200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FC5D82-F8C0-87A1-B518-B94AE5CB8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40783-5EFB-4975-9398-DCA244BA0D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68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0922E-8389-D489-2182-A480F1918C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72758-632F-6197-8BCC-CADD8C8AE7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A2B26-72D8-64FE-BFBA-5DF552D5E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77C6-A931-4E23-80C1-C9BDDFF9D6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6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4707A-4DC3-BFBB-E869-55997632DD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19486-E280-DF7D-02C7-8F2A211EC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92594-3DA9-ACC5-EF94-74B22E1FA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7435F-96E1-47C3-BDA2-AD56349BE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91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C69E7-C32A-6244-00FF-177EA5BF0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5EA121-A0DE-6346-C4AD-76AF0A4B1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0DADF-8296-2B46-4EE9-AF6360862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788-3E6A-44A5-BA82-57831FDC1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64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36EC6-9924-5DFD-A616-7E6B6D3B8E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45A28-0D53-AFF4-2D65-85DDBD13B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FD7544-D810-65A1-8356-EAEBA0BD3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D517B-AC23-4033-9BB6-C630B08C71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1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9E52A-81F7-72DD-D4B4-B58AD2DD1A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D9B2C-002A-3489-A4B0-F8DC91E52B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03C52-2EC7-9BCA-761E-609BBE65D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2E0CC-F736-4216-B758-882407BC1D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05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9B7EDD-F521-5697-2E79-2C759DE5F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EFBFFD-F822-CF76-26AA-C2A6D3A56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27C32E-75EA-608A-CC00-7FBA05CBCA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E0027D-5FD6-E564-404C-432A03C44A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B4A194-7BAD-3DCF-0050-4516BD8FE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441EA-BE0B-4AEF-83DB-ECC7EE98D7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7A4FAA-9825-2E62-E12C-33AB2745F1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第七讲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33E7AA-E31A-AD1B-86BE-1B9293C69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667DB4-1ABF-AB01-CECA-423EEF839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5105400" cy="83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zh-CN" altLang="en-US" sz="3600" dirty="0">
                <a:latin typeface="+mn-ea"/>
              </a:rPr>
              <a:t> 二次剩余（续）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34DEE70-7948-A53D-517C-F0C77547A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944" y="152400"/>
            <a:ext cx="4572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ADB3686-AB3F-B501-B716-5E642703B65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7170" y="838200"/>
                <a:ext cx="8905990" cy="41388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对于</a:t>
                </a:r>
                <a:r>
                  <a:rPr lang="zh-CN" altLang="zh-CN" dirty="0">
                    <a:latin typeface="+mn-ea"/>
                  </a:rPr>
                  <a:t>二次</a:t>
                </a:r>
                <a:r>
                  <a:rPr lang="zh-CN" altLang="en-US" dirty="0">
                    <a:latin typeface="+mn-ea"/>
                  </a:rPr>
                  <a:t>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zh-CN" altLang="zh-CN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为奇素数</a:t>
                </a:r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，  </a:t>
                </a:r>
                <a:r>
                  <a:rPr lang="en-US" altLang="zh-CN" dirty="0">
                    <a:latin typeface="+mn-ea"/>
                  </a:rPr>
                  <a:t>(1)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如果</a:t>
                </a:r>
                <a:r>
                  <a:rPr lang="en-US" altLang="zh-CN" dirty="0">
                    <a:latin typeface="+mn-ea"/>
                  </a:rPr>
                  <a:t>Legendre</a:t>
                </a:r>
                <a:r>
                  <a:rPr lang="zh-CN" altLang="en-US" dirty="0">
                    <a:latin typeface="+mn-ea"/>
                  </a:rPr>
                  <a:t>符号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zh-CN" altLang="en-US" dirty="0">
                    <a:latin typeface="+mn-ea"/>
                  </a:rPr>
                  <a:t>则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无解；如果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>
                    <a:latin typeface="+mn-ea"/>
                  </a:rPr>
                  <a:t>,</a:t>
                </a:r>
                <a:r>
                  <a:rPr lang="zh-CN" altLang="en-US" dirty="0">
                    <a:latin typeface="+mn-ea"/>
                  </a:rPr>
                  <a:t>则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有解。当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不太大时，求出解来比较容易。但是，当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很大时，求解确不是容易的事。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ADB3686-AB3F-B501-B716-5E642703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170" y="838200"/>
                <a:ext cx="8905990" cy="4138864"/>
              </a:xfrm>
              <a:prstGeom prst="rect">
                <a:avLst/>
              </a:prstGeom>
              <a:blipFill>
                <a:blip r:embed="rId2"/>
                <a:stretch>
                  <a:fillRect l="-1711" t="-19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17DA-9DC1-C20B-CF8E-2A5CAC81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E974E58-B240-51A9-2F0D-BD38FAC48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42C67BC-7A95-3EDD-F8CD-1474559F5FE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6147" y="834452"/>
                <a:ext cx="8446853" cy="495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的二次剩余，则有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≡3(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为式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的解；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≡5(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为式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的解；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≡5(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≡−1(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!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为式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的解。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42C67BC-7A95-3EDD-F8CD-1474559F5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147" y="834452"/>
                <a:ext cx="8446853" cy="4956748"/>
              </a:xfrm>
              <a:prstGeom prst="rect">
                <a:avLst/>
              </a:prstGeom>
              <a:blipFill>
                <a:blip r:embed="rId2"/>
                <a:stretch>
                  <a:fillRect l="-1876" t="-19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54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2FCD-399C-3333-48BC-2EB695AC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2C691BC-D418-B779-C0A0-C18C79C87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0E915AD-B4A0-9721-80C2-1B15D36B5DF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≡3(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lang="zh-CN" altLang="zh-CN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的二次剩余，由</a:t>
                </a:r>
                <a:r>
                  <a:rPr lang="zh-CN" altLang="en-US" dirty="0">
                    <a:latin typeface="+mn-ea"/>
                  </a:rPr>
                  <a:t>第</a:t>
                </a:r>
                <a:r>
                  <a:rPr lang="en-US" altLang="zh-CN" dirty="0">
                    <a:latin typeface="+mn-ea"/>
                  </a:rPr>
                  <a:t>5</a:t>
                </a:r>
                <a:r>
                  <a:rPr lang="zh-CN" altLang="en-US" dirty="0">
                    <a:latin typeface="+mn-ea"/>
                  </a:rPr>
                  <a:t>讲</a:t>
                </a:r>
                <a:r>
                  <a:rPr lang="zh-CN" altLang="zh-CN" dirty="0">
                    <a:latin typeface="+mn-ea"/>
                  </a:rPr>
                  <a:t>定理</a:t>
                </a:r>
                <a:r>
                  <a:rPr lang="en-US" altLang="zh-CN" dirty="0">
                    <a:latin typeface="+mn-ea"/>
                  </a:rPr>
                  <a:t>6</a:t>
                </a:r>
                <a:r>
                  <a:rPr lang="zh-CN" altLang="zh-CN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≡5(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r>
                  <a:rPr lang="zh-CN" altLang="zh-CN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的二次剩余，由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；</a:t>
                </a:r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0E915AD-B4A0-9721-80C2-1B15D36B5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blipFill>
                <a:blip r:embed="rId2"/>
                <a:stretch>
                  <a:fillRect l="-1804" t="-1350" r="-9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41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74CA8-0C18-64A3-377C-49416108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981134F-DE7F-C4A7-136B-243C692DE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936D13C-627F-DFBD-6AE8-BA010A5259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6147" y="834452"/>
                <a:ext cx="8446853" cy="5871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zh-CN" altLang="en-US" dirty="0">
                    <a:latin typeface="+mn-ea"/>
                  </a:rPr>
                  <a:t>（续）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≡−1(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时，由</a:t>
                </a:r>
                <a:r>
                  <a:rPr lang="en-US" altLang="zh-CN" dirty="0">
                    <a:latin typeface="+mn-ea"/>
                  </a:rPr>
                  <a:t>Wilson</a:t>
                </a:r>
                <a:r>
                  <a:rPr lang="zh-CN" altLang="zh-CN" dirty="0">
                    <a:latin typeface="+mn-ea"/>
                  </a:rPr>
                  <a:t>定理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!+1≡0(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−1≡1∙2∙⋯∙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∙⋯∙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，因此</a:t>
                </a:r>
                <a:r>
                  <a:rPr lang="zh-CN" altLang="en-US" dirty="0">
                    <a:latin typeface="+mn-ea"/>
                  </a:rPr>
                  <a:t>，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±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num>
                                  <m:den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936D13C-627F-DFBD-6AE8-BA010A525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147" y="834452"/>
                <a:ext cx="8446853" cy="5871148"/>
              </a:xfrm>
              <a:prstGeom prst="rect">
                <a:avLst/>
              </a:prstGeom>
              <a:blipFill>
                <a:blip r:embed="rId2"/>
                <a:stretch>
                  <a:fillRect l="-1876" t="-13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95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2F48DC-3A49-2D55-9B8B-CAB694E41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二次剩余的基本概念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6 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的二次剩余，则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              </m:t>
                    </m:r>
                    <m:sSup>
                      <m:sSupPr>
                        <m:ctrlPr>
                          <a:rPr lang="zh-CN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             (6) </a:t>
                </a:r>
                <a:endParaRPr lang="zh-CN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solidFill>
                      <a:srgbClr val="0070C0"/>
                    </a:solidFill>
                  </a:rPr>
                  <a:t>而如果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的二次非剩余，则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0070C0"/>
                    </a:solidFill>
                  </a:rPr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。</a:t>
                </a:r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            (7)</a:t>
                </a:r>
                <a:endParaRPr lang="zh-CN" altLang="zh-C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blipFill>
                <a:blip r:embed="rId2"/>
                <a:stretch>
                  <a:fillRect l="-1836" t="-2957" r="-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58C3-9803-3765-2170-6C1EDB8C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50547D1-4CD0-EABC-C96C-A14ABEA05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0CD01B8-7D64-85F8-F5A0-2620E8E6321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0473" y="838200"/>
                <a:ext cx="8523053" cy="41185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，则同余式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有解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±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latin typeface="+mn-ea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2∤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zh-CN" dirty="0">
                    <a:latin typeface="+mn-ea"/>
                  </a:rPr>
                  <a:t>是某个整数。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0CD01B8-7D64-85F8-F5A0-2620E8E6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473" y="838200"/>
                <a:ext cx="8523053" cy="4118548"/>
              </a:xfrm>
              <a:prstGeom prst="rect">
                <a:avLst/>
              </a:prstGeom>
              <a:blipFill>
                <a:blip r:embed="rId2"/>
                <a:stretch>
                  <a:fillRect l="-1860" r="-11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76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5CF71-E09D-CB94-C782-818E4AB1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F8D91F3-B057-74E6-FB21-716E2AD0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B168091-0C0C-E7CA-6C47-08814EE24EB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，可设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2∤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由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zh-CN" dirty="0"/>
                  <a:t>，我们得出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≡−1(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因此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下面的两个同余式有且只有一个成立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B168091-0C0C-E7CA-6C47-08814EE24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blipFill>
                <a:blip r:embed="rId2"/>
                <a:stretch>
                  <a:fillRect l="-1804" t="-1350" b="-45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811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222F-5407-FAA5-B8D5-E3AA0F3E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0B1058D-AFB3-0F96-CBB0-EF70FC1A0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A9DE5F0-8AC6-9B08-63C7-B639435D8E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sz="3000" dirty="0"/>
                  <a:t>故有非负整数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h𝑓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300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zh-CN" altLang="zh-CN" sz="3000" dirty="0"/>
                  <a:t>使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/>
                  <a:t>成立。</a:t>
                </a:r>
              </a:p>
              <a:p>
                <a:pPr marL="0" indent="0">
                  <a:buNone/>
                </a:pPr>
                <a:r>
                  <a:rPr lang="zh-CN" altLang="zh-CN" sz="3000" dirty="0"/>
                  <a:t>于是下面的两个同余式有且只有一个成立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3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/>
                  <a:t>，</a:t>
                </a:r>
                <a:endParaRPr lang="en-US" altLang="zh-CN" sz="3000" dirty="0"/>
              </a:p>
              <a:p>
                <a:pPr marL="0" indent="0">
                  <a:buNone/>
                </a:pPr>
                <a:r>
                  <a:rPr lang="zh-CN" altLang="zh-CN" sz="3000" dirty="0"/>
                  <a:t>故又有非负的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h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3000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zh-CN" altLang="zh-CN" sz="3000" dirty="0"/>
                  <a:t>满足下式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A9DE5F0-8AC6-9B08-63C7-B639435D8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blipFill>
                <a:blip r:embed="rId2"/>
                <a:stretch>
                  <a:fillRect l="-1659" t="-1350" r="-2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12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67D2-86D6-8BBF-DCD2-358C6960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3A4A777-3205-5614-039B-1AB209B3C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3" y="152400"/>
            <a:ext cx="5329237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86BFEBA-FF1F-2E48-45BC-25B4DF38FED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因为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是有限整数，</a:t>
                </a:r>
                <a:r>
                  <a:rPr lang="zh-CN" altLang="en-US" dirty="0"/>
                  <a:t>故</a:t>
                </a:r>
                <a:r>
                  <a:rPr lang="zh-CN" altLang="zh-CN" dirty="0"/>
                  <a:t>必有一非负的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dirty="0"/>
                  <a:t>使得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故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因此，有 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86BFEBA-FF1F-2E48-45BC-25B4DF38F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446853" cy="5871148"/>
              </a:xfrm>
              <a:prstGeom prst="rect">
                <a:avLst/>
              </a:prstGeom>
              <a:blipFill>
                <a:blip r:embed="rId2"/>
                <a:stretch>
                  <a:fillRect l="-1804" t="-13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21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9E935CE3-BFE8-6657-E40F-6F8CA441C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F511531-49DB-0E0D-88BF-41D4DD9FF5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446853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zh-CN" sz="3000" dirty="0"/>
                  <a:t>求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5(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</m:oMath>
                </a14:m>
                <a:r>
                  <a:rPr lang="zh-CN" altLang="zh-CN" sz="3000" dirty="0"/>
                  <a:t>的平方根。</a:t>
                </a:r>
              </a:p>
              <a:p>
                <a:pPr marL="0" indent="0">
                  <a:buNone/>
                </a:pPr>
                <a:r>
                  <a:rPr lang="zh-CN" altLang="en-US" sz="3000" dirty="0"/>
                  <a:t>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=5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</m:oMath>
                </a14:m>
                <a:r>
                  <a:rPr lang="zh-CN" altLang="en-US" sz="3000" dirty="0"/>
                  <a:t>，所以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5(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11)</m:t>
                    </m:r>
                  </m:oMath>
                </a14:m>
                <a:r>
                  <a:rPr lang="zh-CN" altLang="zh-CN" sz="3000" dirty="0"/>
                  <a:t>有平方根。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=3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≡4(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</m:oMath>
                </a14:m>
                <a:r>
                  <a:rPr lang="zh-CN" altLang="en-US" sz="3000" dirty="0"/>
                  <a:t>，所以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5(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11)</m:t>
                    </m:r>
                  </m:oMath>
                </a14:m>
                <a:r>
                  <a:rPr lang="zh-CN" altLang="en-US" sz="3000" dirty="0"/>
                  <a:t>的</a:t>
                </a:r>
                <a:r>
                  <a:rPr lang="zh-CN" altLang="zh-CN" sz="3000" dirty="0"/>
                  <a:t>平方根是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zh-CN" sz="3000" dirty="0"/>
                  <a:t>。</a:t>
                </a:r>
                <a:endParaRPr lang="en-US" altLang="zh-CN" sz="3000" dirty="0"/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2 </a:t>
                </a:r>
                <a:r>
                  <a:rPr lang="zh-CN" altLang="zh-CN" sz="3000" dirty="0"/>
                  <a:t>求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11)</m:t>
                    </m:r>
                  </m:oMath>
                </a14:m>
                <a:r>
                  <a:rPr lang="zh-CN" altLang="zh-CN" sz="3000" dirty="0"/>
                  <a:t>的平方根。</a:t>
                </a:r>
              </a:p>
              <a:p>
                <a:pPr marL="0" indent="0">
                  <a:buNone/>
                </a:pPr>
                <a:r>
                  <a:rPr lang="zh-CN" altLang="en-US" sz="3000" dirty="0"/>
                  <a:t>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=5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≡−1(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zh-CN" sz="3000" dirty="0"/>
                  <a:t>所以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</m:oMath>
                </a14:m>
                <a:r>
                  <a:rPr lang="zh-CN" altLang="zh-CN" sz="3000" dirty="0"/>
                  <a:t>无平方根。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F511531-49DB-0E0D-88BF-41D4DD9FF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446853" cy="5486400"/>
              </a:xfrm>
              <a:prstGeom prst="rect">
                <a:avLst/>
              </a:prstGeom>
              <a:blipFill>
                <a:blip r:embed="rId2"/>
                <a:stretch>
                  <a:fillRect l="-1659" t="-1778" b="-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630A57E3-D1E8-993F-727A-3868270BD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092" y="152400"/>
            <a:ext cx="5181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二次同余式的解法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DCD9AC3-7B58-11BF-EC00-6DC7821FC21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8573" y="762000"/>
                <a:ext cx="8566827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3 </a:t>
                </a:r>
                <a:r>
                  <a:rPr lang="zh-CN" altLang="zh-CN" sz="3000" dirty="0"/>
                  <a:t>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≡71(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77)</m:t>
                    </m:r>
                  </m:oMath>
                </a14:m>
                <a:r>
                  <a:rPr lang="zh-CN" altLang="en-US" sz="3000" dirty="0"/>
                  <a:t>的</a:t>
                </a:r>
                <a:r>
                  <a:rPr lang="zh-CN" altLang="zh-CN" sz="3000" dirty="0"/>
                  <a:t>平方根。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由</a:t>
                </a:r>
                <a:r>
                  <a:rPr lang="zh-CN" altLang="en-US" sz="3000" dirty="0">
                    <a:latin typeface="+mn-ea"/>
                  </a:rPr>
                  <a:t>第</a:t>
                </a:r>
                <a:r>
                  <a:rPr lang="en-US" altLang="zh-CN" sz="3000" dirty="0">
                    <a:latin typeface="+mn-ea"/>
                  </a:rPr>
                  <a:t>4</a:t>
                </a:r>
                <a:r>
                  <a:rPr lang="zh-CN" altLang="zh-CN" sz="3000" dirty="0">
                    <a:latin typeface="+mn-ea"/>
                  </a:rPr>
                  <a:t>讲定理</a:t>
                </a:r>
                <a:r>
                  <a:rPr lang="en-US" altLang="zh-CN" sz="3000" dirty="0">
                    <a:latin typeface="+mn-ea"/>
                  </a:rPr>
                  <a:t>7</a:t>
                </a:r>
                <a:r>
                  <a:rPr lang="zh-CN" altLang="zh-CN" sz="3000" dirty="0">
                    <a:latin typeface="+mn-ea"/>
                  </a:rPr>
                  <a:t>，意味着求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≡71≡1(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7)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≡71≡5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11)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，因此，根据前面的定理</a:t>
                </a:r>
                <a:r>
                  <a:rPr lang="en-US" altLang="zh-CN" sz="3000" dirty="0">
                    <a:latin typeface="+mn-ea"/>
                  </a:rPr>
                  <a:t>1</a:t>
                </a:r>
                <a:r>
                  <a:rPr lang="zh-CN" altLang="zh-CN" sz="3000" dirty="0">
                    <a:latin typeface="+mn-ea"/>
                  </a:rPr>
                  <a:t>易求得两个方程的解分别为</a:t>
                </a:r>
                <a:r>
                  <a:rPr lang="zh-CN" altLang="en-US" sz="3000" dirty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≡±1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≡±4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，所以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≡1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</m: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≡4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≡1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</m: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≡−4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≡−1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</m: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≡4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≡−1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d>
                          </m: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≡−4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d>
                          </m:e>
                        </m:eqAr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3000" dirty="0"/>
              </a:p>
              <a:p>
                <a:pPr marL="0" indent="0">
                  <a:buNone/>
                </a:pPr>
                <a:r>
                  <a:rPr lang="zh-CN" altLang="zh-CN" sz="3000" dirty="0"/>
                  <a:t>应用</a:t>
                </a:r>
                <a:r>
                  <a:rPr lang="zh-CN" altLang="en-US" sz="3000" dirty="0">
                    <a:latin typeface="+mn-ea"/>
                  </a:rPr>
                  <a:t>第</a:t>
                </a:r>
                <a:r>
                  <a:rPr lang="en-US" altLang="zh-CN" sz="3000" dirty="0">
                    <a:latin typeface="+mn-ea"/>
                  </a:rPr>
                  <a:t>4</a:t>
                </a:r>
                <a:r>
                  <a:rPr lang="zh-CN" altLang="zh-CN" sz="3000" dirty="0">
                    <a:latin typeface="+mn-ea"/>
                  </a:rPr>
                  <a:t>讲定理</a:t>
                </a:r>
                <a:r>
                  <a:rPr lang="en-US" altLang="zh-CN" sz="3000" dirty="0">
                    <a:latin typeface="+mn-ea"/>
                  </a:rPr>
                  <a:t>5</a:t>
                </a:r>
                <a:r>
                  <a:rPr lang="zh-CN" altLang="zh-CN" sz="3000" dirty="0"/>
                  <a:t>中国剩余定理可得</a:t>
                </a:r>
                <a:r>
                  <a:rPr lang="zh-CN" altLang="en-US" sz="3000" dirty="0"/>
                  <a:t>：</a:t>
                </a:r>
                <a:endParaRPr lang="en-US" altLang="zh-CN" sz="30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≡15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29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−29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−15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77</m:t>
                        </m:r>
                      </m:e>
                    </m:d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  <a:p>
                <a:pPr marL="0" indent="0">
                  <a:buNone/>
                </a:pPr>
                <a:endParaRPr lang="zh-CN" altLang="zh-CN" sz="3000" dirty="0"/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DCD9AC3-7B58-11BF-EC00-6DC7821FC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573" y="762000"/>
                <a:ext cx="8566827" cy="5943600"/>
              </a:xfrm>
              <a:prstGeom prst="rect">
                <a:avLst/>
              </a:prstGeom>
              <a:blipFill>
                <a:blip r:embed="rId2"/>
                <a:stretch>
                  <a:fillRect l="-1636" t="-1436" r="-1280" b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27E10B-34DE-BA55-C5A9-D93F44AEF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6324600" cy="4111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70C0"/>
                </a:solidFill>
              </a:rPr>
              <a:t>3 </a:t>
            </a:r>
            <a:r>
              <a:rPr lang="zh-CN" altLang="en-US" sz="3200" dirty="0">
                <a:solidFill>
                  <a:srgbClr val="0070C0"/>
                </a:solidFill>
              </a:rPr>
              <a:t>中国剩余定理</a:t>
            </a:r>
            <a:r>
              <a:rPr lang="en-US" altLang="zh-CN" sz="3200" dirty="0">
                <a:solidFill>
                  <a:srgbClr val="0070C0"/>
                </a:solidFill>
              </a:rPr>
              <a:t>(CRT) (</a:t>
            </a:r>
            <a:r>
              <a:rPr lang="zh-CN" altLang="en-US" sz="3200" dirty="0">
                <a:solidFill>
                  <a:srgbClr val="0070C0"/>
                </a:solidFill>
              </a:rPr>
              <a:t>续</a:t>
            </a:r>
            <a:r>
              <a:rPr lang="en-US" altLang="zh-CN" sz="3200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4D9C99-ACF3-B2A2-1C4F-8050D74A2A1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763000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例子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1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3(</m:t>
                    </m:r>
                    <m:r>
                      <m:rPr>
                        <m:sty m:val="p"/>
                      </m:rPr>
                      <a:rPr lang="en-US" altLang="zh-CN" sz="3000" b="0" i="0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30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i="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5)</m:t>
                    </m:r>
                    <m:r>
                      <a:rPr lang="zh-CN" altLang="en-US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300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sz="3000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7)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7)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15)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，所以同余组的解为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≡80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7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个两两互素的正整数，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,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同余式</a:t>
                </a:r>
              </a:p>
              <a:p>
                <a:pPr marL="0" indent="0">
                  <a:buNone/>
                </a:pPr>
                <a:r>
                  <a:rPr lang="en-US" altLang="zh-CN" sz="30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                 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(2)</a:t>
                </a:r>
                <a:endParaRPr lang="zh-CN" altLang="en-US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有解的充分必要条件是每一个同余式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kern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     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(3)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有解。并且，若用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表示式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(3)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的解数，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表示式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(2)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的解数，则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4D9C99-ACF3-B2A2-1C4F-8050D74A2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763000" cy="5867400"/>
              </a:xfrm>
              <a:prstGeom prst="rect">
                <a:avLst/>
              </a:prstGeom>
              <a:blipFill>
                <a:blip r:embed="rId2"/>
                <a:stretch>
                  <a:fillRect l="-1670" t="-1661" r="-3479" b="-11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897D93E-D37E-D9EA-6971-FD9296518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7489"/>
            <a:ext cx="4800600" cy="7620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70C0"/>
                </a:solidFill>
              </a:rPr>
              <a:t>3 </a:t>
            </a:r>
            <a:r>
              <a:rPr lang="zh-CN" altLang="en-US" sz="3200" dirty="0">
                <a:solidFill>
                  <a:srgbClr val="0070C0"/>
                </a:solidFill>
              </a:rPr>
              <a:t>中国剩余定理</a:t>
            </a:r>
            <a:r>
              <a:rPr lang="en-US" altLang="zh-CN" sz="3200" dirty="0">
                <a:solidFill>
                  <a:srgbClr val="0070C0"/>
                </a:solidFill>
              </a:rPr>
              <a:t>(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ea typeface="宋体-方正超大字符集" pitchFamily="65" charset="-122"/>
              </a:rPr>
              <a:t>CRT</a:t>
            </a:r>
            <a:r>
              <a:rPr lang="en-US" altLang="zh-CN" sz="3200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7CFB39-512A-11B9-CBA1-6CE420E618A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685800"/>
                <a:ext cx="8675454" cy="6112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80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8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23(</m:t>
                      </m:r>
                      <m:r>
                        <m:rPr>
                          <m:sty m:val="p"/>
                        </m:rPr>
                        <a:rPr lang="en-US" altLang="zh-CN" sz="2800" b="0" i="0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105)⇒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kern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≡2(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b="0" i="0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CN" sz="2800" i="1" ker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b="1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中国剩余定理揭示这一过程是可逆的。</a:t>
                </a:r>
                <a:endParaRPr lang="en-US" altLang="zh-CN" sz="28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2800" b="1" dirty="0">
                    <a:solidFill>
                      <a:srgbClr val="0070C0"/>
                    </a:solidFill>
                    <a:latin typeface="+mn-ea"/>
                  </a:rPr>
                  <a:t>5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个两两互素的正整数，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则同余式组</a:t>
                </a:r>
              </a:p>
              <a:p>
                <a:pPr marL="0" indent="0">
                  <a:buNone/>
                </a:pPr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zh-CN" altLang="en-US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有唯一解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7CFB39-512A-11B9-CBA1-6CE420E61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675454" cy="6112240"/>
              </a:xfrm>
              <a:prstGeom prst="rect">
                <a:avLst/>
              </a:prstGeom>
              <a:blipFill>
                <a:blip r:embed="rId2"/>
                <a:stretch>
                  <a:fillRect l="-1476" r="-492" b="-10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EE1E05D5-DAAA-1C69-4379-0D6542893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2373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D010AE4-24E4-53E1-1DD4-0A2C950ADA5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2373" y="914400"/>
                <a:ext cx="8566827" cy="4648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定义</a:t>
                </a:r>
                <a:r>
                  <a:rPr lang="en-US" altLang="zh-CN" sz="3000" b="1" dirty="0">
                    <a:latin typeface="+mn-ea"/>
                  </a:rPr>
                  <a:t>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是一个正奇数，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叫做</a:t>
                </a:r>
                <a:r>
                  <a:rPr lang="en-US" altLang="zh-CN" sz="3000" dirty="0">
                    <a:latin typeface="+mn-ea"/>
                  </a:rPr>
                  <a:t>Jacobi</a:t>
                </a:r>
                <a:r>
                  <a:rPr lang="zh-CN" altLang="en-US" sz="3000" dirty="0">
                    <a:latin typeface="+mn-ea"/>
                  </a:rPr>
                  <a:t>符号，这里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</a:t>
                </a:r>
                <a:r>
                  <a:rPr lang="en-US" altLang="zh-CN" sz="2800" dirty="0">
                    <a:latin typeface="+mn-ea"/>
                  </a:rPr>
                  <a:t>Legendre</a:t>
                </a:r>
                <a:r>
                  <a:rPr lang="zh-CN" altLang="en-US" sz="2800" dirty="0">
                    <a:latin typeface="+mn-ea"/>
                  </a:rPr>
                  <a:t>符号</a:t>
                </a:r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由</a:t>
                </a:r>
                <a:r>
                  <a:rPr lang="zh-CN" altLang="en-US" sz="3000" dirty="0">
                    <a:latin typeface="+mn-ea"/>
                  </a:rPr>
                  <a:t>定义，我们知道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/>
                  <a:t>；如果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/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D010AE4-24E4-53E1-1DD4-0A2C950AD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373" y="914400"/>
                <a:ext cx="8566827" cy="4648200"/>
              </a:xfrm>
              <a:prstGeom prst="rect">
                <a:avLst/>
              </a:prstGeom>
              <a:blipFill>
                <a:blip r:embed="rId2"/>
                <a:stretch>
                  <a:fillRect l="-1708" t="-1966" r="-1281" b="-20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9BDA-4A30-2BF3-916B-E71672CC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8CD5DC2C-0850-7302-0D51-46930DB1B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2373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F0CAA9E-E843-2EED-B6F8-CA646308F1A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9784" y="762000"/>
                <a:ext cx="8566827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3 </a:t>
                </a:r>
                <a:r>
                  <a:rPr lang="zh-CN" altLang="zh-CN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为正奇数。</a:t>
                </a:r>
              </a:p>
              <a:p>
                <a:pPr marL="0" indent="0">
                  <a:buNone/>
                </a:pPr>
                <a:r>
                  <a:rPr lang="en-US" altLang="zh-CN" sz="3000" dirty="0">
                    <a:latin typeface="+mn-ea"/>
                  </a:rPr>
                  <a:t>(1) </a:t>
                </a:r>
                <a:r>
                  <a:rPr lang="zh-CN" altLang="zh-CN" sz="30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；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sz="3000" dirty="0">
                    <a:latin typeface="+mn-ea"/>
                  </a:rPr>
                  <a:t>(2) </a:t>
                </a:r>
                <a:r>
                  <a:rPr lang="zh-CN" altLang="zh-CN" sz="30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；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sz="3000" dirty="0">
                    <a:latin typeface="+mn-ea"/>
                  </a:rPr>
                  <a:t>(3)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3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 </a:t>
                </a:r>
                <a:r>
                  <a:rPr lang="en-US" altLang="zh-CN" sz="3000" dirty="0">
                    <a:latin typeface="+mn-ea"/>
                  </a:rPr>
                  <a:t>Jacobi</a:t>
                </a:r>
                <a:r>
                  <a:rPr lang="zh-CN" altLang="en-US" sz="3000" dirty="0">
                    <a:latin typeface="+mn-ea"/>
                  </a:rPr>
                  <a:t>符号的定义和</a:t>
                </a:r>
                <a:r>
                  <a:rPr lang="en-US" altLang="zh-CN" dirty="0">
                    <a:latin typeface="+mn-ea"/>
                  </a:rPr>
                  <a:t>Legendre</a:t>
                </a:r>
                <a:r>
                  <a:rPr lang="zh-CN" altLang="en-US" dirty="0">
                    <a:latin typeface="+mn-ea"/>
                  </a:rPr>
                  <a:t>符号的性质可知。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F0CAA9E-E843-2EED-B6F8-CA646308F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784" y="762000"/>
                <a:ext cx="8566827" cy="5867400"/>
              </a:xfrm>
              <a:prstGeom prst="rect">
                <a:avLst/>
              </a:prstGeom>
              <a:blipFill>
                <a:blip r:embed="rId2"/>
                <a:stretch>
                  <a:fillRect l="-1779" t="-1558" r="-1851" b="-18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89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A4D7-4D40-206C-12CF-8FB79D76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B5752551-13BE-8545-A02D-FA4B7F19B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5393622-5925-0970-8C80-C15CD54B186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7389" y="545892"/>
                <a:ext cx="8566827" cy="609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4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4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sz="3000" dirty="0"/>
                  <a:t>因为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−1)(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−1)+⋯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</m:e>
                    </m:nary>
                  </m:oMath>
                </a14:m>
                <a:endParaRPr lang="zh-CN" altLang="zh-CN" sz="3000" dirty="0"/>
              </a:p>
              <a:p>
                <a:pPr marL="0" indent="0">
                  <a:buNone/>
                </a:pPr>
                <a:r>
                  <a:rPr lang="zh-CN" altLang="zh-CN" sz="3000" dirty="0"/>
                  <a:t>故由上式可得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≡1+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lang="zh-CN" altLang="en-US" sz="3000" dirty="0"/>
                  <a:t>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2)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zh-CN" sz="3000" dirty="0"/>
              </a:p>
              <a:p>
                <a:pPr marL="0" indent="0">
                  <a:buNone/>
                </a:pPr>
                <a:r>
                  <a:rPr lang="zh-CN" altLang="zh-CN" sz="3000" dirty="0"/>
                  <a:t>于是</a:t>
                </a:r>
                <a:endParaRPr lang="en-US" altLang="zh-CN" sz="3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  <a:p>
                <a:pPr marL="0" indent="0">
                  <a:buNone/>
                </a:pPr>
                <a:endParaRPr lang="zh-CN" altLang="zh-CN" sz="3000" dirty="0"/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5393622-5925-0970-8C80-C15CD54B1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389" y="545892"/>
                <a:ext cx="8566827" cy="6096000"/>
              </a:xfrm>
              <a:prstGeom prst="rect">
                <a:avLst/>
              </a:prstGeom>
              <a:blipFill>
                <a:blip r:embed="rId2"/>
                <a:stretch>
                  <a:fillRect l="-17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202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12E8-68F7-36FF-391F-775CB425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A211CC4B-2BDE-0AFB-2920-5C96333F4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7CC2689-463C-3C76-5541-5D4B7C3C037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785734"/>
                <a:ext cx="8566827" cy="5691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因为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−1)(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−1)+⋯</m:t>
                        </m:r>
                      </m:e>
                    </m:nary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，故得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1≡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即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nary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zh-CN" sz="3000" dirty="0"/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7CC2689-463C-3C76-5541-5D4B7C3C0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785734"/>
                <a:ext cx="8566827" cy="5691266"/>
              </a:xfrm>
              <a:prstGeom prst="rect">
                <a:avLst/>
              </a:prstGeom>
              <a:blipFill>
                <a:blip r:embed="rId2"/>
                <a:stretch>
                  <a:fillRect l="-17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188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CDFFF-356E-9669-6CC8-D34F3850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A8D92BFC-5B31-0DF2-8B9D-2A628058A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5704D26-6CFB-6CEF-B0E5-1684ADAAB13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785734"/>
                <a:ext cx="8566827" cy="5691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于是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nary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zh-CN" sz="3000" dirty="0"/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5704D26-6CFB-6CEF-B0E5-1684ADAA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785734"/>
                <a:ext cx="8566827" cy="5691266"/>
              </a:xfrm>
              <a:prstGeom prst="rect">
                <a:avLst/>
              </a:prstGeom>
              <a:blipFill>
                <a:blip r:embed="rId2"/>
                <a:stretch>
                  <a:fillRect l="-1779" t="-13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122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4034-0C3C-1B67-3C7D-13BFE67E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74CB51EC-C5EF-EE07-F509-AFD7FCBD3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2286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C036AE5-3D02-D8F8-3446-F8A17783B4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7402" y="835077"/>
                <a:ext cx="8474388" cy="5187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6 </a:t>
                </a:r>
                <a:r>
                  <a:rPr lang="zh-CN" altLang="zh-CN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是正奇数，且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6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zh-CN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dirty="0"/>
                  <a:t>均为素数</a:t>
                </a:r>
                <a:r>
                  <a:rPr lang="zh-CN" altLang="en-US" dirty="0"/>
                  <a:t>，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则</a:t>
                </a:r>
                <a:r>
                  <a:rPr lang="zh-CN" altLang="en-US" dirty="0"/>
                  <a:t>由上一讲定理</a:t>
                </a:r>
                <a:r>
                  <a:rPr lang="en-US" altLang="zh-CN" dirty="0"/>
                  <a:t>5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nary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endParaRPr lang="zh-CN" altLang="zh-CN" sz="3000" dirty="0"/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C036AE5-3D02-D8F8-3446-F8A17783B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402" y="835077"/>
                <a:ext cx="8474388" cy="5187846"/>
              </a:xfrm>
              <a:prstGeom prst="rect">
                <a:avLst/>
              </a:prstGeom>
              <a:blipFill>
                <a:blip r:embed="rId2"/>
                <a:stretch>
                  <a:fillRect l="-1799" t="-18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815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BAC5-D424-2B3C-2452-8CD8DE36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FA93D6C2-4BE1-25AE-4516-3BBEC82A6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1524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66BBA00-10CF-62C3-1A2A-BB4C9272A5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4806" y="652072"/>
                <a:ext cx="8199594" cy="6143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6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nary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在定理</a:t>
                </a:r>
                <a:r>
                  <a:rPr lang="en-US" altLang="zh-CN" sz="3000" dirty="0">
                    <a:latin typeface="+mn-ea"/>
                  </a:rPr>
                  <a:t>4</a:t>
                </a:r>
                <a:r>
                  <a:rPr lang="zh-CN" altLang="zh-CN" sz="3000" dirty="0">
                    <a:latin typeface="+mn-ea"/>
                  </a:rPr>
                  <a:t>中已证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nary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故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得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66BBA00-10CF-62C3-1A2A-BB4C9272A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6" y="652072"/>
                <a:ext cx="8199594" cy="6143469"/>
              </a:xfrm>
              <a:prstGeom prst="rect">
                <a:avLst/>
              </a:prstGeom>
              <a:blipFill>
                <a:blip r:embed="rId2"/>
                <a:stretch>
                  <a:fillRect l="-1784" t="-12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519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36D1-3D37-DFFE-9758-F1A17B57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37203AE-541F-F566-89A7-6F9D8A3294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高斯引理和二次互反律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51E0BA0-5B29-94FC-EC31-76E7636C45D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8174" y="836951"/>
                <a:ext cx="8737225" cy="5744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5</a:t>
                </a: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 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(</a:t>
                </a: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二次互反定律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是两个素数，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zh-CN" altLang="zh-CN" sz="3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altLang="zh-CN" sz="3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5</a:t>
                </a: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证明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.</a:t>
                </a:r>
                <a:endParaRPr lang="zh-CN" altLang="zh-CN" sz="3000" b="1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𝑘𝑞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𝑘𝑞</m:t>
                            </m:r>
                          </m:num>
                          <m:den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zh-CN" altLang="en-US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[]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为取整。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aln/>
                          </m:rP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zh-CN" altLang="en-US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，此处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与定理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+mn-ea"/>
                  </a:rPr>
                  <a:t>4</a:t>
                </a: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中相同，得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51E0BA0-5B29-94FC-EC31-76E7636C4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174" y="836951"/>
                <a:ext cx="8737225" cy="5744980"/>
              </a:xfrm>
              <a:prstGeom prst="rect">
                <a:avLst/>
              </a:prstGeom>
              <a:blipFill>
                <a:blip r:embed="rId2"/>
                <a:stretch>
                  <a:fillRect l="-1605" t="-1591" r="-60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557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AE55-874F-255A-63A8-15558426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6BF6C033-274E-43C9-0C28-844BC666C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389" y="1524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2 Jacobi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5E35679-9B3C-6474-A2CC-7338FE3A93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91097" y="723900"/>
                <a:ext cx="8561805" cy="541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zh-CN" dirty="0">
                    <a:latin typeface="+mn-ea"/>
                  </a:rPr>
                  <a:t>Jacobi</a:t>
                </a:r>
                <a:r>
                  <a:rPr lang="zh-CN" altLang="zh-CN" dirty="0"/>
                  <a:t>符号具有</a:t>
                </a:r>
                <a:r>
                  <a:rPr lang="en-US" altLang="zh-CN" dirty="0">
                    <a:latin typeface="+mn-ea"/>
                  </a:rPr>
                  <a:t>Legendre</a:t>
                </a:r>
                <a:r>
                  <a:rPr lang="zh-CN" altLang="zh-CN" dirty="0"/>
                  <a:t>符号一样的计算法则，当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是正奇数时，不需要把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分解成素因数的乘积，所以计算起来更方便。在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时，</a:t>
                </a:r>
                <a:r>
                  <a:rPr lang="en-US" altLang="zh-CN" dirty="0">
                    <a:latin typeface="+mn-ea"/>
                  </a:rPr>
                  <a:t> Jacobi</a:t>
                </a:r>
                <a:r>
                  <a:rPr lang="zh-CN" altLang="zh-CN" dirty="0"/>
                  <a:t>符号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/>
                  <a:t>的值与</a:t>
                </a:r>
                <a:r>
                  <a:rPr lang="en-US" altLang="zh-CN" dirty="0">
                    <a:latin typeface="+mn-ea"/>
                  </a:rPr>
                  <a:t>Legendre</a:t>
                </a:r>
                <a:r>
                  <a:rPr lang="zh-CN" altLang="zh-CN" dirty="0"/>
                  <a:t>符号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/>
                  <a:t>的值相等。在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时，如果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无解，但当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不一定有解，例如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，而同余式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≡2(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9)</m:t>
                    </m:r>
                  </m:oMath>
                </a14:m>
                <a:r>
                  <a:rPr lang="zh-CN" altLang="zh-CN" dirty="0"/>
                  <a:t>无解。</a:t>
                </a:r>
                <a:endParaRPr lang="en-US" altLang="zh-CN" sz="300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5E35679-9B3C-6474-A2CC-7338FE3A9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097" y="723900"/>
                <a:ext cx="8561805" cy="5410200"/>
              </a:xfrm>
              <a:prstGeom prst="rect">
                <a:avLst/>
              </a:prstGeom>
              <a:blipFill>
                <a:blip r:embed="rId2"/>
                <a:stretch>
                  <a:fillRect l="-1852" t="-1466" r="-3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351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FEA94CE-F28B-F12F-8919-8C741737F6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5677</TotalTime>
  <Words>1930</Words>
  <Application>Microsoft Office PowerPoint</Application>
  <PresentationFormat>全屏显示(4:3)</PresentationFormat>
  <Paragraphs>148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第七讲 初等数论 7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中国剩余定理(CRT) (续)</vt:lpstr>
      <vt:lpstr>3 中国剩余定理(CRT)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277</cp:revision>
  <cp:lastPrinted>2026-03-29T13:18:20Z</cp:lastPrinted>
  <dcterms:created xsi:type="dcterms:W3CDTF">1601-01-01T00:00:00Z</dcterms:created>
  <dcterms:modified xsi:type="dcterms:W3CDTF">2026-03-29T16:42:11Z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