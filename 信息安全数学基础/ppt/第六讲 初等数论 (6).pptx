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70" r:id="rId4"/>
    <p:sldId id="298" r:id="rId5"/>
    <p:sldId id="271" r:id="rId6"/>
    <p:sldId id="299" r:id="rId7"/>
    <p:sldId id="287" r:id="rId8"/>
    <p:sldId id="273" r:id="rId9"/>
    <p:sldId id="301" r:id="rId10"/>
    <p:sldId id="300" r:id="rId11"/>
    <p:sldId id="312" r:id="rId12"/>
    <p:sldId id="272" r:id="rId13"/>
    <p:sldId id="289" r:id="rId14"/>
    <p:sldId id="302" r:id="rId15"/>
    <p:sldId id="307" r:id="rId16"/>
    <p:sldId id="308" r:id="rId17"/>
    <p:sldId id="304" r:id="rId18"/>
    <p:sldId id="274" r:id="rId19"/>
    <p:sldId id="305" r:id="rId20"/>
    <p:sldId id="306" r:id="rId21"/>
    <p:sldId id="292" r:id="rId22"/>
    <p:sldId id="309" r:id="rId23"/>
    <p:sldId id="311" r:id="rId24"/>
    <p:sldId id="310" r:id="rId25"/>
    <p:sldId id="263" r:id="rId2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9" autoAdjust="0"/>
    <p:restoredTop sz="88281" autoAdjust="0"/>
  </p:normalViewPr>
  <p:slideViewPr>
    <p:cSldViewPr>
      <p:cViewPr varScale="1">
        <p:scale>
          <a:sx n="60" d="100"/>
          <a:sy n="60" d="100"/>
        </p:scale>
        <p:origin x="139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6D3B263-8A27-C443-B01F-D5894CBFA9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1442C3-FD79-F29E-A42A-7E26E86FEC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5E346-DAC1-40FA-ACCE-4442FB15305C}" type="datetime1">
              <a:rPr lang="en-US" altLang="zh-CN" smtClean="0"/>
              <a:t>3/25/2026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911A46-4D84-931A-821A-C9F64E417A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4A1137-261C-ACB7-3076-E63BC2AAA7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891102-804C-4E34-B2DD-50852CA51F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73381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ED4FD87-D30A-17EE-1303-F95091F140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D5EEDA-6AF3-299D-F003-2785844DDED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55F7CA9B-24AA-4A8D-81A6-A0FE494BE658}" type="datetime1">
              <a:rPr lang="en-US" altLang="zh-CN" smtClean="0"/>
              <a:t>3/25/2026</a:t>
            </a:fld>
            <a:endParaRPr 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64A89171-BB2C-CF7C-AA69-99CF9B36C5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3AC0A3AD-3585-6544-BC2A-C5ADAF42D5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E3D1F7-1248-D7D3-B5E2-67FFE2CDE0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60438D-2F2B-CD40-77B4-C5B8027FB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050AC29-A045-4DA2-A55B-243E77BEA6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050AC29-A045-4DA2-A55B-243E77BEA6F6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205B4C-6E2F-61D3-84FF-F099872663D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55178B80-3C06-480B-B1A1-A937C72F51DD}" type="datetime1">
              <a:rPr lang="en-US" altLang="zh-CN" smtClean="0"/>
              <a:t>3/25/2026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257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B84404-8B5A-AB83-2903-4EB5A175AD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3E0719-6CD5-F933-4CEC-421582EC5A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4E0932-89B2-9A3B-2494-6EBC5AD87A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4DC911-8DBE-4480-AAC8-2FA8C779B8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7141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EBA0F0-A99B-E598-15EC-E45FE1D3E2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A0E4D1-A1D9-CD80-D72F-00D47AFBBF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B47B1F-D65E-1A14-A7E2-8AD2439998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3FA934-769A-42E7-8208-4829BFDA34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0582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294093-7132-2CB1-CFA0-22D2FB7766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E59FE8-CE27-2806-5ED0-D7560FA697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141F1C-CB36-8DD4-39AA-3C9F44714D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F76A54-BDAF-4FF3-B106-90421B9C10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7612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621034-11D1-0EC9-B6FB-2D4CCFBADE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F5874D-9AD4-6394-3C77-F40FDA62D9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DC9E25-4AD5-59A9-B66F-EFE7F9A282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44EBE9-7455-45BB-B754-185DB5F54E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2584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A70DC58-850F-43CA-890F-D53C4EB76C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7F1F254-CB04-A0DB-F5F0-5C426DD558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0C631A4-904C-7E9E-3B92-536F279E17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BAF82-22F1-4FAE-81B2-F633E93121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753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9F327E7-69AE-4ED7-7EED-D4498084B1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84C1B8F-961F-E65B-752C-0B13C79D6C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6F17C56-63ED-0FE5-0417-70CE0E6689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C740F-05C4-45DF-8B03-592C5EE223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3121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02FE9A1-F6F2-2AC0-A661-CA6BC87288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5011FDB-55B5-4C0A-E81B-5779772008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1FC5D82-F8C0-87A1-B518-B94AE5CB80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940783-5EFB-4975-9398-DCA244BA0D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68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50922E-8389-D489-2182-A480F1918C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372758-632F-6197-8BCC-CADD8C8AE7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9A2B26-72D8-64FE-BFBA-5DF552D5E9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E77C6-A931-4E23-80C1-C9BDDFF9D6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761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24707A-4DC3-BFBB-E869-55997632DD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F19486-E280-DF7D-02C7-8F2A211EC0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A92594-3DA9-ACC5-EF94-74B22E1FA4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7435F-96E1-47C3-BDA2-AD56349BE1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591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5C69E7-C32A-6244-00FF-177EA5BF07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5EA121-A0DE-6346-C4AD-76AF0A4B1F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E0DADF-8296-2B46-4EE9-AF63608627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6E788-3E6A-44A5-BA82-57831FDC15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6646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336EC6-9924-5DFD-A616-7E6B6D3B8E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945A28-0D53-AFF4-2D65-85DDBD13B7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FD7544-D810-65A1-8356-EAEBA0BD38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6D517B-AC23-4033-9BB6-C630B08C71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812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69E52A-81F7-72DD-D4B4-B58AD2DD1A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AD9B2C-002A-3489-A4B0-F8DC91E52B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D03C52-2EC7-9BCA-761E-609BBE65D8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2E0CC-F736-4216-B758-882407BC1D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951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49B7EDD-F521-5697-2E79-2C759DE5F3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1EFBFFD-F822-CF76-26AA-C2A6D3A562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127C32E-75EA-608A-CC00-7FBA05CBCAC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AE0027D-5FD6-E564-404C-432A03C44A7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EB4A194-7BAD-3DCF-0050-4516BD8FE0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1D441EA-BE0B-4AEF-83DB-ECC7EE98D7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97A4FAA-9825-2E62-E12C-33AB2745F1F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第六讲 初等数论</a:t>
            </a:r>
            <a:br>
              <a:rPr lang="zh-CN" altLang="en-US" dirty="0">
                <a:latin typeface="宋体" panose="02010600030101010101" pitchFamily="2" charset="-122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A33E7AA-E31A-AD1B-86BE-1B9293C69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229600" cy="990600"/>
          </a:xfrm>
        </p:spPr>
        <p:txBody>
          <a:bodyPr/>
          <a:lstStyle/>
          <a:p>
            <a:pPr eaLnBrk="1" hangingPunct="1"/>
            <a:r>
              <a:rPr lang="zh-CN" altLang="en-US" sz="4000"/>
              <a:t>本讲提要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8667DB4-1ABF-AB01-CECA-423EEF839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5105400" cy="838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  <a:defRPr/>
            </a:pPr>
            <a:r>
              <a:rPr lang="zh-CN" altLang="en-US" sz="3600" dirty="0">
                <a:latin typeface="+mn-ea"/>
              </a:rPr>
              <a:t> 二次剩余（续）</a:t>
            </a:r>
            <a:endParaRPr lang="en-US" altLang="zh-CN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2212896-C26E-8612-D475-1D49710733F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0496" y="228600"/>
            <a:ext cx="40386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Legendre</a:t>
            </a:r>
            <a:r>
              <a:rPr lang="zh-CN" altLang="en-US" dirty="0"/>
              <a:t>符号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FF6BEF91-FD26-E842-FC23-E0B111E49DF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5499" y="914400"/>
                <a:ext cx="8736101" cy="5638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定义</a:t>
                </a:r>
                <a:r>
                  <a:rPr lang="en-US" altLang="zh-CN" b="1" dirty="0">
                    <a:latin typeface="+mn-ea"/>
                  </a:rPr>
                  <a:t> </a:t>
                </a:r>
                <a:r>
                  <a:rPr lang="zh-CN" altLang="zh-CN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为奇素数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zh-CN" altLang="zh-CN" dirty="0">
                    <a:latin typeface="+mn-ea"/>
                  </a:rPr>
                  <a:t>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  <m:r>
                                <a:rPr lang="zh-CN" altLang="zh-CN">
                                  <a:latin typeface="Cambria Math" panose="02040503050406030204" pitchFamily="18" charset="0"/>
                                </a:rPr>
                                <m:t>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zh-CN">
                                  <a:latin typeface="Cambria Math" panose="02040503050406030204" pitchFamily="18" charset="0"/>
                                </a:rPr>
                                <m:t>是模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zh-CN" altLang="zh-CN">
                                  <a:latin typeface="Cambria Math" panose="02040503050406030204" pitchFamily="18" charset="0"/>
                                </a:rPr>
                                <m:t>的二次剩余；</m:t>
                              </m:r>
                            </m:e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  <m:r>
                                <a:rPr lang="zh-CN" altLang="zh-CN">
                                  <a:latin typeface="Cambria Math" panose="02040503050406030204" pitchFamily="18" charset="0"/>
                                </a:rPr>
                                <m:t>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zh-CN">
                                  <a:latin typeface="Cambria Math" panose="02040503050406030204" pitchFamily="18" charset="0"/>
                                </a:rPr>
                                <m:t>是模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zh-CN" altLang="zh-CN">
                                  <a:latin typeface="Cambria Math" panose="02040503050406030204" pitchFamily="18" charset="0"/>
                                </a:rPr>
                                <m:t>的二次非剩余。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函数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叫</a:t>
                </a:r>
                <a:r>
                  <a:rPr lang="en-US" altLang="zh-CN" dirty="0">
                    <a:latin typeface="+mn-ea"/>
                  </a:rPr>
                  <a:t>Legendre</a:t>
                </a:r>
                <a:r>
                  <a:rPr lang="zh-CN" altLang="zh-CN" dirty="0">
                    <a:latin typeface="+mn-ea"/>
                  </a:rPr>
                  <a:t>符号。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# </a:t>
                </a:r>
                <a:r>
                  <a:rPr lang="zh-CN" altLang="zh-CN" dirty="0">
                    <a:latin typeface="+mn-ea"/>
                  </a:rPr>
                  <a:t>由</a:t>
                </a:r>
                <a:r>
                  <a:rPr lang="zh-CN" altLang="en-US" dirty="0">
                    <a:latin typeface="+mn-ea"/>
                  </a:rPr>
                  <a:t>上一讲定理</a:t>
                </a:r>
                <a:r>
                  <a:rPr lang="en-US" altLang="zh-CN" dirty="0">
                    <a:latin typeface="+mn-ea"/>
                  </a:rPr>
                  <a:t>6</a:t>
                </a:r>
                <a:r>
                  <a:rPr lang="zh-CN" altLang="zh-CN" dirty="0">
                    <a:latin typeface="+mn-ea"/>
                  </a:rPr>
                  <a:t>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。显然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endParaRPr lang="en-US" altLang="zh-CN" sz="2600" dirty="0">
                  <a:latin typeface="+mn-ea"/>
                </a:endParaRPr>
              </a:p>
            </p:txBody>
          </p:sp>
        </mc:Choice>
        <mc:Fallback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FF6BEF91-FD26-E842-FC23-E0B111E49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499" y="914400"/>
                <a:ext cx="8736101" cy="5638800"/>
              </a:xfrm>
              <a:prstGeom prst="rect">
                <a:avLst/>
              </a:prstGeom>
              <a:blipFill>
                <a:blip r:embed="rId2"/>
                <a:stretch>
                  <a:fillRect l="-1814" t="-17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92F48DC-3A49-2D55-9B8B-CAB694E41F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57912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2 </a:t>
            </a:r>
            <a:r>
              <a:rPr lang="zh-CN" altLang="en-US" dirty="0">
                <a:solidFill>
                  <a:srgbClr val="0070C0"/>
                </a:solidFill>
              </a:rPr>
              <a:t>二次剩余的基本概念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续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73537D2-830C-BAC5-F70E-8F62CE3B45D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88495" y="1050758"/>
                <a:ext cx="8633001" cy="32926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sz="3000" b="1" dirty="0">
                    <a:solidFill>
                      <a:srgbClr val="0070C0"/>
                    </a:solidFill>
                    <a:latin typeface="+mn-ea"/>
                  </a:rPr>
                  <a:t>6 </a:t>
                </a:r>
                <a:r>
                  <a:rPr lang="zh-CN" altLang="zh-CN" dirty="0">
                    <a:solidFill>
                      <a:srgbClr val="0070C0"/>
                    </a:solidFill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</a:rPr>
                  <a:t>的二次剩余，则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                </m:t>
                    </m:r>
                    <m:sSup>
                      <m:sSupPr>
                        <m:ctrlPr>
                          <a:rPr lang="zh-CN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dirty="0">
                    <a:solidFill>
                      <a:srgbClr val="0070C0"/>
                    </a:solidFill>
                    <a:latin typeface="+mn-ea"/>
                  </a:rPr>
                  <a:t>             (6) </a:t>
                </a:r>
                <a:endParaRPr lang="zh-CN" altLang="zh-CN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>
                    <a:solidFill>
                      <a:srgbClr val="0070C0"/>
                    </a:solidFill>
                  </a:rPr>
                  <a:t>而如果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</a:rPr>
                  <a:t>的二次非剩余，则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0070C0"/>
                    </a:solidFill>
                  </a:rPr>
                  <a:t>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≡−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</a:rPr>
                  <a:t>。</a:t>
                </a:r>
                <a:r>
                  <a:rPr lang="en-US" altLang="zh-CN" dirty="0">
                    <a:solidFill>
                      <a:srgbClr val="0070C0"/>
                    </a:solidFill>
                    <a:latin typeface="+mn-ea"/>
                  </a:rPr>
                  <a:t>            (7)</a:t>
                </a:r>
                <a:endParaRPr lang="zh-CN" altLang="zh-C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73537D2-830C-BAC5-F70E-8F62CE3B4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495" y="1050758"/>
                <a:ext cx="8633001" cy="3292642"/>
              </a:xfrm>
              <a:prstGeom prst="rect">
                <a:avLst/>
              </a:prstGeom>
              <a:blipFill>
                <a:blip r:embed="rId2"/>
                <a:stretch>
                  <a:fillRect l="-1836" t="-2957" r="-2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21B91F9-B8A9-8540-6933-C33358DA313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228600"/>
            <a:ext cx="5105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Legendre</a:t>
            </a:r>
            <a:r>
              <a:rPr lang="zh-CN" altLang="en-US" dirty="0"/>
              <a:t>符号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050BDA98-896F-280D-0FEE-389D2C96952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5499" y="914400"/>
                <a:ext cx="8431301" cy="5715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zh-CN" altLang="zh-CN" sz="3000" dirty="0">
                    <a:latin typeface="+mn-ea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sz="3000" dirty="0">
                    <a:latin typeface="+mn-ea"/>
                  </a:rPr>
                  <a:t>，若定义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，则有下面的定理</a:t>
                </a:r>
                <a:r>
                  <a:rPr lang="zh-CN" altLang="en-US" sz="3000" dirty="0">
                    <a:latin typeface="+mn-ea"/>
                  </a:rPr>
                  <a:t>：</a:t>
                </a:r>
                <a:endParaRPr lang="zh-CN" altLang="zh-CN" sz="3000" dirty="0">
                  <a:latin typeface="+mn-ea"/>
                </a:endParaRPr>
              </a:p>
              <a:p>
                <a:pPr marL="0" indent="0" eaLnBrk="1" hangingPunct="1">
                  <a:buNone/>
                </a:pPr>
                <a:r>
                  <a:rPr lang="zh-CN" altLang="zh-CN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1 </a:t>
                </a:r>
                <a:r>
                  <a:rPr lang="zh-CN" altLang="zh-CN" sz="3000" dirty="0">
                    <a:latin typeface="+mn-ea"/>
                  </a:rPr>
                  <a:t>对于给定的奇素数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:r>
                  <a:rPr lang="en-US" altLang="zh-CN" sz="3000" dirty="0">
                    <a:latin typeface="+mn-ea"/>
                  </a:rPr>
                  <a:t>Legendre</a:t>
                </a:r>
                <a:r>
                  <a:rPr lang="zh-CN" altLang="zh-CN" sz="3000" dirty="0">
                    <a:latin typeface="+mn-ea"/>
                  </a:rPr>
                  <a:t>符号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sz="3000" dirty="0">
                    <a:latin typeface="+mn-ea"/>
                  </a:rPr>
                  <a:t>是一个完全积性函数，即若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</a:p>
              <a:p>
                <a:pPr marL="0" indent="0" eaLnBrk="1" hangingPunct="1">
                  <a:buNone/>
                </a:pPr>
                <a:r>
                  <a:rPr lang="zh-CN" altLang="zh-CN" sz="3000" dirty="0">
                    <a:latin typeface="+mn-ea"/>
                  </a:rPr>
                  <a:t>于是，当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=±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⋯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  <m:sup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zh-CN" sz="3000" dirty="0">
                    <a:latin typeface="+mn-ea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是素数，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，这</a:t>
                </a:r>
                <a:r>
                  <a:rPr lang="zh-CN" altLang="en-US" sz="3000" dirty="0">
                    <a:latin typeface="+mn-ea"/>
                  </a:rPr>
                  <a:t>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，则有</a:t>
                </a: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±1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  <m:sup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  <m:sup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⋯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  <m:sup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</a:p>
              <a:p>
                <a:pPr marL="0" indent="0" eaLnBrk="1" hangingPunct="1">
                  <a:buNone/>
                </a:pPr>
                <a:endParaRPr lang="en-US" altLang="zh-CN" sz="26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050BDA98-896F-280D-0FEE-389D2C969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499" y="914400"/>
                <a:ext cx="8431301" cy="5715000"/>
              </a:xfrm>
              <a:prstGeom prst="rect">
                <a:avLst/>
              </a:prstGeom>
              <a:blipFill>
                <a:blip r:embed="rId2"/>
                <a:stretch>
                  <a:fillRect l="-1735" r="-614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1BF23-1731-487B-A8DB-85FC8406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AB4FD62-3D8C-B5DA-18E7-EADDE775838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228600"/>
            <a:ext cx="5105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Legendre</a:t>
            </a:r>
            <a:r>
              <a:rPr lang="zh-CN" altLang="en-US" dirty="0"/>
              <a:t>符号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B1103054-2E9E-ABC4-29A2-2C0B754E364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81000" y="838200"/>
                <a:ext cx="8431301" cy="5562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1</a:t>
                </a:r>
                <a:r>
                  <a:rPr lang="zh-CN" altLang="en-US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zh-CN" sz="3000" dirty="0">
                    <a:latin typeface="+mn-ea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，故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∤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∤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3000" i="1">
                        <a:latin typeface="Cambria Math" panose="02040503050406030204" pitchFamily="18" charset="0"/>
                      </a:rPr>
                      <m:t>且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∤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，故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3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zh-CN" sz="3000" dirty="0">
                    <a:latin typeface="+mn-ea"/>
                  </a:rPr>
                  <a:t>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zh-CN" altLang="zh-CN" sz="300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=±2</m:t>
                    </m:r>
                    <m:r>
                      <m:rPr>
                        <m:nor/>
                      </m:rPr>
                      <a:rPr lang="zh-CN" altLang="zh-CN" sz="3000" dirty="0">
                        <a:latin typeface="+mn-ea"/>
                      </a:rPr>
                      <m:t>，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zh-CN" altLang="zh-CN" sz="3000" dirty="0">
                        <a:latin typeface="+mn-ea"/>
                      </a:rPr>
                      <m:t>，</m:t>
                    </m:r>
                  </m:oMath>
                </a14:m>
                <a:endParaRPr lang="zh-CN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3000" dirty="0">
                    <a:latin typeface="+mn-ea"/>
                  </a:rPr>
                  <a:t>故上式给出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endParaRPr lang="en-US" altLang="zh-CN" sz="26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B1103054-2E9E-ABC4-29A2-2C0B754E3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838200"/>
                <a:ext cx="8431301" cy="5562600"/>
              </a:xfrm>
              <a:prstGeom prst="rect">
                <a:avLst/>
              </a:prstGeom>
              <a:blipFill>
                <a:blip r:embed="rId2"/>
                <a:stretch>
                  <a:fillRect l="-1735" t="-14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5329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416D8D2-B1B2-231E-93F2-088646A0C0C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228600"/>
            <a:ext cx="5105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Legendre</a:t>
            </a:r>
            <a:r>
              <a:rPr lang="zh-CN" altLang="en-US" dirty="0"/>
              <a:t>符号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A73AE5D-00CD-32C0-D688-487D8E49590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81000" y="838200"/>
                <a:ext cx="8431301" cy="4800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2 </a:t>
                </a:r>
                <a:r>
                  <a:rPr lang="zh-CN" altLang="zh-CN" dirty="0"/>
                  <a:t>对于每一个奇素数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/>
                  <a:t>，有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  <m:r>
                                <a:rPr lang="zh-CN" altLang="zh-CN">
                                  <a:latin typeface="Cambria Math" panose="02040503050406030204" pitchFamily="18" charset="0"/>
                                </a:rPr>
                                <m:t>如果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≡1</m:t>
                              </m:r>
                              <m:d>
                                <m:d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 4</m:t>
                                  </m:r>
                                </m:e>
                              </m:d>
                              <m:r>
                                <a:rPr lang="zh-CN" altLang="zh-CN"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</m:e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  <m:r>
                                <a:rPr lang="zh-CN" altLang="zh-CN">
                                  <a:latin typeface="Cambria Math" panose="02040503050406030204" pitchFamily="18" charset="0"/>
                                </a:rPr>
                                <m:t>如果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≡3</m:t>
                              </m:r>
                              <m:d>
                                <m:d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 4</m:t>
                                  </m:r>
                                </m:e>
                              </m:d>
                              <m:r>
                                <a:rPr lang="zh-CN" altLang="zh-CN">
                                  <a:latin typeface="Cambria Math" panose="02040503050406030204" pitchFamily="18" charset="0"/>
                                </a:rPr>
                                <m:t>。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2</a:t>
                </a:r>
                <a:r>
                  <a:rPr lang="zh-CN" altLang="zh-CN" b="1" dirty="0"/>
                  <a:t>证明</a:t>
                </a:r>
                <a:r>
                  <a:rPr lang="en-US" altLang="zh-CN" b="1" dirty="0"/>
                  <a:t>.</a:t>
                </a:r>
                <a:endParaRPr lang="zh-CN" altLang="zh-CN" b="1" dirty="0"/>
              </a:p>
              <a:p>
                <a:pPr marL="0" indent="0">
                  <a:buNone/>
                </a:pPr>
                <a:r>
                  <a:rPr lang="zh-CN" altLang="zh-CN" dirty="0"/>
                  <a:t>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，所以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zh-CN" dirty="0"/>
                  <a:t>。</a:t>
                </a:r>
                <a:endParaRPr lang="en-US" altLang="zh-CN" sz="2600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A73AE5D-00CD-32C0-D688-487D8E495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838200"/>
                <a:ext cx="8431301" cy="4800600"/>
              </a:xfrm>
              <a:prstGeom prst="rect">
                <a:avLst/>
              </a:prstGeom>
              <a:blipFill>
                <a:blip r:embed="rId2"/>
                <a:stretch>
                  <a:fillRect l="-1880" t="-20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BF99534-B663-A30F-6275-45ACF1FDF63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56349" y="0"/>
            <a:ext cx="5105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Legendre</a:t>
            </a:r>
            <a:r>
              <a:rPr lang="zh-CN" altLang="en-US" dirty="0"/>
              <a:t>符号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465DE65-7B7F-46F2-41D5-6AFB18F94D1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56349" y="609600"/>
                <a:ext cx="8431301" cy="5821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sz="2800" b="1" dirty="0">
                    <a:latin typeface="+mn-ea"/>
                  </a:rPr>
                  <a:t>定理</a:t>
                </a:r>
                <a:r>
                  <a:rPr lang="en-US" altLang="zh-CN" sz="2800" b="1" dirty="0">
                    <a:latin typeface="+mn-ea"/>
                  </a:rPr>
                  <a:t>3 </a:t>
                </a:r>
                <a:r>
                  <a:rPr lang="zh-CN" altLang="zh-CN" sz="2800" dirty="0">
                    <a:latin typeface="+mn-ea"/>
                  </a:rPr>
                  <a:t>对于每一个奇素数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，有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f>
                            <m:f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sup>
                      </m:sSup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  <m:r>
                                <a:rPr lang="zh-CN" altLang="zh-CN" sz="2800">
                                  <a:latin typeface="Cambria Math" panose="02040503050406030204" pitchFamily="18" charset="0"/>
                                </a:rPr>
                                <m:t>如果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≡±1</m:t>
                              </m:r>
                              <m:d>
                                <m:d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US" altLang="zh-CN" sz="2800">
                                      <a:latin typeface="Cambria Math" panose="02040503050406030204" pitchFamily="18" charset="0"/>
                                    </a:rPr>
                                    <m:t> 8</m:t>
                                  </m:r>
                                </m:e>
                              </m:d>
                              <m:r>
                                <a:rPr lang="zh-CN" altLang="zh-CN" sz="2800"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</m:e>
                            <m:e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  <m:r>
                                <a:rPr lang="zh-CN" altLang="zh-CN" sz="2800">
                                  <a:latin typeface="Cambria Math" panose="02040503050406030204" pitchFamily="18" charset="0"/>
                                </a:rPr>
                                <m:t>如果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≡±3</m:t>
                              </m:r>
                              <m:d>
                                <m:d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US" altLang="zh-CN" sz="2800">
                                      <a:latin typeface="Cambria Math" panose="02040503050406030204" pitchFamily="18" charset="0"/>
                                    </a:rPr>
                                    <m:t> 8</m:t>
                                  </m:r>
                                </m:e>
                              </m:d>
                              <m:r>
                                <a:rPr lang="zh-CN" altLang="zh-CN" sz="2800">
                                  <a:latin typeface="Cambria Math" panose="02040503050406030204" pitchFamily="18" charset="0"/>
                                </a:rPr>
                                <m:t>。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2800" b="1" dirty="0">
                    <a:latin typeface="+mn-ea"/>
                  </a:rPr>
                  <a:t>定理</a:t>
                </a:r>
                <a:r>
                  <a:rPr lang="en-US" altLang="zh-CN" sz="2800" b="1" dirty="0">
                    <a:latin typeface="+mn-ea"/>
                  </a:rPr>
                  <a:t>3</a:t>
                </a:r>
                <a:r>
                  <a:rPr lang="zh-CN" altLang="zh-CN" sz="2800" b="1" dirty="0">
                    <a:latin typeface="+mn-ea"/>
                  </a:rPr>
                  <a:t>证明</a:t>
                </a:r>
                <a:r>
                  <a:rPr lang="en-US" altLang="zh-CN" sz="2800" b="1" dirty="0">
                    <a:latin typeface="+mn-ea"/>
                  </a:rPr>
                  <a:t>.</a:t>
                </a:r>
                <a:endParaRPr lang="zh-CN" altLang="zh-CN" sz="2800" b="1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2800" dirty="0">
                    <a:latin typeface="+mn-ea"/>
                  </a:rPr>
                  <a:t>考虑以下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dirty="0">
                    <a:latin typeface="+mn-ea"/>
                  </a:rPr>
                  <a:t>个同余式</a:t>
                </a:r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−1≡1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8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</a:t>
                </a:r>
                <a:endParaRPr lang="zh-CN" altLang="zh-CN" sz="28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≡2</m:t>
                      </m:r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zh-CN" sz="28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≡3</m:t>
                      </m:r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zh-CN" sz="28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≡4</m:t>
                      </m:r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zh-CN" sz="2800" dirty="0">
                  <a:latin typeface="+mn-ea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altLang="zh-CN" sz="2800" dirty="0">
                  <a:latin typeface="+mn-ea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</a:t>
                </a:r>
                <a:endParaRPr lang="en-US" altLang="zh-CN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465DE65-7B7F-46F2-41D5-6AFB18F94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49" y="609600"/>
                <a:ext cx="8431301" cy="5821180"/>
              </a:xfrm>
              <a:prstGeom prst="rect">
                <a:avLst/>
              </a:prstGeom>
              <a:blipFill>
                <a:blip r:embed="rId2"/>
                <a:stretch>
                  <a:fillRect l="-1445" t="-1257" b="-219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67B14-1E9A-9C0A-9EEE-8B41972D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F57F97D-D904-9799-6F3A-C2E5DD99620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228600"/>
            <a:ext cx="5105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Legendre</a:t>
            </a:r>
            <a:r>
              <a:rPr lang="zh-CN" altLang="en-US" dirty="0"/>
              <a:t>符号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4EE7803D-84EF-818F-9663-A36BCBA7ED2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56349" y="808220"/>
                <a:ext cx="8431301" cy="5715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None/>
                </a:pPr>
                <a:r>
                  <a:rPr lang="zh-CN" altLang="zh-CN" sz="2800" b="1" dirty="0">
                    <a:latin typeface="+mn-ea"/>
                  </a:rPr>
                  <a:t>定理</a:t>
                </a:r>
                <a:r>
                  <a:rPr lang="en-US" altLang="zh-CN" sz="2800" b="1" dirty="0">
                    <a:latin typeface="+mn-ea"/>
                  </a:rPr>
                  <a:t>3</a:t>
                </a:r>
                <a:r>
                  <a:rPr lang="zh-CN" altLang="zh-CN" sz="2800" b="1" dirty="0">
                    <a:latin typeface="+mn-ea"/>
                  </a:rPr>
                  <a:t>证明</a:t>
                </a:r>
                <a:r>
                  <a:rPr lang="en-US" altLang="zh-CN" sz="2800" b="1" dirty="0">
                    <a:latin typeface="+mn-ea"/>
                  </a:rPr>
                  <a:t>.</a:t>
                </a:r>
                <a:r>
                  <a:rPr lang="zh-CN" altLang="en-US" sz="2800" dirty="0">
                    <a:latin typeface="+mn-ea"/>
                  </a:rPr>
                  <a:t>（续）</a:t>
                </a:r>
                <a:endParaRPr lang="zh-CN" altLang="zh-CN" sz="2800" b="1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2800" dirty="0">
                    <a:latin typeface="+mn-ea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zh-CN" altLang="zh-CN" sz="2800">
                                <a:latin typeface="Cambria Math" panose="02040503050406030204" pitchFamily="18" charset="0"/>
                              </a:rPr>
                              <m:t>如果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≡ 3</m:t>
                            </m:r>
                            <m:d>
                              <m:d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</a:rPr>
                                  <m:t> 4</m:t>
                                </m:r>
                              </m:e>
                            </m:d>
                            <m:r>
                              <a:rPr lang="zh-CN" altLang="zh-CN" sz="2800">
                                <a:latin typeface="Cambria Math" panose="02040503050406030204" pitchFamily="18" charset="0"/>
                              </a:rPr>
                              <m:t>，</m:t>
                            </m:r>
                          </m:e>
                          <m:e>
                            <m:f>
                              <m:f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zh-CN" altLang="zh-CN" sz="2800">
                                <a:latin typeface="Cambria Math" panose="02040503050406030204" pitchFamily="18" charset="0"/>
                              </a:rPr>
                              <m:t>如果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≡ 1</m:t>
                            </m:r>
                            <m:d>
                              <m:d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</a:rPr>
                                  <m:t> 4</m:t>
                                </m:r>
                              </m:e>
                            </m:d>
                            <m:r>
                              <a:rPr lang="zh-CN" altLang="zh-CN" sz="2800">
                                <a:latin typeface="Cambria Math" panose="02040503050406030204" pitchFamily="18" charset="0"/>
                              </a:rPr>
                              <m:t>。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2800" dirty="0"/>
                  <a:t>将以上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dirty="0"/>
                  <a:t>个同余式相乘，左边都是偶数有：</a:t>
                </a:r>
                <a:endParaRPr lang="en-US" altLang="zh-CN" sz="28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</a:rPr>
                      <m:t>2∙4∙6⋯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80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sz="2800">
                        <a:latin typeface="Cambria Math" panose="02040503050406030204" pitchFamily="18" charset="0"/>
                      </a:rPr>
                      <m:t>!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1+2+⋯+</m:t>
                        </m:r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</a:rPr>
                  <a:t>，</a:t>
                </a:r>
                <a:endParaRPr lang="en-US" altLang="zh-CN" sz="28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800" dirty="0"/>
                  <a:t>因此，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sz="2800">
                        <a:latin typeface="Cambria Math" panose="02040503050406030204" pitchFamily="18" charset="0"/>
                      </a:rPr>
                      <m:t>!≡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sz="2800">
                        <a:latin typeface="Cambria Math" panose="02040503050406030204" pitchFamily="18" charset="0"/>
                      </a:rPr>
                      <m:t>!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。</a:t>
                </a:r>
                <a:endParaRPr lang="zh-CN" altLang="zh-CN" sz="2800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4EE7803D-84EF-818F-9663-A36BCBA7E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49" y="808220"/>
                <a:ext cx="8431301" cy="5715000"/>
              </a:xfrm>
              <a:prstGeom prst="rect">
                <a:avLst/>
              </a:prstGeom>
              <a:blipFill>
                <a:blip r:embed="rId2"/>
                <a:stretch>
                  <a:fillRect l="-1445" t="-11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6358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7584-2005-B933-4426-A6EB7BE5F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ABF6EF7-FE41-FD83-89BC-A05D01A7C6C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228600"/>
            <a:ext cx="5105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Legendre</a:t>
            </a:r>
            <a:r>
              <a:rPr lang="zh-CN" altLang="en-US" dirty="0"/>
              <a:t>符号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419AD65-6B8F-50D2-29C2-ABA54DCF7A9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56349" y="808220"/>
                <a:ext cx="8431301" cy="5715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None/>
                </a:pPr>
                <a:r>
                  <a:rPr lang="zh-CN" altLang="zh-CN" b="1" dirty="0">
                    <a:latin typeface="+mn-ea"/>
                  </a:rPr>
                  <a:t>定理证明</a:t>
                </a:r>
                <a:r>
                  <a:rPr lang="en-US" altLang="zh-CN" b="1" dirty="0">
                    <a:latin typeface="+mn-ea"/>
                  </a:rPr>
                  <a:t>3.</a:t>
                </a:r>
                <a:r>
                  <a:rPr lang="zh-CN" altLang="en-US" dirty="0">
                    <a:latin typeface="+mn-ea"/>
                  </a:rPr>
                  <a:t>（续）</a:t>
                </a:r>
                <a:endParaRPr lang="zh-CN" altLang="zh-CN" b="1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/>
                  <a:t>因为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∤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zh-CN" altLang="en-US" dirty="0"/>
                  <a:t>，第二讲定理</a:t>
                </a:r>
                <a:r>
                  <a:rPr lang="en-US" altLang="zh-CN" dirty="0"/>
                  <a:t>12</a:t>
                </a:r>
                <a:r>
                  <a:rPr lang="zh-CN" altLang="zh-CN" dirty="0"/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，故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，又因为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/>
                  <a:t>是奇素数，即得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zh-CN" dirty="0"/>
                  <a:t>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419AD65-6B8F-50D2-29C2-ABA54DCF7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49" y="808220"/>
                <a:ext cx="8431301" cy="5715000"/>
              </a:xfrm>
              <a:prstGeom prst="rect">
                <a:avLst/>
              </a:prstGeom>
              <a:blipFill>
                <a:blip r:embed="rId2"/>
                <a:stretch>
                  <a:fillRect l="-1806" t="-1387" r="-15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0557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1A550DF-995E-DB44-F6BD-6D8D8065F8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4475" y="228600"/>
            <a:ext cx="4648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2 </a:t>
            </a:r>
            <a:r>
              <a:rPr lang="zh-CN" altLang="en-US" dirty="0">
                <a:solidFill>
                  <a:srgbClr val="0070C0"/>
                </a:solidFill>
              </a:rPr>
              <a:t>同余定义与概念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续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260684AD-5161-73C1-443A-F8CD201B300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44475" y="839449"/>
                <a:ext cx="8518525" cy="58399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FontTx/>
                  <a:buNone/>
                </a:pPr>
                <a:r>
                  <a:rPr lang="zh-CN" altLang="en-US" b="1" kern="0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b="1" kern="0" dirty="0">
                    <a:solidFill>
                      <a:srgbClr val="0070C0"/>
                    </a:solidFill>
                    <a:latin typeface="+mn-ea"/>
                  </a:rPr>
                  <a:t>12 </a:t>
                </a:r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𝑏𝑐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</a:rPr>
                  <a:t>，且</a:t>
                </a:r>
                <a14:m>
                  <m:oMath xmlns:m="http://schemas.openxmlformats.org/officeDocument/2006/math">
                    <m:r>
                      <a:rPr lang="zh-CN" altLang="en-US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若</m:t>
                    </m:r>
                    <m:d>
                      <m:dPr>
                        <m:ctrlP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zh-CN" alt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</a:rPr>
                  <a:t>，则</a:t>
                </a:r>
                <a:endParaRPr lang="en-US" altLang="zh-CN" kern="0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 algn="just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mod</m:t>
                        </m:r>
                        <m:f>
                          <m:f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。</a:t>
                </a:r>
                <a:endParaRPr lang="en-US" altLang="zh-CN" kern="0" dirty="0">
                  <a:solidFill>
                    <a:srgbClr val="0070C0"/>
                  </a:solidFill>
                  <a:latin typeface="+mn-ea"/>
                  <a:cs typeface="Times New Roman" panose="02020603050405020304" pitchFamily="18" charset="0"/>
                </a:endParaRPr>
              </a:p>
              <a:p>
                <a:pPr marL="0" indent="0" algn="just">
                  <a:buFontTx/>
                  <a:buNone/>
                </a:pPr>
                <a:r>
                  <a:rPr lang="zh-CN" altLang="en-US" b="1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b="1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12</a:t>
                </a:r>
                <a:r>
                  <a:rPr lang="zh-CN" altLang="en-US" b="1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b="1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FontTx/>
                  <a:buNone/>
                </a:pPr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由定理</a:t>
                </a:r>
                <a:r>
                  <a:rPr lang="en-US" altLang="zh-CN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10</a:t>
                </a:r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𝑎𝑐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𝑏𝑐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)⇒</m:t>
                    </m:r>
                    <m:d>
                      <m:dPr>
                        <m:begChr m:val=""/>
                        <m:endChr m:val="|"/>
                        <m:ctrlPr>
                          <a:rPr lang="en-US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f>
                      <m:f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。</a:t>
                </a:r>
                <a:endParaRPr lang="en-US" altLang="zh-CN" kern="0" dirty="0">
                  <a:solidFill>
                    <a:srgbClr val="0070C0"/>
                  </a:solidFill>
                  <a:latin typeface="+mn-ea"/>
                  <a:cs typeface="Times New Roman" panose="02020603050405020304" pitchFamily="18" charset="0"/>
                </a:endParaRPr>
              </a:p>
              <a:p>
                <a:pPr marL="0" indent="0" algn="just">
                  <a:buFontTx/>
                  <a:buNone/>
                </a:pPr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又因为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f>
                          <m:f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，所以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|"/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kern="0" dirty="0">
                  <a:solidFill>
                    <a:srgbClr val="0070C0"/>
                  </a:solidFill>
                  <a:latin typeface="+mn-ea"/>
                  <a:cs typeface="Times New Roman" panose="02020603050405020304" pitchFamily="18" charset="0"/>
                </a:endParaRPr>
              </a:p>
              <a:p>
                <a:pPr marL="0" indent="0" algn="just">
                  <a:buFontTx/>
                  <a:buNone/>
                </a:pPr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因此，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d>
                      <m:dPr>
                        <m:ctrlPr>
                          <a:rPr lang="en-US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mod</m:t>
                        </m:r>
                        <m:f>
                          <m:f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kern="0" dirty="0">
                  <a:solidFill>
                    <a:srgbClr val="0070C0"/>
                  </a:solidFill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260684AD-5161-73C1-443A-F8CD201B3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475" y="839449"/>
                <a:ext cx="8518525" cy="5839918"/>
              </a:xfrm>
              <a:prstGeom prst="rect">
                <a:avLst/>
              </a:prstGeom>
              <a:blipFill>
                <a:blip r:embed="rId2"/>
                <a:stretch>
                  <a:fillRect l="-1788" t="-16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C341CB4-CBED-DB0F-F54E-6A3DDC09B50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28600"/>
            <a:ext cx="5105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高斯引理和二次互反律</a:t>
            </a:r>
          </a:p>
          <a:p>
            <a:pPr eaLnBrk="1" hangingPunct="1">
              <a:buFontTx/>
              <a:buNone/>
            </a:pP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04364B2E-9DCC-E8CB-A7A0-25BF78ED427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56349" y="808220"/>
                <a:ext cx="8431301" cy="3916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4</a:t>
                </a:r>
                <a:r>
                  <a:rPr lang="zh-CN" altLang="en-US" b="1" dirty="0">
                    <a:latin typeface="+mn-ea"/>
                  </a:rPr>
                  <a:t>（高斯引理）</a:t>
                </a:r>
                <a:r>
                  <a:rPr lang="zh-CN" altLang="zh-CN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是一个奇素数</a:t>
                </a:r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>
                    <a:latin typeface="+mn-ea"/>
                  </a:rPr>
                  <a:t>，且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dirty="0">
                    <a:latin typeface="+mn-ea"/>
                  </a:rPr>
                  <a:t>个数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−1)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ea"/>
                  </a:rPr>
                  <a:t>  (1) </a:t>
                </a:r>
                <a:endParaRPr lang="zh-CN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中有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+mn-ea"/>
                  </a:rPr>
                  <a:t>个大于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dirty="0">
                    <a:latin typeface="+mn-ea"/>
                  </a:rPr>
                  <a:t>，则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n-ea"/>
                  </a:rPr>
                  <a:t>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04364B2E-9DCC-E8CB-A7A0-25BF78ED4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49" y="808220"/>
                <a:ext cx="8431301" cy="3916180"/>
              </a:xfrm>
              <a:prstGeom prst="rect">
                <a:avLst/>
              </a:prstGeom>
              <a:blipFill>
                <a:blip r:embed="rId2"/>
                <a:stretch>
                  <a:fillRect l="-1806" t="-2492" r="-15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FDC7037-E6CD-3DDB-5829-333BD017362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28600"/>
            <a:ext cx="6553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高斯引理和二次互反律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FC7669CD-CC5C-483E-4868-D4B8A91E58A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56349" y="808220"/>
                <a:ext cx="8559051" cy="52877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4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</a:p>
              <a:p>
                <a:pPr marL="0" indent="0" eaLnBrk="1" hangingPunct="1">
                  <a:buNone/>
                </a:pPr>
                <a:r>
                  <a:rPr lang="zh-CN" altLang="zh-CN" dirty="0">
                    <a:latin typeface="+mn-ea"/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表示</a:t>
                </a:r>
                <a:r>
                  <a:rPr lang="en-US" altLang="zh-CN" dirty="0">
                    <a:latin typeface="+mn-ea"/>
                  </a:rPr>
                  <a:t>(1)</a:t>
                </a:r>
                <a:r>
                  <a:rPr lang="zh-CN" altLang="zh-CN" dirty="0">
                    <a:latin typeface="+mn-ea"/>
                  </a:rPr>
                  <a:t>中所有小于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dirty="0">
                    <a:latin typeface="+mn-ea"/>
                  </a:rPr>
                  <a:t>的数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表示</a:t>
                </a:r>
                <a:r>
                  <a:rPr lang="en-US" altLang="zh-CN" dirty="0">
                    <a:latin typeface="+mn-ea"/>
                  </a:rPr>
                  <a:t>(1)</a:t>
                </a:r>
                <a:r>
                  <a:rPr lang="zh-CN" altLang="zh-CN" dirty="0">
                    <a:latin typeface="+mn-ea"/>
                  </a:rPr>
                  <a:t>中所有大于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dirty="0">
                    <a:latin typeface="+mn-ea"/>
                  </a:rPr>
                  <a:t>的数，有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dirty="0">
                    <a:latin typeface="+mn-ea"/>
                  </a:rPr>
                  <a:t>，且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nary>
                    <m:nary>
                      <m:naryPr>
                        <m:chr m:val="∏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!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。观察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也在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zh-CN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zh-CN" dirty="0">
                    <a:latin typeface="+mn-ea"/>
                  </a:rPr>
                  <a:t>之间，故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都是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zh-CN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dirty="0">
                    <a:latin typeface="+mn-ea"/>
                  </a:rPr>
                  <a:t>之间的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dirty="0">
                    <a:latin typeface="+mn-ea"/>
                  </a:rPr>
                  <a:t>个数。现证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dirty="0">
                    <a:latin typeface="+mn-ea"/>
                  </a:rPr>
                  <a:t>个数各不相同，这只需证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FC7669CD-CC5C-483E-4868-D4B8A91E5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49" y="808220"/>
                <a:ext cx="8559051" cy="5287780"/>
              </a:xfrm>
              <a:prstGeom prst="rect">
                <a:avLst/>
              </a:prstGeom>
              <a:blipFill>
                <a:blip r:embed="rId2"/>
                <a:stretch>
                  <a:fillRect l="-1779" t="-1499" r="-1423" b="-25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056C1-AC76-7343-E3B2-A741ED331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5A09DE8-E400-260F-5EB8-F1E026ECFEA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7489"/>
            <a:ext cx="55626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高斯引理和二次互反律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83152435-8AC3-C66E-BF23-BA5F76079C4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533400"/>
                <a:ext cx="8686800" cy="6248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zh-CN" altLang="zh-CN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4</a:t>
                </a:r>
                <a:r>
                  <a:rPr lang="zh-CN" altLang="en-US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  <a:r>
                  <a:rPr lang="en-US" altLang="zh-CN" sz="3000" dirty="0">
                    <a:latin typeface="+mn-ea"/>
                  </a:rPr>
                  <a:t>(</a:t>
                </a:r>
                <a:r>
                  <a:rPr lang="zh-CN" altLang="en-US" sz="3000" dirty="0">
                    <a:latin typeface="+mn-ea"/>
                  </a:rPr>
                  <a:t>续</a:t>
                </a:r>
                <a:r>
                  <a:rPr lang="en-US" altLang="zh-CN" sz="3000" dirty="0">
                    <a:latin typeface="+mn-ea"/>
                  </a:rPr>
                  <a:t>)</a:t>
                </a:r>
              </a:p>
              <a:p>
                <a:pPr marL="0" indent="0" eaLnBrk="1" hangingPunct="1">
                  <a:buNone/>
                </a:pPr>
                <a:r>
                  <a:rPr lang="zh-CN" altLang="zh-CN" sz="3000" dirty="0">
                    <a:latin typeface="+mn-ea"/>
                  </a:rPr>
                  <a:t>如果存在某个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𝑥𝑛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𝑦𝑛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≡0(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≡0(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。</a:t>
                </a:r>
                <a14:m>
                  <m:oMath xmlns:m="http://schemas.openxmlformats.org/officeDocument/2006/math">
                    <m:r>
                      <a:rPr lang="zh-CN" altLang="en-US" sz="3000" i="1">
                        <a:latin typeface="Cambria Math" panose="02040503050406030204" pitchFamily="18" charset="0"/>
                      </a:rPr>
                      <m:t>因为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3000" dirty="0">
                    <a:latin typeface="+mn-ea"/>
                  </a:rPr>
                  <a:t>，此不可能</a:t>
                </a:r>
                <a14:m>
                  <m:oMath xmlns:m="http://schemas.openxmlformats.org/officeDocument/2006/math">
                    <m:r>
                      <a:rPr lang="zh-CN" altLang="en-US" sz="30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故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nary>
                    <m:nary>
                      <m:naryPr>
                        <m:chr m:val="∏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  <a:r>
                  <a:rPr lang="en-US" altLang="zh-CN" sz="3000" dirty="0">
                    <a:latin typeface="+mn-ea"/>
                  </a:rPr>
                  <a:t> </a:t>
                </a:r>
              </a:p>
              <a:p>
                <a:pPr marL="0" indent="0" eaLnBrk="1" hangingPunct="1">
                  <a:buNone/>
                </a:pPr>
                <a:r>
                  <a:rPr lang="zh-CN" altLang="zh-CN" sz="3000" dirty="0">
                    <a:latin typeface="+mn-ea"/>
                  </a:rPr>
                  <a:t>所以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!=</m:t>
                    </m:r>
                    <m:nary>
                      <m:naryPr>
                        <m:chr m:val="∏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nary>
                    <m:nary>
                      <m:naryPr>
                        <m:chr m:val="∏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!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:r>
                  <a:rPr lang="zh-CN" altLang="en-US" sz="3000" dirty="0">
                    <a:latin typeface="+mn-ea"/>
                  </a:rPr>
                  <a:t>由于第二章定理</a:t>
                </a:r>
                <a:r>
                  <a:rPr lang="en-US" altLang="zh-CN" sz="3000" dirty="0">
                    <a:latin typeface="+mn-ea"/>
                  </a:rPr>
                  <a:t>12</a:t>
                </a:r>
                <a:r>
                  <a:rPr lang="zh-CN" altLang="en-US" sz="3000" dirty="0">
                    <a:latin typeface="+mn-ea"/>
                  </a:rPr>
                  <a:t>，知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300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sz="3000" dirty="0">
                    <a:latin typeface="+mn-ea"/>
                  </a:rPr>
                  <a:t>。由于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300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3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sz="3000" dirty="0">
                    <a:latin typeface="+mn-ea"/>
                  </a:rPr>
                  <a:t>，故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sz="3000" dirty="0">
                    <a:latin typeface="+mn-ea"/>
                  </a:rPr>
                  <a:t>，即得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</a:p>
              <a:p>
                <a:pPr marL="0" indent="0" eaLnBrk="1" hangingPunct="1">
                  <a:buNone/>
                </a:pPr>
                <a:endParaRPr lang="zh-CN" altLang="zh-CN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83152435-8AC3-C66E-BF23-BA5F76079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533400"/>
                <a:ext cx="8686800" cy="6248400"/>
              </a:xfrm>
              <a:prstGeom prst="rect">
                <a:avLst/>
              </a:prstGeom>
              <a:blipFill>
                <a:blip r:embed="rId2"/>
                <a:stretch>
                  <a:fillRect l="-1684" t="-1268" r="-596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0625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1C1BB-E126-1407-EFD8-FC6CE7E98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566A717-F5C5-4B94-CEC9-3FB9064741C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7489"/>
            <a:ext cx="55626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高斯引理和二次互反律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3433509C-ED2D-7A38-990E-DB1BB494D42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533400"/>
                <a:ext cx="868680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3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  <a:r>
                  <a:rPr lang="en-US" altLang="zh-CN" dirty="0">
                    <a:latin typeface="+mn-ea"/>
                  </a:rPr>
                  <a:t>(</a:t>
                </a:r>
                <a:r>
                  <a:rPr lang="zh-CN" altLang="en-US" dirty="0">
                    <a:latin typeface="+mn-ea"/>
                  </a:rPr>
                  <a:t>另一种方法</a:t>
                </a:r>
                <a:r>
                  <a:rPr lang="en-US" altLang="zh-CN" dirty="0">
                    <a:latin typeface="+mn-ea"/>
                  </a:rPr>
                  <a:t>)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由高斯引理，可给定理</a:t>
                </a:r>
                <a:r>
                  <a:rPr lang="en-US" altLang="zh-CN" dirty="0">
                    <a:latin typeface="+mn-ea"/>
                  </a:rPr>
                  <a:t>3</a:t>
                </a:r>
                <a:r>
                  <a:rPr lang="zh-CN" altLang="zh-CN" dirty="0">
                    <a:latin typeface="+mn-ea"/>
                  </a:rPr>
                  <a:t>另一个证明：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在定理</a:t>
                </a:r>
                <a:r>
                  <a:rPr lang="en-US" altLang="zh-CN" dirty="0">
                    <a:latin typeface="+mn-ea"/>
                  </a:rPr>
                  <a:t>3</a:t>
                </a:r>
                <a:r>
                  <a:rPr lang="zh-CN" altLang="zh-CN" dirty="0">
                    <a:latin typeface="+mn-ea"/>
                  </a:rPr>
                  <a:t>中取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zh-CN" dirty="0">
                    <a:latin typeface="+mn-ea"/>
                  </a:rPr>
                  <a:t>，则</a:t>
                </a:r>
                <a:r>
                  <a:rPr lang="en-US" altLang="zh-CN" dirty="0">
                    <a:latin typeface="+mn-ea"/>
                  </a:rPr>
                  <a:t>(1)</a:t>
                </a:r>
                <a:r>
                  <a:rPr lang="zh-CN" altLang="zh-CN" dirty="0">
                    <a:latin typeface="+mn-ea"/>
                  </a:rPr>
                  <a:t>给出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2∙2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3∙2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∙2</m:t>
                      </m:r>
                    </m:oMath>
                  </m:oMathPara>
                </a14:m>
                <a:endParaRPr lang="zh-CN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现求出适合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dirty="0">
                    <a:latin typeface="+mn-ea"/>
                  </a:rPr>
                  <a:t> (</a:t>
                </a:r>
                <a:r>
                  <a:rPr lang="zh-CN" altLang="zh-CN" dirty="0">
                    <a:latin typeface="+mn-ea"/>
                  </a:rPr>
                  <a:t>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latin typeface="+mn-ea"/>
                  </a:rPr>
                  <a:t>)</a:t>
                </a:r>
                <a:endParaRPr lang="zh-CN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dirty="0">
                    <a:latin typeface="+mn-ea"/>
                  </a:rPr>
                  <a:t>个数，即得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nor/>
                      </m:rPr>
                      <a:rPr lang="zh-CN" altLang="zh-CN" dirty="0">
                        <a:latin typeface="+mn-ea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[]</m:t>
                    </m:r>
                    <m:r>
                      <m:rPr>
                        <m:nor/>
                      </m:rPr>
                      <a:rPr lang="zh-CN" altLang="zh-CN" dirty="0">
                        <a:latin typeface="+mn-ea"/>
                      </a:rPr>
                      <m:t>为取整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3433509C-ED2D-7A38-990E-DB1BB494D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533400"/>
                <a:ext cx="8686800" cy="5257800"/>
              </a:xfrm>
              <a:prstGeom prst="rect">
                <a:avLst/>
              </a:prstGeom>
              <a:blipFill>
                <a:blip r:embed="rId2"/>
                <a:stretch>
                  <a:fillRect l="-1825" t="-15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504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FF8A8-F840-E626-659C-079720F80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13319B0-3352-8DFC-C6E8-28FDCA4EC7F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7489"/>
            <a:ext cx="55626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高斯引理和二次互反律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FC626565-DF09-E8D7-310D-965DB640376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99869" y="729522"/>
                <a:ext cx="8686800" cy="3429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3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  <a:r>
                  <a:rPr lang="en-US" altLang="zh-CN" dirty="0">
                    <a:latin typeface="+mn-ea"/>
                  </a:rPr>
                  <a:t>(</a:t>
                </a:r>
                <a:r>
                  <a:rPr lang="zh-CN" altLang="en-US" dirty="0">
                    <a:latin typeface="+mn-ea"/>
                  </a:rPr>
                  <a:t>另一种方法</a:t>
                </a:r>
                <a:r>
                  <a:rPr lang="en-US" altLang="zh-CN" dirty="0">
                    <a:latin typeface="+mn-ea"/>
                  </a:rPr>
                  <a:t>)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3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5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zh-CN" altLang="zh-CN" dirty="0">
                    <a:latin typeface="+mn-ea"/>
                  </a:rPr>
                  <a:t>，则</a:t>
                </a:r>
                <a:r>
                  <a:rPr lang="zh-CN" altLang="en-US" dirty="0">
                    <a:latin typeface="+mn-ea"/>
                  </a:rPr>
                  <a:t>对应</a:t>
                </a:r>
                <a:r>
                  <a:rPr lang="zh-CN" altLang="zh-CN" dirty="0">
                    <a:latin typeface="+mn-ea"/>
                  </a:rPr>
                  <a:t>得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≡0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故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FC626565-DF09-E8D7-310D-965DB6403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869" y="729522"/>
                <a:ext cx="8686800" cy="3429000"/>
              </a:xfrm>
              <a:prstGeom prst="rect">
                <a:avLst/>
              </a:prstGeom>
              <a:blipFill>
                <a:blip r:embed="rId3"/>
                <a:stretch>
                  <a:fillRect l="-1825" t="-23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2022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A36D1-3D37-DFFE-9758-F1A17B575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37203AE-541F-F566-89A7-6F9D8A32941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28600"/>
            <a:ext cx="5715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高斯引理和二次互反律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51E0BA0-5B29-94FC-EC31-76E7636C45D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78174" y="836951"/>
                <a:ext cx="8737225" cy="5744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zh-CN" altLang="zh-CN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5</a:t>
                </a:r>
                <a:r>
                  <a:rPr lang="zh-CN" altLang="zh-CN" sz="3000" b="1" dirty="0">
                    <a:latin typeface="+mn-ea"/>
                  </a:rPr>
                  <a:t> </a:t>
                </a:r>
                <a:r>
                  <a:rPr lang="en-US" altLang="zh-CN" sz="3000" b="1" dirty="0">
                    <a:latin typeface="+mn-ea"/>
                  </a:rPr>
                  <a:t>(</a:t>
                </a:r>
                <a:r>
                  <a:rPr lang="zh-CN" altLang="zh-CN" sz="3000" b="1" dirty="0">
                    <a:latin typeface="+mn-ea"/>
                  </a:rPr>
                  <a:t>二次互反定律</a:t>
                </a:r>
                <a:r>
                  <a:rPr lang="en-US" altLang="zh-CN" sz="3000" b="1" dirty="0">
                    <a:latin typeface="+mn-ea"/>
                  </a:rPr>
                  <a:t>) </a:t>
                </a:r>
                <a:r>
                  <a:rPr lang="zh-CN" altLang="zh-CN" sz="30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是两个素数，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，则</a:t>
                </a:r>
                <a:endParaRPr lang="en-US" altLang="zh-CN" sz="3000" dirty="0">
                  <a:latin typeface="+mn-ea"/>
                </a:endParaRPr>
              </a:p>
              <a:p>
                <a:pPr marL="0" indent="0" eaLnBrk="1" hangingPunct="1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</a:p>
              <a:p>
                <a:pPr marL="0" indent="0" eaLnBrk="1" hangingPunct="1">
                  <a:buNone/>
                </a:pPr>
                <a:r>
                  <a:rPr lang="zh-CN" altLang="zh-CN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5</a:t>
                </a:r>
                <a:r>
                  <a:rPr lang="zh-CN" altLang="zh-CN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  <a:endParaRPr lang="zh-CN" altLang="zh-CN" sz="3000" b="1" dirty="0">
                  <a:latin typeface="+mn-ea"/>
                </a:endParaRPr>
              </a:p>
              <a:p>
                <a:pPr marL="0" indent="0" eaLnBrk="1" hangingPunct="1">
                  <a:buNone/>
                </a:pPr>
                <a:r>
                  <a:rPr lang="zh-CN" altLang="zh-CN" sz="3000" dirty="0">
                    <a:latin typeface="+mn-ea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00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3000" dirty="0">
                    <a:latin typeface="+mn-ea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𝑘𝑞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𝑘𝑞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1≤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[]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为取整。</a:t>
                </a:r>
              </a:p>
              <a:p>
                <a:pPr marL="0" indent="0" eaLnBrk="1" hangingPunct="1">
                  <a:buNone/>
                </a:pPr>
                <a:r>
                  <a:rPr lang="zh-CN" altLang="zh-CN" sz="3000" dirty="0">
                    <a:latin typeface="+mn-ea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aln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nary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zh-CN" sz="3000" dirty="0">
                    <a:latin typeface="+mn-ea"/>
                  </a:rPr>
                  <a:t>，此处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+mn-ea"/>
                  </a:rPr>
                  <a:t>与定理</a:t>
                </a:r>
                <a:r>
                  <a:rPr lang="en-US" altLang="zh-CN" sz="3000" dirty="0">
                    <a:latin typeface="+mn-ea"/>
                  </a:rPr>
                  <a:t>4</a:t>
                </a:r>
                <a:r>
                  <a:rPr lang="zh-CN" altLang="zh-CN" sz="3000" dirty="0">
                    <a:latin typeface="+mn-ea"/>
                  </a:rPr>
                  <a:t>中相同，得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zh-CN" sz="3000" dirty="0">
                    <a:latin typeface="+mn-ea"/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  <a:endParaRPr lang="en-US" altLang="zh-CN" sz="3000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51E0BA0-5B29-94FC-EC31-76E7636C4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8174" y="836951"/>
                <a:ext cx="8737225" cy="5744980"/>
              </a:xfrm>
              <a:prstGeom prst="rect">
                <a:avLst/>
              </a:prstGeom>
              <a:blipFill>
                <a:blip r:embed="rId2"/>
                <a:stretch>
                  <a:fillRect l="-1605" t="-1591" r="-600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6557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A208883-F37E-44C2-3B50-557A40A5DA2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28600"/>
            <a:ext cx="5715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高斯引理和二次互反律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BE14E7B5-6B42-3012-2519-07B59845651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851941"/>
                <a:ext cx="8787651" cy="52877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5</a:t>
                </a:r>
                <a:r>
                  <a:rPr lang="zh-CN" altLang="zh-CN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  <a:r>
                  <a:rPr lang="en-US" altLang="zh-CN" sz="3000" dirty="0">
                    <a:latin typeface="+mn-ea"/>
                  </a:rPr>
                  <a:t>(</a:t>
                </a:r>
                <a:r>
                  <a:rPr lang="zh-CN" altLang="en-US" sz="3000" dirty="0">
                    <a:latin typeface="+mn-ea"/>
                  </a:rPr>
                  <a:t>续</a:t>
                </a:r>
                <a:r>
                  <a:rPr lang="en-US" altLang="zh-CN" sz="3000" dirty="0">
                    <a:latin typeface="+mn-ea"/>
                  </a:rPr>
                  <a:t>)</a:t>
                </a:r>
                <a:endParaRPr lang="zh-CN" altLang="zh-CN" sz="3000" b="1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3000" dirty="0">
                    <a:latin typeface="+mn-ea"/>
                  </a:rPr>
                  <a:t>由定理</a:t>
                </a:r>
                <a:r>
                  <a:rPr lang="en-US" altLang="zh-CN" sz="3000" dirty="0">
                    <a:latin typeface="+mn-ea"/>
                  </a:rPr>
                  <a:t>5</a:t>
                </a:r>
                <a:r>
                  <a:rPr lang="zh-CN" altLang="zh-CN" sz="3000" dirty="0">
                    <a:latin typeface="+mn-ea"/>
                  </a:rPr>
                  <a:t>证明知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zh-CN" altLang="en-US" sz="30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3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；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正好是</a:t>
                </a:r>
                <a14:m>
                  <m:oMath xmlns:m="http://schemas.openxmlformats.org/officeDocument/2006/math">
                    <m:r>
                      <a:rPr lang="en-US" altLang="zh-CN" sz="300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3000" dirty="0">
                    <a:latin typeface="+mn-ea"/>
                  </a:rPr>
                  <a:t>的各个数。故有</a:t>
                </a:r>
                <a:r>
                  <a:rPr lang="zh-CN" altLang="en-US" sz="3000" dirty="0">
                    <a:latin typeface="+mn-ea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3000">
                        <a:latin typeface="Cambria Math" panose="02040503050406030204" pitchFamily="18" charset="0"/>
                      </a:rPr>
                      <m:t>1+2+⋯+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𝑚𝑝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zh-CN" sz="3000" dirty="0">
                    <a:latin typeface="+mn-ea"/>
                  </a:rPr>
                  <a:t>又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𝑘𝑞</m:t>
                        </m:r>
                      </m:e>
                    </m:nary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nary>
                      <m:naryPr>
                        <m:chr m:val="∑"/>
                        <m:grow m:val="on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zh-CN" sz="300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nary>
                      <m:naryPr>
                        <m:chr m:val="∑"/>
                        <m:grow m:val="on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zh-CN" sz="30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3000" dirty="0">
                    <a:latin typeface="+mn-ea"/>
                  </a:rPr>
                  <a:t>以上两式相减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</m:t>
                    </m:r>
                    <m:nary>
                      <m:naryPr>
                        <m:chr m:val="∑"/>
                        <m:grow m:val="on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zh-CN" sz="30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𝑚𝑝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，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BE14E7B5-6B42-3012-2519-07B598456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851941"/>
                <a:ext cx="8787651" cy="5287780"/>
              </a:xfrm>
              <a:prstGeom prst="rect">
                <a:avLst/>
              </a:prstGeom>
              <a:blipFill>
                <a:blip r:embed="rId2"/>
                <a:stretch>
                  <a:fillRect l="-1666" t="-1499" r="-131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03CD6-3F77-C80B-D00B-578FDB13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F58E056-27C0-224C-38F4-66C1C3D4142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28600"/>
            <a:ext cx="5715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高斯引理和二次互反律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939E05DB-BF22-5286-B6C4-EC72EFF01C1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56349" y="808220"/>
                <a:ext cx="8559051" cy="5059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5</a:t>
                </a:r>
                <a:r>
                  <a:rPr lang="zh-CN" altLang="zh-CN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  <a:r>
                  <a:rPr lang="en-US" altLang="zh-CN" sz="3000" dirty="0">
                    <a:latin typeface="+mn-ea"/>
                  </a:rPr>
                  <a:t>(</a:t>
                </a:r>
                <a:r>
                  <a:rPr lang="zh-CN" altLang="en-US" sz="3000" dirty="0">
                    <a:latin typeface="+mn-ea"/>
                  </a:rPr>
                  <a:t>续</a:t>
                </a:r>
                <a:r>
                  <a:rPr lang="en-US" altLang="zh-CN" sz="3000" dirty="0">
                    <a:latin typeface="+mn-ea"/>
                  </a:rPr>
                  <a:t>)</a:t>
                </a:r>
                <a:endParaRPr lang="zh-CN" altLang="zh-CN" sz="3000" b="1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3000" dirty="0">
                    <a:latin typeface="+mn-ea"/>
                  </a:rPr>
                  <a:t>取模</a:t>
                </a:r>
                <a14:m>
                  <m:oMath xmlns:m="http://schemas.openxmlformats.org/officeDocument/2006/math">
                    <m:r>
                      <a:rPr lang="en-US" altLang="zh-CN" sz="30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≡</m:t>
                    </m:r>
                    <m:nary>
                      <m:naryPr>
                        <m:chr m:val="∑"/>
                        <m:grow m:val="on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zh-CN" sz="3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，得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nary>
                          <m:naryPr>
                            <m:chr m:val="∑"/>
                            <m:grow m:val="on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f>
                              <m:f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30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  <m:e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sup>
                    </m:sSup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nary>
                          <m:naryPr>
                            <m:chr m:val="∑"/>
                            <m:grow m:val="on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f>
                              <m:f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30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𝑘𝑞</m:t>
                                    </m:r>
                                  </m:num>
                                  <m:den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</m:sup>
                    </m:sSup>
                  </m:oMath>
                </a14:m>
                <a:r>
                  <a:rPr lang="zh-CN" altLang="zh-CN" sz="3000" dirty="0">
                    <a:latin typeface="+mn-ea"/>
                  </a:rPr>
                  <a:t>。同理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nary>
                          <m:naryPr>
                            <m:chr m:val="∑"/>
                            <m:grow m:val="on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f>
                              <m:f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30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𝑘𝑝</m:t>
                                    </m:r>
                                  </m:num>
                                  <m:den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</m:sup>
                    </m:sSup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3000" dirty="0">
                    <a:latin typeface="+mn-ea"/>
                  </a:rPr>
                  <a:t>剩下只需要证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𝑘𝑞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zh-CN" sz="300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𝑘𝑝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939E05DB-BF22-5286-B6C4-EC72EFF01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49" y="808220"/>
                <a:ext cx="8559051" cy="5059180"/>
              </a:xfrm>
              <a:prstGeom prst="rect">
                <a:avLst/>
              </a:prstGeom>
              <a:blipFill>
                <a:blip r:embed="rId2"/>
                <a:stretch>
                  <a:fillRect l="-1637" t="-156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509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14A32-3582-57DE-FC06-C5D0E3AC9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688DE7F-7C28-E060-4D54-424367DFDC3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28600"/>
            <a:ext cx="5715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高斯引理和二次互反律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4C048269-2543-48CB-B4A6-646FFCEF6B7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1" y="808220"/>
                <a:ext cx="8458200" cy="5821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zh-CN" altLang="zh-CN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5</a:t>
                </a:r>
                <a:r>
                  <a:rPr lang="zh-CN" altLang="zh-CN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  <a:r>
                  <a:rPr lang="en-US" altLang="zh-CN" sz="3000" dirty="0">
                    <a:latin typeface="+mn-ea"/>
                  </a:rPr>
                  <a:t>(</a:t>
                </a:r>
                <a:r>
                  <a:rPr lang="zh-CN" altLang="en-US" sz="3000" dirty="0">
                    <a:latin typeface="+mn-ea"/>
                  </a:rPr>
                  <a:t>续</a:t>
                </a:r>
                <a:r>
                  <a:rPr lang="en-US" altLang="zh-CN" sz="3000" dirty="0">
                    <a:latin typeface="+mn-ea"/>
                  </a:rPr>
                  <a:t>)</a:t>
                </a:r>
                <a:endParaRPr lang="zh-CN" altLang="zh-CN" sz="3000" b="1" dirty="0">
                  <a:latin typeface="+mn-ea"/>
                </a:endParaRPr>
              </a:p>
              <a:p>
                <a:pPr marL="0" indent="0" eaLnBrk="1" hangingPunct="1">
                  <a:buNone/>
                </a:pPr>
                <a:r>
                  <a:rPr lang="zh-CN" altLang="zh-CN" sz="30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𝑞𝑥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𝑝𝑦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。当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3000" dirty="0">
                    <a:latin typeface="+mn-ea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zh-CN" sz="3000" dirty="0">
                    <a:latin typeface="+mn-ea"/>
                  </a:rPr>
                  <a:t>取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3000" dirty="0">
                    <a:latin typeface="+mn-ea"/>
                  </a:rPr>
                  <a:t>个值。且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，否则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𝑞𝑥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𝑝𝑦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‌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，不可能。</a:t>
                </a:r>
              </a:p>
              <a:p>
                <a:pPr marL="0" indent="0" eaLnBrk="1" hangingPunct="1">
                  <a:buNone/>
                </a:pPr>
                <a:r>
                  <a:rPr lang="zh-CN" altLang="zh-CN" sz="3000" dirty="0">
                    <a:latin typeface="+mn-ea"/>
                  </a:rPr>
                  <a:t>可以看到每个固定的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，当且仅当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𝑞𝑥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zh-CN" altLang="zh-CN" sz="3000" dirty="0">
                    <a:latin typeface="+mn-ea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𝑞𝑥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:r>
                  <a:rPr lang="zh-CN" altLang="zh-CN" sz="3000" dirty="0">
                    <a:latin typeface="+mn-ea"/>
                  </a:rPr>
                  <a:t>因此，全部正整数值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zh-CN" sz="3000" dirty="0">
                    <a:latin typeface="+mn-ea"/>
                  </a:rPr>
                  <a:t>的个数为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𝑥𝑞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zh-CN" altLang="zh-CN" sz="3000" dirty="0">
                    <a:latin typeface="+mn-ea"/>
                  </a:rPr>
                  <a:t>个。同理全部负整数值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zh-CN" sz="3000" dirty="0">
                    <a:latin typeface="+mn-ea"/>
                  </a:rPr>
                  <a:t>的个数为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f>
                          <m:f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zh-CN" altLang="zh-CN" sz="3000" dirty="0">
                    <a:latin typeface="+mn-ea"/>
                  </a:rPr>
                  <a:t>个。得证结论。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4C048269-2543-48CB-B4A6-646FFCEF6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1" y="808220"/>
                <a:ext cx="8458200" cy="5821180"/>
              </a:xfrm>
              <a:prstGeom prst="rect">
                <a:avLst/>
              </a:prstGeom>
              <a:blipFill>
                <a:blip r:embed="rId2"/>
                <a:stretch>
                  <a:fillRect l="-1730" t="-1361" b="-38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668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C288E1B-48C7-4D64-744A-D7DFA67C9ED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28600"/>
            <a:ext cx="5715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高斯引理和二次互反律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93EAD4FB-2282-FE0D-74ED-CB31A01A3C8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37344" y="823210"/>
                <a:ext cx="8077199" cy="52115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例子</a:t>
                </a:r>
                <a:r>
                  <a:rPr lang="en-US" altLang="zh-CN" sz="3000" b="1" dirty="0">
                    <a:latin typeface="+mn-ea"/>
                  </a:rPr>
                  <a:t>1 </a:t>
                </a:r>
                <a:r>
                  <a:rPr lang="zh-CN" altLang="zh-CN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=593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=438</m:t>
                    </m:r>
                  </m:oMath>
                </a14:m>
                <a:r>
                  <a:rPr lang="zh-CN" altLang="zh-CN" dirty="0">
                    <a:latin typeface="+mn-ea"/>
                  </a:rPr>
                  <a:t>，计算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438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593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438=2∙3∙73</m:t>
                    </m:r>
                  </m:oMath>
                </a14:m>
                <a:r>
                  <a:rPr lang="zh-CN" altLang="zh-CN" dirty="0">
                    <a:latin typeface="+mn-ea"/>
                  </a:rPr>
                  <a:t>，故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438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593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593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593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73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593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593≡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8)</m:t>
                    </m:r>
                  </m:oMath>
                </a14:m>
                <a:r>
                  <a:rPr lang="zh-CN" altLang="zh-CN" dirty="0">
                    <a:latin typeface="+mn-ea"/>
                  </a:rPr>
                  <a:t>，利用定理</a:t>
                </a:r>
                <a:r>
                  <a:rPr lang="en-US" altLang="zh-CN" dirty="0">
                    <a:latin typeface="+mn-ea"/>
                  </a:rPr>
                  <a:t>5</a:t>
                </a:r>
                <a:r>
                  <a:rPr lang="zh-CN" altLang="zh-CN" dirty="0">
                    <a:latin typeface="+mn-ea"/>
                  </a:rPr>
                  <a:t>和前面的有关性质，有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438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593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593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593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73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73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zh-CN" dirty="0">
                    <a:latin typeface="+mn-ea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438</m:t>
                    </m:r>
                  </m:oMath>
                </a14:m>
                <a:r>
                  <a:rPr lang="zh-CN" altLang="zh-CN" dirty="0">
                    <a:latin typeface="+mn-ea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593</m:t>
                    </m:r>
                  </m:oMath>
                </a14:m>
                <a:r>
                  <a:rPr lang="zh-CN" altLang="zh-CN" dirty="0">
                    <a:latin typeface="+mn-ea"/>
                  </a:rPr>
                  <a:t>的二次非剩余。</a:t>
                </a:r>
                <a:endParaRPr lang="zh-CN" altLang="zh-CN" sz="3000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93EAD4FB-2282-FE0D-74ED-CB31A01A3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344" y="823210"/>
                <a:ext cx="8077199" cy="5211580"/>
              </a:xfrm>
              <a:prstGeom prst="rect">
                <a:avLst/>
              </a:prstGeom>
              <a:blipFill>
                <a:blip r:embed="rId2"/>
                <a:stretch>
                  <a:fillRect l="-196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F6EC3-9672-85AA-BDC7-77022F087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3B0C833-214E-850E-AC9B-A957181FEB8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28600"/>
            <a:ext cx="5715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高斯引理和二次互反律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661EF24-4208-9298-9E48-55AD0E312F3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826168"/>
                <a:ext cx="8382000" cy="5803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例子</a:t>
                </a:r>
                <a:r>
                  <a:rPr lang="en-US" altLang="zh-CN" b="1" dirty="0">
                    <a:latin typeface="+mn-ea"/>
                  </a:rPr>
                  <a:t>2 </a:t>
                </a:r>
                <a:r>
                  <a:rPr lang="zh-CN" altLang="zh-CN" dirty="0">
                    <a:latin typeface="+mn-ea"/>
                  </a:rPr>
                  <a:t>证明：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zh-CN" dirty="0">
                    <a:latin typeface="+mn-ea"/>
                  </a:rPr>
                  <a:t>的奇数因数</a:t>
                </a:r>
                <a:r>
                  <a:rPr lang="zh-CN" altLang="en-US" dirty="0">
                    <a:latin typeface="+mn-ea"/>
                  </a:rPr>
                  <a:t>必有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，进而推出有无穷多个素数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例子</a:t>
                </a:r>
                <a:r>
                  <a:rPr lang="en-US" altLang="zh-CN" b="1" dirty="0">
                    <a:latin typeface="+mn-ea"/>
                  </a:rPr>
                  <a:t>2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dirty="0">
                    <a:latin typeface="+mn-ea"/>
                  </a:rPr>
                  <a:t>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zh-CN" dirty="0">
                    <a:latin typeface="+mn-ea"/>
                  </a:rPr>
                  <a:t>的奇数因数，即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≡−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由此及定理</a:t>
                </a:r>
                <a:r>
                  <a:rPr lang="en-US" altLang="zh-CN" dirty="0">
                    <a:latin typeface="+mn-ea"/>
                  </a:rPr>
                  <a:t>2</a:t>
                </a:r>
                <a:r>
                  <a:rPr lang="zh-CN" altLang="zh-CN" dirty="0">
                    <a:latin typeface="+mn-ea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，而另一方面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+1=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dirty="0">
                    <a:latin typeface="+mn-ea"/>
                  </a:rPr>
                  <a:t>，所以有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661EF24-4208-9298-9E48-55AD0E312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826168"/>
                <a:ext cx="8382000" cy="5803232"/>
              </a:xfrm>
              <a:prstGeom prst="rect">
                <a:avLst/>
              </a:prstGeom>
              <a:blipFill>
                <a:blip r:embed="rId2"/>
                <a:stretch>
                  <a:fillRect l="-1891" t="-168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5948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18D5D-2DA1-2215-87CB-49CE180CD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590E4F5-85A3-3A54-ECE5-5181651B0C4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28600"/>
            <a:ext cx="5715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高斯引理和二次互反律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1426526-1BD8-32FA-C4BB-827AB25F06B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81000" y="906379"/>
                <a:ext cx="8382000" cy="5422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例子</a:t>
                </a:r>
                <a:r>
                  <a:rPr lang="en-US" altLang="zh-CN" b="1" dirty="0">
                    <a:latin typeface="+mn-ea"/>
                  </a:rPr>
                  <a:t>2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  <a:r>
                  <a:rPr lang="en-US" altLang="zh-CN" dirty="0">
                    <a:latin typeface="+mn-ea"/>
                  </a:rPr>
                  <a:t>(</a:t>
                </a:r>
                <a:r>
                  <a:rPr lang="zh-CN" altLang="en-US" dirty="0">
                    <a:latin typeface="+mn-ea"/>
                  </a:rPr>
                  <a:t>续</a:t>
                </a:r>
                <a:r>
                  <a:rPr lang="en-US" altLang="zh-CN" dirty="0">
                    <a:latin typeface="+mn-ea"/>
                  </a:rPr>
                  <a:t>)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由于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dirty="0">
                    <a:latin typeface="+mn-ea"/>
                  </a:rPr>
                  <a:t>，所以有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1=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zh-CN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zh-CN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由此从定理</a:t>
                </a:r>
                <a:r>
                  <a:rPr lang="en-US" altLang="zh-CN" dirty="0">
                    <a:latin typeface="+mn-ea"/>
                  </a:rPr>
                  <a:t>3</a:t>
                </a:r>
                <a:r>
                  <a:rPr lang="zh-CN" altLang="zh-CN" dirty="0">
                    <a:latin typeface="+mn-ea"/>
                  </a:rPr>
                  <a:t>推出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≡±1(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。因而必有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接下来证明第二个结论（反证法）。若这样的素数只有有限个，可设为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，考虑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(2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zh-CN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1426526-1BD8-32FA-C4BB-827AB25F0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906379"/>
                <a:ext cx="8382000" cy="5422232"/>
              </a:xfrm>
              <a:prstGeom prst="rect">
                <a:avLst/>
              </a:prstGeom>
              <a:blipFill>
                <a:blip r:embed="rId2"/>
                <a:stretch>
                  <a:fillRect l="-1891" t="-1462" r="-116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9051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C6F2A-54F5-E434-B55C-4BED2AEFC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A9613CF-ACBB-CD38-9F5B-684B6201ACC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28600"/>
            <a:ext cx="5715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高斯引理和二次互反律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3143EFC0-5C86-2429-8C0F-C3429CC1541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81000" y="842211"/>
                <a:ext cx="8382000" cy="3136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zh-CN" altLang="en-US" b="1" dirty="0">
                    <a:latin typeface="+mn-ea"/>
                  </a:rPr>
                  <a:t>例子</a:t>
                </a:r>
                <a:r>
                  <a:rPr lang="en-US" altLang="zh-CN" b="1" dirty="0">
                    <a:latin typeface="+mn-ea"/>
                  </a:rPr>
                  <a:t>2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  <a:r>
                  <a:rPr lang="en-US" altLang="zh-CN" dirty="0">
                    <a:latin typeface="+mn-ea"/>
                  </a:rPr>
                  <a:t>(</a:t>
                </a:r>
                <a:r>
                  <a:rPr lang="zh-CN" altLang="en-US" dirty="0">
                    <a:latin typeface="+mn-ea"/>
                  </a:rPr>
                  <a:t>续</a:t>
                </a:r>
                <a:r>
                  <a:rPr lang="en-US" altLang="zh-CN" dirty="0">
                    <a:latin typeface="+mn-ea"/>
                  </a:rPr>
                  <a:t>)</a:t>
                </a:r>
              </a:p>
              <a:p>
                <a:pPr marL="0" indent="0" eaLnBrk="1" hangingPunct="1">
                  <a:buNone/>
                </a:pPr>
                <a:r>
                  <a:rPr lang="zh-CN" altLang="en-US" dirty="0">
                    <a:latin typeface="+mn-ea"/>
                  </a:rPr>
                  <a:t>由假设及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8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dirty="0">
                    <a:latin typeface="+mn-ea"/>
                  </a:rPr>
                  <a:t>不是素数。设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>
                    <a:latin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dirty="0">
                    <a:latin typeface="+mn-ea"/>
                  </a:rPr>
                  <a:t>的素因数，当然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>
                    <a:latin typeface="+mn-ea"/>
                  </a:rPr>
                  <a:t>是奇数。由已证的结论知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8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>
                    <a:latin typeface="+mn-ea"/>
                  </a:rPr>
                  <a:t>，但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。这与假设素数只有有限个矛盾。</a:t>
                </a:r>
                <a:endParaRPr lang="zh-CN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3143EFC0-5C86-2429-8C0F-C3429CC15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842211"/>
                <a:ext cx="8382000" cy="3136232"/>
              </a:xfrm>
              <a:prstGeom prst="rect">
                <a:avLst/>
              </a:prstGeom>
              <a:blipFill>
                <a:blip r:embed="rId2"/>
                <a:stretch>
                  <a:fillRect l="-1891" t="-25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049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FEA94CE-F28B-F12F-8919-8C741737F64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6000"/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5083</TotalTime>
  <Words>1774</Words>
  <Application>Microsoft Office PowerPoint</Application>
  <PresentationFormat>全屏显示(4:3)</PresentationFormat>
  <Paragraphs>125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宋体</vt:lpstr>
      <vt:lpstr>Arial</vt:lpstr>
      <vt:lpstr>Calibri</vt:lpstr>
      <vt:lpstr>Cambria Math</vt:lpstr>
      <vt:lpstr>Times New Roman</vt:lpstr>
      <vt:lpstr>Wingdings</vt:lpstr>
      <vt:lpstr>默认设计模板</vt:lpstr>
      <vt:lpstr>第六讲 初等数论 6</vt:lpstr>
      <vt:lpstr>本讲提要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sundazhi</dc:creator>
  <cp:lastModifiedBy>dazhi sun</cp:lastModifiedBy>
  <cp:revision>256</cp:revision>
  <cp:lastPrinted>2026-03-24T06:47:35Z</cp:lastPrinted>
  <dcterms:created xsi:type="dcterms:W3CDTF">1601-01-01T00:00:00Z</dcterms:created>
  <dcterms:modified xsi:type="dcterms:W3CDTF">2026-03-25T09:24:31Z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